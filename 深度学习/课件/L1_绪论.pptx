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mp4" ContentType="video/mp4"/>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47" r:id="rId48"/>
    <p:sldId id="301" r:id="rId49"/>
    <p:sldId id="348" r:id="rId50"/>
    <p:sldId id="302" r:id="rId51"/>
    <p:sldId id="303" r:id="rId52"/>
    <p:sldId id="304" r:id="rId53"/>
    <p:sldId id="305" r:id="rId54"/>
    <p:sldId id="306" r:id="rId55"/>
    <p:sldId id="307" r:id="rId56"/>
    <p:sldId id="308" r:id="rId57"/>
    <p:sldId id="309" r:id="rId58"/>
    <p:sldId id="310" r:id="rId59"/>
    <p:sldId id="311" r:id="rId60"/>
    <p:sldId id="349" r:id="rId61"/>
    <p:sldId id="312" r:id="rId62"/>
    <p:sldId id="313" r:id="rId63"/>
    <p:sldId id="350" r:id="rId64"/>
    <p:sldId id="314" r:id="rId65"/>
    <p:sldId id="315" r:id="rId66"/>
    <p:sldId id="316" r:id="rId67"/>
    <p:sldId id="317" r:id="rId68"/>
    <p:sldId id="318" r:id="rId69"/>
    <p:sldId id="319" r:id="rId70"/>
    <p:sldId id="320" r:id="rId71"/>
    <p:sldId id="321" r:id="rId72"/>
    <p:sldId id="322" r:id="rId73"/>
    <p:sldId id="323" r:id="rId74"/>
    <p:sldId id="376" r:id="rId75"/>
    <p:sldId id="372" r:id="rId76"/>
    <p:sldId id="375" r:id="rId77"/>
    <p:sldId id="373" r:id="rId78"/>
    <p:sldId id="370" r:id="rId79"/>
    <p:sldId id="368" r:id="rId80"/>
    <p:sldId id="374" r:id="rId81"/>
    <p:sldId id="369" r:id="rId82"/>
    <p:sldId id="324" r:id="rId83"/>
    <p:sldId id="345" r:id="rId84"/>
    <p:sldId id="326" r:id="rId85"/>
    <p:sldId id="327" r:id="rId86"/>
    <p:sldId id="328" r:id="rId87"/>
    <p:sldId id="329" r:id="rId88"/>
    <p:sldId id="330" r:id="rId89"/>
    <p:sldId id="331" r:id="rId90"/>
    <p:sldId id="332" r:id="rId91"/>
    <p:sldId id="333" r:id="rId92"/>
    <p:sldId id="334" r:id="rId93"/>
    <p:sldId id="335" r:id="rId94"/>
    <p:sldId id="336" r:id="rId95"/>
    <p:sldId id="337" r:id="rId96"/>
    <p:sldId id="338" r:id="rId97"/>
    <p:sldId id="339" r:id="rId98"/>
    <p:sldId id="340" r:id="rId99"/>
    <p:sldId id="341" r:id="rId100"/>
    <p:sldId id="342" r:id="rId101"/>
    <p:sldId id="343" r:id="rId102"/>
    <p:sldId id="344"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90"/>
    <p:restoredTop sz="88433"/>
  </p:normalViewPr>
  <p:slideViewPr>
    <p:cSldViewPr>
      <p:cViewPr varScale="1">
        <p:scale>
          <a:sx n="76" d="100"/>
          <a:sy n="76" d="100"/>
        </p:scale>
        <p:origin x="444" y="3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8EED31-6B57-2346-ADB1-4B7A3E14BBB4}" type="datetimeFigureOut">
              <a:t>2026/4/29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6E8FC-03EC-A947-B9D5-7470CC25629A}" type="slidenum">
              <a:t>‹#›</a:t>
            </a:fld>
            <a:endParaRPr kumimoji="1" lang="zh-CN" altLang="en-US"/>
          </a:p>
        </p:txBody>
      </p:sp>
    </p:spTree>
    <p:extLst>
      <p:ext uri="{BB962C8B-B14F-4D97-AF65-F5344CB8AC3E}">
        <p14:creationId xmlns:p14="http://schemas.microsoft.com/office/powerpoint/2010/main" val="3424769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欢迎来到</a:t>
            </a:r>
            <a:r>
              <a:rPr lang="en-US" altLang="zh-CN" b="0" i="0">
                <a:solidFill>
                  <a:srgbClr val="0F1115"/>
                </a:solidFill>
                <a:effectLst/>
                <a:latin typeface="quote-cjk-patch"/>
              </a:rPr>
              <a:t>《</a:t>
            </a:r>
            <a:r>
              <a:rPr lang="zh-CN" altLang="en-US" b="0" i="0">
                <a:solidFill>
                  <a:srgbClr val="0F1115"/>
                </a:solidFill>
                <a:effectLst/>
                <a:latin typeface="quote-cjk-patch"/>
              </a:rPr>
              <a:t>人工智能与深度学习</a:t>
            </a:r>
            <a:r>
              <a:rPr lang="en-US" altLang="zh-CN" b="0" i="0">
                <a:solidFill>
                  <a:srgbClr val="0F1115"/>
                </a:solidFill>
                <a:effectLst/>
                <a:latin typeface="quote-cjk-patch"/>
              </a:rPr>
              <a:t>》</a:t>
            </a:r>
            <a:r>
              <a:rPr lang="zh-CN" altLang="en-US" b="0" i="0">
                <a:solidFill>
                  <a:srgbClr val="0F1115"/>
                </a:solidFill>
                <a:effectLst/>
                <a:latin typeface="quote-cjk-patch"/>
              </a:rPr>
              <a:t>课程，我是陈伟，本学期将由我为大家讲授这门课。</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a:t>
            </a:fld>
            <a:endParaRPr kumimoji="1" lang="zh-CN" altLang="en-US"/>
          </a:p>
        </p:txBody>
      </p:sp>
    </p:spTree>
    <p:extLst>
      <p:ext uri="{BB962C8B-B14F-4D97-AF65-F5344CB8AC3E}">
        <p14:creationId xmlns:p14="http://schemas.microsoft.com/office/powerpoint/2010/main" val="2154364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人工智能不仅是技术革命，也正在深刻改变我们的生活。</a:t>
            </a:r>
            <a:r>
              <a:rPr lang="zh-CN" altLang="en-US" sz="1200" dirty="0">
                <a:solidFill>
                  <a:srgbClr val="000000"/>
                </a:solidFill>
                <a:latin typeface="微软雅黑" pitchFamily="18" charset="0"/>
                <a:cs typeface="微软雅黑" pitchFamily="18" charset="0"/>
              </a:rPr>
              <a:t>短视频成瘾并非只是消磨时间的“小毛病”，它对大脑的物理结构和基因活动层面都造成了显著且深远的改变。</a:t>
            </a:r>
            <a:endParaRPr lang="zh-CN" altLang="en-US"/>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a:t>而</a:t>
            </a:r>
            <a:r>
              <a:rPr lang="en-GB" altLang="zh-CN"/>
              <a:t>ChatGPT</a:t>
            </a:r>
            <a:r>
              <a:rPr lang="zh-CN" altLang="en-US"/>
              <a:t>的数据来源于经典书籍、维基百科等高质量数据集，持续学习。</a:t>
            </a:r>
          </a:p>
        </p:txBody>
      </p:sp>
      <p:sp>
        <p:nvSpPr>
          <p:cNvPr id="4" name="灯片编号占位符 3"/>
          <p:cNvSpPr>
            <a:spLocks noGrp="1"/>
          </p:cNvSpPr>
          <p:nvPr>
            <p:ph type="sldNum" sz="quarter" idx="5"/>
          </p:nvPr>
        </p:nvSpPr>
        <p:spPr/>
        <p:txBody>
          <a:bodyPr/>
          <a:lstStyle/>
          <a:p>
            <a:fld id="{9AB6E8FC-03EC-A947-B9D5-7470CC25629A}" type="slidenum">
              <a:rPr lang="en-US" altLang="zh-CN"/>
              <a:t>2</a:t>
            </a:fld>
            <a:endParaRPr kumimoji="1" lang="zh-CN" altLang="en-US"/>
          </a:p>
        </p:txBody>
      </p:sp>
    </p:spTree>
    <p:extLst>
      <p:ext uri="{BB962C8B-B14F-4D97-AF65-F5344CB8AC3E}">
        <p14:creationId xmlns:p14="http://schemas.microsoft.com/office/powerpoint/2010/main" val="360282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我们常常希望</a:t>
            </a:r>
            <a:r>
              <a:rPr lang="en-GB" altLang="zh-CN" b="0" i="0">
                <a:solidFill>
                  <a:srgbClr val="0F1115"/>
                </a:solidFill>
                <a:effectLst/>
                <a:latin typeface="quote-cjk-patch"/>
              </a:rPr>
              <a:t>AI</a:t>
            </a:r>
            <a:r>
              <a:rPr lang="zh-CN" altLang="en-US" b="0" i="0">
                <a:solidFill>
                  <a:srgbClr val="0F1115"/>
                </a:solidFill>
                <a:effectLst/>
                <a:latin typeface="quote-cjk-patch"/>
              </a:rPr>
              <a:t>能替我们处理繁琐事务，但现实中</a:t>
            </a:r>
            <a:r>
              <a:rPr lang="en-GB" altLang="zh-CN" b="0" i="0">
                <a:solidFill>
                  <a:srgbClr val="0F1115"/>
                </a:solidFill>
                <a:effectLst/>
                <a:latin typeface="quote-cjk-patch"/>
              </a:rPr>
              <a:t>AI</a:t>
            </a:r>
            <a:r>
              <a:rPr lang="zh-CN" altLang="en-US" b="0" i="0">
                <a:solidFill>
                  <a:srgbClr val="0F1115"/>
                </a:solidFill>
                <a:effectLst/>
                <a:latin typeface="quote-cjk-patch"/>
              </a:rPr>
              <a:t>却更多在从事创造性工作。</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t>3</a:t>
            </a:fld>
            <a:endParaRPr kumimoji="1" lang="zh-CN" altLang="en-US"/>
          </a:p>
        </p:txBody>
      </p:sp>
    </p:spTree>
    <p:extLst>
      <p:ext uri="{BB962C8B-B14F-4D97-AF65-F5344CB8AC3E}">
        <p14:creationId xmlns:p14="http://schemas.microsoft.com/office/powerpoint/2010/main" val="3824613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本课程是面向机械、测控等专业的专业选修课，旨在系统介绍人工智能的基础理论与方法。</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5</a:t>
            </a:fld>
            <a:endParaRPr kumimoji="1" lang="zh-CN" altLang="en-US"/>
          </a:p>
        </p:txBody>
      </p:sp>
    </p:spTree>
    <p:extLst>
      <p:ext uri="{BB962C8B-B14F-4D97-AF65-F5344CB8AC3E}">
        <p14:creationId xmlns:p14="http://schemas.microsoft.com/office/powerpoint/2010/main" val="4229077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我是本课主讲教师陈伟，研究方向包括人工智能算法与微纳制造，欢迎大家邮件交流。课程设有</a:t>
            </a:r>
            <a:r>
              <a:rPr lang="en-GB" altLang="zh-CN" b="0" i="0">
                <a:solidFill>
                  <a:srgbClr val="0F1115"/>
                </a:solidFill>
                <a:effectLst/>
                <a:latin typeface="quote-cjk-patch"/>
              </a:rPr>
              <a:t>QQ</a:t>
            </a:r>
            <a:r>
              <a:rPr lang="zh-CN" altLang="en-US" b="0" i="0">
                <a:solidFill>
                  <a:srgbClr val="0F1115"/>
                </a:solidFill>
                <a:effectLst/>
                <a:latin typeface="quote-cjk-patch"/>
              </a:rPr>
              <a:t>群，请大家尽快加入，方便后续通知与答疑。</a:t>
            </a:r>
            <a:endParaRPr kumimoji="1" lang="zh-CN" altLang="en-US"/>
          </a:p>
          <a:p>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6</a:t>
            </a:fld>
            <a:endParaRPr kumimoji="1" lang="zh-CN" altLang="en-US"/>
          </a:p>
        </p:txBody>
      </p:sp>
    </p:spTree>
    <p:extLst>
      <p:ext uri="{BB962C8B-B14F-4D97-AF65-F5344CB8AC3E}">
        <p14:creationId xmlns:p14="http://schemas.microsoft.com/office/powerpoint/2010/main" val="3504595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请扫描屏幕上的二维码加入课程</a:t>
            </a:r>
            <a:r>
              <a:rPr lang="en-GB" altLang="zh-CN" b="0" i="0">
                <a:solidFill>
                  <a:srgbClr val="0F1115"/>
                </a:solidFill>
                <a:effectLst/>
                <a:latin typeface="quote-cjk-patch"/>
              </a:rPr>
              <a:t>QQ</a:t>
            </a:r>
            <a:r>
              <a:rPr lang="zh-CN" altLang="en-US" b="0" i="0">
                <a:solidFill>
                  <a:srgbClr val="0F1115"/>
                </a:solidFill>
                <a:effectLst/>
                <a:latin typeface="quote-cjk-patch"/>
              </a:rPr>
              <a:t>群，所有课程资料和通知都会在群里发布。</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7</a:t>
            </a:fld>
            <a:endParaRPr kumimoji="1" lang="zh-CN" altLang="en-US"/>
          </a:p>
        </p:txBody>
      </p:sp>
    </p:spTree>
    <p:extLst>
      <p:ext uri="{BB962C8B-B14F-4D97-AF65-F5344CB8AC3E}">
        <p14:creationId xmlns:p14="http://schemas.microsoft.com/office/powerpoint/2010/main" val="1133062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本课程需要一定的数学和编程基础，但不用担心，我们会从</a:t>
            </a:r>
            <a:r>
              <a:rPr lang="en-GB" altLang="zh-CN" b="0" i="0">
                <a:solidFill>
                  <a:srgbClr val="0F1115"/>
                </a:solidFill>
                <a:effectLst/>
                <a:latin typeface="quote-cjk-patch"/>
              </a:rPr>
              <a:t>Python</a:t>
            </a:r>
            <a:r>
              <a:rPr lang="zh-CN" altLang="en-US" b="0" i="0">
                <a:solidFill>
                  <a:srgbClr val="0F1115"/>
                </a:solidFill>
                <a:effectLst/>
                <a:latin typeface="quote-cjk-patch"/>
              </a:rPr>
              <a:t>基础开始讲起。</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8</a:t>
            </a:fld>
            <a:endParaRPr kumimoji="1" lang="zh-CN" altLang="en-US"/>
          </a:p>
        </p:txBody>
      </p:sp>
    </p:spTree>
    <p:extLst>
      <p:ext uri="{BB962C8B-B14F-4D97-AF65-F5344CB8AC3E}">
        <p14:creationId xmlns:p14="http://schemas.microsoft.com/office/powerpoint/2010/main" val="1555885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课程中将安排两次上机实践，帮助大家巩固机器学习编程技能。</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9</a:t>
            </a:fld>
            <a:endParaRPr kumimoji="1" lang="zh-CN" altLang="en-US"/>
          </a:p>
        </p:txBody>
      </p:sp>
    </p:spTree>
    <p:extLst>
      <p:ext uri="{BB962C8B-B14F-4D97-AF65-F5344CB8AC3E}">
        <p14:creationId xmlns:p14="http://schemas.microsoft.com/office/powerpoint/2010/main" val="271440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本课程重点介绍人工智能的基本理论、方法及其相互关系。</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10</a:t>
            </a:fld>
            <a:endParaRPr kumimoji="1" lang="zh-CN" altLang="en-US"/>
          </a:p>
        </p:txBody>
      </p:sp>
    </p:spTree>
    <p:extLst>
      <p:ext uri="{BB962C8B-B14F-4D97-AF65-F5344CB8AC3E}">
        <p14:creationId xmlns:p14="http://schemas.microsoft.com/office/powerpoint/2010/main" val="2717261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我们将学习机器学习、深度学习、强化学习等核心技术及其在视觉、语言、控制等领域的应用。</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11</a:t>
            </a:fld>
            <a:endParaRPr kumimoji="1" lang="zh-CN" altLang="en-US"/>
          </a:p>
        </p:txBody>
      </p:sp>
    </p:spTree>
    <p:extLst>
      <p:ext uri="{BB962C8B-B14F-4D97-AF65-F5344CB8AC3E}">
        <p14:creationId xmlns:p14="http://schemas.microsoft.com/office/powerpoint/2010/main" val="1030228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课程目标包括理解基本概念、掌握开发流程，并能够设计并训练机器学习模型。</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12</a:t>
            </a:fld>
            <a:endParaRPr kumimoji="1" lang="zh-CN" altLang="en-US"/>
          </a:p>
        </p:txBody>
      </p:sp>
    </p:spTree>
    <p:extLst>
      <p:ext uri="{BB962C8B-B14F-4D97-AF65-F5344CB8AC3E}">
        <p14:creationId xmlns:p14="http://schemas.microsoft.com/office/powerpoint/2010/main" val="3852320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我们还将培养大家查阅和理解</a:t>
            </a:r>
            <a:r>
              <a:rPr lang="en-GB" altLang="zh-CN" b="0" i="0">
                <a:solidFill>
                  <a:srgbClr val="0F1115"/>
                </a:solidFill>
                <a:effectLst/>
                <a:latin typeface="quote-cjk-patch"/>
              </a:rPr>
              <a:t>AI</a:t>
            </a:r>
            <a:r>
              <a:rPr lang="zh-CN" altLang="en-US" b="0" i="0">
                <a:solidFill>
                  <a:srgbClr val="0F1115"/>
                </a:solidFill>
                <a:effectLst/>
                <a:latin typeface="quote-cjk-patch"/>
              </a:rPr>
              <a:t>相关文献与工具的能力。</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13</a:t>
            </a:fld>
            <a:endParaRPr kumimoji="1" lang="zh-CN" altLang="en-US"/>
          </a:p>
        </p:txBody>
      </p:sp>
    </p:spTree>
    <p:extLst>
      <p:ext uri="{BB962C8B-B14F-4D97-AF65-F5344CB8AC3E}">
        <p14:creationId xmlns:p14="http://schemas.microsoft.com/office/powerpoint/2010/main" val="75382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课程主要参考周志华的</a:t>
            </a:r>
            <a:r>
              <a:rPr lang="en-US" altLang="zh-CN" b="0" i="0">
                <a:solidFill>
                  <a:srgbClr val="0F1115"/>
                </a:solidFill>
                <a:effectLst/>
                <a:latin typeface="quote-cjk-patch"/>
              </a:rPr>
              <a:t>《</a:t>
            </a:r>
            <a:r>
              <a:rPr lang="zh-CN" altLang="en-US" b="0" i="0">
                <a:solidFill>
                  <a:srgbClr val="0F1115"/>
                </a:solidFill>
                <a:effectLst/>
                <a:latin typeface="quote-cjk-patch"/>
              </a:rPr>
              <a:t>机器学习</a:t>
            </a:r>
            <a:r>
              <a:rPr lang="en-US" altLang="zh-CN" b="0" i="0">
                <a:solidFill>
                  <a:srgbClr val="0F1115"/>
                </a:solidFill>
                <a:effectLst/>
                <a:latin typeface="quote-cjk-patch"/>
              </a:rPr>
              <a:t>》</a:t>
            </a:r>
            <a:r>
              <a:rPr lang="zh-CN" altLang="en-US" b="0" i="0">
                <a:solidFill>
                  <a:srgbClr val="0F1115"/>
                </a:solidFill>
                <a:effectLst/>
                <a:latin typeface="quote-cjk-patch"/>
              </a:rPr>
              <a:t>和</a:t>
            </a:r>
            <a:r>
              <a:rPr lang="en-GB" altLang="zh-CN" b="0" i="0">
                <a:solidFill>
                  <a:srgbClr val="0F1115"/>
                </a:solidFill>
                <a:effectLst/>
                <a:latin typeface="quote-cjk-patch"/>
              </a:rPr>
              <a:t>Michael Nielsen</a:t>
            </a:r>
            <a:r>
              <a:rPr lang="zh-CN" altLang="en-US" b="0" i="0">
                <a:solidFill>
                  <a:srgbClr val="0F1115"/>
                </a:solidFill>
                <a:effectLst/>
                <a:latin typeface="quote-cjk-patch"/>
              </a:rPr>
              <a:t>的</a:t>
            </a:r>
            <a:r>
              <a:rPr lang="en-US" altLang="zh-CN" b="0" i="0">
                <a:solidFill>
                  <a:srgbClr val="0F1115"/>
                </a:solidFill>
                <a:effectLst/>
                <a:latin typeface="quote-cjk-patch"/>
              </a:rPr>
              <a:t>《</a:t>
            </a:r>
            <a:r>
              <a:rPr lang="en-GB" altLang="zh-CN" b="0" i="0">
                <a:solidFill>
                  <a:srgbClr val="0F1115"/>
                </a:solidFill>
                <a:effectLst/>
                <a:latin typeface="quote-cjk-patch"/>
              </a:rPr>
              <a:t>Neural Networks and Deep Learning》</a:t>
            </a:r>
            <a:r>
              <a:rPr lang="zh-CN" altLang="en-US" b="0" i="0">
                <a:solidFill>
                  <a:srgbClr val="0F1115"/>
                </a:solidFill>
                <a:effectLst/>
                <a:latin typeface="quote-cjk-patch"/>
              </a:rPr>
              <a:t>等经典资料。</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14</a:t>
            </a:fld>
            <a:endParaRPr kumimoji="1" lang="zh-CN" altLang="en-US"/>
          </a:p>
        </p:txBody>
      </p:sp>
    </p:spTree>
    <p:extLst>
      <p:ext uri="{BB962C8B-B14F-4D97-AF65-F5344CB8AC3E}">
        <p14:creationId xmlns:p14="http://schemas.microsoft.com/office/powerpoint/2010/main" val="3819197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此外，也推荐大家阅读</a:t>
            </a:r>
            <a:r>
              <a:rPr lang="en-GB" altLang="zh-CN" b="0" i="0">
                <a:solidFill>
                  <a:srgbClr val="0F1115"/>
                </a:solidFill>
                <a:effectLst/>
                <a:latin typeface="quote-cjk-patch"/>
              </a:rPr>
              <a:t>Convex Optimization</a:t>
            </a:r>
            <a:r>
              <a:rPr lang="zh-CN" altLang="en-GB" b="0" i="0">
                <a:solidFill>
                  <a:srgbClr val="0F1115"/>
                </a:solidFill>
                <a:effectLst/>
                <a:latin typeface="quote-cjk-patch"/>
              </a:rPr>
              <a:t>、</a:t>
            </a:r>
            <a:r>
              <a:rPr lang="en-GB" altLang="zh-CN" b="0" i="0">
                <a:solidFill>
                  <a:srgbClr val="0F1115"/>
                </a:solidFill>
                <a:effectLst/>
                <a:latin typeface="quote-cjk-patch"/>
              </a:rPr>
              <a:t>The Elements of Statistical Learning</a:t>
            </a:r>
            <a:r>
              <a:rPr lang="zh-CN" altLang="en-US" b="0" i="0">
                <a:solidFill>
                  <a:srgbClr val="0F1115"/>
                </a:solidFill>
                <a:effectLst/>
                <a:latin typeface="quote-cjk-patch"/>
              </a:rPr>
              <a:t>等进阶书籍。</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t>15</a:t>
            </a:fld>
            <a:endParaRPr kumimoji="1" lang="zh-CN" altLang="en-US"/>
          </a:p>
        </p:txBody>
      </p:sp>
    </p:spTree>
    <p:extLst>
      <p:ext uri="{BB962C8B-B14F-4D97-AF65-F5344CB8AC3E}">
        <p14:creationId xmlns:p14="http://schemas.microsoft.com/office/powerpoint/2010/main" val="4235003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a:solidFill>
                  <a:srgbClr val="0F1115"/>
                </a:solidFill>
                <a:effectLst/>
                <a:latin typeface="quote-cjk-patch"/>
              </a:rPr>
              <a:t>考核方式包括论文、大作业和平时成绩，注重实践与创新。</a:t>
            </a:r>
          </a:p>
        </p:txBody>
      </p:sp>
      <p:sp>
        <p:nvSpPr>
          <p:cNvPr id="4" name="灯片编号占位符 3"/>
          <p:cNvSpPr>
            <a:spLocks noGrp="1"/>
          </p:cNvSpPr>
          <p:nvPr>
            <p:ph type="sldNum" sz="quarter" idx="5"/>
          </p:nvPr>
        </p:nvSpPr>
        <p:spPr/>
        <p:txBody>
          <a:bodyPr/>
          <a:lstStyle/>
          <a:p>
            <a:fld id="{9AB6E8FC-03EC-A947-B9D5-7470CC25629A}" type="slidenum">
              <a:rPr lang="en-US" altLang="zh-CN"/>
              <a:t>16</a:t>
            </a:fld>
            <a:endParaRPr kumimoji="1" lang="zh-CN" altLang="en-US"/>
          </a:p>
        </p:txBody>
      </p:sp>
    </p:spTree>
    <p:extLst>
      <p:ext uri="{BB962C8B-B14F-4D97-AF65-F5344CB8AC3E}">
        <p14:creationId xmlns:p14="http://schemas.microsoft.com/office/powerpoint/2010/main" val="1115238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请注意：所有作业必须独立完成，本课程禁止使用</a:t>
            </a:r>
            <a:r>
              <a:rPr lang="en-GB" altLang="zh-CN" b="0" i="0">
                <a:solidFill>
                  <a:srgbClr val="0F1115"/>
                </a:solidFill>
                <a:effectLst/>
                <a:latin typeface="quote-cjk-patch"/>
              </a:rPr>
              <a:t>AI</a:t>
            </a:r>
            <a:r>
              <a:rPr lang="zh-CN" altLang="en-US" b="0" i="0">
                <a:solidFill>
                  <a:srgbClr val="0F1115"/>
                </a:solidFill>
                <a:effectLst/>
                <a:latin typeface="quote-cjk-patch"/>
              </a:rPr>
              <a:t>辅助。</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17</a:t>
            </a:fld>
            <a:endParaRPr kumimoji="1" lang="zh-CN" altLang="en-US"/>
          </a:p>
        </p:txBody>
      </p:sp>
    </p:spTree>
    <p:extLst>
      <p:ext uri="{BB962C8B-B14F-4D97-AF65-F5344CB8AC3E}">
        <p14:creationId xmlns:p14="http://schemas.microsoft.com/office/powerpoint/2010/main" val="2496416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18</a:t>
            </a:fld>
            <a:endParaRPr kumimoji="1" lang="zh-CN" altLang="en-US"/>
          </a:p>
        </p:txBody>
      </p:sp>
    </p:spTree>
    <p:extLst>
      <p:ext uri="{BB962C8B-B14F-4D97-AF65-F5344CB8AC3E}">
        <p14:creationId xmlns:p14="http://schemas.microsoft.com/office/powerpoint/2010/main" val="1287405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什么是人工智能？它并没有一个统一的定义，但核心是让机器模拟人类的智能行为。</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19</a:t>
            </a:fld>
            <a:endParaRPr kumimoji="1" lang="zh-CN" altLang="en-US"/>
          </a:p>
        </p:txBody>
      </p:sp>
    </p:spTree>
    <p:extLst>
      <p:ext uri="{BB962C8B-B14F-4D97-AF65-F5344CB8AC3E}">
        <p14:creationId xmlns:p14="http://schemas.microsoft.com/office/powerpoint/2010/main" val="1703012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人工智能的本质是让机器能够理性地感知环境并采取行动以达成目标。</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20</a:t>
            </a:fld>
            <a:endParaRPr kumimoji="1" lang="zh-CN" altLang="en-US"/>
          </a:p>
        </p:txBody>
      </p:sp>
    </p:spTree>
    <p:extLst>
      <p:ext uri="{BB962C8B-B14F-4D97-AF65-F5344CB8AC3E}">
        <p14:creationId xmlns:p14="http://schemas.microsoft.com/office/powerpoint/2010/main" val="8596770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图灵测试是判断机器是否具有智能的经典方法。其</a:t>
            </a:r>
            <a:r>
              <a:rPr lang="zh-CN" altLang="en-US" sz="1200" b="1" i="0">
                <a:effectLst/>
                <a:latin typeface="Microsoft YaHei" panose="020B0503020204020204" pitchFamily="34" charset="-122"/>
                <a:ea typeface="Microsoft YaHei" panose="020B0503020204020204" pitchFamily="34" charset="-122"/>
              </a:rPr>
              <a:t>起源于</a:t>
            </a:r>
            <a:r>
              <a:rPr lang="zh-CN" altLang="en-US" sz="1200" i="0" strike="noStrike">
                <a:effectLst/>
                <a:latin typeface="Microsoft YaHei" panose="020B0503020204020204" pitchFamily="34" charset="-122"/>
                <a:ea typeface="Microsoft YaHei" panose="020B0503020204020204" pitchFamily="34" charset="-122"/>
              </a:rPr>
              <a:t>计算机科学</a:t>
            </a:r>
            <a:r>
              <a:rPr lang="zh-CN" altLang="en-US" sz="1200" i="0">
                <a:effectLst/>
                <a:latin typeface="Microsoft YaHei" panose="020B0503020204020204" pitchFamily="34" charset="-122"/>
                <a:ea typeface="Microsoft YaHei" panose="020B0503020204020204" pitchFamily="34" charset="-122"/>
              </a:rPr>
              <a:t>和密码学的先驱艾伦</a:t>
            </a:r>
            <a:r>
              <a:rPr lang="en-US" altLang="zh-CN" sz="1200" i="0">
                <a:effectLst/>
                <a:latin typeface="Microsoft YaHei" panose="020B0503020204020204" pitchFamily="34" charset="-122"/>
                <a:ea typeface="Microsoft YaHei" panose="020B0503020204020204" pitchFamily="34" charset="-122"/>
              </a:rPr>
              <a:t>·</a:t>
            </a:r>
            <a:r>
              <a:rPr lang="zh-CN" altLang="en-US" sz="1200" i="0">
                <a:effectLst/>
                <a:latin typeface="Microsoft YaHei" panose="020B0503020204020204" pitchFamily="34" charset="-122"/>
                <a:ea typeface="Microsoft YaHei" panose="020B0503020204020204" pitchFamily="34" charset="-122"/>
              </a:rPr>
              <a:t>麦席森</a:t>
            </a:r>
            <a:r>
              <a:rPr lang="en-US" altLang="zh-CN" sz="1200" i="0">
                <a:effectLst/>
                <a:latin typeface="Microsoft YaHei" panose="020B0503020204020204" pitchFamily="34" charset="-122"/>
                <a:ea typeface="Microsoft YaHei" panose="020B0503020204020204" pitchFamily="34" charset="-122"/>
              </a:rPr>
              <a:t>·</a:t>
            </a:r>
            <a:r>
              <a:rPr lang="zh-CN" altLang="en-US" sz="1200" i="0">
                <a:effectLst/>
                <a:latin typeface="Microsoft YaHei" panose="020B0503020204020204" pitchFamily="34" charset="-122"/>
                <a:ea typeface="Microsoft YaHei" panose="020B0503020204020204" pitchFamily="34" charset="-122"/>
              </a:rPr>
              <a:t>图灵发表于</a:t>
            </a:r>
            <a:r>
              <a:rPr lang="en-US" altLang="zh-CN" sz="1200" i="0">
                <a:effectLst/>
                <a:latin typeface="Microsoft YaHei" panose="020B0503020204020204" pitchFamily="34" charset="-122"/>
                <a:ea typeface="Microsoft YaHei" panose="020B0503020204020204" pitchFamily="34" charset="-122"/>
              </a:rPr>
              <a:t>1950</a:t>
            </a:r>
            <a:r>
              <a:rPr lang="zh-CN" altLang="en-US" sz="1200" i="0">
                <a:effectLst/>
                <a:latin typeface="Microsoft YaHei" panose="020B0503020204020204" pitchFamily="34" charset="-122"/>
                <a:ea typeface="Microsoft YaHei" panose="020B0503020204020204" pitchFamily="34" charset="-122"/>
              </a:rPr>
              <a:t>年的一篇论文</a:t>
            </a:r>
            <a:r>
              <a:rPr lang="en-US" altLang="zh-CN" sz="1200" i="0">
                <a:effectLst/>
                <a:latin typeface="Microsoft YaHei" panose="020B0503020204020204" pitchFamily="34" charset="-122"/>
                <a:ea typeface="Microsoft YaHei" panose="020B0503020204020204" pitchFamily="34" charset="-122"/>
              </a:rPr>
              <a:t>《</a:t>
            </a:r>
            <a:r>
              <a:rPr lang="zh-CN" altLang="en-US" sz="1200" i="0">
                <a:effectLst/>
                <a:latin typeface="Microsoft YaHei" panose="020B0503020204020204" pitchFamily="34" charset="-122"/>
                <a:ea typeface="Microsoft YaHei" panose="020B0503020204020204" pitchFamily="34" charset="-122"/>
              </a:rPr>
              <a:t>计算机器与智能</a:t>
            </a:r>
            <a:r>
              <a:rPr lang="en-US" altLang="zh-CN" sz="1200" i="0">
                <a:effectLst/>
                <a:latin typeface="Microsoft YaHei" panose="020B0503020204020204" pitchFamily="34" charset="-122"/>
                <a:ea typeface="Microsoft YaHei" panose="020B0503020204020204" pitchFamily="34" charset="-122"/>
              </a:rPr>
              <a:t>》</a:t>
            </a:r>
            <a:r>
              <a:rPr lang="zh-CN" altLang="en-US" sz="1200" i="0">
                <a:effectLst/>
                <a:latin typeface="Microsoft YaHei" panose="020B0503020204020204" pitchFamily="34" charset="-122"/>
                <a:ea typeface="Microsoft YaHei" panose="020B0503020204020204" pitchFamily="34" charset="-122"/>
              </a:rPr>
              <a:t>。</a:t>
            </a:r>
            <a:r>
              <a:rPr lang="zh-CN" altLang="en-US" sz="1200" b="1" i="0">
                <a:effectLst/>
                <a:latin typeface="Microsoft YaHei" panose="020B0503020204020204" pitchFamily="34" charset="-122"/>
                <a:ea typeface="Microsoft YaHei" panose="020B0503020204020204" pitchFamily="34" charset="-122"/>
              </a:rPr>
              <a:t>具体流程</a:t>
            </a:r>
            <a:r>
              <a:rPr lang="zh-CN" altLang="en-US" sz="1200" i="0">
                <a:effectLst/>
                <a:latin typeface="Microsoft YaHei" panose="020B0503020204020204" pitchFamily="34" charset="-122"/>
                <a:ea typeface="Microsoft YaHei" panose="020B0503020204020204" pitchFamily="34" charset="-122"/>
              </a:rPr>
              <a:t>为一名测试者写下自己的问题，随后将问题以纯文本的形式（如计算机屏幕和键盘）发送给另一个房间中的一个人与一台机器。测试者根据他们的回答来判断哪一个是真人，哪一个是机器。所有参与测试的人或</a:t>
            </a:r>
            <a:r>
              <a:rPr lang="zh-CN" altLang="en-US" sz="1200">
                <a:latin typeface="Microsoft YaHei" panose="020B0503020204020204" pitchFamily="34" charset="-122"/>
                <a:ea typeface="Microsoft YaHei" panose="020B0503020204020204" pitchFamily="34" charset="-122"/>
              </a:rPr>
              <a:t>机器</a:t>
            </a:r>
            <a:r>
              <a:rPr lang="zh-CN" altLang="en-US" sz="1200" i="0">
                <a:effectLst/>
                <a:latin typeface="Microsoft YaHei" panose="020B0503020204020204" pitchFamily="34" charset="-122"/>
                <a:ea typeface="Microsoft YaHei" panose="020B0503020204020204" pitchFamily="34" charset="-122"/>
              </a:rPr>
              <a:t>都会被分开。</a:t>
            </a:r>
            <a:endParaRPr lang="zh-CN" altLang="en-US" sz="1200">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i="0">
              <a:effectLst/>
              <a:latin typeface="Microsoft YaHei" panose="020B0503020204020204" pitchFamily="34" charset="-122"/>
              <a:ea typeface="Microsoft YaHei" panose="020B0503020204020204" pitchFamily="34" charset="-122"/>
            </a:endParaRPr>
          </a:p>
          <a:p>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21</a:t>
            </a:fld>
            <a:endParaRPr kumimoji="1" lang="zh-CN" altLang="en-US"/>
          </a:p>
        </p:txBody>
      </p:sp>
    </p:spTree>
    <p:extLst>
      <p:ext uri="{BB962C8B-B14F-4D97-AF65-F5344CB8AC3E}">
        <p14:creationId xmlns:p14="http://schemas.microsoft.com/office/powerpoint/2010/main" val="125054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a:solidFill>
                  <a:srgbClr val="0F1115"/>
                </a:solidFill>
                <a:effectLst/>
                <a:latin typeface="quote-cjk-patch"/>
              </a:rPr>
              <a:t>但即使通过图灵测试，机器是否真的具有智能？中文屋实验提出了更深层的质疑。</a:t>
            </a:r>
          </a:p>
          <a:p>
            <a:br>
              <a:rPr lang="zh-CN" altLang="en-US"/>
            </a:b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22</a:t>
            </a:fld>
            <a:endParaRPr kumimoji="1" lang="zh-CN" altLang="en-US"/>
          </a:p>
        </p:txBody>
      </p:sp>
    </p:spTree>
    <p:extLst>
      <p:ext uri="{BB962C8B-B14F-4D97-AF65-F5344CB8AC3E}">
        <p14:creationId xmlns:p14="http://schemas.microsoft.com/office/powerpoint/2010/main" val="18815579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理性通常指在给定目标下最大化效用函数的行为。</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t>23</a:t>
            </a:fld>
            <a:endParaRPr kumimoji="1" lang="zh-CN" altLang="en-US"/>
          </a:p>
        </p:txBody>
      </p:sp>
    </p:spTree>
    <p:extLst>
      <p:ext uri="{BB962C8B-B14F-4D97-AF65-F5344CB8AC3E}">
        <p14:creationId xmlns:p14="http://schemas.microsoft.com/office/powerpoint/2010/main" val="15362994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计算理性关注的是在有限资源和时间下如何做出最优决策。这与完美理性和有限理性不同。</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t>24</a:t>
            </a:fld>
            <a:endParaRPr kumimoji="1" lang="zh-CN" altLang="en-US"/>
          </a:p>
        </p:txBody>
      </p:sp>
    </p:spTree>
    <p:extLst>
      <p:ext uri="{BB962C8B-B14F-4D97-AF65-F5344CB8AC3E}">
        <p14:creationId xmlns:p14="http://schemas.microsoft.com/office/powerpoint/2010/main" val="3502292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a:solidFill>
                  <a:srgbClr val="0F1115"/>
                </a:solidFill>
                <a:effectLst/>
                <a:latin typeface="quote-cjk-patch"/>
              </a:rPr>
              <a:t>人工智能的发展经历了从推理系统、专家系统到统计学习的演变。</a:t>
            </a:r>
          </a:p>
          <a:p>
            <a:br>
              <a:rPr lang="zh-CN" altLang="en-US"/>
            </a:b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25</a:t>
            </a:fld>
            <a:endParaRPr kumimoji="1" lang="zh-CN" altLang="en-US"/>
          </a:p>
        </p:txBody>
      </p:sp>
    </p:spTree>
    <p:extLst>
      <p:ext uri="{BB962C8B-B14F-4D97-AF65-F5344CB8AC3E}">
        <p14:creationId xmlns:p14="http://schemas.microsoft.com/office/powerpoint/2010/main" val="2043403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现代人工智能起源于</a:t>
            </a:r>
            <a:r>
              <a:rPr lang="en-US" altLang="zh-CN" b="0" i="0">
                <a:solidFill>
                  <a:srgbClr val="0F1115"/>
                </a:solidFill>
                <a:effectLst/>
                <a:latin typeface="quote-cjk-patch"/>
              </a:rPr>
              <a:t>1956</a:t>
            </a:r>
            <a:r>
              <a:rPr lang="zh-CN" altLang="en-US" b="0" i="0">
                <a:solidFill>
                  <a:srgbClr val="0F1115"/>
                </a:solidFill>
                <a:effectLst/>
                <a:latin typeface="quote-cjk-patch"/>
              </a:rPr>
              <a:t>年的达特茅斯会议。</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26</a:t>
            </a:fld>
            <a:endParaRPr kumimoji="1" lang="zh-CN" altLang="en-US"/>
          </a:p>
        </p:txBody>
      </p:sp>
    </p:spTree>
    <p:extLst>
      <p:ext uri="{BB962C8B-B14F-4D97-AF65-F5344CB8AC3E}">
        <p14:creationId xmlns:p14="http://schemas.microsoft.com/office/powerpoint/2010/main" val="30153771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早期</a:t>
            </a:r>
            <a:r>
              <a:rPr lang="en-GB" altLang="zh-CN" b="0" i="0">
                <a:solidFill>
                  <a:srgbClr val="0F1115"/>
                </a:solidFill>
                <a:effectLst/>
                <a:latin typeface="quote-cjk-patch"/>
              </a:rPr>
              <a:t>AI</a:t>
            </a:r>
            <a:r>
              <a:rPr lang="zh-CN" altLang="en-US" b="0" i="0">
                <a:solidFill>
                  <a:srgbClr val="0F1115"/>
                </a:solidFill>
                <a:effectLst/>
                <a:latin typeface="quote-cjk-patch"/>
              </a:rPr>
              <a:t>主要依赖符号逻辑和推理系统。</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27</a:t>
            </a:fld>
            <a:endParaRPr kumimoji="1" lang="zh-CN" altLang="en-US"/>
          </a:p>
        </p:txBody>
      </p:sp>
    </p:spTree>
    <p:extLst>
      <p:ext uri="{BB962C8B-B14F-4D97-AF65-F5344CB8AC3E}">
        <p14:creationId xmlns:p14="http://schemas.microsoft.com/office/powerpoint/2010/main" val="506775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a:solidFill>
                  <a:srgbClr val="0F1115"/>
                </a:solidFill>
                <a:effectLst/>
                <a:latin typeface="quote-cjk-patch"/>
              </a:rPr>
              <a:t>70</a:t>
            </a:r>
            <a:r>
              <a:rPr lang="zh-CN" altLang="en-US" b="0" i="0">
                <a:solidFill>
                  <a:srgbClr val="0F1115"/>
                </a:solidFill>
                <a:effectLst/>
                <a:latin typeface="quote-cjk-patch"/>
              </a:rPr>
              <a:t>年代</a:t>
            </a:r>
            <a:r>
              <a:rPr lang="en-GB" altLang="zh-CN" b="0" i="0">
                <a:solidFill>
                  <a:srgbClr val="0F1115"/>
                </a:solidFill>
                <a:effectLst/>
                <a:latin typeface="quote-cjk-patch"/>
              </a:rPr>
              <a:t>AI</a:t>
            </a:r>
            <a:r>
              <a:rPr lang="zh-CN" altLang="en-US" b="0" i="0">
                <a:solidFill>
                  <a:srgbClr val="0F1115"/>
                </a:solidFill>
                <a:effectLst/>
                <a:latin typeface="quote-cjk-patch"/>
              </a:rPr>
              <a:t>进入低谷，</a:t>
            </a:r>
            <a:r>
              <a:rPr lang="en-US" altLang="zh-CN" b="0" i="0">
                <a:solidFill>
                  <a:srgbClr val="0F1115"/>
                </a:solidFill>
                <a:effectLst/>
                <a:latin typeface="quote-cjk-patch"/>
              </a:rPr>
              <a:t>80</a:t>
            </a:r>
            <a:r>
              <a:rPr lang="zh-CN" altLang="en-US" b="0" i="0">
                <a:solidFill>
                  <a:srgbClr val="0F1115"/>
                </a:solidFill>
                <a:effectLst/>
                <a:latin typeface="quote-cjk-patch"/>
              </a:rPr>
              <a:t>年代专家系统兴起。</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28</a:t>
            </a:fld>
            <a:endParaRPr kumimoji="1" lang="zh-CN" altLang="en-US"/>
          </a:p>
        </p:txBody>
      </p:sp>
    </p:spTree>
    <p:extLst>
      <p:ext uri="{BB962C8B-B14F-4D97-AF65-F5344CB8AC3E}">
        <p14:creationId xmlns:p14="http://schemas.microsoft.com/office/powerpoint/2010/main" val="1777480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从</a:t>
            </a:r>
            <a:r>
              <a:rPr lang="en-US" altLang="zh-CN" b="0" i="0">
                <a:solidFill>
                  <a:srgbClr val="0F1115"/>
                </a:solidFill>
                <a:effectLst/>
                <a:latin typeface="quote-cjk-patch"/>
              </a:rPr>
              <a:t>90</a:t>
            </a:r>
            <a:r>
              <a:rPr lang="zh-CN" altLang="en-US" b="0" i="0">
                <a:solidFill>
                  <a:srgbClr val="0F1115"/>
                </a:solidFill>
                <a:effectLst/>
                <a:latin typeface="quote-cjk-patch"/>
              </a:rPr>
              <a:t>年代开始，统计学习方法逐渐成为主流。</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29</a:t>
            </a:fld>
            <a:endParaRPr kumimoji="1" lang="zh-CN" altLang="en-US"/>
          </a:p>
        </p:txBody>
      </p:sp>
    </p:spTree>
    <p:extLst>
      <p:ext uri="{BB962C8B-B14F-4D97-AF65-F5344CB8AC3E}">
        <p14:creationId xmlns:p14="http://schemas.microsoft.com/office/powerpoint/2010/main" val="22513787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算力、数据、算法的突破共同推动了当代</a:t>
            </a:r>
            <a:r>
              <a:rPr lang="en-GB" altLang="zh-CN" b="0" i="0">
                <a:solidFill>
                  <a:srgbClr val="0F1115"/>
                </a:solidFill>
                <a:effectLst/>
                <a:latin typeface="quote-cjk-patch"/>
              </a:rPr>
              <a:t>AI</a:t>
            </a:r>
            <a:r>
              <a:rPr lang="zh-CN" altLang="en-US" b="0" i="0">
                <a:solidFill>
                  <a:srgbClr val="0F1115"/>
                </a:solidFill>
                <a:effectLst/>
                <a:latin typeface="quote-cjk-patch"/>
              </a:rPr>
              <a:t>的飞速发展。</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30</a:t>
            </a:fld>
            <a:endParaRPr kumimoji="1" lang="zh-CN" altLang="en-US"/>
          </a:p>
        </p:txBody>
      </p:sp>
    </p:spTree>
    <p:extLst>
      <p:ext uri="{BB962C8B-B14F-4D97-AF65-F5344CB8AC3E}">
        <p14:creationId xmlns:p14="http://schemas.microsoft.com/office/powerpoint/2010/main" val="26680984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从深蓝到</a:t>
            </a:r>
            <a:r>
              <a:rPr lang="en-GB" altLang="zh-CN" b="0" i="0">
                <a:solidFill>
                  <a:srgbClr val="0F1115"/>
                </a:solidFill>
                <a:effectLst/>
                <a:latin typeface="quote-cjk-patch"/>
              </a:rPr>
              <a:t>AlphaGo</a:t>
            </a:r>
            <a:r>
              <a:rPr lang="zh-CN" altLang="en-GB" b="0" i="0">
                <a:solidFill>
                  <a:srgbClr val="0F1115"/>
                </a:solidFill>
                <a:effectLst/>
                <a:latin typeface="quote-cjk-patch"/>
              </a:rPr>
              <a:t>，</a:t>
            </a:r>
            <a:r>
              <a:rPr lang="en-GB" altLang="zh-CN" b="0" i="0">
                <a:solidFill>
                  <a:srgbClr val="0F1115"/>
                </a:solidFill>
                <a:effectLst/>
                <a:latin typeface="quote-cjk-patch"/>
              </a:rPr>
              <a:t>18</a:t>
            </a:r>
            <a:r>
              <a:rPr lang="zh-CN" altLang="en-US" b="0" i="0">
                <a:solidFill>
                  <a:srgbClr val="0F1115"/>
                </a:solidFill>
                <a:effectLst/>
                <a:latin typeface="quote-cjk-patch"/>
              </a:rPr>
              <a:t>年间算力提升百万倍，算法也发生革命性变化。</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31</a:t>
            </a:fld>
            <a:endParaRPr kumimoji="1" lang="zh-CN" altLang="en-US"/>
          </a:p>
        </p:txBody>
      </p:sp>
    </p:spTree>
    <p:extLst>
      <p:ext uri="{BB962C8B-B14F-4D97-AF65-F5344CB8AC3E}">
        <p14:creationId xmlns:p14="http://schemas.microsoft.com/office/powerpoint/2010/main" val="38779582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当前最热门的</a:t>
            </a:r>
            <a:r>
              <a:rPr lang="en-GB" altLang="zh-CN" b="0" i="0">
                <a:solidFill>
                  <a:srgbClr val="0F1115"/>
                </a:solidFill>
                <a:effectLst/>
                <a:latin typeface="quote-cjk-patch"/>
              </a:rPr>
              <a:t>AI</a:t>
            </a:r>
            <a:r>
              <a:rPr lang="zh-CN" altLang="en-US" b="0" i="0">
                <a:solidFill>
                  <a:srgbClr val="0F1115"/>
                </a:solidFill>
                <a:effectLst/>
                <a:latin typeface="quote-cjk-patch"/>
              </a:rPr>
              <a:t>领域是大语言模型，如</a:t>
            </a:r>
            <a:r>
              <a:rPr lang="en-GB" altLang="zh-CN" b="0" i="0">
                <a:solidFill>
                  <a:srgbClr val="0F1115"/>
                </a:solidFill>
                <a:effectLst/>
                <a:latin typeface="quote-cjk-patch"/>
              </a:rPr>
              <a:t>GPT</a:t>
            </a:r>
            <a:r>
              <a:rPr lang="zh-CN" altLang="en-US" b="0" i="0">
                <a:solidFill>
                  <a:srgbClr val="0F1115"/>
                </a:solidFill>
                <a:effectLst/>
                <a:latin typeface="quote-cjk-patch"/>
              </a:rPr>
              <a:t>系列。</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32</a:t>
            </a:fld>
            <a:endParaRPr kumimoji="1" lang="zh-CN" altLang="en-US"/>
          </a:p>
        </p:txBody>
      </p:sp>
    </p:spTree>
    <p:extLst>
      <p:ext uri="{BB962C8B-B14F-4D97-AF65-F5344CB8AC3E}">
        <p14:creationId xmlns:p14="http://schemas.microsoft.com/office/powerpoint/2010/main" val="20567363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GPT-3</a:t>
            </a:r>
            <a:r>
              <a:rPr lang="zh-CN" altLang="en-US" b="0" i="0">
                <a:solidFill>
                  <a:srgbClr val="0F1115"/>
                </a:solidFill>
                <a:effectLst/>
                <a:latin typeface="quote-cjk-patch"/>
              </a:rPr>
              <a:t>拥有</a:t>
            </a:r>
            <a:r>
              <a:rPr lang="en-US" altLang="zh-CN" b="0" i="0">
                <a:solidFill>
                  <a:srgbClr val="0F1115"/>
                </a:solidFill>
                <a:effectLst/>
                <a:latin typeface="quote-cjk-patch"/>
              </a:rPr>
              <a:t>1750</a:t>
            </a:r>
            <a:r>
              <a:rPr lang="zh-CN" altLang="en-US" b="0" i="0">
                <a:solidFill>
                  <a:srgbClr val="0F1115"/>
                </a:solidFill>
                <a:effectLst/>
                <a:latin typeface="quote-cjk-patch"/>
              </a:rPr>
              <a:t>亿参数，训练成本高达</a:t>
            </a:r>
            <a:r>
              <a:rPr lang="en-US" altLang="zh-CN" b="0" i="0">
                <a:solidFill>
                  <a:srgbClr val="0F1115"/>
                </a:solidFill>
                <a:effectLst/>
                <a:latin typeface="quote-cjk-patch"/>
              </a:rPr>
              <a:t>500</a:t>
            </a:r>
            <a:r>
              <a:rPr lang="zh-CN" altLang="en-US" b="0" i="0">
                <a:solidFill>
                  <a:srgbClr val="0F1115"/>
                </a:solidFill>
                <a:effectLst/>
                <a:latin typeface="quote-cjk-patch"/>
              </a:rPr>
              <a:t>万美元。</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33</a:t>
            </a:fld>
            <a:endParaRPr kumimoji="1" lang="zh-CN" altLang="en-US"/>
          </a:p>
        </p:txBody>
      </p:sp>
    </p:spTree>
    <p:extLst>
      <p:ext uri="{BB962C8B-B14F-4D97-AF65-F5344CB8AC3E}">
        <p14:creationId xmlns:p14="http://schemas.microsoft.com/office/powerpoint/2010/main" val="31726073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F1115"/>
                </a:solidFill>
                <a:effectLst/>
                <a:latin typeface="quote-cjk-patch"/>
              </a:rPr>
              <a:t>通过提示工程（如</a:t>
            </a:r>
            <a:r>
              <a:rPr lang="en-GB" altLang="zh-CN" b="0" i="0" dirty="0">
                <a:solidFill>
                  <a:srgbClr val="0F1115"/>
                </a:solidFill>
                <a:effectLst/>
                <a:latin typeface="quote-cjk-patch"/>
              </a:rPr>
              <a:t>Chain of Thought</a:t>
            </a:r>
            <a:r>
              <a:rPr lang="zh-CN" altLang="en-GB" b="0" i="0" dirty="0">
                <a:solidFill>
                  <a:srgbClr val="0F1115"/>
                </a:solidFill>
                <a:effectLst/>
                <a:latin typeface="quote-cjk-patch"/>
              </a:rPr>
              <a:t>），</a:t>
            </a:r>
            <a:r>
              <a:rPr lang="en-GB" altLang="zh-CN" b="0" i="0" dirty="0">
                <a:solidFill>
                  <a:srgbClr val="0F1115"/>
                </a:solidFill>
                <a:effectLst/>
                <a:latin typeface="quote-cjk-patch"/>
              </a:rPr>
              <a:t>GPT</a:t>
            </a:r>
            <a:r>
              <a:rPr lang="zh-CN" altLang="en-US" b="0" i="0" dirty="0">
                <a:solidFill>
                  <a:srgbClr val="0F1115"/>
                </a:solidFill>
                <a:effectLst/>
                <a:latin typeface="quote-cjk-patch"/>
              </a:rPr>
              <a:t>的准确率可大幅提升。</a:t>
            </a:r>
            <a:endParaRPr kumimoji="1" lang="zh-CN" altLang="en-US" dirty="0"/>
          </a:p>
        </p:txBody>
      </p:sp>
      <p:sp>
        <p:nvSpPr>
          <p:cNvPr id="4" name="灯片编号占位符 3"/>
          <p:cNvSpPr>
            <a:spLocks noGrp="1"/>
          </p:cNvSpPr>
          <p:nvPr>
            <p:ph type="sldNum" sz="quarter" idx="5"/>
          </p:nvPr>
        </p:nvSpPr>
        <p:spPr/>
        <p:txBody>
          <a:bodyPr/>
          <a:lstStyle/>
          <a:p>
            <a:fld id="{9AB6E8FC-03EC-A947-B9D5-7470CC25629A}" type="slidenum">
              <a:rPr lang="en-US" altLang="zh-CN"/>
              <a:t>34</a:t>
            </a:fld>
            <a:endParaRPr kumimoji="1" lang="zh-CN" altLang="en-US"/>
          </a:p>
        </p:txBody>
      </p:sp>
    </p:spTree>
    <p:extLst>
      <p:ext uri="{BB962C8B-B14F-4D97-AF65-F5344CB8AC3E}">
        <p14:creationId xmlns:p14="http://schemas.microsoft.com/office/powerpoint/2010/main" val="7142985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ChatGPT</a:t>
            </a:r>
            <a:r>
              <a:rPr lang="zh-CN" altLang="en-US" b="0" i="0">
                <a:solidFill>
                  <a:srgbClr val="0F1115"/>
                </a:solidFill>
                <a:effectLst/>
                <a:latin typeface="quote-cjk-patch"/>
              </a:rPr>
              <a:t>基于</a:t>
            </a:r>
            <a:r>
              <a:rPr lang="en-GB" altLang="zh-CN" b="0" i="0">
                <a:solidFill>
                  <a:srgbClr val="0F1115"/>
                </a:solidFill>
                <a:effectLst/>
                <a:latin typeface="quote-cjk-patch"/>
              </a:rPr>
              <a:t>GPT-3.5</a:t>
            </a:r>
            <a:r>
              <a:rPr lang="zh-CN" altLang="en-US" b="0" i="0">
                <a:solidFill>
                  <a:srgbClr val="0F1115"/>
                </a:solidFill>
                <a:effectLst/>
                <a:latin typeface="quote-cjk-patch"/>
              </a:rPr>
              <a:t>和</a:t>
            </a:r>
            <a:r>
              <a:rPr lang="en-GB" altLang="zh-CN" b="0" i="0">
                <a:solidFill>
                  <a:srgbClr val="0F1115"/>
                </a:solidFill>
                <a:effectLst/>
                <a:latin typeface="quote-cjk-patch"/>
              </a:rPr>
              <a:t>GPT-4</a:t>
            </a:r>
            <a:r>
              <a:rPr lang="zh-CN" altLang="en-GB" b="0" i="0">
                <a:solidFill>
                  <a:srgbClr val="0F1115"/>
                </a:solidFill>
                <a:effectLst/>
                <a:latin typeface="quote-cjk-patch"/>
              </a:rPr>
              <a:t>，</a:t>
            </a:r>
            <a:r>
              <a:rPr lang="zh-CN" altLang="en-US" b="0" i="0">
                <a:solidFill>
                  <a:srgbClr val="0F1115"/>
                </a:solidFill>
                <a:effectLst/>
                <a:latin typeface="quote-cjk-patch"/>
              </a:rPr>
              <a:t>已成为强大的自然语言处理工具。</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35</a:t>
            </a:fld>
            <a:endParaRPr kumimoji="1" lang="zh-CN" altLang="en-US"/>
          </a:p>
        </p:txBody>
      </p:sp>
    </p:spTree>
    <p:extLst>
      <p:ext uri="{BB962C8B-B14F-4D97-AF65-F5344CB8AC3E}">
        <p14:creationId xmlns:p14="http://schemas.microsoft.com/office/powerpoint/2010/main" val="25970804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它甚至可以生成</a:t>
            </a:r>
            <a:r>
              <a:rPr lang="en-GB" altLang="zh-CN" b="0" i="0">
                <a:solidFill>
                  <a:srgbClr val="0F1115"/>
                </a:solidFill>
                <a:effectLst/>
                <a:latin typeface="quote-cjk-patch"/>
              </a:rPr>
              <a:t>PyTorch</a:t>
            </a:r>
            <a:r>
              <a:rPr lang="zh-CN" altLang="en-US" b="0" i="0">
                <a:solidFill>
                  <a:srgbClr val="0F1115"/>
                </a:solidFill>
                <a:effectLst/>
                <a:latin typeface="quote-cjk-patch"/>
              </a:rPr>
              <a:t>代码，实现</a:t>
            </a:r>
            <a:r>
              <a:rPr lang="en-GB" altLang="zh-CN" b="0" i="0">
                <a:solidFill>
                  <a:srgbClr val="0F1115"/>
                </a:solidFill>
                <a:effectLst/>
                <a:latin typeface="quote-cjk-patch"/>
              </a:rPr>
              <a:t>MNIST</a:t>
            </a:r>
            <a:r>
              <a:rPr lang="zh-CN" altLang="en-US" b="0" i="0">
                <a:solidFill>
                  <a:srgbClr val="0F1115"/>
                </a:solidFill>
                <a:effectLst/>
                <a:latin typeface="quote-cjk-patch"/>
              </a:rPr>
              <a:t>分类任务。</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37</a:t>
            </a:fld>
            <a:endParaRPr kumimoji="1" lang="zh-CN" altLang="en-US"/>
          </a:p>
        </p:txBody>
      </p:sp>
    </p:spTree>
    <p:extLst>
      <p:ext uri="{BB962C8B-B14F-4D97-AF65-F5344CB8AC3E}">
        <p14:creationId xmlns:p14="http://schemas.microsoft.com/office/powerpoint/2010/main" val="40527895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GPT-4</a:t>
            </a:r>
            <a:r>
              <a:rPr lang="zh-CN" altLang="en-US" b="0" i="0">
                <a:solidFill>
                  <a:srgbClr val="0F1115"/>
                </a:solidFill>
                <a:effectLst/>
                <a:latin typeface="quote-cjk-patch"/>
              </a:rPr>
              <a:t>在多项考试中表现优异，甚至超过绝大多数人类考生。</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t>38</a:t>
            </a:fld>
            <a:endParaRPr kumimoji="1" lang="zh-CN" altLang="en-US"/>
          </a:p>
        </p:txBody>
      </p:sp>
    </p:spTree>
    <p:extLst>
      <p:ext uri="{BB962C8B-B14F-4D97-AF65-F5344CB8AC3E}">
        <p14:creationId xmlns:p14="http://schemas.microsoft.com/office/powerpoint/2010/main" val="37448525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GPT4</a:t>
            </a:r>
            <a:r>
              <a:rPr kumimoji="1" lang="zh-CN" altLang="en-US"/>
              <a:t>在参加人类考试的时候，各项成绩都非常靠前。但是在写作能力中，还有待优化。</a:t>
            </a:r>
          </a:p>
        </p:txBody>
      </p:sp>
      <p:sp>
        <p:nvSpPr>
          <p:cNvPr id="4" name="灯片编号占位符 3"/>
          <p:cNvSpPr>
            <a:spLocks noGrp="1"/>
          </p:cNvSpPr>
          <p:nvPr>
            <p:ph type="sldNum" sz="quarter" idx="5"/>
          </p:nvPr>
        </p:nvSpPr>
        <p:spPr/>
        <p:txBody>
          <a:bodyPr/>
          <a:lstStyle/>
          <a:p>
            <a:fld id="{9AB6E8FC-03EC-A947-B9D5-7470CC25629A}" type="slidenum">
              <a:t>39</a:t>
            </a:fld>
            <a:endParaRPr kumimoji="1" lang="zh-CN" altLang="en-US"/>
          </a:p>
        </p:txBody>
      </p:sp>
    </p:spTree>
    <p:extLst>
      <p:ext uri="{BB962C8B-B14F-4D97-AF65-F5344CB8AC3E}">
        <p14:creationId xmlns:p14="http://schemas.microsoft.com/office/powerpoint/2010/main" val="39169856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多模态模型如</a:t>
            </a:r>
            <a:r>
              <a:rPr lang="en-GB" altLang="zh-CN" b="0" i="0">
                <a:solidFill>
                  <a:srgbClr val="0F1115"/>
                </a:solidFill>
                <a:effectLst/>
                <a:latin typeface="quote-cjk-patch"/>
              </a:rPr>
              <a:t>GPT-4V</a:t>
            </a:r>
            <a:r>
              <a:rPr lang="zh-CN" altLang="en-US" b="0" i="0">
                <a:solidFill>
                  <a:srgbClr val="0F1115"/>
                </a:solidFill>
                <a:effectLst/>
                <a:latin typeface="quote-cjk-patch"/>
              </a:rPr>
              <a:t>不仅能处理文本，还能理解图像。</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41</a:t>
            </a:fld>
            <a:endParaRPr kumimoji="1" lang="zh-CN" altLang="en-US"/>
          </a:p>
        </p:txBody>
      </p:sp>
    </p:spTree>
    <p:extLst>
      <p:ext uri="{BB962C8B-B14F-4D97-AF65-F5344CB8AC3E}">
        <p14:creationId xmlns:p14="http://schemas.microsoft.com/office/powerpoint/2010/main" val="16324221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我们可以看到在</a:t>
            </a:r>
            <a:r>
              <a:rPr kumimoji="1" lang="en-US" altLang="zh-CN"/>
              <a:t>GPT4</a:t>
            </a:r>
            <a:r>
              <a:rPr kumimoji="1" lang="zh-CN" altLang="en-US"/>
              <a:t>读取图片的时候可以很好的把图片中的各个有效信息提取出来。</a:t>
            </a:r>
          </a:p>
        </p:txBody>
      </p:sp>
      <p:sp>
        <p:nvSpPr>
          <p:cNvPr id="4" name="灯片编号占位符 3"/>
          <p:cNvSpPr>
            <a:spLocks noGrp="1"/>
          </p:cNvSpPr>
          <p:nvPr>
            <p:ph type="sldNum" sz="quarter" idx="5"/>
          </p:nvPr>
        </p:nvSpPr>
        <p:spPr/>
        <p:txBody>
          <a:bodyPr/>
          <a:lstStyle/>
          <a:p>
            <a:fld id="{9AB6E8FC-03EC-A947-B9D5-7470CC25629A}" type="slidenum">
              <a:t>42</a:t>
            </a:fld>
            <a:endParaRPr kumimoji="1" lang="zh-CN" altLang="en-US"/>
          </a:p>
        </p:txBody>
      </p:sp>
    </p:spTree>
    <p:extLst>
      <p:ext uri="{BB962C8B-B14F-4D97-AF65-F5344CB8AC3E}">
        <p14:creationId xmlns:p14="http://schemas.microsoft.com/office/powerpoint/2010/main" val="1448518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它甚至可以解读</a:t>
            </a:r>
            <a:r>
              <a:rPr lang="en-GB" altLang="zh-CN" b="0" i="0">
                <a:solidFill>
                  <a:srgbClr val="0F1115"/>
                </a:solidFill>
                <a:effectLst/>
                <a:latin typeface="quote-cjk-patch"/>
              </a:rPr>
              <a:t>LeetCode</a:t>
            </a:r>
            <a:r>
              <a:rPr lang="zh-CN" altLang="en-US" b="0" i="0">
                <a:solidFill>
                  <a:srgbClr val="0F1115"/>
                </a:solidFill>
                <a:effectLst/>
                <a:latin typeface="quote-cjk-patch"/>
              </a:rPr>
              <a:t>题目并生成代码。</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43</a:t>
            </a:fld>
            <a:endParaRPr kumimoji="1" lang="zh-CN" altLang="en-US"/>
          </a:p>
        </p:txBody>
      </p:sp>
    </p:spTree>
    <p:extLst>
      <p:ext uri="{BB962C8B-B14F-4D97-AF65-F5344CB8AC3E}">
        <p14:creationId xmlns:p14="http://schemas.microsoft.com/office/powerpoint/2010/main" val="13910820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GPT-4Vision</a:t>
            </a:r>
            <a:r>
              <a:rPr lang="zh-CN" altLang="en-US" b="0" i="0">
                <a:solidFill>
                  <a:srgbClr val="0F1115"/>
                </a:solidFill>
                <a:effectLst/>
                <a:latin typeface="quote-cjk-patch"/>
              </a:rPr>
              <a:t>实现了真正的跨模态理解，能同时处理图像和文本。</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44</a:t>
            </a:fld>
            <a:endParaRPr kumimoji="1" lang="zh-CN" altLang="en-US"/>
          </a:p>
        </p:txBody>
      </p:sp>
    </p:spTree>
    <p:extLst>
      <p:ext uri="{BB962C8B-B14F-4D97-AF65-F5344CB8AC3E}">
        <p14:creationId xmlns:p14="http://schemas.microsoft.com/office/powerpoint/2010/main" val="22823490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GPT-4</a:t>
            </a:r>
            <a:r>
              <a:rPr lang="zh-CN" altLang="en-US" b="0" i="0">
                <a:solidFill>
                  <a:srgbClr val="0F1115"/>
                </a:solidFill>
                <a:effectLst/>
                <a:latin typeface="quote-cjk-patch"/>
              </a:rPr>
              <a:t>在多项考试中表现优异，甚至超过绝大多数人类考生。</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t>46</a:t>
            </a:fld>
            <a:endParaRPr kumimoji="1" lang="zh-CN" altLang="en-US"/>
          </a:p>
        </p:txBody>
      </p:sp>
    </p:spTree>
    <p:extLst>
      <p:ext uri="{BB962C8B-B14F-4D97-AF65-F5344CB8AC3E}">
        <p14:creationId xmlns:p14="http://schemas.microsoft.com/office/powerpoint/2010/main" val="37395599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国内也涌现出诸多大模型，如文心一言、盘古、星火等。</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47</a:t>
            </a:fld>
            <a:endParaRPr kumimoji="1" lang="zh-CN" altLang="en-US"/>
          </a:p>
        </p:txBody>
      </p:sp>
    </p:spTree>
    <p:extLst>
      <p:ext uri="{BB962C8B-B14F-4D97-AF65-F5344CB8AC3E}">
        <p14:creationId xmlns:p14="http://schemas.microsoft.com/office/powerpoint/2010/main" val="18811369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F1115"/>
                </a:solidFill>
                <a:effectLst/>
                <a:latin typeface="quote-cjk-patch"/>
              </a:rPr>
              <a:t>国内也涌现出诸多大模型，如文心一言、盘古、星火等。梁文锋</a:t>
            </a:r>
            <a:endParaRPr kumimoji="1" lang="zh-CN" altLang="en-US" dirty="0"/>
          </a:p>
        </p:txBody>
      </p:sp>
      <p:sp>
        <p:nvSpPr>
          <p:cNvPr id="4" name="灯片编号占位符 3"/>
          <p:cNvSpPr>
            <a:spLocks noGrp="1"/>
          </p:cNvSpPr>
          <p:nvPr>
            <p:ph type="sldNum" sz="quarter" idx="5"/>
          </p:nvPr>
        </p:nvSpPr>
        <p:spPr/>
        <p:txBody>
          <a:bodyPr/>
          <a:lstStyle/>
          <a:p>
            <a:fld id="{9AB6E8FC-03EC-A947-B9D5-7470CC25629A}" type="slidenum">
              <a:rPr lang="en-US" altLang="zh-CN"/>
              <a:t>48</a:t>
            </a:fld>
            <a:endParaRPr kumimoji="1" lang="zh-CN" altLang="en-US"/>
          </a:p>
        </p:txBody>
      </p:sp>
    </p:spTree>
    <p:extLst>
      <p:ext uri="{BB962C8B-B14F-4D97-AF65-F5344CB8AC3E}">
        <p14:creationId xmlns:p14="http://schemas.microsoft.com/office/powerpoint/2010/main" val="11311256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当前大模型具备强大的推理、沟通和创作能力，但也存在幻觉问题。而幻觉问题是现在</a:t>
            </a:r>
            <a:r>
              <a:rPr lang="en-US" altLang="zh-CN" b="0" i="0">
                <a:solidFill>
                  <a:srgbClr val="0F1115"/>
                </a:solidFill>
                <a:effectLst/>
                <a:latin typeface="quote-cjk-patch"/>
              </a:rPr>
              <a:t>AI</a:t>
            </a:r>
            <a:r>
              <a:rPr lang="zh-CN" altLang="en-US" b="0" i="0">
                <a:solidFill>
                  <a:srgbClr val="0F1115"/>
                </a:solidFill>
                <a:effectLst/>
                <a:latin typeface="quote-cjk-patch"/>
              </a:rPr>
              <a:t>最大的问题。</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49</a:t>
            </a:fld>
            <a:endParaRPr kumimoji="1" lang="zh-CN" altLang="en-US"/>
          </a:p>
        </p:txBody>
      </p:sp>
    </p:spTree>
    <p:extLst>
      <p:ext uri="{BB962C8B-B14F-4D97-AF65-F5344CB8AC3E}">
        <p14:creationId xmlns:p14="http://schemas.microsoft.com/office/powerpoint/2010/main" val="29335552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AI</a:t>
            </a:r>
            <a:r>
              <a:rPr lang="zh-CN" altLang="en-US" b="0" i="0">
                <a:solidFill>
                  <a:srgbClr val="0F1115"/>
                </a:solidFill>
                <a:effectLst/>
                <a:latin typeface="quote-cjk-patch"/>
              </a:rPr>
              <a:t>生成内容（</a:t>
            </a:r>
            <a:r>
              <a:rPr lang="en-GB" altLang="zh-CN" b="0" i="0">
                <a:solidFill>
                  <a:srgbClr val="0F1115"/>
                </a:solidFill>
                <a:effectLst/>
                <a:latin typeface="quote-cjk-patch"/>
              </a:rPr>
              <a:t>AIGC</a:t>
            </a:r>
            <a:r>
              <a:rPr lang="zh-CN" altLang="en-GB" b="0" i="0">
                <a:solidFill>
                  <a:srgbClr val="0F1115"/>
                </a:solidFill>
                <a:effectLst/>
                <a:latin typeface="quote-cjk-patch"/>
              </a:rPr>
              <a:t>）</a:t>
            </a:r>
            <a:r>
              <a:rPr lang="zh-CN" altLang="en-US" b="0" i="0">
                <a:solidFill>
                  <a:srgbClr val="0F1115"/>
                </a:solidFill>
                <a:effectLst/>
                <a:latin typeface="quote-cjk-patch"/>
              </a:rPr>
              <a:t>如</a:t>
            </a:r>
            <a:r>
              <a:rPr lang="en-GB" altLang="zh-CN" b="0" i="0">
                <a:solidFill>
                  <a:srgbClr val="0F1115"/>
                </a:solidFill>
                <a:effectLst/>
                <a:latin typeface="quote-cjk-patch"/>
              </a:rPr>
              <a:t>Midjourney</a:t>
            </a:r>
            <a:r>
              <a:rPr lang="zh-CN" altLang="en-GB" b="0" i="0">
                <a:solidFill>
                  <a:srgbClr val="0F1115"/>
                </a:solidFill>
                <a:effectLst/>
                <a:latin typeface="quote-cjk-patch"/>
              </a:rPr>
              <a:t>、</a:t>
            </a:r>
            <a:r>
              <a:rPr lang="en-GB" altLang="zh-CN" b="0" i="0">
                <a:solidFill>
                  <a:srgbClr val="0F1115"/>
                </a:solidFill>
                <a:effectLst/>
                <a:latin typeface="quote-cjk-patch"/>
              </a:rPr>
              <a:t>DALL-E 3</a:t>
            </a:r>
            <a:r>
              <a:rPr lang="zh-CN" altLang="en-US" b="0" i="0">
                <a:solidFill>
                  <a:srgbClr val="0F1115"/>
                </a:solidFill>
                <a:effectLst/>
                <a:latin typeface="quote-cjk-patch"/>
              </a:rPr>
              <a:t>能根据文字生成高质量图像。</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50</a:t>
            </a:fld>
            <a:endParaRPr kumimoji="1" lang="zh-CN" altLang="en-US"/>
          </a:p>
        </p:txBody>
      </p:sp>
    </p:spTree>
    <p:extLst>
      <p:ext uri="{BB962C8B-B14F-4D97-AF65-F5344CB8AC3E}">
        <p14:creationId xmlns:p14="http://schemas.microsoft.com/office/powerpoint/2010/main" val="15419443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我们可以看到，</a:t>
            </a:r>
            <a:r>
              <a:rPr kumimoji="1" lang="en-US" altLang="zh-CN"/>
              <a:t>GPT</a:t>
            </a:r>
            <a:r>
              <a:rPr kumimoji="1" lang="zh-CN" altLang="en-US"/>
              <a:t>可以精准提取文字并生成相应的图像。</a:t>
            </a:r>
          </a:p>
        </p:txBody>
      </p:sp>
      <p:sp>
        <p:nvSpPr>
          <p:cNvPr id="4" name="灯片编号占位符 3"/>
          <p:cNvSpPr>
            <a:spLocks noGrp="1"/>
          </p:cNvSpPr>
          <p:nvPr>
            <p:ph type="sldNum" sz="quarter" idx="5"/>
          </p:nvPr>
        </p:nvSpPr>
        <p:spPr/>
        <p:txBody>
          <a:bodyPr/>
          <a:lstStyle/>
          <a:p>
            <a:fld id="{9AB6E8FC-03EC-A947-B9D5-7470CC25629A}" type="slidenum">
              <a:rPr lang="en-US" altLang="zh-CN"/>
              <a:t>51</a:t>
            </a:fld>
            <a:endParaRPr kumimoji="1" lang="zh-CN" altLang="en-US"/>
          </a:p>
        </p:txBody>
      </p:sp>
    </p:spTree>
    <p:extLst>
      <p:ext uri="{BB962C8B-B14F-4D97-AF65-F5344CB8AC3E}">
        <p14:creationId xmlns:p14="http://schemas.microsoft.com/office/powerpoint/2010/main" val="26250723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以上为</a:t>
            </a:r>
            <a:r>
              <a:rPr kumimoji="1" lang="en-US" altLang="zh-CN"/>
              <a:t>DALL-E2</a:t>
            </a:r>
            <a:r>
              <a:rPr kumimoji="1" lang="zh-CN" altLang="en-US"/>
              <a:t>生成的一些图片案例，逼真度很高，也很有意思。</a:t>
            </a:r>
          </a:p>
        </p:txBody>
      </p:sp>
      <p:sp>
        <p:nvSpPr>
          <p:cNvPr id="4" name="灯片编号占位符 3"/>
          <p:cNvSpPr>
            <a:spLocks noGrp="1"/>
          </p:cNvSpPr>
          <p:nvPr>
            <p:ph type="sldNum" sz="quarter" idx="5"/>
          </p:nvPr>
        </p:nvSpPr>
        <p:spPr/>
        <p:txBody>
          <a:bodyPr/>
          <a:lstStyle/>
          <a:p>
            <a:fld id="{9AB6E8FC-03EC-A947-B9D5-7470CC25629A}" type="slidenum">
              <a:rPr lang="en-US" altLang="zh-CN"/>
              <a:t>52</a:t>
            </a:fld>
            <a:endParaRPr kumimoji="1" lang="zh-CN" altLang="en-US"/>
          </a:p>
        </p:txBody>
      </p:sp>
    </p:spTree>
    <p:extLst>
      <p:ext uri="{BB962C8B-B14F-4D97-AF65-F5344CB8AC3E}">
        <p14:creationId xmlns:p14="http://schemas.microsoft.com/office/powerpoint/2010/main" val="33582222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同时，该模型还可以补全一些缺失的图片</a:t>
            </a:r>
          </a:p>
        </p:txBody>
      </p:sp>
      <p:sp>
        <p:nvSpPr>
          <p:cNvPr id="4" name="灯片编号占位符 3"/>
          <p:cNvSpPr>
            <a:spLocks noGrp="1"/>
          </p:cNvSpPr>
          <p:nvPr>
            <p:ph type="sldNum" sz="quarter" idx="5"/>
          </p:nvPr>
        </p:nvSpPr>
        <p:spPr/>
        <p:txBody>
          <a:bodyPr/>
          <a:lstStyle/>
          <a:p>
            <a:fld id="{9AB6E8FC-03EC-A947-B9D5-7470CC25629A}" type="slidenum">
              <a:rPr lang="en-US" altLang="zh-CN"/>
              <a:t>53</a:t>
            </a:fld>
            <a:endParaRPr kumimoji="1" lang="zh-CN" altLang="en-US"/>
          </a:p>
        </p:txBody>
      </p:sp>
    </p:spTree>
    <p:extLst>
      <p:ext uri="{BB962C8B-B14F-4D97-AF65-F5344CB8AC3E}">
        <p14:creationId xmlns:p14="http://schemas.microsoft.com/office/powerpoint/2010/main" val="30204309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Stable Diffusion 3</a:t>
            </a:r>
            <a:r>
              <a:rPr lang="zh-CN" altLang="en-US" b="0" i="0">
                <a:solidFill>
                  <a:srgbClr val="0F1115"/>
                </a:solidFill>
                <a:effectLst/>
                <a:latin typeface="quote-cjk-patch"/>
              </a:rPr>
              <a:t>支持复杂文本条件下的图像生成。</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56</a:t>
            </a:fld>
            <a:endParaRPr kumimoji="1" lang="zh-CN" altLang="en-US"/>
          </a:p>
        </p:txBody>
      </p:sp>
    </p:spTree>
    <p:extLst>
      <p:ext uri="{BB962C8B-B14F-4D97-AF65-F5344CB8AC3E}">
        <p14:creationId xmlns:p14="http://schemas.microsoft.com/office/powerpoint/2010/main" val="4589434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Emu Video</a:t>
            </a:r>
            <a:r>
              <a:rPr lang="zh-CN" altLang="en-GB" b="0" i="0">
                <a:solidFill>
                  <a:srgbClr val="0F1115"/>
                </a:solidFill>
                <a:effectLst/>
                <a:latin typeface="quote-cjk-patch"/>
              </a:rPr>
              <a:t>、</a:t>
            </a:r>
            <a:r>
              <a:rPr lang="en-GB" altLang="zh-CN" b="0" i="0">
                <a:solidFill>
                  <a:srgbClr val="0F1115"/>
                </a:solidFill>
                <a:effectLst/>
                <a:latin typeface="quote-cjk-patch"/>
              </a:rPr>
              <a:t>Sora</a:t>
            </a:r>
            <a:r>
              <a:rPr lang="zh-CN" altLang="en-US" b="0" i="0">
                <a:solidFill>
                  <a:srgbClr val="0F1115"/>
                </a:solidFill>
                <a:effectLst/>
                <a:latin typeface="quote-cjk-patch"/>
              </a:rPr>
              <a:t>等模型已能生成高逼真度的视频内容。</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57</a:t>
            </a:fld>
            <a:endParaRPr kumimoji="1" lang="zh-CN" altLang="en-US"/>
          </a:p>
        </p:txBody>
      </p:sp>
    </p:spTree>
    <p:extLst>
      <p:ext uri="{BB962C8B-B14F-4D97-AF65-F5344CB8AC3E}">
        <p14:creationId xmlns:p14="http://schemas.microsoft.com/office/powerpoint/2010/main" val="25621430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图像分割模型如</a:t>
            </a:r>
            <a:r>
              <a:rPr lang="en-GB" altLang="zh-CN" b="0" i="0">
                <a:solidFill>
                  <a:srgbClr val="0F1115"/>
                </a:solidFill>
                <a:effectLst/>
                <a:latin typeface="quote-cjk-patch"/>
              </a:rPr>
              <a:t>Segment Anything</a:t>
            </a:r>
            <a:r>
              <a:rPr lang="zh-CN" altLang="en-US" b="0" i="0">
                <a:solidFill>
                  <a:srgbClr val="0F1115"/>
                </a:solidFill>
                <a:effectLst/>
                <a:latin typeface="quote-cjk-patch"/>
              </a:rPr>
              <a:t>可实现精准的视觉识别。</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60</a:t>
            </a:fld>
            <a:endParaRPr kumimoji="1" lang="zh-CN" altLang="en-US"/>
          </a:p>
        </p:txBody>
      </p:sp>
    </p:spTree>
    <p:extLst>
      <p:ext uri="{BB962C8B-B14F-4D97-AF65-F5344CB8AC3E}">
        <p14:creationId xmlns:p14="http://schemas.microsoft.com/office/powerpoint/2010/main" val="10378004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机器人技术结合</a:t>
            </a:r>
            <a:r>
              <a:rPr lang="en-GB" altLang="zh-CN" b="0" i="0">
                <a:solidFill>
                  <a:srgbClr val="0F1115"/>
                </a:solidFill>
                <a:effectLst/>
                <a:latin typeface="quote-cjk-patch"/>
              </a:rPr>
              <a:t>AI</a:t>
            </a:r>
            <a:r>
              <a:rPr lang="zh-CN" altLang="en-GB" b="0" i="0">
                <a:solidFill>
                  <a:srgbClr val="0F1115"/>
                </a:solidFill>
                <a:effectLst/>
                <a:latin typeface="quote-cjk-patch"/>
              </a:rPr>
              <a:t>，</a:t>
            </a:r>
            <a:r>
              <a:rPr lang="zh-CN" altLang="en-US" b="0" i="0">
                <a:solidFill>
                  <a:srgbClr val="0F1115"/>
                </a:solidFill>
                <a:effectLst/>
                <a:latin typeface="quote-cjk-patch"/>
              </a:rPr>
              <a:t>如波士顿动力、</a:t>
            </a:r>
            <a:r>
              <a:rPr lang="en-GB" altLang="zh-CN" b="0" i="0">
                <a:solidFill>
                  <a:srgbClr val="0F1115"/>
                </a:solidFill>
                <a:effectLst/>
                <a:latin typeface="quote-cjk-patch"/>
              </a:rPr>
              <a:t>Figure 01</a:t>
            </a:r>
            <a:r>
              <a:rPr lang="zh-CN" altLang="en-GB" b="0" i="0">
                <a:solidFill>
                  <a:srgbClr val="0F1115"/>
                </a:solidFill>
                <a:effectLst/>
                <a:latin typeface="quote-cjk-patch"/>
              </a:rPr>
              <a:t>，</a:t>
            </a:r>
            <a:r>
              <a:rPr lang="zh-CN" altLang="en-US" b="0" i="0">
                <a:solidFill>
                  <a:srgbClr val="0F1115"/>
                </a:solidFill>
                <a:effectLst/>
                <a:latin typeface="quote-cjk-patch"/>
              </a:rPr>
              <a:t>正在走向实用化。</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61</a:t>
            </a:fld>
            <a:endParaRPr kumimoji="1" lang="zh-CN" altLang="en-US"/>
          </a:p>
        </p:txBody>
      </p:sp>
    </p:spTree>
    <p:extLst>
      <p:ext uri="{BB962C8B-B14F-4D97-AF65-F5344CB8AC3E}">
        <p14:creationId xmlns:p14="http://schemas.microsoft.com/office/powerpoint/2010/main" val="24185000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AB6E8FC-03EC-A947-B9D5-7470CC25629A}" type="slidenum">
              <a:rPr lang="en-US" altLang="zh-CN"/>
              <a:t>62</a:t>
            </a:fld>
            <a:endParaRPr kumimoji="1" lang="zh-CN" altLang="en-US"/>
          </a:p>
        </p:txBody>
      </p:sp>
    </p:spTree>
    <p:extLst>
      <p:ext uri="{BB962C8B-B14F-4D97-AF65-F5344CB8AC3E}">
        <p14:creationId xmlns:p14="http://schemas.microsoft.com/office/powerpoint/2010/main" val="12083426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ChatGPT</a:t>
            </a:r>
            <a:r>
              <a:rPr lang="zh-CN" altLang="en-US" b="0" i="0">
                <a:solidFill>
                  <a:srgbClr val="0F1115"/>
                </a:solidFill>
                <a:effectLst/>
                <a:latin typeface="quote-cjk-patch"/>
              </a:rPr>
              <a:t>甚至能整合底层代码，控制机器人执行任务。</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63</a:t>
            </a:fld>
            <a:endParaRPr kumimoji="1" lang="zh-CN" altLang="en-US"/>
          </a:p>
        </p:txBody>
      </p:sp>
    </p:spTree>
    <p:extLst>
      <p:ext uri="{BB962C8B-B14F-4D97-AF65-F5344CB8AC3E}">
        <p14:creationId xmlns:p14="http://schemas.microsoft.com/office/powerpoint/2010/main" val="31901996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大语言模型如</a:t>
            </a:r>
            <a:r>
              <a:rPr lang="en-GB" altLang="zh-CN" b="0" i="0">
                <a:solidFill>
                  <a:srgbClr val="0F1115"/>
                </a:solidFill>
                <a:effectLst/>
                <a:latin typeface="quote-cjk-patch"/>
              </a:rPr>
              <a:t>PaLM-E</a:t>
            </a:r>
            <a:r>
              <a:rPr lang="zh-CN" altLang="en-US" b="0" i="0">
                <a:solidFill>
                  <a:srgbClr val="0F1115"/>
                </a:solidFill>
                <a:effectLst/>
                <a:latin typeface="quote-cjk-patch"/>
              </a:rPr>
              <a:t>可用于机械臂的视觉与控制任务。</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65</a:t>
            </a:fld>
            <a:endParaRPr kumimoji="1" lang="zh-CN" altLang="en-US"/>
          </a:p>
        </p:txBody>
      </p:sp>
    </p:spTree>
    <p:extLst>
      <p:ext uri="{BB962C8B-B14F-4D97-AF65-F5344CB8AC3E}">
        <p14:creationId xmlns:p14="http://schemas.microsoft.com/office/powerpoint/2010/main" val="22283656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LanguageMPC</a:t>
            </a:r>
            <a:r>
              <a:rPr lang="zh-CN" altLang="en-US" b="0" i="0">
                <a:solidFill>
                  <a:srgbClr val="0F1115"/>
                </a:solidFill>
                <a:effectLst/>
                <a:latin typeface="quote-cjk-patch"/>
              </a:rPr>
              <a:t>将大语言模型用于自动驾驶决策系统。</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66</a:t>
            </a:fld>
            <a:endParaRPr kumimoji="1" lang="zh-CN" altLang="en-US"/>
          </a:p>
        </p:txBody>
      </p:sp>
    </p:spTree>
    <p:extLst>
      <p:ext uri="{BB962C8B-B14F-4D97-AF65-F5344CB8AC3E}">
        <p14:creationId xmlns:p14="http://schemas.microsoft.com/office/powerpoint/2010/main" val="36052995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RT-2</a:t>
            </a:r>
            <a:r>
              <a:rPr lang="zh-CN" altLang="en-US" b="0" i="0">
                <a:solidFill>
                  <a:srgbClr val="0F1115"/>
                </a:solidFill>
                <a:effectLst/>
                <a:latin typeface="quote-cjk-patch"/>
              </a:rPr>
              <a:t>模型能接受语音指令完成抓取任务，实现更自然的人机交互。</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67</a:t>
            </a:fld>
            <a:endParaRPr kumimoji="1" lang="zh-CN" altLang="en-US"/>
          </a:p>
        </p:txBody>
      </p:sp>
    </p:spTree>
    <p:extLst>
      <p:ext uri="{BB962C8B-B14F-4D97-AF65-F5344CB8AC3E}">
        <p14:creationId xmlns:p14="http://schemas.microsoft.com/office/powerpoint/2010/main" val="26419595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从现在很多人形机器人的视频片段中可以看出，其可以完成很多花式很多的任务。</a:t>
            </a:r>
          </a:p>
        </p:txBody>
      </p:sp>
      <p:sp>
        <p:nvSpPr>
          <p:cNvPr id="4" name="灯片编号占位符 3"/>
          <p:cNvSpPr>
            <a:spLocks noGrp="1"/>
          </p:cNvSpPr>
          <p:nvPr>
            <p:ph type="sldNum" sz="quarter" idx="5"/>
          </p:nvPr>
        </p:nvSpPr>
        <p:spPr/>
        <p:txBody>
          <a:bodyPr/>
          <a:lstStyle/>
          <a:p>
            <a:fld id="{9AB6E8FC-03EC-A947-B9D5-7470CC25629A}" type="slidenum">
              <a:rPr lang="en-US" altLang="zh-CN"/>
              <a:t>68</a:t>
            </a:fld>
            <a:endParaRPr kumimoji="1" lang="zh-CN" altLang="en-US"/>
          </a:p>
        </p:txBody>
      </p:sp>
    </p:spTree>
    <p:extLst>
      <p:ext uri="{BB962C8B-B14F-4D97-AF65-F5344CB8AC3E}">
        <p14:creationId xmlns:p14="http://schemas.microsoft.com/office/powerpoint/2010/main" val="38558688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比较火爆的波士顿动力的机器人，可以连冠的完成各种动作，跳跃，翻滚等等。</a:t>
            </a:r>
          </a:p>
        </p:txBody>
      </p:sp>
      <p:sp>
        <p:nvSpPr>
          <p:cNvPr id="4" name="灯片编号占位符 3"/>
          <p:cNvSpPr>
            <a:spLocks noGrp="1"/>
          </p:cNvSpPr>
          <p:nvPr>
            <p:ph type="sldNum" sz="quarter" idx="5"/>
          </p:nvPr>
        </p:nvSpPr>
        <p:spPr/>
        <p:txBody>
          <a:bodyPr/>
          <a:lstStyle/>
          <a:p>
            <a:fld id="{9AB6E8FC-03EC-A947-B9D5-7470CC25629A}" type="slidenum">
              <a:rPr lang="en-US" altLang="zh-CN"/>
              <a:t>69</a:t>
            </a:fld>
            <a:endParaRPr kumimoji="1" lang="zh-CN" altLang="en-US"/>
          </a:p>
        </p:txBody>
      </p:sp>
    </p:spTree>
    <p:extLst>
      <p:ext uri="{BB962C8B-B14F-4D97-AF65-F5344CB8AC3E}">
        <p14:creationId xmlns:p14="http://schemas.microsoft.com/office/powerpoint/2010/main" val="5221391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小鹏、特斯拉等公司正在推动自动驾驶技术的商业化落地。</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70</a:t>
            </a:fld>
            <a:endParaRPr kumimoji="1" lang="zh-CN" altLang="en-US"/>
          </a:p>
        </p:txBody>
      </p:sp>
    </p:spTree>
    <p:extLst>
      <p:ext uri="{BB962C8B-B14F-4D97-AF65-F5344CB8AC3E}">
        <p14:creationId xmlns:p14="http://schemas.microsoft.com/office/powerpoint/2010/main" val="35987021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在自动驾驶上，特斯拉的技术还是要更成熟一些。可以看到从技术层面，</a:t>
            </a:r>
            <a:r>
              <a:rPr kumimoji="1" lang="en-US" altLang="zh-CN"/>
              <a:t>FSD</a:t>
            </a:r>
            <a:r>
              <a:rPr kumimoji="1" lang="zh-CN" altLang="en-US"/>
              <a:t>的</a:t>
            </a:r>
            <a:r>
              <a:rPr kumimoji="1" lang="en-US" altLang="zh-CN"/>
              <a:t>AI</a:t>
            </a:r>
            <a:r>
              <a:rPr kumimoji="1" lang="zh-CN" altLang="en-US"/>
              <a:t>集成度已经非常高了。</a:t>
            </a:r>
          </a:p>
        </p:txBody>
      </p:sp>
      <p:sp>
        <p:nvSpPr>
          <p:cNvPr id="4" name="灯片编号占位符 3"/>
          <p:cNvSpPr>
            <a:spLocks noGrp="1"/>
          </p:cNvSpPr>
          <p:nvPr>
            <p:ph type="sldNum" sz="quarter" idx="5"/>
          </p:nvPr>
        </p:nvSpPr>
        <p:spPr/>
        <p:txBody>
          <a:bodyPr/>
          <a:lstStyle/>
          <a:p>
            <a:fld id="{9AB6E8FC-03EC-A947-B9D5-7470CC25629A}" type="slidenum">
              <a:rPr lang="en-US" altLang="zh-CN"/>
              <a:t>71</a:t>
            </a:fld>
            <a:endParaRPr kumimoji="1" lang="zh-CN" altLang="en-US"/>
          </a:p>
        </p:txBody>
      </p:sp>
    </p:spTree>
    <p:extLst>
      <p:ext uri="{BB962C8B-B14F-4D97-AF65-F5344CB8AC3E}">
        <p14:creationId xmlns:p14="http://schemas.microsoft.com/office/powerpoint/2010/main" val="37675184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a:solidFill>
                  <a:srgbClr val="0F1115"/>
                </a:solidFill>
                <a:effectLst/>
                <a:latin typeface="quote-cjk-patch"/>
              </a:rPr>
              <a:t>百度的“萝卜快跑”无人出租车已在武汉大规模运营。</a:t>
            </a:r>
          </a:p>
          <a:p>
            <a:br>
              <a:rPr lang="zh-CN" altLang="en-US"/>
            </a:b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72</a:t>
            </a:fld>
            <a:endParaRPr kumimoji="1" lang="zh-CN" altLang="en-US"/>
          </a:p>
        </p:txBody>
      </p:sp>
    </p:spTree>
    <p:extLst>
      <p:ext uri="{BB962C8B-B14F-4D97-AF65-F5344CB8AC3E}">
        <p14:creationId xmlns:p14="http://schemas.microsoft.com/office/powerpoint/2010/main" val="11150318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kumimoji="1" lang="zh-CN" altLang="en-US" dirty="0"/>
          </a:p>
        </p:txBody>
      </p:sp>
      <p:sp>
        <p:nvSpPr>
          <p:cNvPr id="4" name="灯片编号占位符 3"/>
          <p:cNvSpPr>
            <a:spLocks noGrp="1"/>
          </p:cNvSpPr>
          <p:nvPr>
            <p:ph type="sldNum" sz="quarter" idx="5"/>
          </p:nvPr>
        </p:nvSpPr>
        <p:spPr/>
        <p:txBody>
          <a:bodyPr/>
          <a:lstStyle/>
          <a:p>
            <a:fld id="{9AB6E8FC-03EC-A947-B9D5-7470CC25629A}" type="slidenum">
              <a:rPr lang="en-US" altLang="zh-CN"/>
              <a:t>73</a:t>
            </a:fld>
            <a:endParaRPr kumimoji="1" lang="zh-CN" altLang="en-US"/>
          </a:p>
        </p:txBody>
      </p:sp>
    </p:spTree>
    <p:extLst>
      <p:ext uri="{BB962C8B-B14F-4D97-AF65-F5344CB8AC3E}">
        <p14:creationId xmlns:p14="http://schemas.microsoft.com/office/powerpoint/2010/main" val="71526823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F4D014-7E33-44A7-8C25-594FB616F2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55904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63C25-CD29-413F-C81B-507A452EB6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8044C1-5855-64D9-0E6F-02D46AE34A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23B8CC-2D8E-0CDF-D5AB-A325EC570547}"/>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D266A720-7FBE-54C8-0E04-DC65CEF75DF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F4D014-7E33-44A7-8C25-594FB616F2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44644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F4D014-7E33-44A7-8C25-594FB616F2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229404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F4D014-7E33-44A7-8C25-594FB616F2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300844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F4D014-7E33-44A7-8C25-594FB616F2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67436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0589D-2DD7-1D5D-B7F9-B02616FA82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6666B4-93F7-A166-5026-41411FADDD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ABA7DA-98D9-F61F-78F4-06DFA3A6D603}"/>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4017C65B-DD21-9F69-0E0C-C888CECFF39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F4D014-7E33-44A7-8C25-594FB616F2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7515056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F4D014-7E33-44A7-8C25-594FB616F2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67436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AI</a:t>
            </a:r>
            <a:r>
              <a:rPr lang="zh-CN" altLang="en-US" b="0" i="0">
                <a:solidFill>
                  <a:srgbClr val="0F1115"/>
                </a:solidFill>
                <a:effectLst/>
                <a:latin typeface="quote-cjk-patch"/>
              </a:rPr>
              <a:t>在多项任务上已达到甚至超越人类水平，可在</a:t>
            </a:r>
            <a:r>
              <a:rPr lang="en-GB" altLang="zh-CN" b="0" i="0">
                <a:solidFill>
                  <a:srgbClr val="0F1115"/>
                </a:solidFill>
                <a:effectLst/>
                <a:latin typeface="quote-cjk-patch"/>
              </a:rPr>
              <a:t>PapersWithCode</a:t>
            </a:r>
            <a:r>
              <a:rPr lang="zh-CN" altLang="en-US" b="0" i="0">
                <a:solidFill>
                  <a:srgbClr val="0F1115"/>
                </a:solidFill>
                <a:effectLst/>
                <a:latin typeface="quote-cjk-patch"/>
              </a:rPr>
              <a:t>上查看最新进展。</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81</a:t>
            </a:fld>
            <a:endParaRPr kumimoji="1" lang="zh-CN" altLang="en-US"/>
          </a:p>
        </p:txBody>
      </p:sp>
    </p:spTree>
    <p:extLst>
      <p:ext uri="{BB962C8B-B14F-4D97-AF65-F5344CB8AC3E}">
        <p14:creationId xmlns:p14="http://schemas.microsoft.com/office/powerpoint/2010/main" val="3532673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0" i="0">
                <a:solidFill>
                  <a:srgbClr val="0F1115"/>
                </a:solidFill>
                <a:effectLst/>
                <a:latin typeface="quote-cjk-patch"/>
              </a:rPr>
              <a:t>AI</a:t>
            </a:r>
            <a:r>
              <a:rPr lang="zh-CN" altLang="en-US" b="0" i="0">
                <a:solidFill>
                  <a:srgbClr val="0F1115"/>
                </a:solidFill>
                <a:effectLst/>
                <a:latin typeface="quote-cjk-patch"/>
              </a:rPr>
              <a:t>已在翻译、写作、绘画、驾驶等领域展现出强大能力，但在创造性、数学推导等方面仍有局限。</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83</a:t>
            </a:fld>
            <a:endParaRPr kumimoji="1" lang="zh-CN" altLang="en-US"/>
          </a:p>
        </p:txBody>
      </p:sp>
    </p:spTree>
    <p:extLst>
      <p:ext uri="{BB962C8B-B14F-4D97-AF65-F5344CB8AC3E}">
        <p14:creationId xmlns:p14="http://schemas.microsoft.com/office/powerpoint/2010/main" val="100058633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人工智能已成为国际竞争、经济发展和社会建设的重要推动力。</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85</a:t>
            </a:fld>
            <a:endParaRPr kumimoji="1" lang="zh-CN" altLang="en-US"/>
          </a:p>
        </p:txBody>
      </p:sp>
    </p:spTree>
    <p:extLst>
      <p:ext uri="{BB962C8B-B14F-4D97-AF65-F5344CB8AC3E}">
        <p14:creationId xmlns:p14="http://schemas.microsoft.com/office/powerpoint/2010/main" val="273593807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我国自</a:t>
            </a:r>
            <a:r>
              <a:rPr lang="en-US" altLang="zh-CN" b="0" i="0">
                <a:solidFill>
                  <a:srgbClr val="0F1115"/>
                </a:solidFill>
                <a:effectLst/>
                <a:latin typeface="quote-cjk-patch"/>
              </a:rPr>
              <a:t>2017</a:t>
            </a:r>
            <a:r>
              <a:rPr lang="zh-CN" altLang="en-US" b="0" i="0">
                <a:solidFill>
                  <a:srgbClr val="0F1115"/>
                </a:solidFill>
                <a:effectLst/>
                <a:latin typeface="quote-cjk-patch"/>
              </a:rPr>
              <a:t>年起陆续出台多项人工智能发展战略与伦理规范。</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t>86</a:t>
            </a:fld>
            <a:endParaRPr kumimoji="1" lang="zh-CN" altLang="en-US"/>
          </a:p>
        </p:txBody>
      </p:sp>
    </p:spTree>
    <p:extLst>
      <p:ext uri="{BB962C8B-B14F-4D97-AF65-F5344CB8AC3E}">
        <p14:creationId xmlns:p14="http://schemas.microsoft.com/office/powerpoint/2010/main" val="404365796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t>87</a:t>
            </a:fld>
            <a:endParaRPr kumimoji="1" lang="zh-CN" altLang="en-US"/>
          </a:p>
        </p:txBody>
      </p:sp>
    </p:spTree>
    <p:extLst>
      <p:ext uri="{BB962C8B-B14F-4D97-AF65-F5344CB8AC3E}">
        <p14:creationId xmlns:p14="http://schemas.microsoft.com/office/powerpoint/2010/main" val="188800354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学习</a:t>
            </a:r>
            <a:r>
              <a:rPr lang="en-GB" altLang="zh-CN" b="0" i="0">
                <a:solidFill>
                  <a:srgbClr val="0F1115"/>
                </a:solidFill>
                <a:effectLst/>
                <a:latin typeface="quote-cjk-patch"/>
              </a:rPr>
              <a:t>AI</a:t>
            </a:r>
            <a:r>
              <a:rPr lang="zh-CN" altLang="en-US" b="0" i="0">
                <a:solidFill>
                  <a:srgbClr val="0F1115"/>
                </a:solidFill>
                <a:effectLst/>
                <a:latin typeface="quote-cjk-patch"/>
              </a:rPr>
              <a:t>的核心是掌握其方法体系：优化、搜索、机器学习、深度学习等。</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88</a:t>
            </a:fld>
            <a:endParaRPr kumimoji="1" lang="zh-CN" altLang="en-US"/>
          </a:p>
        </p:txBody>
      </p:sp>
    </p:spTree>
    <p:extLst>
      <p:ext uri="{BB962C8B-B14F-4D97-AF65-F5344CB8AC3E}">
        <p14:creationId xmlns:p14="http://schemas.microsoft.com/office/powerpoint/2010/main" val="18255835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GB" altLang="zh-CN" b="0" i="0">
                <a:solidFill>
                  <a:srgbClr val="0F1115"/>
                </a:solidFill>
                <a:effectLst/>
                <a:latin typeface="quote-cjk-patch"/>
              </a:rPr>
              <a:t>AI</a:t>
            </a:r>
            <a:r>
              <a:rPr lang="zh-CN" altLang="en-US" b="0" i="0">
                <a:solidFill>
                  <a:srgbClr val="0F1115"/>
                </a:solidFill>
                <a:effectLst/>
                <a:latin typeface="quote-cjk-patch"/>
              </a:rPr>
              <a:t>工具越来越易用，但理解原理比掌握工具更为重要。</a:t>
            </a:r>
          </a:p>
          <a:p>
            <a:br>
              <a:rPr lang="zh-CN" altLang="en-US"/>
            </a:b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89</a:t>
            </a:fld>
            <a:endParaRPr kumimoji="1" lang="zh-CN" altLang="en-US"/>
          </a:p>
        </p:txBody>
      </p:sp>
    </p:spTree>
    <p:extLst>
      <p:ext uri="{BB962C8B-B14F-4D97-AF65-F5344CB8AC3E}">
        <p14:creationId xmlns:p14="http://schemas.microsoft.com/office/powerpoint/2010/main" val="19990834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算法代码可以很短，但背后的原理和开发流程才是关键。</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90</a:t>
            </a:fld>
            <a:endParaRPr kumimoji="1" lang="zh-CN" altLang="en-US"/>
          </a:p>
        </p:txBody>
      </p:sp>
    </p:spTree>
    <p:extLst>
      <p:ext uri="{BB962C8B-B14F-4D97-AF65-F5344CB8AC3E}">
        <p14:creationId xmlns:p14="http://schemas.microsoft.com/office/powerpoint/2010/main" val="209797568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本课程旨在帮助大家掌握</a:t>
            </a:r>
            <a:r>
              <a:rPr lang="en-GB" altLang="zh-CN" b="0" i="0">
                <a:solidFill>
                  <a:srgbClr val="0F1115"/>
                </a:solidFill>
                <a:effectLst/>
                <a:latin typeface="quote-cjk-patch"/>
              </a:rPr>
              <a:t>AI</a:t>
            </a:r>
            <a:r>
              <a:rPr lang="zh-CN" altLang="en-US" b="0" i="0">
                <a:solidFill>
                  <a:srgbClr val="0F1115"/>
                </a:solidFill>
                <a:effectLst/>
                <a:latin typeface="quote-cjk-patch"/>
              </a:rPr>
              <a:t>开发流程，并能针对工程问题构建简单</a:t>
            </a:r>
            <a:r>
              <a:rPr lang="en-GB" altLang="zh-CN" b="0" i="0">
                <a:solidFill>
                  <a:srgbClr val="0F1115"/>
                </a:solidFill>
                <a:effectLst/>
                <a:latin typeface="quote-cjk-patch"/>
              </a:rPr>
              <a:t>AI</a:t>
            </a:r>
            <a:r>
              <a:rPr lang="zh-CN" altLang="en-US" b="0" i="0">
                <a:solidFill>
                  <a:srgbClr val="0F1115"/>
                </a:solidFill>
                <a:effectLst/>
                <a:latin typeface="quote-cjk-patch"/>
              </a:rPr>
              <a:t>应用。课程内容涵盖优化、搜索、机器学习、深度学习、强化学习与大数据。</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91</a:t>
            </a:fld>
            <a:endParaRPr kumimoji="1" lang="zh-CN" altLang="en-US"/>
          </a:p>
        </p:txBody>
      </p:sp>
    </p:spTree>
    <p:extLst>
      <p:ext uri="{BB962C8B-B14F-4D97-AF65-F5344CB8AC3E}">
        <p14:creationId xmlns:p14="http://schemas.microsoft.com/office/powerpoint/2010/main" val="306359884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93</a:t>
            </a:fld>
            <a:endParaRPr kumimoji="1" lang="zh-CN" altLang="en-US"/>
          </a:p>
        </p:txBody>
      </p:sp>
    </p:spTree>
    <p:extLst>
      <p:ext uri="{BB962C8B-B14F-4D97-AF65-F5344CB8AC3E}">
        <p14:creationId xmlns:p14="http://schemas.microsoft.com/office/powerpoint/2010/main" val="67784881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本课程强调技术手段之间的关联与整合，帮助大家构建系统化的</a:t>
            </a:r>
            <a:r>
              <a:rPr lang="en-GB" altLang="zh-CN" b="0" i="0">
                <a:solidFill>
                  <a:srgbClr val="0F1115"/>
                </a:solidFill>
                <a:effectLst/>
                <a:latin typeface="quote-cjk-patch"/>
              </a:rPr>
              <a:t>AI</a:t>
            </a:r>
            <a:r>
              <a:rPr lang="zh-CN" altLang="en-US" b="0" i="0">
                <a:solidFill>
                  <a:srgbClr val="0F1115"/>
                </a:solidFill>
                <a:effectLst/>
                <a:latin typeface="quote-cjk-patch"/>
              </a:rPr>
              <a:t>知识体系。</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99</a:t>
            </a:fld>
            <a:endParaRPr kumimoji="1" lang="zh-CN" altLang="en-US"/>
          </a:p>
        </p:txBody>
      </p:sp>
    </p:spTree>
    <p:extLst>
      <p:ext uri="{BB962C8B-B14F-4D97-AF65-F5344CB8AC3E}">
        <p14:creationId xmlns:p14="http://schemas.microsoft.com/office/powerpoint/2010/main" val="95936411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这是一门入门课，但需要大家理解公式、动手编程、真正实现模型功能。</a:t>
            </a: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100</a:t>
            </a:fld>
            <a:endParaRPr kumimoji="1" lang="zh-CN" altLang="en-US"/>
          </a:p>
        </p:txBody>
      </p:sp>
    </p:spTree>
    <p:extLst>
      <p:ext uri="{BB962C8B-B14F-4D97-AF65-F5344CB8AC3E}">
        <p14:creationId xmlns:p14="http://schemas.microsoft.com/office/powerpoint/2010/main" val="222739022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学会阅读文档、使用工具包，是成为</a:t>
            </a:r>
            <a:r>
              <a:rPr lang="en-GB" altLang="zh-CN" b="0" i="0">
                <a:solidFill>
                  <a:srgbClr val="0F1115"/>
                </a:solidFill>
                <a:effectLst/>
                <a:latin typeface="quote-cjk-patch"/>
              </a:rPr>
              <a:t>AI</a:t>
            </a:r>
            <a:r>
              <a:rPr lang="zh-CN" altLang="en-US" b="0" i="0">
                <a:solidFill>
                  <a:srgbClr val="0F1115"/>
                </a:solidFill>
                <a:effectLst/>
                <a:latin typeface="quote-cjk-patch"/>
              </a:rPr>
              <a:t>工程师的重要一步。让我们一起走进人工智能的世界，探索智能背后的科学与工程。</a:t>
            </a:r>
            <a:br>
              <a:rPr lang="zh-CN" altLang="en-US"/>
            </a:br>
            <a:endParaRPr kumimoji="1" lang="zh-CN" altLang="en-US"/>
          </a:p>
        </p:txBody>
      </p:sp>
      <p:sp>
        <p:nvSpPr>
          <p:cNvPr id="4" name="灯片编号占位符 3"/>
          <p:cNvSpPr>
            <a:spLocks noGrp="1"/>
          </p:cNvSpPr>
          <p:nvPr>
            <p:ph type="sldNum" sz="quarter" idx="5"/>
          </p:nvPr>
        </p:nvSpPr>
        <p:spPr/>
        <p:txBody>
          <a:bodyPr/>
          <a:lstStyle/>
          <a:p>
            <a:fld id="{9AB6E8FC-03EC-A947-B9D5-7470CC25629A}" type="slidenum">
              <a:rPr lang="en-US" altLang="zh-CN"/>
              <a:t>101</a:t>
            </a:fld>
            <a:endParaRPr kumimoji="1" lang="zh-CN" altLang="en-US"/>
          </a:p>
        </p:txBody>
      </p:sp>
    </p:spTree>
    <p:extLst>
      <p:ext uri="{BB962C8B-B14F-4D97-AF65-F5344CB8AC3E}">
        <p14:creationId xmlns:p14="http://schemas.microsoft.com/office/powerpoint/2010/main" val="3917236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b="1"/>
            </a:lvl1pPr>
          </a:lstStyle>
          <a:p>
            <a:r>
              <a:rPr lang="zh-CN" altLang="en-US" dirty="0"/>
              <a:t>单击此处编辑母版标题样式</a:t>
            </a:r>
            <a:endParaRPr lang="en-US" dirty="0"/>
          </a:p>
        </p:txBody>
      </p:sp>
      <p:sp>
        <p:nvSpPr>
          <p:cNvPr id="3" name="Subtitle 2"/>
          <p:cNvSpPr>
            <a:spLocks noGrp="1"/>
          </p:cNvSpPr>
          <p:nvPr>
            <p:ph type="subTitle" idx="1"/>
          </p:nvPr>
        </p:nvSpPr>
        <p:spPr>
          <a:xfrm>
            <a:off x="1524000" y="3602038"/>
            <a:ext cx="9144000" cy="2187060"/>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FC83D597-4074-484D-B366-9FBF1EAB7EA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a:p>
        </p:txBody>
      </p:sp>
    </p:spTree>
    <p:extLst>
      <p:ext uri="{BB962C8B-B14F-4D97-AF65-F5344CB8AC3E}">
        <p14:creationId xmlns:p14="http://schemas.microsoft.com/office/powerpoint/2010/main" val="2344972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681071" y="193278"/>
            <a:ext cx="10762593" cy="544513"/>
          </a:xfrm>
        </p:spPr>
        <p:txBody>
          <a:bodyPr>
            <a:normAutofit/>
          </a:bodyPr>
          <a:lstStyle>
            <a:lvl1pPr>
              <a:defRPr sz="3200" b="1"/>
            </a:lvl1pPr>
          </a:lstStyle>
          <a:p>
            <a:r>
              <a:rPr lang="zh-CN" altLang="en-US" dirty="0"/>
              <a:t>单击此处编辑母版标题样式</a:t>
            </a:r>
            <a:endParaRPr lang="en-US" dirty="0"/>
          </a:p>
        </p:txBody>
      </p:sp>
      <p:sp>
        <p:nvSpPr>
          <p:cNvPr id="3" name="Content Placeholder 2"/>
          <p:cNvSpPr>
            <a:spLocks noGrp="1"/>
          </p:cNvSpPr>
          <p:nvPr>
            <p:ph idx="1"/>
          </p:nvPr>
        </p:nvSpPr>
        <p:spPr>
          <a:xfrm>
            <a:off x="681071" y="1040524"/>
            <a:ext cx="10762593" cy="5136440"/>
          </a:xfrm>
        </p:spPr>
        <p:txBody>
          <a:bodyPr/>
          <a:lstStyle>
            <a:lvl1pPr>
              <a:lnSpc>
                <a:spcPct val="110000"/>
              </a:lnSpc>
              <a:defRPr b="1"/>
            </a:lvl1pPr>
            <a:lvl2pPr>
              <a:lnSpc>
                <a:spcPct val="110000"/>
              </a:lnSpc>
              <a:defRPr/>
            </a:lvl2pPr>
            <a:lvl3pPr>
              <a:lnSpc>
                <a:spcPct val="110000"/>
              </a:lnSpc>
              <a:defRPr/>
            </a:lvl3pPr>
            <a:lvl4pPr>
              <a:lnSpc>
                <a:spcPct val="110000"/>
              </a:lnSpc>
              <a:defRPr/>
            </a:lvl4pPr>
            <a:lvl5pPr>
              <a:lnSpc>
                <a:spcPct val="11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FC83D597-4074-484D-B366-9FBF1EAB7EA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dirty="0"/>
          </a:p>
        </p:txBody>
      </p:sp>
      <p:sp>
        <p:nvSpPr>
          <p:cNvPr id="7" name="Rectangle 9"/>
          <p:cNvSpPr/>
          <p:nvPr userDrawn="1"/>
        </p:nvSpPr>
        <p:spPr>
          <a:xfrm>
            <a:off x="681071" y="800718"/>
            <a:ext cx="10762593"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01855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1771287"/>
          </a:xfrm>
        </p:spPr>
        <p:txBody>
          <a:bodyPr anchor="b">
            <a:normAutofit/>
          </a:bodyPr>
          <a:lstStyle>
            <a:lvl1pPr algn="ctr">
              <a:defRPr sz="4800" b="1"/>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831851" y="3922461"/>
            <a:ext cx="10515600" cy="2167190"/>
          </a:xfrm>
        </p:spPr>
        <p:txBody>
          <a:bodyPr/>
          <a:lstStyle>
            <a:lvl1pPr marL="0" indent="0" algn="ctr">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Date Placeholder 3"/>
          <p:cNvSpPr>
            <a:spLocks noGrp="1"/>
          </p:cNvSpPr>
          <p:nvPr>
            <p:ph type="dt" sz="half" idx="10"/>
          </p:nvPr>
        </p:nvSpPr>
        <p:spPr/>
        <p:txBody>
          <a:bodyPr/>
          <a:lstStyle/>
          <a:p>
            <a:fld id="{FC83D597-4074-484D-B366-9FBF1EAB7EA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a:p>
        </p:txBody>
      </p:sp>
    </p:spTree>
    <p:extLst>
      <p:ext uri="{BB962C8B-B14F-4D97-AF65-F5344CB8AC3E}">
        <p14:creationId xmlns:p14="http://schemas.microsoft.com/office/powerpoint/2010/main" val="2312722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1071" y="1025824"/>
            <a:ext cx="5338729" cy="5151139"/>
          </a:xfrm>
        </p:spPr>
        <p:txBody>
          <a:bodyPr/>
          <a:lstStyle>
            <a:lvl1pPr defTabSz="914400">
              <a:lnSpc>
                <a:spcPct val="110000"/>
              </a:lnSpc>
              <a:defRPr b="1"/>
            </a:lvl1pPr>
            <a:lvl2pPr defTabSz="914400">
              <a:lnSpc>
                <a:spcPct val="110000"/>
              </a:lnSpc>
              <a:defRPr/>
            </a:lvl2pPr>
            <a:lvl3pPr defTabSz="914400">
              <a:lnSpc>
                <a:spcPct val="110000"/>
              </a:lnSpc>
              <a:defRPr/>
            </a:lvl3pPr>
            <a:lvl4pPr defTabSz="914400">
              <a:lnSpc>
                <a:spcPct val="110000"/>
              </a:lnSpc>
              <a:defRPr/>
            </a:lvl4pPr>
            <a:lvl5pPr defTabSz="914400">
              <a:lnSpc>
                <a:spcPct val="11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6172200" y="1025824"/>
            <a:ext cx="5271464" cy="5151139"/>
          </a:xfrm>
        </p:spPr>
        <p:txBody>
          <a:bodyPr/>
          <a:lstStyle>
            <a:lvl1pPr>
              <a:lnSpc>
                <a:spcPct val="110000"/>
              </a:lnSpc>
              <a:defRPr b="1"/>
            </a:lvl1pPr>
            <a:lvl2pPr>
              <a:lnSpc>
                <a:spcPct val="110000"/>
              </a:lnSpc>
              <a:defRPr/>
            </a:lvl2pPr>
            <a:lvl3pPr>
              <a:lnSpc>
                <a:spcPct val="110000"/>
              </a:lnSpc>
              <a:defRPr/>
            </a:lvl3pPr>
            <a:lvl4pPr>
              <a:lnSpc>
                <a:spcPct val="110000"/>
              </a:lnSpc>
              <a:defRPr/>
            </a:lvl4pPr>
            <a:lvl5pPr>
              <a:lnSpc>
                <a:spcPct val="11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FC83D597-4074-484D-B366-9FBF1EAB7EA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73D6C-392A-46A2-A751-B42838D7A247}" type="slidenum">
              <a:rPr lang="en-US" smtClean="0"/>
              <a:t>‹#›</a:t>
            </a:fld>
            <a:endParaRPr lang="en-US"/>
          </a:p>
        </p:txBody>
      </p:sp>
      <p:sp>
        <p:nvSpPr>
          <p:cNvPr id="8" name="Title 1"/>
          <p:cNvSpPr>
            <a:spLocks noGrp="1"/>
          </p:cNvSpPr>
          <p:nvPr>
            <p:ph type="title"/>
          </p:nvPr>
        </p:nvSpPr>
        <p:spPr>
          <a:xfrm>
            <a:off x="681071" y="193278"/>
            <a:ext cx="10762593" cy="544513"/>
          </a:xfrm>
        </p:spPr>
        <p:txBody>
          <a:bodyPr>
            <a:normAutofit/>
          </a:bodyPr>
          <a:lstStyle>
            <a:lvl1pPr>
              <a:defRPr sz="3200" b="1"/>
            </a:lvl1pPr>
          </a:lstStyle>
          <a:p>
            <a:r>
              <a:rPr lang="zh-CN" altLang="en-US" dirty="0"/>
              <a:t>单击此处编辑母版标题样式</a:t>
            </a:r>
            <a:endParaRPr lang="en-US" dirty="0"/>
          </a:p>
        </p:txBody>
      </p:sp>
      <p:sp>
        <p:nvSpPr>
          <p:cNvPr id="9" name="Rectangle 9"/>
          <p:cNvSpPr/>
          <p:nvPr userDrawn="1"/>
        </p:nvSpPr>
        <p:spPr>
          <a:xfrm>
            <a:off x="681071" y="800718"/>
            <a:ext cx="10762593"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95994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FC83D597-4074-484D-B366-9FBF1EAB7EA4}"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673D6C-392A-46A2-A751-B42838D7A247}" type="slidenum">
              <a:rPr lang="en-US" smtClean="0"/>
              <a:t>‹#›</a:t>
            </a:fld>
            <a:endParaRPr lang="en-US"/>
          </a:p>
        </p:txBody>
      </p:sp>
      <p:sp>
        <p:nvSpPr>
          <p:cNvPr id="10" name="Title 1"/>
          <p:cNvSpPr>
            <a:spLocks noGrp="1"/>
          </p:cNvSpPr>
          <p:nvPr>
            <p:ph type="title"/>
          </p:nvPr>
        </p:nvSpPr>
        <p:spPr>
          <a:xfrm>
            <a:off x="681071" y="193278"/>
            <a:ext cx="10762593" cy="544513"/>
          </a:xfrm>
        </p:spPr>
        <p:txBody>
          <a:bodyPr>
            <a:normAutofit/>
          </a:bodyPr>
          <a:lstStyle>
            <a:lvl1pPr>
              <a:defRPr sz="3200" b="1"/>
            </a:lvl1pPr>
          </a:lstStyle>
          <a:p>
            <a:r>
              <a:rPr lang="zh-CN" altLang="en-US" dirty="0"/>
              <a:t>单击此处编辑母版标题样式</a:t>
            </a:r>
            <a:endParaRPr lang="en-US" dirty="0"/>
          </a:p>
        </p:txBody>
      </p:sp>
      <p:sp>
        <p:nvSpPr>
          <p:cNvPr id="11" name="Rectangle 9"/>
          <p:cNvSpPr/>
          <p:nvPr userDrawn="1"/>
        </p:nvSpPr>
        <p:spPr>
          <a:xfrm>
            <a:off x="681071" y="800718"/>
            <a:ext cx="10762593"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132802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C83D597-4074-484D-B366-9FBF1EAB7EA4}"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73D6C-392A-46A2-A751-B42838D7A247}" type="slidenum">
              <a:rPr lang="en-US" smtClean="0"/>
              <a:t>‹#›</a:t>
            </a:fld>
            <a:endParaRPr lang="en-US"/>
          </a:p>
        </p:txBody>
      </p:sp>
    </p:spTree>
    <p:extLst>
      <p:ext uri="{BB962C8B-B14F-4D97-AF65-F5344CB8AC3E}">
        <p14:creationId xmlns:p14="http://schemas.microsoft.com/office/powerpoint/2010/main" val="7802840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3D597-4074-484D-B366-9FBF1EAB7EA4}"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673D6C-392A-46A2-A751-B42838D7A247}" type="slidenum">
              <a:rPr lang="en-US" smtClean="0"/>
              <a:t>‹#›</a:t>
            </a:fld>
            <a:endParaRPr lang="en-US"/>
          </a:p>
        </p:txBody>
      </p:sp>
    </p:spTree>
    <p:extLst>
      <p:ext uri="{BB962C8B-B14F-4D97-AF65-F5344CB8AC3E}">
        <p14:creationId xmlns:p14="http://schemas.microsoft.com/office/powerpoint/2010/main" val="25767127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C83D597-4074-484D-B366-9FBF1EAB7EA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73D6C-392A-46A2-A751-B42838D7A247}" type="slidenum">
              <a:rPr lang="en-US" smtClean="0"/>
              <a:t>‹#›</a:t>
            </a:fld>
            <a:endParaRPr lang="en-US"/>
          </a:p>
        </p:txBody>
      </p:sp>
    </p:spTree>
    <p:extLst>
      <p:ext uri="{BB962C8B-B14F-4D97-AF65-F5344CB8AC3E}">
        <p14:creationId xmlns:p14="http://schemas.microsoft.com/office/powerpoint/2010/main" val="2423099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C83D597-4074-484D-B366-9FBF1EAB7EA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73D6C-392A-46A2-A751-B42838D7A247}" type="slidenum">
              <a:rPr lang="en-US" smtClean="0"/>
              <a:t>‹#›</a:t>
            </a:fld>
            <a:endParaRPr lang="en-US"/>
          </a:p>
        </p:txBody>
      </p:sp>
    </p:spTree>
    <p:extLst>
      <p:ext uri="{BB962C8B-B14F-4D97-AF65-F5344CB8AC3E}">
        <p14:creationId xmlns:p14="http://schemas.microsoft.com/office/powerpoint/2010/main" val="249999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C83D597-4074-484D-B366-9FBF1EAB7EA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a:p>
        </p:txBody>
      </p:sp>
    </p:spTree>
    <p:extLst>
      <p:ext uri="{BB962C8B-B14F-4D97-AF65-F5344CB8AC3E}">
        <p14:creationId xmlns:p14="http://schemas.microsoft.com/office/powerpoint/2010/main" val="30237559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C83D597-4074-484D-B366-9FBF1EAB7EA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a:p>
        </p:txBody>
      </p:sp>
    </p:spTree>
    <p:extLst>
      <p:ext uri="{BB962C8B-B14F-4D97-AF65-F5344CB8AC3E}">
        <p14:creationId xmlns:p14="http://schemas.microsoft.com/office/powerpoint/2010/main" val="15525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01166"/>
            <a:ext cx="10515600" cy="725848"/>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254935"/>
            <a:ext cx="10515600" cy="492202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83D597-4074-484D-B366-9FBF1EAB7EA4}" type="datetimeFigureOut">
              <a:rPr lang="en-US" smtClean="0"/>
              <a:t>4/29/2026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673D6C-392A-46A2-A751-B42838D7A247}" type="slidenum">
              <a:rPr lang="en-US" smtClean="0"/>
              <a:t>‹#›</a:t>
            </a:fld>
            <a:endParaRPr lang="en-US" dirty="0"/>
          </a:p>
        </p:txBody>
      </p:sp>
    </p:spTree>
    <p:extLst>
      <p:ext uri="{BB962C8B-B14F-4D97-AF65-F5344CB8AC3E}">
        <p14:creationId xmlns:p14="http://schemas.microsoft.com/office/powerpoint/2010/main" val="13492870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scikit-learn.org/stable/index.html"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pytorch.org/tutorial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1.jpeg"/></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48.jpeg"/><Relationship Id="rId7" Type="http://schemas.openxmlformats.org/officeDocument/2006/relationships/image" Target="../media/image52.jpe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2.png"/><Relationship Id="rId4" Type="http://schemas.openxmlformats.org/officeDocument/2006/relationships/image" Target="../media/image61.png"/></Relationships>
</file>

<file path=ppt/slides/_rels/slide6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67.jpeg"/><Relationship Id="rId5" Type="http://schemas.openxmlformats.org/officeDocument/2006/relationships/image" Target="../media/image66.jpeg"/><Relationship Id="rId4" Type="http://schemas.openxmlformats.org/officeDocument/2006/relationships/image" Target="../media/image65.jpeg"/></Relationships>
</file>

<file path=ppt/slides/_rels/slide62.xml.rels><?xml version="1.0" encoding="UTF-8" standalone="yes"?>
<Relationships xmlns="http://schemas.openxmlformats.org/package/2006/relationships"><Relationship Id="rId3" Type="http://schemas.openxmlformats.org/officeDocument/2006/relationships/image" Target="../media/image68.gif"/><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6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71.jpeg"/></Relationships>
</file>

<file path=ppt/slides/_rels/slide64.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65.xml"/><Relationship Id="rId1" Type="http://schemas.openxmlformats.org/officeDocument/2006/relationships/slideLayout" Target="../slideLayouts/slideLayout13.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75.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66.xml"/><Relationship Id="rId1" Type="http://schemas.openxmlformats.org/officeDocument/2006/relationships/slideLayout" Target="../slideLayouts/slideLayout13.xml"/><Relationship Id="rId6" Type="http://schemas.openxmlformats.org/officeDocument/2006/relationships/image" Target="../media/image90.jpeg"/><Relationship Id="rId5" Type="http://schemas.openxmlformats.org/officeDocument/2006/relationships/image" Target="../media/image89.jpeg"/><Relationship Id="rId4" Type="http://schemas.openxmlformats.org/officeDocument/2006/relationships/image" Target="../media/image88.png"/></Relationships>
</file>

<file path=ppt/slides/_rels/slide76.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77.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1.jpg"/><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7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9.xml"/><Relationship Id="rId1" Type="http://schemas.openxmlformats.org/officeDocument/2006/relationships/slideLayout" Target="../slideLayouts/slideLayout13.xml"/><Relationship Id="rId4" Type="http://schemas.openxmlformats.org/officeDocument/2006/relationships/image" Target="../media/image103.png"/></Relationships>
</file>

<file path=ppt/slides/_rels/slide7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8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71.xml"/><Relationship Id="rId1" Type="http://schemas.openxmlformats.org/officeDocument/2006/relationships/slideLayout" Target="../slideLayouts/slideLayout13.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81.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hyperlink" Target="https://paperswithcode.com/sota" TargetMode="External"/></Relationships>
</file>

<file path=ppt/slides/_rels/slide8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hyperlink" Target="https://paperswithcode.com/sota" TargetMode="Externa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115.jpeg"/></Relationships>
</file>

<file path=ppt/slides/_rels/slide89.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117.jpe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image" Target="../media/image118.jpeg"/><Relationship Id="rId1" Type="http://schemas.openxmlformats.org/officeDocument/2006/relationships/slideLayout" Target="../slideLayouts/slideLayout1.xml"/><Relationship Id="rId5" Type="http://schemas.openxmlformats.org/officeDocument/2006/relationships/image" Target="../media/image121.jpeg"/><Relationship Id="rId4" Type="http://schemas.openxmlformats.org/officeDocument/2006/relationships/image" Target="../media/image120.jpeg"/></Relationships>
</file>

<file path=ppt/slides/_rels/slide95.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image" Target="../media/image122.jpeg"/><Relationship Id="rId1" Type="http://schemas.openxmlformats.org/officeDocument/2006/relationships/slideLayout" Target="../slideLayouts/slideLayout1.xml"/><Relationship Id="rId4" Type="http://schemas.openxmlformats.org/officeDocument/2006/relationships/image" Target="../media/image124.jpeg"/></Relationships>
</file>

<file path=ppt/slides/_rels/slide96.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image" Target="../media/image126.jpe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67001" y="2578100"/>
            <a:ext cx="6953827" cy="3618748"/>
          </a:xfrm>
          <a:prstGeom prst="rect">
            <a:avLst/>
          </a:prstGeom>
          <a:noFill/>
        </p:spPr>
        <p:txBody>
          <a:bodyPr wrap="none" lIns="0" tIns="0" rIns="0" rtlCol="0">
            <a:spAutoFit/>
          </a:bodyPr>
          <a:lstStyle/>
          <a:p>
            <a:pPr>
              <a:lnSpc>
                <a:spcPts val="7900"/>
              </a:lnSpc>
              <a:tabLst>
                <a:tab pos="1066800" algn="l"/>
                <a:tab pos="2362200" algn="l"/>
                <a:tab pos="2959100" algn="l"/>
                <a:tab pos="3111500" algn="l"/>
              </a:tabLst>
            </a:pPr>
            <a:r>
              <a:rPr lang="en-US" altLang="zh-CN" sz="6000" b="1" dirty="0">
                <a:solidFill>
                  <a:srgbClr val="000000"/>
                </a:solidFill>
                <a:latin typeface="微软雅黑" pitchFamily="18" charset="0"/>
                <a:cs typeface="微软雅黑" pitchFamily="18" charset="0"/>
              </a:rPr>
              <a:t>人工智能与深度学习</a:t>
            </a:r>
          </a:p>
          <a:p>
            <a:pPr>
              <a:lnSpc>
                <a:spcPts val="1000"/>
              </a:lnSpc>
            </a:pPr>
            <a:endParaRPr lang="en-US" altLang="zh-CN" dirty="0"/>
          </a:p>
          <a:p>
            <a:pPr>
              <a:lnSpc>
                <a:spcPts val="1000"/>
              </a:lnSpc>
            </a:pPr>
            <a:endParaRPr lang="en-US" altLang="zh-CN" dirty="0"/>
          </a:p>
          <a:p>
            <a:pPr>
              <a:lnSpc>
                <a:spcPts val="4000"/>
              </a:lnSpc>
              <a:tabLst>
                <a:tab pos="1066800" algn="l"/>
                <a:tab pos="2362200" algn="l"/>
                <a:tab pos="2959100" algn="l"/>
                <a:tab pos="3111500" algn="l"/>
              </a:tabLst>
            </a:pPr>
            <a:r>
              <a:rPr lang="en-US" altLang="zh-CN" dirty="0"/>
              <a:t>		</a:t>
            </a:r>
            <a:r>
              <a:rPr lang="en-US" altLang="zh-CN" sz="2400" b="1" dirty="0">
                <a:solidFill>
                  <a:srgbClr val="C00000"/>
                </a:solidFill>
                <a:latin typeface="微软雅黑" pitchFamily="18" charset="0"/>
                <a:cs typeface="微软雅黑" pitchFamily="18" charset="0"/>
              </a:rPr>
              <a:t>人工智能：绪论</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200"/>
              </a:lnSpc>
              <a:tabLst>
                <a:tab pos="1066800" algn="l"/>
                <a:tab pos="2362200" algn="l"/>
                <a:tab pos="2959100" algn="l"/>
                <a:tab pos="3111500" algn="l"/>
              </a:tabLst>
            </a:pPr>
            <a:r>
              <a:rPr lang="en-US" altLang="zh-CN" dirty="0"/>
              <a:t>	</a:t>
            </a:r>
            <a:r>
              <a:rPr lang="zh-CN" altLang="en-US" dirty="0"/>
              <a:t> </a:t>
            </a:r>
            <a:r>
              <a:rPr lang="en-US" altLang="zh-CN" sz="2400" b="1" dirty="0">
                <a:solidFill>
                  <a:srgbClr val="000000"/>
                </a:solidFill>
                <a:latin typeface="微软雅黑" pitchFamily="18" charset="0"/>
                <a:cs typeface="微软雅黑" pitchFamily="18" charset="0"/>
              </a:rPr>
              <a:t>华中科技大学</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机械科学与工程学院</a:t>
            </a:r>
          </a:p>
          <a:p>
            <a:pPr>
              <a:lnSpc>
                <a:spcPts val="3500"/>
              </a:lnSpc>
              <a:tabLst>
                <a:tab pos="1066800" algn="l"/>
                <a:tab pos="2362200" algn="l"/>
                <a:tab pos="2959100" algn="l"/>
                <a:tab pos="3111500" algn="l"/>
              </a:tabLst>
            </a:pPr>
            <a:r>
              <a:rPr lang="en-US" altLang="zh-CN" dirty="0"/>
              <a:t>			</a:t>
            </a:r>
            <a:r>
              <a:rPr lang="zh-CN" altLang="en-US" dirty="0"/>
              <a:t>   </a:t>
            </a:r>
            <a:r>
              <a:rPr lang="zh-CN" altLang="en-US" sz="2400" b="1" dirty="0">
                <a:solidFill>
                  <a:srgbClr val="000000"/>
                </a:solidFill>
                <a:latin typeface="微软雅黑" pitchFamily="18" charset="0"/>
                <a:cs typeface="微软雅黑" pitchFamily="18" charset="0"/>
              </a:rPr>
              <a:t>陈伟</a:t>
            </a:r>
            <a:endParaRPr lang="en-US" altLang="zh-CN" sz="2400" b="1" dirty="0">
              <a:solidFill>
                <a:srgbClr val="000000"/>
              </a:solidFill>
              <a:latin typeface="微软雅黑" pitchFamily="18" charset="0"/>
              <a:cs typeface="微软雅黑" pitchFamily="18" charset="0"/>
            </a:endParaRPr>
          </a:p>
          <a:p>
            <a:pPr>
              <a:lnSpc>
                <a:spcPts val="3500"/>
              </a:lnSpc>
              <a:tabLst>
                <a:tab pos="1066800" algn="l"/>
                <a:tab pos="2362200" algn="l"/>
                <a:tab pos="2959100" algn="l"/>
                <a:tab pos="3111500" algn="l"/>
              </a:tabLst>
            </a:pPr>
            <a:r>
              <a:rPr lang="en-US" altLang="zh-CN" dirty="0"/>
              <a:t>			</a:t>
            </a:r>
            <a:r>
              <a:rPr lang="zh-CN" altLang="en-US" dirty="0"/>
              <a:t>   </a:t>
            </a:r>
            <a:r>
              <a:rPr lang="en-US" altLang="zh-CN" sz="2400" b="1" dirty="0">
                <a:solidFill>
                  <a:srgbClr val="000000"/>
                </a:solidFill>
                <a:latin typeface="Calibri" pitchFamily="18" charset="0"/>
                <a:cs typeface="Calibri" pitchFamily="18" charset="0"/>
              </a:rPr>
              <a:t>2026</a:t>
            </a:r>
          </a:p>
        </p:txBody>
      </p:sp>
      <p:sp>
        <p:nvSpPr>
          <p:cNvPr id="5" name="TextBox 1"/>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521116" y="1616349"/>
            <a:ext cx="4923489" cy="3961427"/>
          </a:xfrm>
          <a:prstGeom prst="rect">
            <a:avLst/>
          </a:prstGeom>
          <a:noFill/>
        </p:spPr>
      </p:pic>
      <p:sp>
        <p:nvSpPr>
          <p:cNvPr id="2" name="TextBox 1"/>
          <p:cNvSpPr txBox="1"/>
          <p:nvPr/>
        </p:nvSpPr>
        <p:spPr>
          <a:xfrm>
            <a:off x="472354" y="152400"/>
            <a:ext cx="1950855" cy="548868"/>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a:t>
            </a:r>
            <a:r>
              <a:rPr lang="en-US" altLang="zh-CN" sz="3137" dirty="0">
                <a:latin typeface="Times New Roman" pitchFamily="18" charset="0"/>
                <a:cs typeface="Times New Roman" pitchFamily="18" charset="0"/>
              </a:rPr>
              <a:t> </a:t>
            </a:r>
            <a:r>
              <a:rPr lang="en-US" altLang="zh-CN" sz="3137" b="1" dirty="0">
                <a:solidFill>
                  <a:srgbClr val="000000"/>
                </a:solidFill>
                <a:latin typeface="Calibri Light" pitchFamily="18" charset="0"/>
                <a:cs typeface="Calibri Light"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微软雅黑" pitchFamily="18" charset="0"/>
                <a:cs typeface="微软雅黑" pitchFamily="18" charset="0"/>
              </a:rPr>
              <a:t>学习</a:t>
            </a:r>
          </a:p>
        </p:txBody>
      </p:sp>
      <p:sp>
        <p:nvSpPr>
          <p:cNvPr id="8" name="TextBox 1">
            <a:extLst>
              <a:ext uri="{FF2B5EF4-FFF2-40B4-BE49-F238E27FC236}">
                <a16:creationId xmlns:a16="http://schemas.microsoft.com/office/drawing/2014/main" id="{041B84CB-23ED-D44D-A4FF-04AB0D2E83FA}"/>
              </a:ext>
            </a:extLst>
          </p:cNvPr>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a:t>
            </a:r>
          </a:p>
        </p:txBody>
      </p:sp>
      <p:pic>
        <p:nvPicPr>
          <p:cNvPr id="4" name="图片 3">
            <a:extLst>
              <a:ext uri="{FF2B5EF4-FFF2-40B4-BE49-F238E27FC236}">
                <a16:creationId xmlns:a16="http://schemas.microsoft.com/office/drawing/2014/main" id="{660559EA-BD86-8D4E-AC82-F415DE416D6B}"/>
              </a:ext>
            </a:extLst>
          </p:cNvPr>
          <p:cNvPicPr>
            <a:picLocks noChangeAspect="1"/>
          </p:cNvPicPr>
          <p:nvPr/>
        </p:nvPicPr>
        <p:blipFill>
          <a:blip r:embed="rId4"/>
          <a:stretch>
            <a:fillRect/>
          </a:stretch>
        </p:blipFill>
        <p:spPr>
          <a:xfrm>
            <a:off x="6400800" y="3809283"/>
            <a:ext cx="4267200" cy="2361574"/>
          </a:xfrm>
          <a:prstGeom prst="rect">
            <a:avLst/>
          </a:prstGeom>
        </p:spPr>
      </p:pic>
      <p:pic>
        <p:nvPicPr>
          <p:cNvPr id="6" name="图片 5">
            <a:extLst>
              <a:ext uri="{FF2B5EF4-FFF2-40B4-BE49-F238E27FC236}">
                <a16:creationId xmlns:a16="http://schemas.microsoft.com/office/drawing/2014/main" id="{230E7A66-137B-DC48-A854-B999E6C5F6AE}"/>
              </a:ext>
            </a:extLst>
          </p:cNvPr>
          <p:cNvPicPr>
            <a:picLocks noChangeAspect="1"/>
          </p:cNvPicPr>
          <p:nvPr/>
        </p:nvPicPr>
        <p:blipFill>
          <a:blip r:embed="rId5"/>
          <a:stretch>
            <a:fillRect/>
          </a:stretch>
        </p:blipFill>
        <p:spPr>
          <a:xfrm>
            <a:off x="6629400" y="1094247"/>
            <a:ext cx="3239121" cy="1791527"/>
          </a:xfrm>
          <a:prstGeom prst="rect">
            <a:avLst/>
          </a:prstGeom>
        </p:spPr>
      </p:pic>
      <p:sp>
        <p:nvSpPr>
          <p:cNvPr id="10" name="文本框 9">
            <a:extLst>
              <a:ext uri="{FF2B5EF4-FFF2-40B4-BE49-F238E27FC236}">
                <a16:creationId xmlns:a16="http://schemas.microsoft.com/office/drawing/2014/main" id="{69A64571-1121-564E-9F1F-C4328006D4D7}"/>
              </a:ext>
            </a:extLst>
          </p:cNvPr>
          <p:cNvSpPr txBox="1"/>
          <p:nvPr/>
        </p:nvSpPr>
        <p:spPr>
          <a:xfrm>
            <a:off x="5825605" y="2950732"/>
            <a:ext cx="6061595" cy="646331"/>
          </a:xfrm>
          <a:prstGeom prst="rect">
            <a:avLst/>
          </a:prstGeom>
          <a:noFill/>
        </p:spPr>
        <p:txBody>
          <a:bodyPr wrap="square">
            <a:spAutoFit/>
          </a:bodyPr>
          <a:lstStyle/>
          <a:p>
            <a:r>
              <a:rPr lang="zh-CN" altLang="en-US" sz="1800" dirty="0">
                <a:solidFill>
                  <a:srgbClr val="000000"/>
                </a:solidFill>
                <a:latin typeface="微软雅黑" pitchFamily="18" charset="0"/>
                <a:cs typeface="微软雅黑" pitchFamily="18" charset="0"/>
              </a:rPr>
              <a:t>短视频成瘾并非只是消磨时间的“小毛病”，它对大脑的物理结构和基因活动层面都造成了显著且深远的改变。</a:t>
            </a:r>
            <a:endParaRPr lang="zh-CN" altLang="en-US"/>
          </a:p>
        </p:txBody>
      </p:sp>
      <p:sp>
        <p:nvSpPr>
          <p:cNvPr id="12" name="文本框 11">
            <a:extLst>
              <a:ext uri="{FF2B5EF4-FFF2-40B4-BE49-F238E27FC236}">
                <a16:creationId xmlns:a16="http://schemas.microsoft.com/office/drawing/2014/main" id="{98211151-24AB-414A-A1E6-340D650A92DD}"/>
              </a:ext>
            </a:extLst>
          </p:cNvPr>
          <p:cNvSpPr txBox="1"/>
          <p:nvPr/>
        </p:nvSpPr>
        <p:spPr>
          <a:xfrm>
            <a:off x="5295900" y="6328435"/>
            <a:ext cx="6477000" cy="369332"/>
          </a:xfrm>
          <a:prstGeom prst="rect">
            <a:avLst/>
          </a:prstGeom>
          <a:noFill/>
        </p:spPr>
        <p:txBody>
          <a:bodyPr wrap="square">
            <a:spAutoFit/>
          </a:bodyPr>
          <a:lstStyle>
            <a:defPPr>
              <a:defRPr lang="en-US"/>
            </a:defPPr>
            <a:lvl1pPr>
              <a:defRPr>
                <a:solidFill>
                  <a:srgbClr val="000000"/>
                </a:solidFill>
                <a:latin typeface="微软雅黑" pitchFamily="18" charset="0"/>
                <a:cs typeface="微软雅黑" pitchFamily="18" charset="0"/>
              </a:defRPr>
            </a:lvl1pPr>
          </a:lstStyle>
          <a:p>
            <a:r>
              <a:rPr lang="en-GB" altLang="zh-CN"/>
              <a:t>ChatGPT</a:t>
            </a:r>
            <a:r>
              <a:rPr lang="zh-CN" altLang="en-US"/>
              <a:t>的数据来源于经典书籍、维基百科等高质量数据集。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1371600" y="2482851"/>
            <a:ext cx="2619747" cy="3873499"/>
          </a:xfrm>
          <a:custGeom>
            <a:avLst/>
            <a:gdLst>
              <a:gd name="connsiteX0" fmla="*/ 0 w 2619747"/>
              <a:gd name="connsiteY0" fmla="*/ 0 h 3873499"/>
              <a:gd name="connsiteX1" fmla="*/ 2619747 w 2619747"/>
              <a:gd name="connsiteY1" fmla="*/ 0 h 3873499"/>
              <a:gd name="connsiteX2" fmla="*/ 2619747 w 2619747"/>
              <a:gd name="connsiteY2" fmla="*/ 3873499 h 3873499"/>
              <a:gd name="connsiteX3" fmla="*/ 0 w 2619747"/>
              <a:gd name="connsiteY3" fmla="*/ 3873499 h 3873499"/>
              <a:gd name="connsiteX4" fmla="*/ 0 w 2619747"/>
              <a:gd name="connsiteY4" fmla="*/ 0 h 387349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19747" h="3873499">
                <a:moveTo>
                  <a:pt x="0" y="0"/>
                </a:moveTo>
                <a:lnTo>
                  <a:pt x="2619747" y="0"/>
                </a:lnTo>
                <a:lnTo>
                  <a:pt x="2619747" y="3873499"/>
                </a:lnTo>
                <a:lnTo>
                  <a:pt x="0" y="3873499"/>
                </a:lnTo>
                <a:lnTo>
                  <a:pt x="0" y="0"/>
                </a:lnTo>
              </a:path>
            </a:pathLst>
          </a:custGeom>
          <a:solidFill>
            <a:srgbClr val="E2F0D9">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58448948" y="-58000900"/>
            <a:ext cx="123587248" cy="124841000"/>
          </a:xfrm>
          <a:custGeom>
            <a:avLst/>
            <a:gdLst>
              <a:gd name="connsiteX0" fmla="*/ 60483752 w 123587248"/>
              <a:gd name="connsiteY0" fmla="*/ 60483752 h 124841000"/>
              <a:gd name="connsiteX1" fmla="*/ 63103496 w 123587248"/>
              <a:gd name="connsiteY1" fmla="*/ 60483752 h 124841000"/>
              <a:gd name="connsiteX2" fmla="*/ 63103496 w 123587248"/>
              <a:gd name="connsiteY2" fmla="*/ 64357248 h 124841000"/>
              <a:gd name="connsiteX3" fmla="*/ 60483752 w 123587248"/>
              <a:gd name="connsiteY3" fmla="*/ 64357248 h 124841000"/>
              <a:gd name="connsiteX4" fmla="*/ 60483752 w 123587248"/>
              <a:gd name="connsiteY4" fmla="*/ 60483752 h 124841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3587248" h="124841000">
                <a:moveTo>
                  <a:pt x="60483752" y="60483752"/>
                </a:moveTo>
                <a:lnTo>
                  <a:pt x="63103496" y="60483752"/>
                </a:lnTo>
                <a:lnTo>
                  <a:pt x="63103496" y="64357248"/>
                </a:lnTo>
                <a:lnTo>
                  <a:pt x="60483752" y="64357248"/>
                </a:lnTo>
                <a:lnTo>
                  <a:pt x="60483752" y="6048375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4816104" y="1040523"/>
            <a:ext cx="2619747" cy="3823576"/>
          </a:xfrm>
          <a:custGeom>
            <a:avLst/>
            <a:gdLst>
              <a:gd name="connsiteX0" fmla="*/ 0 w 2619747"/>
              <a:gd name="connsiteY0" fmla="*/ 0 h 3823576"/>
              <a:gd name="connsiteX1" fmla="*/ 2619747 w 2619747"/>
              <a:gd name="connsiteY1" fmla="*/ 0 h 3823576"/>
              <a:gd name="connsiteX2" fmla="*/ 2619747 w 2619747"/>
              <a:gd name="connsiteY2" fmla="*/ 3823576 h 3823576"/>
              <a:gd name="connsiteX3" fmla="*/ 0 w 2619747"/>
              <a:gd name="connsiteY3" fmla="*/ 3823576 h 3823576"/>
              <a:gd name="connsiteX4" fmla="*/ 0 w 2619747"/>
              <a:gd name="connsiteY4" fmla="*/ 0 h 382357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19747" h="3823576">
                <a:moveTo>
                  <a:pt x="0" y="0"/>
                </a:moveTo>
                <a:lnTo>
                  <a:pt x="2619747" y="0"/>
                </a:lnTo>
                <a:lnTo>
                  <a:pt x="2619747" y="3823576"/>
                </a:lnTo>
                <a:lnTo>
                  <a:pt x="0" y="3823576"/>
                </a:lnTo>
                <a:lnTo>
                  <a:pt x="0" y="0"/>
                </a:lnTo>
              </a:path>
            </a:pathLst>
          </a:custGeom>
          <a:solidFill>
            <a:srgbClr val="DAE3F3">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55667648" y="-59443224"/>
            <a:ext cx="123587248" cy="124791080"/>
          </a:xfrm>
          <a:custGeom>
            <a:avLst/>
            <a:gdLst>
              <a:gd name="connsiteX0" fmla="*/ 60483752 w 123587248"/>
              <a:gd name="connsiteY0" fmla="*/ 60483752 h 124791080"/>
              <a:gd name="connsiteX1" fmla="*/ 63103496 w 123587248"/>
              <a:gd name="connsiteY1" fmla="*/ 60483752 h 124791080"/>
              <a:gd name="connsiteX2" fmla="*/ 63103496 w 123587248"/>
              <a:gd name="connsiteY2" fmla="*/ 64307324 h 124791080"/>
              <a:gd name="connsiteX3" fmla="*/ 60483752 w 123587248"/>
              <a:gd name="connsiteY3" fmla="*/ 64307324 h 124791080"/>
              <a:gd name="connsiteX4" fmla="*/ 60483752 w 123587248"/>
              <a:gd name="connsiteY4" fmla="*/ 60483752 h 12479108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3587248" h="124791080">
                <a:moveTo>
                  <a:pt x="60483752" y="60483752"/>
                </a:moveTo>
                <a:lnTo>
                  <a:pt x="63103496" y="60483752"/>
                </a:lnTo>
                <a:lnTo>
                  <a:pt x="63103496" y="64307324"/>
                </a:lnTo>
                <a:lnTo>
                  <a:pt x="60483752" y="64307324"/>
                </a:lnTo>
                <a:lnTo>
                  <a:pt x="60483752" y="6048375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8322069" y="2482851"/>
            <a:ext cx="2619747" cy="3873499"/>
          </a:xfrm>
          <a:custGeom>
            <a:avLst/>
            <a:gdLst>
              <a:gd name="connsiteX0" fmla="*/ 0 w 2619747"/>
              <a:gd name="connsiteY0" fmla="*/ 0 h 3873499"/>
              <a:gd name="connsiteX1" fmla="*/ 2619747 w 2619747"/>
              <a:gd name="connsiteY1" fmla="*/ 0 h 3873499"/>
              <a:gd name="connsiteX2" fmla="*/ 2619747 w 2619747"/>
              <a:gd name="connsiteY2" fmla="*/ 3873499 h 3873499"/>
              <a:gd name="connsiteX3" fmla="*/ 0 w 2619747"/>
              <a:gd name="connsiteY3" fmla="*/ 3873499 h 3873499"/>
              <a:gd name="connsiteX4" fmla="*/ 0 w 2619747"/>
              <a:gd name="connsiteY4" fmla="*/ 0 h 387349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19747" h="3873499">
                <a:moveTo>
                  <a:pt x="0" y="0"/>
                </a:moveTo>
                <a:lnTo>
                  <a:pt x="2619747" y="0"/>
                </a:lnTo>
                <a:lnTo>
                  <a:pt x="2619747" y="3873499"/>
                </a:lnTo>
                <a:lnTo>
                  <a:pt x="0" y="3873499"/>
                </a:lnTo>
                <a:lnTo>
                  <a:pt x="0" y="0"/>
                </a:lnTo>
              </a:path>
            </a:pathLst>
          </a:custGeom>
          <a:solidFill>
            <a:srgbClr val="FFC00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52886348" y="-58000900"/>
            <a:ext cx="123587248" cy="124841000"/>
          </a:xfrm>
          <a:custGeom>
            <a:avLst/>
            <a:gdLst>
              <a:gd name="connsiteX0" fmla="*/ 60483752 w 123587248"/>
              <a:gd name="connsiteY0" fmla="*/ 60483752 h 124841000"/>
              <a:gd name="connsiteX1" fmla="*/ 63103496 w 123587248"/>
              <a:gd name="connsiteY1" fmla="*/ 60483752 h 124841000"/>
              <a:gd name="connsiteX2" fmla="*/ 63103496 w 123587248"/>
              <a:gd name="connsiteY2" fmla="*/ 64357248 h 124841000"/>
              <a:gd name="connsiteX3" fmla="*/ 60483752 w 123587248"/>
              <a:gd name="connsiteY3" fmla="*/ 64357248 h 124841000"/>
              <a:gd name="connsiteX4" fmla="*/ 60483752 w 123587248"/>
              <a:gd name="connsiteY4" fmla="*/ 60483752 h 124841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3587248" h="124841000">
                <a:moveTo>
                  <a:pt x="60483752" y="60483752"/>
                </a:moveTo>
                <a:lnTo>
                  <a:pt x="63103496" y="60483752"/>
                </a:lnTo>
                <a:lnTo>
                  <a:pt x="63103496" y="64357248"/>
                </a:lnTo>
                <a:lnTo>
                  <a:pt x="60483752" y="64357248"/>
                </a:lnTo>
                <a:lnTo>
                  <a:pt x="60483752" y="6048375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1597396" y="952500"/>
            <a:ext cx="2159000" cy="1435100"/>
          </a:xfrm>
          <a:prstGeom prst="rect">
            <a:avLst/>
          </a:prstGeom>
          <a:noFill/>
        </p:spPr>
      </p:pic>
      <p:pic>
        <p:nvPicPr>
          <p:cNvPr id="12" name="Picture 3"/>
          <p:cNvPicPr>
            <a:picLocks noChangeAspect="1" noChangeArrowheads="1"/>
          </p:cNvPicPr>
          <p:nvPr/>
        </p:nvPicPr>
        <p:blipFill>
          <a:blip r:embed="rId4"/>
          <a:srcRect/>
          <a:stretch>
            <a:fillRect/>
          </a:stretch>
        </p:blipFill>
        <p:spPr bwMode="auto">
          <a:xfrm>
            <a:off x="4991100" y="4978400"/>
            <a:ext cx="2209800" cy="1562100"/>
          </a:xfrm>
          <a:prstGeom prst="rect">
            <a:avLst/>
          </a:prstGeom>
          <a:noFill/>
        </p:spPr>
      </p:pic>
      <p:pic>
        <p:nvPicPr>
          <p:cNvPr id="13" name="Picture 3"/>
          <p:cNvPicPr>
            <a:picLocks noChangeAspect="1" noChangeArrowheads="1"/>
          </p:cNvPicPr>
          <p:nvPr/>
        </p:nvPicPr>
        <p:blipFill rotWithShape="1">
          <a:blip r:embed="rId5"/>
          <a:srcRect l="13550" b="3722"/>
          <a:stretch/>
        </p:blipFill>
        <p:spPr bwMode="auto">
          <a:xfrm>
            <a:off x="8478564" y="942219"/>
            <a:ext cx="2722836" cy="1540632"/>
          </a:xfrm>
          <a:prstGeom prst="rect">
            <a:avLst/>
          </a:prstGeom>
          <a:noFill/>
        </p:spPr>
      </p:pic>
      <p:sp>
        <p:nvSpPr>
          <p:cNvPr id="2" name="TextBox 1"/>
          <p:cNvSpPr txBox="1"/>
          <p:nvPr/>
        </p:nvSpPr>
        <p:spPr>
          <a:xfrm>
            <a:off x="1607846" y="842811"/>
            <a:ext cx="2164054" cy="5450210"/>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000"/>
              </a:lnSpc>
            </a:pPr>
            <a:r>
              <a:rPr lang="en-US" altLang="zh-CN" sz="2800" b="1" dirty="0">
                <a:solidFill>
                  <a:srgbClr val="000000"/>
                </a:solidFill>
                <a:latin typeface="微软雅黑" pitchFamily="18" charset="0"/>
                <a:cs typeface="微软雅黑" pitchFamily="18" charset="0"/>
              </a:rPr>
              <a:t>你自己想做的</a:t>
            </a:r>
          </a:p>
          <a:p>
            <a:pPr>
              <a:lnSpc>
                <a:spcPts val="3600"/>
              </a:lnSpc>
            </a:pPr>
            <a:r>
              <a:rPr lang="en-US" altLang="zh-CN" sz="2800" b="1" dirty="0">
                <a:solidFill>
                  <a:srgbClr val="000000"/>
                </a:solidFill>
                <a:latin typeface="微软雅黑" pitchFamily="18" charset="0"/>
                <a:cs typeface="微软雅黑" pitchFamily="18" charset="0"/>
              </a:rPr>
              <a:t>事情：</a:t>
            </a:r>
          </a:p>
          <a:p>
            <a:pPr>
              <a:lnSpc>
                <a:spcPts val="1000"/>
              </a:lnSpc>
            </a:pPr>
            <a:endParaRPr lang="en-US" altLang="zh-CN" dirty="0"/>
          </a:p>
          <a:p>
            <a:pPr>
              <a:lnSpc>
                <a:spcPts val="32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聊天</a:t>
            </a:r>
          </a:p>
          <a:p>
            <a:pPr>
              <a:lnSpc>
                <a:spcPts val="40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打游戏</a:t>
            </a:r>
          </a:p>
          <a:p>
            <a:pPr>
              <a:lnSpc>
                <a:spcPts val="1000"/>
              </a:lnSpc>
            </a:pPr>
            <a:endParaRPr lang="en-US" altLang="zh-CN" dirty="0"/>
          </a:p>
          <a:p>
            <a:pPr>
              <a:lnSpc>
                <a:spcPts val="32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画画</a:t>
            </a:r>
          </a:p>
          <a:p>
            <a:pPr>
              <a:lnSpc>
                <a:spcPts val="1000"/>
              </a:lnSpc>
            </a:pPr>
            <a:endParaRPr lang="en-US" altLang="zh-CN" dirty="0"/>
          </a:p>
          <a:p>
            <a:pPr>
              <a:lnSpc>
                <a:spcPts val="32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写作</a:t>
            </a:r>
          </a:p>
          <a:p>
            <a:pPr>
              <a:lnSpc>
                <a:spcPts val="1000"/>
              </a:lnSpc>
            </a:pPr>
            <a:endParaRPr lang="en-US" altLang="zh-CN" dirty="0"/>
          </a:p>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p>
        </p:txBody>
      </p:sp>
      <p:sp>
        <p:nvSpPr>
          <p:cNvPr id="14" name="TextBox 1"/>
          <p:cNvSpPr txBox="1"/>
          <p:nvPr/>
        </p:nvSpPr>
        <p:spPr>
          <a:xfrm>
            <a:off x="4973345" y="1169287"/>
            <a:ext cx="2415726" cy="3574697"/>
          </a:xfrm>
          <a:prstGeom prst="rect">
            <a:avLst/>
          </a:prstGeom>
          <a:noFill/>
        </p:spPr>
        <p:txBody>
          <a:bodyPr wrap="none" lIns="0" tIns="0" rIns="0" rtlCol="0">
            <a:spAutoFit/>
          </a:bodyPr>
          <a:lstStyle/>
          <a:p>
            <a:pPr>
              <a:lnSpc>
                <a:spcPts val="3700"/>
              </a:lnSpc>
            </a:pPr>
            <a:r>
              <a:rPr lang="en-US" altLang="zh-CN" sz="2800" b="1" dirty="0">
                <a:solidFill>
                  <a:srgbClr val="000000"/>
                </a:solidFill>
                <a:latin typeface="微软雅黑" pitchFamily="18" charset="0"/>
                <a:cs typeface="微软雅黑" pitchFamily="18" charset="0"/>
              </a:rPr>
              <a:t>你想让</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AI</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做的</a:t>
            </a:r>
          </a:p>
          <a:p>
            <a:pPr>
              <a:lnSpc>
                <a:spcPts val="3600"/>
              </a:lnSpc>
            </a:pPr>
            <a:r>
              <a:rPr lang="en-US" altLang="zh-CN" sz="2800" b="1" dirty="0">
                <a:solidFill>
                  <a:srgbClr val="000000"/>
                </a:solidFill>
                <a:latin typeface="微软雅黑" pitchFamily="18" charset="0"/>
                <a:cs typeface="微软雅黑" pitchFamily="18" charset="0"/>
              </a:rPr>
              <a:t>事情：</a:t>
            </a:r>
          </a:p>
          <a:p>
            <a:pPr>
              <a:lnSpc>
                <a:spcPts val="1000"/>
              </a:lnSpc>
            </a:pPr>
            <a:endParaRPr lang="en-US" altLang="zh-CN" dirty="0"/>
          </a:p>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收拾房间</a:t>
            </a:r>
          </a:p>
          <a:p>
            <a:pPr>
              <a:lnSpc>
                <a:spcPts val="4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倒垃圾</a:t>
            </a:r>
          </a:p>
          <a:p>
            <a:pPr>
              <a:lnSpc>
                <a:spcPts val="1000"/>
              </a:lnSpc>
            </a:pPr>
            <a:endParaRPr lang="en-US" altLang="zh-CN" dirty="0"/>
          </a:p>
          <a:p>
            <a:pPr>
              <a:lnSpc>
                <a:spcPts val="32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照顾老人小孩</a:t>
            </a:r>
          </a:p>
          <a:p>
            <a:pPr>
              <a:lnSpc>
                <a:spcPts val="1000"/>
              </a:lnSpc>
            </a:pPr>
            <a:endParaRPr lang="en-US" altLang="zh-CN" dirty="0"/>
          </a:p>
          <a:p>
            <a:pPr>
              <a:lnSpc>
                <a:spcPts val="32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麻烦费事的手续</a:t>
            </a:r>
          </a:p>
          <a:p>
            <a:pPr>
              <a:lnSpc>
                <a:spcPts val="4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工作赚钱</a:t>
            </a:r>
          </a:p>
        </p:txBody>
      </p:sp>
      <p:sp>
        <p:nvSpPr>
          <p:cNvPr id="15" name="TextBox 1"/>
          <p:cNvSpPr txBox="1"/>
          <p:nvPr/>
        </p:nvSpPr>
        <p:spPr>
          <a:xfrm>
            <a:off x="8454742" y="2632190"/>
            <a:ext cx="2297104" cy="4165884"/>
          </a:xfrm>
          <a:prstGeom prst="rect">
            <a:avLst/>
          </a:prstGeom>
          <a:noFill/>
        </p:spPr>
        <p:txBody>
          <a:bodyPr wrap="none" lIns="0" tIns="0" rIns="0" rtlCol="0">
            <a:spAutoFit/>
          </a:bodyPr>
          <a:lstStyle/>
          <a:p>
            <a:pPr>
              <a:lnSpc>
                <a:spcPts val="3700"/>
              </a:lnSpc>
              <a:tabLst>
                <a:tab pos="2184400" algn="l"/>
              </a:tabLst>
            </a:pPr>
            <a:r>
              <a:rPr lang="en-US" altLang="zh-CN" sz="2800" b="1" dirty="0">
                <a:solidFill>
                  <a:srgbClr val="000000"/>
                </a:solidFill>
                <a:latin typeface="微软雅黑" pitchFamily="18" charset="0"/>
                <a:cs typeface="微软雅黑" pitchFamily="18" charset="0"/>
              </a:rPr>
              <a:t>结果现在</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AI</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在</a:t>
            </a:r>
          </a:p>
          <a:p>
            <a:pPr>
              <a:lnSpc>
                <a:spcPts val="3600"/>
              </a:lnSpc>
              <a:tabLst>
                <a:tab pos="2184400" algn="l"/>
              </a:tabLst>
            </a:pPr>
            <a:r>
              <a:rPr lang="en-US" altLang="zh-CN" sz="2800" b="1" dirty="0">
                <a:solidFill>
                  <a:srgbClr val="000000"/>
                </a:solidFill>
                <a:latin typeface="微软雅黑" pitchFamily="18" charset="0"/>
                <a:cs typeface="微软雅黑" pitchFamily="18" charset="0"/>
              </a:rPr>
              <a:t>做的事情：</a:t>
            </a:r>
          </a:p>
          <a:p>
            <a:pPr>
              <a:lnSpc>
                <a:spcPts val="1000"/>
              </a:lnSpc>
            </a:pPr>
            <a:endParaRPr lang="en-US" altLang="zh-CN" dirty="0"/>
          </a:p>
          <a:p>
            <a:pPr>
              <a:lnSpc>
                <a:spcPts val="3200"/>
              </a:lnSpc>
              <a:tabLst>
                <a:tab pos="2184400" algn="l"/>
              </a:tabLst>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聊天</a:t>
            </a:r>
          </a:p>
          <a:p>
            <a:pPr>
              <a:lnSpc>
                <a:spcPts val="4000"/>
              </a:lnSpc>
              <a:tabLst>
                <a:tab pos="2184400" algn="l"/>
              </a:tabLst>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打游戏</a:t>
            </a:r>
          </a:p>
          <a:p>
            <a:pPr>
              <a:lnSpc>
                <a:spcPts val="1000"/>
              </a:lnSpc>
            </a:pPr>
            <a:endParaRPr lang="en-US" altLang="zh-CN" dirty="0"/>
          </a:p>
          <a:p>
            <a:pPr>
              <a:lnSpc>
                <a:spcPts val="3200"/>
              </a:lnSpc>
              <a:tabLst>
                <a:tab pos="2184400" algn="l"/>
              </a:tabLst>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画画</a:t>
            </a:r>
          </a:p>
          <a:p>
            <a:pPr>
              <a:lnSpc>
                <a:spcPts val="1000"/>
              </a:lnSpc>
            </a:pPr>
            <a:endParaRPr lang="en-US" altLang="zh-CN" dirty="0"/>
          </a:p>
          <a:p>
            <a:pPr>
              <a:lnSpc>
                <a:spcPts val="3200"/>
              </a:lnSpc>
              <a:tabLst>
                <a:tab pos="2184400" algn="l"/>
              </a:tabLst>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写作</a:t>
            </a:r>
          </a:p>
          <a:p>
            <a:pPr>
              <a:lnSpc>
                <a:spcPts val="1000"/>
              </a:lnSpc>
            </a:pPr>
            <a:endParaRPr lang="en-US" altLang="zh-CN" dirty="0"/>
          </a:p>
          <a:p>
            <a:pPr>
              <a:lnSpc>
                <a:spcPts val="3100"/>
              </a:lnSpc>
              <a:tabLst>
                <a:tab pos="2184400" algn="l"/>
              </a:tabLst>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p>
          <a:p>
            <a:pPr>
              <a:lnSpc>
                <a:spcPts val="1000"/>
              </a:lnSpc>
            </a:pPr>
            <a:endParaRPr lang="en-US" altLang="zh-CN" dirty="0"/>
          </a:p>
          <a:p>
            <a:pPr>
              <a:lnSpc>
                <a:spcPts val="1000"/>
              </a:lnSpc>
            </a:pPr>
            <a:endParaRPr lang="en-US" altLang="zh-CN" dirty="0"/>
          </a:p>
          <a:p>
            <a:pPr>
              <a:lnSpc>
                <a:spcPts val="2200"/>
              </a:lnSpc>
              <a:tabLst>
                <a:tab pos="2184400" algn="l"/>
              </a:tabLst>
            </a:pPr>
            <a:r>
              <a:rPr lang="en-US" altLang="zh-CN" dirty="0"/>
              <a:t>	</a:t>
            </a:r>
            <a:endParaRPr lang="en-US" altLang="zh-CN" sz="1200" dirty="0">
              <a:solidFill>
                <a:srgbClr val="898989"/>
              </a:solidFill>
              <a:latin typeface="Calibri" pitchFamily="18" charset="0"/>
              <a:cs typeface="Calibri" pitchFamily="18" charset="0"/>
            </a:endParaRPr>
          </a:p>
        </p:txBody>
      </p:sp>
      <p:sp>
        <p:nvSpPr>
          <p:cNvPr id="17" name="Freeform 3">
            <a:extLst>
              <a:ext uri="{FF2B5EF4-FFF2-40B4-BE49-F238E27FC236}">
                <a16:creationId xmlns:a16="http://schemas.microsoft.com/office/drawing/2014/main" id="{567BF0EA-3D02-0F4E-91C2-F0DD8A4A0AC5}"/>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1">
            <a:extLst>
              <a:ext uri="{FF2B5EF4-FFF2-40B4-BE49-F238E27FC236}">
                <a16:creationId xmlns:a16="http://schemas.microsoft.com/office/drawing/2014/main" id="{A449E963-EBAC-2E4F-8C20-08CB4F215900}"/>
              </a:ext>
            </a:extLst>
          </p:cNvPr>
          <p:cNvSpPr txBox="1"/>
          <p:nvPr/>
        </p:nvSpPr>
        <p:spPr>
          <a:xfrm>
            <a:off x="472354" y="152400"/>
            <a:ext cx="1950855" cy="548868"/>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理想</a:t>
            </a:r>
            <a:r>
              <a:rPr lang="en-US" altLang="zh-CN" sz="3137" dirty="0">
                <a:latin typeface="Times New Roman" pitchFamily="18" charset="0"/>
                <a:cs typeface="Times New Roman" pitchFamily="18" charset="0"/>
              </a:rPr>
              <a:t> </a:t>
            </a:r>
            <a:r>
              <a:rPr lang="en-US" altLang="zh-CN" sz="3137" b="1" dirty="0">
                <a:solidFill>
                  <a:srgbClr val="000000"/>
                </a:solidFill>
                <a:latin typeface="Calibri Light" pitchFamily="18" charset="0"/>
                <a:cs typeface="Calibri Light" pitchFamily="18" charset="0"/>
              </a:rPr>
              <a:t>·</a:t>
            </a:r>
            <a:r>
              <a:rPr lang="en-US" altLang="zh-CN" sz="3199" dirty="0">
                <a:latin typeface="Times New Roman" pitchFamily="18" charset="0"/>
                <a:cs typeface="Times New Roman" pitchFamily="18" charset="0"/>
              </a:rPr>
              <a:t> </a:t>
            </a:r>
            <a:r>
              <a:rPr lang="zh-CN" altLang="en-US" sz="3199" b="1" dirty="0">
                <a:solidFill>
                  <a:srgbClr val="000000"/>
                </a:solidFill>
                <a:latin typeface="微软雅黑" pitchFamily="18" charset="0"/>
                <a:cs typeface="Times New Roman" pitchFamily="18" charset="0"/>
              </a:rPr>
              <a:t>现实</a:t>
            </a:r>
            <a:endParaRPr lang="en-US" altLang="zh-CN" sz="3199" b="1" dirty="0">
              <a:solidFill>
                <a:srgbClr val="000000"/>
              </a:solidFill>
              <a:latin typeface="微软雅黑" pitchFamily="18" charset="0"/>
              <a:cs typeface="微软雅黑" pitchFamily="18" charset="0"/>
            </a:endParaRPr>
          </a:p>
        </p:txBody>
      </p:sp>
      <p:sp>
        <p:nvSpPr>
          <p:cNvPr id="20" name="TextBox 1">
            <a:extLst>
              <a:ext uri="{FF2B5EF4-FFF2-40B4-BE49-F238E27FC236}">
                <a16:creationId xmlns:a16="http://schemas.microsoft.com/office/drawing/2014/main" id="{0AB810AD-9743-D04A-9C2B-36D31B3EC6E8}"/>
              </a:ext>
            </a:extLst>
          </p:cNvPr>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4254501" y="2654301"/>
            <a:ext cx="3712555" cy="790601"/>
          </a:xfrm>
          <a:prstGeom prst="rect">
            <a:avLst/>
          </a:prstGeom>
          <a:noFill/>
        </p:spPr>
        <p:txBody>
          <a:bodyPr wrap="none" lIns="0" tIns="0" rIns="0" rtlCol="0">
            <a:spAutoFit/>
          </a:bodyPr>
          <a:lstStyle/>
          <a:p>
            <a:pPr>
              <a:lnSpc>
                <a:spcPts val="6300"/>
              </a:lnSpc>
            </a:pPr>
            <a:r>
              <a:rPr lang="en-US" altLang="zh-CN" sz="4800" b="1" dirty="0">
                <a:solidFill>
                  <a:srgbClr val="000000"/>
                </a:solidFill>
                <a:latin typeface="微软雅黑" pitchFamily="18" charset="0"/>
                <a:cs typeface="微软雅黑" pitchFamily="18" charset="0"/>
              </a:rPr>
              <a:t>课程基本情况</a:t>
            </a:r>
          </a:p>
        </p:txBody>
      </p:sp>
      <p:sp>
        <p:nvSpPr>
          <p:cNvPr id="7" name="TextBox 1">
            <a:extLst>
              <a:ext uri="{FF2B5EF4-FFF2-40B4-BE49-F238E27FC236}">
                <a16:creationId xmlns:a16="http://schemas.microsoft.com/office/drawing/2014/main" id="{31E3FC0E-4C56-7144-A630-12C918210A92}"/>
              </a:ext>
            </a:extLst>
          </p:cNvPr>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6800" y="1180069"/>
            <a:ext cx="7067640" cy="440056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课程名称：人工智能与深度学习</a:t>
            </a:r>
          </a:p>
          <a:p>
            <a:pPr>
              <a:lnSpc>
                <a:spcPts val="1000"/>
              </a:lnSpc>
            </a:pPr>
            <a:endParaRPr lang="en-US" altLang="zh-CN" dirty="0"/>
          </a:p>
          <a:p>
            <a:pPr>
              <a:lnSpc>
                <a:spcPts val="3700"/>
              </a:lnSpc>
              <a:tabLst>
                <a:tab pos="228600" algn="l"/>
              </a:tabLst>
            </a:pP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Artificial</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Intelligence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and</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Deep</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Learning</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4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专业选修课（任选</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限选）</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3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面向机械设计制造及其自动化</a:t>
            </a:r>
            <a:r>
              <a:rPr lang="zh-CN" altLang="en-US" sz="2800" b="1" dirty="0">
                <a:solidFill>
                  <a:srgbClr val="000000"/>
                </a:solidFill>
                <a:latin typeface="微软雅黑" pitchFamily="18" charset="0"/>
                <a:cs typeface="微软雅黑" pitchFamily="18" charset="0"/>
              </a:rPr>
              <a:t>、工业工程、</a:t>
            </a:r>
            <a:endParaRPr lang="en-US" altLang="zh-CN" sz="2800" b="1" dirty="0">
              <a:solidFill>
                <a:srgbClr val="000000"/>
              </a:solidFill>
              <a:latin typeface="微软雅黑" pitchFamily="18" charset="0"/>
              <a:cs typeface="微软雅黑" pitchFamily="18" charset="0"/>
            </a:endParaRPr>
          </a:p>
          <a:p>
            <a:pPr>
              <a:lnSpc>
                <a:spcPts val="4300"/>
              </a:lnSpc>
              <a:tabLst>
                <a:tab pos="228600" algn="l"/>
              </a:tabLst>
            </a:pPr>
            <a:r>
              <a:rPr lang="en-US" altLang="zh-CN" sz="2800" b="1" dirty="0">
                <a:solidFill>
                  <a:srgbClr val="000000"/>
                </a:solidFill>
                <a:latin typeface="微软雅黑" pitchFamily="18" charset="0"/>
                <a:cs typeface="微软雅黑" pitchFamily="18" charset="0"/>
              </a:rPr>
              <a:t>   </a:t>
            </a:r>
            <a:r>
              <a:rPr lang="zh-CN" altLang="en-US" sz="2800" b="1" dirty="0">
                <a:solidFill>
                  <a:srgbClr val="000000"/>
                </a:solidFill>
                <a:latin typeface="微软雅黑" pitchFamily="18" charset="0"/>
                <a:cs typeface="微软雅黑" pitchFamily="18" charset="0"/>
              </a:rPr>
              <a:t>测控技术与仪器等</a:t>
            </a:r>
            <a:r>
              <a:rPr lang="en-US" altLang="zh-CN" sz="2800" b="1" dirty="0" err="1">
                <a:solidFill>
                  <a:srgbClr val="000000"/>
                </a:solidFill>
                <a:latin typeface="微软雅黑" pitchFamily="18" charset="0"/>
                <a:cs typeface="微软雅黑" pitchFamily="18" charset="0"/>
              </a:rPr>
              <a:t>专业本科生开设</a:t>
            </a:r>
            <a:endParaRPr lang="en-US" altLang="zh-CN" sz="2800" b="1" dirty="0">
              <a:solidFill>
                <a:srgbClr val="000000"/>
              </a:solidFill>
              <a:latin typeface="微软雅黑" pitchFamily="18" charset="0"/>
              <a:cs typeface="微软雅黑" pitchFamily="18" charset="0"/>
            </a:endParaRPr>
          </a:p>
        </p:txBody>
      </p:sp>
      <p:sp>
        <p:nvSpPr>
          <p:cNvPr id="7" name="Freeform 3">
            <a:extLst>
              <a:ext uri="{FF2B5EF4-FFF2-40B4-BE49-F238E27FC236}">
                <a16:creationId xmlns:a16="http://schemas.microsoft.com/office/drawing/2014/main" id="{424CF151-809E-BA4D-9E0C-E5D89DBA41E3}"/>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TextBox 1">
            <a:extLst>
              <a:ext uri="{FF2B5EF4-FFF2-40B4-BE49-F238E27FC236}">
                <a16:creationId xmlns:a16="http://schemas.microsoft.com/office/drawing/2014/main" id="{08B77A26-A519-E242-96D8-E748C635E75B}"/>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GB" sz="3199" b="1" dirty="0">
                <a:solidFill>
                  <a:srgbClr val="000000"/>
                </a:solidFill>
                <a:latin typeface="微软雅黑" pitchFamily="18" charset="0"/>
                <a:cs typeface="Times New Roman" pitchFamily="18" charset="0"/>
              </a:rPr>
              <a:t>基本情况</a:t>
            </a:r>
            <a:endParaRPr lang="en-US" altLang="zh-CN" sz="3199" b="1" dirty="0">
              <a:solidFill>
                <a:srgbClr val="000000"/>
              </a:solidFill>
              <a:latin typeface="微软雅黑" pitchFamily="18" charset="0"/>
              <a:cs typeface="微软雅黑" pitchFamily="18" charset="0"/>
            </a:endParaRPr>
          </a:p>
        </p:txBody>
      </p:sp>
      <p:sp>
        <p:nvSpPr>
          <p:cNvPr id="9" name="TextBox 1">
            <a:extLst>
              <a:ext uri="{FF2B5EF4-FFF2-40B4-BE49-F238E27FC236}">
                <a16:creationId xmlns:a16="http://schemas.microsoft.com/office/drawing/2014/main" id="{56B5FE60-3236-1F43-8AA4-7C12AB2C765A}"/>
              </a:ext>
            </a:extLst>
          </p:cNvPr>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844662"/>
            <a:ext cx="11658600" cy="5937138"/>
          </a:xfrm>
          <a:prstGeom prst="rect">
            <a:avLst/>
          </a:prstGeom>
          <a:noFill/>
        </p:spPr>
        <p:txBody>
          <a:bodyPr wrap="square" lIns="0" tIns="0" rIns="0" rtlCol="0">
            <a:spAutoFit/>
          </a:bodyPr>
          <a:lstStyle/>
          <a:p>
            <a:pPr>
              <a:lnSpc>
                <a:spcPts val="1000"/>
              </a:lnSpc>
            </a:pPr>
            <a:endParaRPr lang="en-US" altLang="zh-CN" dirty="0"/>
          </a:p>
          <a:p>
            <a:pPr>
              <a:lnSpc>
                <a:spcPts val="1000"/>
              </a:lnSpc>
            </a:pPr>
            <a:endParaRPr lang="en-US" altLang="zh-CN" dirty="0"/>
          </a:p>
          <a:p>
            <a:pPr>
              <a:lnSpc>
                <a:spcPts val="45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授课老师：</a:t>
            </a:r>
            <a:r>
              <a:rPr lang="zh-CN" altLang="en-US" sz="2800" b="1" u="sng" dirty="0">
                <a:solidFill>
                  <a:srgbClr val="000000"/>
                </a:solidFill>
                <a:latin typeface="微软雅黑" pitchFamily="18" charset="0"/>
                <a:cs typeface="微软雅黑" pitchFamily="18" charset="0"/>
              </a:rPr>
              <a:t>陈伟</a:t>
            </a:r>
            <a:r>
              <a:rPr lang="zh-CN" altLang="en-US" sz="2800" b="1" dirty="0">
                <a:solidFill>
                  <a:srgbClr val="000000"/>
                </a:solidFill>
                <a:latin typeface="微软雅黑" pitchFamily="18" charset="0"/>
                <a:cs typeface="微软雅黑" pitchFamily="18" charset="0"/>
              </a:rPr>
              <a:t>（尹周平院士团队骨干）</a:t>
            </a:r>
            <a:endParaRPr lang="en-US" altLang="zh-CN" sz="2800" b="1" dirty="0">
              <a:solidFill>
                <a:srgbClr val="000000"/>
              </a:solidFill>
              <a:latin typeface="微软雅黑" pitchFamily="18" charset="0"/>
              <a:cs typeface="微软雅黑" pitchFamily="18" charset="0"/>
            </a:endParaRPr>
          </a:p>
          <a:p>
            <a:pPr>
              <a:lnSpc>
                <a:spcPts val="3300"/>
              </a:lnSpc>
              <a:tabLst>
                <a:tab pos="457200" algn="l"/>
              </a:tabLst>
            </a:pPr>
            <a:r>
              <a:rPr lang="en-US" altLang="zh-CN" sz="2000" dirty="0"/>
              <a:t>	</a:t>
            </a:r>
            <a:r>
              <a:rPr lang="en-US" altLang="zh-CN" sz="2000" dirty="0">
                <a:solidFill>
                  <a:srgbClr val="000000"/>
                </a:solidFill>
                <a:latin typeface="Arial" pitchFamily="18" charset="0"/>
                <a:cs typeface="Arial" pitchFamily="18" charset="0"/>
              </a:rPr>
              <a:t>•</a:t>
            </a:r>
            <a:r>
              <a:rPr lang="en-US" altLang="zh-CN" sz="2000" dirty="0">
                <a:latin typeface="Times New Roman" pitchFamily="18" charset="0"/>
                <a:cs typeface="Times New Roman" pitchFamily="18" charset="0"/>
              </a:rPr>
              <a:t> </a:t>
            </a:r>
            <a:r>
              <a:rPr lang="zh-CN" altLang="en-US" sz="2000" dirty="0">
                <a:solidFill>
                  <a:srgbClr val="000000"/>
                </a:solidFill>
                <a:latin typeface="微软雅黑" pitchFamily="18" charset="0"/>
                <a:cs typeface="Times New Roman" pitchFamily="18" charset="0"/>
              </a:rPr>
              <a:t>个人简介</a:t>
            </a:r>
            <a:r>
              <a:rPr lang="en-US" altLang="zh-CN" sz="2000" dirty="0">
                <a:solidFill>
                  <a:srgbClr val="000000"/>
                </a:solidFill>
                <a:latin typeface="微软雅黑" pitchFamily="18" charset="0"/>
                <a:cs typeface="微软雅黑" pitchFamily="18" charset="0"/>
              </a:rPr>
              <a:t>：2017</a:t>
            </a:r>
            <a:r>
              <a:rPr lang="zh-CN" altLang="en-US" sz="2000" dirty="0">
                <a:solidFill>
                  <a:srgbClr val="000000"/>
                </a:solidFill>
                <a:latin typeface="微软雅黑" pitchFamily="18" charset="0"/>
                <a:cs typeface="微软雅黑" pitchFamily="18" charset="0"/>
              </a:rPr>
              <a:t>年</a:t>
            </a:r>
            <a:r>
              <a:rPr lang="en-US" altLang="zh-CN" sz="2000" dirty="0">
                <a:solidFill>
                  <a:srgbClr val="000000"/>
                </a:solidFill>
                <a:latin typeface="微软雅黑" pitchFamily="18" charset="0"/>
                <a:cs typeface="微软雅黑" pitchFamily="18" charset="0"/>
              </a:rPr>
              <a:t>6</a:t>
            </a:r>
            <a:r>
              <a:rPr lang="zh-CN" altLang="en-US" sz="2000" dirty="0">
                <a:solidFill>
                  <a:srgbClr val="000000"/>
                </a:solidFill>
                <a:latin typeface="微软雅黑" pitchFamily="18" charset="0"/>
                <a:cs typeface="微软雅黑" pitchFamily="18" charset="0"/>
              </a:rPr>
              <a:t>月和</a:t>
            </a:r>
            <a:r>
              <a:rPr lang="en-US" altLang="zh-CN" sz="2000" dirty="0">
                <a:solidFill>
                  <a:srgbClr val="000000"/>
                </a:solidFill>
                <a:latin typeface="微软雅黑" pitchFamily="18" charset="0"/>
                <a:cs typeface="微软雅黑" pitchFamily="18" charset="0"/>
              </a:rPr>
              <a:t>2021</a:t>
            </a:r>
            <a:r>
              <a:rPr lang="zh-CN" altLang="en-US" sz="2000" dirty="0">
                <a:solidFill>
                  <a:srgbClr val="000000"/>
                </a:solidFill>
                <a:latin typeface="微软雅黑" pitchFamily="18" charset="0"/>
                <a:cs typeface="微软雅黑" pitchFamily="18" charset="0"/>
              </a:rPr>
              <a:t>年</a:t>
            </a:r>
            <a:r>
              <a:rPr lang="en-US" altLang="zh-CN" sz="2000" dirty="0">
                <a:solidFill>
                  <a:srgbClr val="000000"/>
                </a:solidFill>
                <a:latin typeface="微软雅黑" pitchFamily="18" charset="0"/>
                <a:cs typeface="微软雅黑" pitchFamily="18" charset="0"/>
              </a:rPr>
              <a:t>6</a:t>
            </a:r>
            <a:r>
              <a:rPr lang="zh-CN" altLang="en-US" sz="2000" dirty="0">
                <a:solidFill>
                  <a:srgbClr val="000000"/>
                </a:solidFill>
                <a:latin typeface="微软雅黑" pitchFamily="18" charset="0"/>
                <a:cs typeface="微软雅黑" pitchFamily="18" charset="0"/>
              </a:rPr>
              <a:t>月分别获得华中科技大学学士学位和博士学位，</a:t>
            </a:r>
            <a:r>
              <a:rPr lang="en-US" altLang="zh-CN" sz="2000" dirty="0">
                <a:solidFill>
                  <a:srgbClr val="000000"/>
                </a:solidFill>
                <a:latin typeface="微软雅黑" pitchFamily="18" charset="0"/>
                <a:cs typeface="微软雅黑" pitchFamily="18" charset="0"/>
              </a:rPr>
              <a:t>2024</a:t>
            </a:r>
            <a:r>
              <a:rPr lang="zh-CN" altLang="en-US" sz="2000" dirty="0">
                <a:solidFill>
                  <a:srgbClr val="000000"/>
                </a:solidFill>
                <a:latin typeface="微软雅黑" pitchFamily="18" charset="0"/>
                <a:cs typeface="微软雅黑" pitchFamily="18" charset="0"/>
              </a:rPr>
              <a:t>年底博士后出站留校。入选</a:t>
            </a:r>
            <a:r>
              <a:rPr lang="en-US" altLang="zh-CN" sz="2000" dirty="0">
                <a:solidFill>
                  <a:srgbClr val="000000"/>
                </a:solidFill>
                <a:latin typeface="微软雅黑" pitchFamily="18" charset="0"/>
                <a:cs typeface="微软雅黑" pitchFamily="18" charset="0"/>
              </a:rPr>
              <a:t>2022</a:t>
            </a:r>
            <a:r>
              <a:rPr lang="zh-CN" altLang="en-US" sz="2000" dirty="0">
                <a:solidFill>
                  <a:srgbClr val="000000"/>
                </a:solidFill>
                <a:latin typeface="微软雅黑" pitchFamily="18" charset="0"/>
                <a:cs typeface="微软雅黑" pitchFamily="18" charset="0"/>
              </a:rPr>
              <a:t>年国家博士后创新人才支持计划，主持国家科技重大专项任务、国家自然科学基金面上项目、青年项目，省重大科技专项子课题等。兼任湖北省人工智能学会理事、中科院一区</a:t>
            </a:r>
            <a:r>
              <a:rPr lang="en-US" altLang="zh-CN" sz="2000" dirty="0">
                <a:solidFill>
                  <a:srgbClr val="000000"/>
                </a:solidFill>
                <a:latin typeface="微软雅黑" pitchFamily="18" charset="0"/>
                <a:cs typeface="微软雅黑" pitchFamily="18" charset="0"/>
              </a:rPr>
              <a:t>/Top</a:t>
            </a:r>
            <a:r>
              <a:rPr lang="zh-CN" altLang="en-US" sz="2000" dirty="0">
                <a:solidFill>
                  <a:srgbClr val="000000"/>
                </a:solidFill>
                <a:latin typeface="微软雅黑" pitchFamily="18" charset="0"/>
                <a:cs typeface="微软雅黑" pitchFamily="18" charset="0"/>
              </a:rPr>
              <a:t>期刊</a:t>
            </a:r>
            <a:r>
              <a:rPr lang="en-US" altLang="zh-CN" sz="2000" dirty="0">
                <a:solidFill>
                  <a:srgbClr val="000000"/>
                </a:solidFill>
                <a:latin typeface="微软雅黑" pitchFamily="18" charset="0"/>
                <a:cs typeface="微软雅黑" pitchFamily="18" charset="0"/>
              </a:rPr>
              <a:t>《International Journal of </a:t>
            </a:r>
            <a:r>
              <a:rPr lang="en-US" altLang="zh-CN" sz="2000" dirty="0" err="1">
                <a:solidFill>
                  <a:srgbClr val="000000"/>
                </a:solidFill>
                <a:latin typeface="微软雅黑" pitchFamily="18" charset="0"/>
                <a:cs typeface="微软雅黑" pitchFamily="18" charset="0"/>
              </a:rPr>
              <a:t>Hydromechatronics</a:t>
            </a:r>
            <a:r>
              <a:rPr lang="en-US" altLang="zh-CN" sz="2000" dirty="0">
                <a:solidFill>
                  <a:srgbClr val="000000"/>
                </a:solidFill>
                <a:latin typeface="微软雅黑" pitchFamily="18" charset="0"/>
                <a:cs typeface="微软雅黑" pitchFamily="18" charset="0"/>
              </a:rPr>
              <a:t>》</a:t>
            </a:r>
            <a:r>
              <a:rPr lang="zh-CN" altLang="en-US" sz="2000" dirty="0">
                <a:solidFill>
                  <a:srgbClr val="000000"/>
                </a:solidFill>
                <a:latin typeface="微软雅黑" pitchFamily="18" charset="0"/>
                <a:cs typeface="微软雅黑" pitchFamily="18" charset="0"/>
              </a:rPr>
              <a:t>与</a:t>
            </a:r>
            <a:r>
              <a:rPr lang="en-US" altLang="zh-CN" sz="2000" dirty="0">
                <a:solidFill>
                  <a:srgbClr val="000000"/>
                </a:solidFill>
                <a:latin typeface="微软雅黑" pitchFamily="18" charset="0"/>
                <a:cs typeface="微软雅黑" pitchFamily="18" charset="0"/>
              </a:rPr>
              <a:t>《</a:t>
            </a:r>
            <a:r>
              <a:rPr lang="zh-CN" altLang="en-US" sz="2000" dirty="0">
                <a:solidFill>
                  <a:srgbClr val="000000"/>
                </a:solidFill>
                <a:latin typeface="微软雅黑" pitchFamily="18" charset="0"/>
                <a:cs typeface="微软雅黑" pitchFamily="18" charset="0"/>
              </a:rPr>
              <a:t>固体力学学报</a:t>
            </a:r>
            <a:r>
              <a:rPr lang="en-US" altLang="zh-CN" sz="2000" dirty="0">
                <a:solidFill>
                  <a:srgbClr val="000000"/>
                </a:solidFill>
                <a:latin typeface="微软雅黑" pitchFamily="18" charset="0"/>
                <a:cs typeface="微软雅黑" pitchFamily="18" charset="0"/>
              </a:rPr>
              <a:t>》</a:t>
            </a:r>
            <a:r>
              <a:rPr lang="zh-CN" altLang="en-US" sz="2000" dirty="0">
                <a:solidFill>
                  <a:srgbClr val="000000"/>
                </a:solidFill>
                <a:latin typeface="微软雅黑" pitchFamily="18" charset="0"/>
                <a:cs typeface="微软雅黑" pitchFamily="18" charset="0"/>
              </a:rPr>
              <a:t>青年编委。以一作</a:t>
            </a:r>
            <a:r>
              <a:rPr lang="en-US" altLang="zh-CN" sz="2000" dirty="0">
                <a:solidFill>
                  <a:srgbClr val="000000"/>
                </a:solidFill>
                <a:latin typeface="微软雅黑" pitchFamily="18" charset="0"/>
                <a:cs typeface="微软雅黑" pitchFamily="18" charset="0"/>
              </a:rPr>
              <a:t>/</a:t>
            </a:r>
            <a:r>
              <a:rPr lang="zh-CN" altLang="en-US" sz="2000" dirty="0">
                <a:solidFill>
                  <a:srgbClr val="000000"/>
                </a:solidFill>
                <a:latin typeface="微软雅黑" pitchFamily="18" charset="0"/>
                <a:cs typeface="微软雅黑" pitchFamily="18" charset="0"/>
              </a:rPr>
              <a:t>通讯作者身份发表</a:t>
            </a:r>
            <a:r>
              <a:rPr lang="en-US" altLang="zh-CN" sz="2000" dirty="0">
                <a:solidFill>
                  <a:srgbClr val="000000"/>
                </a:solidFill>
                <a:latin typeface="微软雅黑" pitchFamily="18" charset="0"/>
                <a:cs typeface="微软雅黑" pitchFamily="18" charset="0"/>
              </a:rPr>
              <a:t>SCI</a:t>
            </a:r>
            <a:r>
              <a:rPr lang="zh-CN" altLang="en-US" sz="2000" dirty="0">
                <a:solidFill>
                  <a:srgbClr val="000000"/>
                </a:solidFill>
                <a:latin typeface="微软雅黑" pitchFamily="18" charset="0"/>
                <a:cs typeface="微软雅黑" pitchFamily="18" charset="0"/>
              </a:rPr>
              <a:t>论文</a:t>
            </a:r>
            <a:r>
              <a:rPr lang="en-US" altLang="zh-CN" sz="2000" dirty="0">
                <a:solidFill>
                  <a:srgbClr val="000000"/>
                </a:solidFill>
                <a:latin typeface="微软雅黑" pitchFamily="18" charset="0"/>
                <a:cs typeface="微软雅黑" pitchFamily="18" charset="0"/>
              </a:rPr>
              <a:t>40</a:t>
            </a:r>
            <a:r>
              <a:rPr lang="zh-CN" altLang="en-US" sz="2000" dirty="0">
                <a:solidFill>
                  <a:srgbClr val="000000"/>
                </a:solidFill>
                <a:latin typeface="微软雅黑" pitchFamily="18" charset="0"/>
                <a:cs typeface="微软雅黑" pitchFamily="18" charset="0"/>
              </a:rPr>
              <a:t>余篇、中文</a:t>
            </a:r>
            <a:r>
              <a:rPr lang="en-US" altLang="zh-CN" sz="2000" dirty="0">
                <a:solidFill>
                  <a:srgbClr val="000000"/>
                </a:solidFill>
                <a:latin typeface="微软雅黑" pitchFamily="18" charset="0"/>
                <a:cs typeface="微软雅黑" pitchFamily="18" charset="0"/>
              </a:rPr>
              <a:t>EI</a:t>
            </a:r>
            <a:r>
              <a:rPr lang="zh-CN" altLang="en-US" sz="2000" dirty="0">
                <a:solidFill>
                  <a:srgbClr val="000000"/>
                </a:solidFill>
                <a:latin typeface="微软雅黑" pitchFamily="18" charset="0"/>
                <a:cs typeface="微软雅黑" pitchFamily="18" charset="0"/>
              </a:rPr>
              <a:t>论文</a:t>
            </a:r>
            <a:r>
              <a:rPr lang="en-US" altLang="zh-CN" sz="2000" dirty="0">
                <a:solidFill>
                  <a:srgbClr val="000000"/>
                </a:solidFill>
                <a:latin typeface="微软雅黑" pitchFamily="18" charset="0"/>
                <a:cs typeface="微软雅黑" pitchFamily="18" charset="0"/>
              </a:rPr>
              <a:t>3</a:t>
            </a:r>
            <a:r>
              <a:rPr lang="zh-CN" altLang="en-US" sz="2000" dirty="0">
                <a:solidFill>
                  <a:srgbClr val="000000"/>
                </a:solidFill>
                <a:latin typeface="微软雅黑" pitchFamily="18" charset="0"/>
                <a:cs typeface="微软雅黑" pitchFamily="18" charset="0"/>
              </a:rPr>
              <a:t>篇，包含</a:t>
            </a:r>
            <a:r>
              <a:rPr lang="en-US" altLang="zh-CN" sz="2000" dirty="0">
                <a:solidFill>
                  <a:srgbClr val="000000"/>
                </a:solidFill>
                <a:latin typeface="微软雅黑" pitchFamily="18" charset="0"/>
                <a:cs typeface="微软雅黑" pitchFamily="18" charset="0"/>
              </a:rPr>
              <a:t>J. Manuf. Syst.</a:t>
            </a:r>
            <a:r>
              <a:rPr lang="zh-CN" altLang="en-US" sz="2000" dirty="0">
                <a:solidFill>
                  <a:srgbClr val="000000"/>
                </a:solidFill>
                <a:latin typeface="微软雅黑" pitchFamily="18" charset="0"/>
                <a:cs typeface="微软雅黑" pitchFamily="18" charset="0"/>
              </a:rPr>
              <a:t>、</a:t>
            </a:r>
            <a:r>
              <a:rPr lang="en-US" altLang="zh-CN" sz="2000" dirty="0" err="1">
                <a:solidFill>
                  <a:srgbClr val="000000"/>
                </a:solidFill>
                <a:latin typeface="微软雅黑" pitchFamily="18" charset="0"/>
                <a:cs typeface="微软雅黑" pitchFamily="18" charset="0"/>
              </a:rPr>
              <a:t>Addit</a:t>
            </a:r>
            <a:r>
              <a:rPr lang="en-US" altLang="zh-CN" sz="2000" dirty="0">
                <a:solidFill>
                  <a:srgbClr val="000000"/>
                </a:solidFill>
                <a:latin typeface="微软雅黑" pitchFamily="18" charset="0"/>
                <a:cs typeface="微软雅黑" pitchFamily="18" charset="0"/>
              </a:rPr>
              <a:t>. Manuf.</a:t>
            </a:r>
            <a:r>
              <a:rPr lang="zh-CN" altLang="en-US" sz="2000" dirty="0">
                <a:solidFill>
                  <a:srgbClr val="000000"/>
                </a:solidFill>
                <a:latin typeface="微软雅黑" pitchFamily="18" charset="0"/>
                <a:cs typeface="微软雅黑" pitchFamily="18" charset="0"/>
              </a:rPr>
              <a:t>、</a:t>
            </a:r>
            <a:r>
              <a:rPr lang="en-US" altLang="zh-CN" sz="2000" dirty="0">
                <a:solidFill>
                  <a:srgbClr val="000000"/>
                </a:solidFill>
                <a:latin typeface="微软雅黑" pitchFamily="18" charset="0"/>
                <a:cs typeface="微软雅黑" pitchFamily="18" charset="0"/>
              </a:rPr>
              <a:t>Matter</a:t>
            </a:r>
            <a:r>
              <a:rPr lang="zh-CN" altLang="en-US" sz="2000" dirty="0">
                <a:solidFill>
                  <a:srgbClr val="000000"/>
                </a:solidFill>
                <a:latin typeface="微软雅黑" pitchFamily="18" charset="0"/>
                <a:cs typeface="微软雅黑" pitchFamily="18" charset="0"/>
              </a:rPr>
              <a:t>、</a:t>
            </a:r>
            <a:r>
              <a:rPr lang="en-US" altLang="zh-CN" sz="2000" dirty="0">
                <a:solidFill>
                  <a:srgbClr val="000000"/>
                </a:solidFill>
                <a:latin typeface="微软雅黑" pitchFamily="18" charset="0"/>
                <a:cs typeface="微软雅黑" pitchFamily="18" charset="0"/>
              </a:rPr>
              <a:t>J. Fluid Mech.</a:t>
            </a:r>
            <a:r>
              <a:rPr lang="zh-CN" altLang="en-US" sz="2000" dirty="0">
                <a:solidFill>
                  <a:srgbClr val="000000"/>
                </a:solidFill>
                <a:latin typeface="微软雅黑" pitchFamily="18" charset="0"/>
                <a:cs typeface="微软雅黑" pitchFamily="18" charset="0"/>
              </a:rPr>
              <a:t>、</a:t>
            </a:r>
            <a:r>
              <a:rPr lang="en-US" altLang="zh-CN" sz="2000" dirty="0">
                <a:solidFill>
                  <a:srgbClr val="000000"/>
                </a:solidFill>
                <a:latin typeface="微软雅黑" pitchFamily="18" charset="0"/>
                <a:cs typeface="微软雅黑" pitchFamily="18" charset="0"/>
              </a:rPr>
              <a:t>Mech. Syst. Signal Pr.</a:t>
            </a:r>
            <a:r>
              <a:rPr lang="zh-CN" altLang="en-US" sz="2000" dirty="0">
                <a:solidFill>
                  <a:srgbClr val="000000"/>
                </a:solidFill>
                <a:latin typeface="微软雅黑" pitchFamily="18" charset="0"/>
                <a:cs typeface="微软雅黑" pitchFamily="18" charset="0"/>
              </a:rPr>
              <a:t>等中科院一区</a:t>
            </a:r>
            <a:r>
              <a:rPr lang="en-US" altLang="zh-CN" sz="2000" dirty="0">
                <a:solidFill>
                  <a:srgbClr val="000000"/>
                </a:solidFill>
                <a:latin typeface="微软雅黑" pitchFamily="18" charset="0"/>
                <a:cs typeface="微软雅黑" pitchFamily="18" charset="0"/>
              </a:rPr>
              <a:t>/Top</a:t>
            </a:r>
            <a:r>
              <a:rPr lang="zh-CN" altLang="en-US" sz="2000" dirty="0">
                <a:solidFill>
                  <a:srgbClr val="000000"/>
                </a:solidFill>
                <a:latin typeface="微软雅黑" pitchFamily="18" charset="0"/>
                <a:cs typeface="微软雅黑" pitchFamily="18" charset="0"/>
              </a:rPr>
              <a:t>期刊论文</a:t>
            </a:r>
            <a:r>
              <a:rPr lang="en-US" altLang="zh-CN" sz="2000" dirty="0">
                <a:solidFill>
                  <a:srgbClr val="000000"/>
                </a:solidFill>
                <a:latin typeface="微软雅黑" pitchFamily="18" charset="0"/>
                <a:cs typeface="微软雅黑" pitchFamily="18" charset="0"/>
              </a:rPr>
              <a:t>20</a:t>
            </a:r>
            <a:r>
              <a:rPr lang="zh-CN" altLang="en-US" sz="2000" dirty="0">
                <a:solidFill>
                  <a:srgbClr val="000000"/>
                </a:solidFill>
                <a:latin typeface="微软雅黑" pitchFamily="18" charset="0"/>
                <a:cs typeface="微软雅黑" pitchFamily="18" charset="0"/>
              </a:rPr>
              <a:t>篇。申请</a:t>
            </a:r>
            <a:r>
              <a:rPr lang="en-US" altLang="zh-CN" sz="2000" dirty="0">
                <a:solidFill>
                  <a:srgbClr val="000000"/>
                </a:solidFill>
                <a:latin typeface="微软雅黑" pitchFamily="18" charset="0"/>
                <a:cs typeface="微软雅黑" pitchFamily="18" charset="0"/>
              </a:rPr>
              <a:t>/</a:t>
            </a:r>
            <a:r>
              <a:rPr lang="zh-CN" altLang="en-US" sz="2000" dirty="0">
                <a:solidFill>
                  <a:srgbClr val="000000"/>
                </a:solidFill>
                <a:latin typeface="微软雅黑" pitchFamily="18" charset="0"/>
                <a:cs typeface="微软雅黑" pitchFamily="18" charset="0"/>
              </a:rPr>
              <a:t>授权国家发明专利</a:t>
            </a:r>
            <a:r>
              <a:rPr lang="en-US" altLang="zh-CN" sz="2000" dirty="0">
                <a:solidFill>
                  <a:srgbClr val="000000"/>
                </a:solidFill>
                <a:latin typeface="微软雅黑" pitchFamily="18" charset="0"/>
                <a:cs typeface="微软雅黑" pitchFamily="18" charset="0"/>
              </a:rPr>
              <a:t>16</a:t>
            </a:r>
            <a:r>
              <a:rPr lang="zh-CN" altLang="en-US" sz="2000" dirty="0">
                <a:solidFill>
                  <a:srgbClr val="000000"/>
                </a:solidFill>
                <a:latin typeface="微软雅黑" pitchFamily="18" charset="0"/>
                <a:cs typeface="微软雅黑" pitchFamily="18" charset="0"/>
              </a:rPr>
              <a:t>件，</a:t>
            </a:r>
            <a:r>
              <a:rPr lang="en-US" altLang="zh-CN" sz="2000" dirty="0">
                <a:solidFill>
                  <a:srgbClr val="000000"/>
                </a:solidFill>
                <a:latin typeface="微软雅黑" pitchFamily="18" charset="0"/>
                <a:cs typeface="微软雅黑" pitchFamily="18" charset="0"/>
              </a:rPr>
              <a:t>PCT</a:t>
            </a:r>
            <a:r>
              <a:rPr lang="zh-CN" altLang="en-US" sz="2000" dirty="0">
                <a:solidFill>
                  <a:srgbClr val="000000"/>
                </a:solidFill>
                <a:latin typeface="微软雅黑" pitchFamily="18" charset="0"/>
                <a:cs typeface="微软雅黑" pitchFamily="18" charset="0"/>
              </a:rPr>
              <a:t>专利</a:t>
            </a:r>
            <a:r>
              <a:rPr lang="en-US" altLang="zh-CN" sz="2000" dirty="0">
                <a:solidFill>
                  <a:srgbClr val="000000"/>
                </a:solidFill>
                <a:latin typeface="微软雅黑" pitchFamily="18" charset="0"/>
                <a:cs typeface="微软雅黑" pitchFamily="18" charset="0"/>
              </a:rPr>
              <a:t>1</a:t>
            </a:r>
            <a:r>
              <a:rPr lang="zh-CN" altLang="en-US" sz="2000" dirty="0">
                <a:solidFill>
                  <a:srgbClr val="000000"/>
                </a:solidFill>
                <a:latin typeface="微软雅黑" pitchFamily="18" charset="0"/>
                <a:cs typeface="微软雅黑" pitchFamily="18" charset="0"/>
              </a:rPr>
              <a:t>件，参与团队</a:t>
            </a:r>
            <a:r>
              <a:rPr lang="en-US" altLang="zh-CN" sz="2000" dirty="0">
                <a:solidFill>
                  <a:srgbClr val="000000"/>
                </a:solidFill>
                <a:latin typeface="微软雅黑" pitchFamily="18" charset="0"/>
                <a:cs typeface="微软雅黑" pitchFamily="18" charset="0"/>
              </a:rPr>
              <a:t>780</a:t>
            </a:r>
            <a:r>
              <a:rPr lang="zh-CN" altLang="en-US" sz="2000" dirty="0">
                <a:solidFill>
                  <a:srgbClr val="000000"/>
                </a:solidFill>
                <a:latin typeface="微软雅黑" pitchFamily="18" charset="0"/>
                <a:cs typeface="微软雅黑" pitchFamily="18" charset="0"/>
              </a:rPr>
              <a:t>万元专利成果转化（个人收益</a:t>
            </a:r>
            <a:r>
              <a:rPr lang="en-US" altLang="zh-CN" sz="2000" dirty="0">
                <a:solidFill>
                  <a:srgbClr val="000000"/>
                </a:solidFill>
                <a:latin typeface="微软雅黑" pitchFamily="18" charset="0"/>
                <a:cs typeface="微软雅黑" pitchFamily="18" charset="0"/>
              </a:rPr>
              <a:t>117</a:t>
            </a:r>
            <a:r>
              <a:rPr lang="zh-CN" altLang="en-US" sz="2000" dirty="0">
                <a:solidFill>
                  <a:srgbClr val="000000"/>
                </a:solidFill>
                <a:latin typeface="微软雅黑" pitchFamily="18" charset="0"/>
                <a:cs typeface="微软雅黑" pitchFamily="18" charset="0"/>
              </a:rPr>
              <a:t>万元）。获</a:t>
            </a:r>
            <a:r>
              <a:rPr lang="en-US" altLang="zh-CN" sz="2000" dirty="0">
                <a:solidFill>
                  <a:srgbClr val="000000"/>
                </a:solidFill>
                <a:latin typeface="微软雅黑" pitchFamily="18" charset="0"/>
                <a:cs typeface="微软雅黑" pitchFamily="18" charset="0"/>
              </a:rPr>
              <a:t>2025</a:t>
            </a:r>
            <a:r>
              <a:rPr lang="zh-CN" altLang="en-US" sz="2000" dirty="0">
                <a:solidFill>
                  <a:srgbClr val="000000"/>
                </a:solidFill>
                <a:latin typeface="微软雅黑" pitchFamily="18" charset="0"/>
                <a:cs typeface="微软雅黑" pitchFamily="18" charset="0"/>
              </a:rPr>
              <a:t>年度湖北省科技进步一等奖（排</a:t>
            </a:r>
            <a:r>
              <a:rPr lang="en-US" altLang="zh-CN" sz="2000" dirty="0">
                <a:solidFill>
                  <a:srgbClr val="000000"/>
                </a:solidFill>
                <a:latin typeface="微软雅黑" pitchFamily="18" charset="0"/>
                <a:cs typeface="微软雅黑" pitchFamily="18" charset="0"/>
              </a:rPr>
              <a:t>4</a:t>
            </a:r>
            <a:r>
              <a:rPr lang="zh-CN" altLang="en-US" sz="2000" dirty="0">
                <a:solidFill>
                  <a:srgbClr val="000000"/>
                </a:solidFill>
                <a:latin typeface="微软雅黑" pitchFamily="18" charset="0"/>
                <a:cs typeface="微软雅黑" pitchFamily="18" charset="0"/>
              </a:rPr>
              <a:t>）、</a:t>
            </a:r>
            <a:r>
              <a:rPr lang="en-US" altLang="zh-CN" sz="2000" dirty="0">
                <a:solidFill>
                  <a:srgbClr val="000000"/>
                </a:solidFill>
                <a:latin typeface="微软雅黑" pitchFamily="18" charset="0"/>
                <a:cs typeface="微软雅黑" pitchFamily="18" charset="0"/>
              </a:rPr>
              <a:t>2025</a:t>
            </a:r>
            <a:r>
              <a:rPr lang="zh-CN" altLang="en-US" sz="2000" dirty="0">
                <a:solidFill>
                  <a:srgbClr val="000000"/>
                </a:solidFill>
                <a:latin typeface="微软雅黑" pitchFamily="18" charset="0"/>
                <a:cs typeface="微软雅黑" pitchFamily="18" charset="0"/>
              </a:rPr>
              <a:t>年中国机械工业科技进步二等奖（排</a:t>
            </a:r>
            <a:r>
              <a:rPr lang="en-US" altLang="zh-CN" sz="2000" dirty="0">
                <a:solidFill>
                  <a:srgbClr val="000000"/>
                </a:solidFill>
                <a:latin typeface="微软雅黑" pitchFamily="18" charset="0"/>
                <a:cs typeface="微软雅黑" pitchFamily="18" charset="0"/>
              </a:rPr>
              <a:t>3</a:t>
            </a:r>
            <a:r>
              <a:rPr lang="zh-CN" altLang="en-US" sz="2000" dirty="0">
                <a:solidFill>
                  <a:srgbClr val="000000"/>
                </a:solidFill>
                <a:latin typeface="微软雅黑" pitchFamily="18" charset="0"/>
                <a:cs typeface="微软雅黑" pitchFamily="18" charset="0"/>
              </a:rPr>
              <a:t>）、湖北省“</a:t>
            </a:r>
            <a:r>
              <a:rPr lang="en-US" altLang="zh-CN" sz="2000" dirty="0">
                <a:solidFill>
                  <a:srgbClr val="000000"/>
                </a:solidFill>
                <a:latin typeface="微软雅黑" pitchFamily="18" charset="0"/>
                <a:cs typeface="微软雅黑" pitchFamily="18" charset="0"/>
              </a:rPr>
              <a:t>61020</a:t>
            </a:r>
            <a:r>
              <a:rPr lang="zh-CN" altLang="en-US" sz="2000" dirty="0">
                <a:solidFill>
                  <a:srgbClr val="000000"/>
                </a:solidFill>
                <a:latin typeface="微软雅黑" pitchFamily="18" charset="0"/>
                <a:cs typeface="微软雅黑" pitchFamily="18" charset="0"/>
              </a:rPr>
              <a:t>”科技创新</a:t>
            </a:r>
            <a:r>
              <a:rPr lang="en-US" altLang="zh-CN" sz="2000" dirty="0">
                <a:solidFill>
                  <a:srgbClr val="000000"/>
                </a:solidFill>
                <a:latin typeface="微软雅黑" pitchFamily="18" charset="0"/>
                <a:cs typeface="微软雅黑" pitchFamily="18" charset="0"/>
              </a:rPr>
              <a:t>2025</a:t>
            </a:r>
            <a:r>
              <a:rPr lang="zh-CN" altLang="en-US" sz="2000" dirty="0">
                <a:solidFill>
                  <a:srgbClr val="000000"/>
                </a:solidFill>
                <a:latin typeface="微软雅黑" pitchFamily="18" charset="0"/>
                <a:cs typeface="微软雅黑" pitchFamily="18" charset="0"/>
              </a:rPr>
              <a:t>年度成果（排</a:t>
            </a:r>
            <a:r>
              <a:rPr lang="en-US" altLang="zh-CN" sz="2000" dirty="0">
                <a:solidFill>
                  <a:srgbClr val="000000"/>
                </a:solidFill>
                <a:latin typeface="微软雅黑" pitchFamily="18" charset="0"/>
                <a:cs typeface="微软雅黑" pitchFamily="18" charset="0"/>
              </a:rPr>
              <a:t>2</a:t>
            </a:r>
            <a:r>
              <a:rPr lang="zh-CN" altLang="en-US" sz="2000" dirty="0">
                <a:solidFill>
                  <a:srgbClr val="000000"/>
                </a:solidFill>
                <a:latin typeface="微软雅黑" pitchFamily="18" charset="0"/>
                <a:cs typeface="微软雅黑" pitchFamily="18" charset="0"/>
              </a:rPr>
              <a:t>）。</a:t>
            </a:r>
            <a:endParaRPr lang="en-US" altLang="zh-CN" sz="2000" dirty="0">
              <a:solidFill>
                <a:srgbClr val="000000"/>
              </a:solidFill>
              <a:latin typeface="微软雅黑" pitchFamily="18" charset="0"/>
              <a:cs typeface="微软雅黑" pitchFamily="18" charset="0"/>
            </a:endParaRPr>
          </a:p>
          <a:p>
            <a:pPr>
              <a:lnSpc>
                <a:spcPts val="34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联系方式：</a:t>
            </a:r>
            <a:r>
              <a:rPr lang="en-US" altLang="zh-CN" sz="2400" dirty="0">
                <a:latin typeface="Times New Roman" pitchFamily="18" charset="0"/>
                <a:cs typeface="Times New Roman" pitchFamily="18" charset="0"/>
              </a:rPr>
              <a:t> </a:t>
            </a:r>
            <a:r>
              <a:rPr lang="en-US" altLang="zh-CN" sz="2400" dirty="0">
                <a:solidFill>
                  <a:srgbClr val="0563C1"/>
                </a:solidFill>
                <a:latin typeface="Calibri" pitchFamily="18" charset="0"/>
                <a:cs typeface="Calibri" pitchFamily="18" charset="0"/>
              </a:rPr>
              <a:t>chen_w@hust.edu.cn</a:t>
            </a:r>
            <a:endParaRPr lang="en-US" altLang="zh-CN" dirty="0"/>
          </a:p>
          <a:p>
            <a:pPr>
              <a:lnSpc>
                <a:spcPts val="1000"/>
              </a:lnSpc>
            </a:pPr>
            <a:endParaRPr lang="en-US" altLang="zh-CN" dirty="0"/>
          </a:p>
          <a:p>
            <a:pPr>
              <a:lnSpc>
                <a:spcPts val="46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助教：</a:t>
            </a:r>
            <a:r>
              <a:rPr lang="zh-CN" altLang="en-US" sz="2800" b="1" dirty="0">
                <a:solidFill>
                  <a:srgbClr val="000000"/>
                </a:solidFill>
                <a:latin typeface="微软雅黑" pitchFamily="18" charset="0"/>
                <a:cs typeface="微软雅黑" pitchFamily="18" charset="0"/>
              </a:rPr>
              <a:t>李卓润</a:t>
            </a:r>
            <a:endParaRPr lang="en-US" altLang="zh-CN" sz="2800" b="1" dirty="0">
              <a:solidFill>
                <a:srgbClr val="000000"/>
              </a:solidFill>
              <a:latin typeface="微软雅黑" pitchFamily="18" charset="0"/>
              <a:cs typeface="微软雅黑" pitchFamily="18" charset="0"/>
            </a:endParaRPr>
          </a:p>
          <a:p>
            <a:pPr>
              <a:lnSpc>
                <a:spcPts val="4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联系方式见</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QQ</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群</a:t>
            </a:r>
          </a:p>
        </p:txBody>
      </p:sp>
      <p:sp>
        <p:nvSpPr>
          <p:cNvPr id="8" name="TextBox 1">
            <a:extLst>
              <a:ext uri="{FF2B5EF4-FFF2-40B4-BE49-F238E27FC236}">
                <a16:creationId xmlns:a16="http://schemas.microsoft.com/office/drawing/2014/main" id="{AE751067-D5E0-C94D-AA2D-702E50524452}"/>
              </a:ext>
            </a:extLst>
          </p:cNvPr>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a:t>
            </a:r>
          </a:p>
        </p:txBody>
      </p:sp>
      <p:sp>
        <p:nvSpPr>
          <p:cNvPr id="9" name="Freeform 3">
            <a:extLst>
              <a:ext uri="{FF2B5EF4-FFF2-40B4-BE49-F238E27FC236}">
                <a16:creationId xmlns:a16="http://schemas.microsoft.com/office/drawing/2014/main" id="{321BA626-6C8D-BD4E-8D0C-E0691ACBDB43}"/>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95216030-1461-5C46-AE9A-C165481EE640}"/>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GB" sz="3199" b="1" dirty="0">
                <a:solidFill>
                  <a:srgbClr val="000000"/>
                </a:solidFill>
                <a:latin typeface="微软雅黑" pitchFamily="18" charset="0"/>
                <a:cs typeface="Times New Roman" pitchFamily="18" charset="0"/>
              </a:rPr>
              <a:t>基本情况</a:t>
            </a:r>
            <a:endParaRPr lang="en-US" altLang="zh-CN" sz="3199" b="1" dirty="0">
              <a:solidFill>
                <a:srgbClr val="000000"/>
              </a:solidFill>
              <a:latin typeface="微软雅黑" pitchFamily="18" charset="0"/>
              <a:cs typeface="微软雅黑"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903277"/>
            <a:ext cx="3412794" cy="1801391"/>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课程使用课程</a:t>
            </a:r>
            <a:r>
              <a:rPr lang="en-US" altLang="zh-CN" sz="2800" dirty="0">
                <a:latin typeface="Times New Roman" pitchFamily="18" charset="0"/>
                <a:cs typeface="Times New Roman" pitchFamily="18" charset="0"/>
              </a:rPr>
              <a:t> </a:t>
            </a:r>
            <a:r>
              <a:rPr lang="en-US" altLang="zh-CN" sz="2800" b="1" dirty="0">
                <a:solidFill>
                  <a:srgbClr val="C00000"/>
                </a:solidFill>
                <a:latin typeface="Calibri" pitchFamily="18" charset="0"/>
                <a:cs typeface="Calibri" pitchFamily="18" charset="0"/>
              </a:rPr>
              <a:t>QQ</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群</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2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QQ</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群二维码</a:t>
            </a:r>
          </a:p>
        </p:txBody>
      </p:sp>
      <p:sp>
        <p:nvSpPr>
          <p:cNvPr id="8" name="TextBox 1">
            <a:extLst>
              <a:ext uri="{FF2B5EF4-FFF2-40B4-BE49-F238E27FC236}">
                <a16:creationId xmlns:a16="http://schemas.microsoft.com/office/drawing/2014/main" id="{6E251851-7BB7-154B-A96D-178A11C2CF76}"/>
              </a:ext>
            </a:extLst>
          </p:cNvPr>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a:t>
            </a:r>
          </a:p>
        </p:txBody>
      </p:sp>
      <p:sp>
        <p:nvSpPr>
          <p:cNvPr id="9" name="Freeform 3">
            <a:extLst>
              <a:ext uri="{FF2B5EF4-FFF2-40B4-BE49-F238E27FC236}">
                <a16:creationId xmlns:a16="http://schemas.microsoft.com/office/drawing/2014/main" id="{E192264E-D3F0-2B4D-99C8-F7F358A8836B}"/>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FDF8390B-E81D-C44C-AFD0-7E8F0EB803B6}"/>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GB" sz="3199" b="1" dirty="0">
                <a:solidFill>
                  <a:srgbClr val="000000"/>
                </a:solidFill>
                <a:latin typeface="微软雅黑" pitchFamily="18" charset="0"/>
                <a:cs typeface="Times New Roman" pitchFamily="18" charset="0"/>
              </a:rPr>
              <a:t>基本情况</a:t>
            </a:r>
            <a:endParaRPr lang="en-US" altLang="zh-CN" sz="3199" b="1" dirty="0">
              <a:solidFill>
                <a:srgbClr val="000000"/>
              </a:solidFill>
              <a:latin typeface="微软雅黑" pitchFamily="18" charset="0"/>
              <a:cs typeface="微软雅黑" pitchFamily="18" charset="0"/>
            </a:endParaRPr>
          </a:p>
        </p:txBody>
      </p:sp>
      <p:pic>
        <p:nvPicPr>
          <p:cNvPr id="5" name="图片 4">
            <a:extLst>
              <a:ext uri="{FF2B5EF4-FFF2-40B4-BE49-F238E27FC236}">
                <a16:creationId xmlns:a16="http://schemas.microsoft.com/office/drawing/2014/main" id="{E27E3802-9549-4C76-A80F-315A1105FAF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512" t="34444" r="8512" b="15555"/>
          <a:stretch/>
        </p:blipFill>
        <p:spPr>
          <a:xfrm>
            <a:off x="914400" y="3009900"/>
            <a:ext cx="3200400" cy="3429000"/>
          </a:xfrm>
          <a:prstGeom prst="rect">
            <a:avLst/>
          </a:prstGeom>
          <a:scene3d>
            <a:camera prst="orthographicFront"/>
            <a:lightRig rig="threePt" dir="t"/>
          </a:scene3d>
          <a:sp3d>
            <a:bevelT/>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827275"/>
            <a:ext cx="11230703" cy="4263603"/>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先修要求</a:t>
            </a:r>
          </a:p>
          <a:p>
            <a:pPr>
              <a:lnSpc>
                <a:spcPts val="3600"/>
              </a:lnSpc>
              <a:tabLst>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微积分，线性代数，概率论与数理统计</a:t>
            </a:r>
          </a:p>
          <a:p>
            <a:pPr>
              <a:lnSpc>
                <a:spcPts val="3600"/>
              </a:lnSpc>
              <a:tabLst>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计算机及程序设计基础，或其它编程课程</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400"/>
              </a:lnSpc>
              <a:tabLst>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对编程的要求</a:t>
            </a:r>
          </a:p>
          <a:p>
            <a:pPr>
              <a:lnSpc>
                <a:spcPts val="3700"/>
              </a:lnSpc>
              <a:tabLst>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课程示例及上机中主要使用</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Python</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语言进行机器学习</a:t>
            </a:r>
            <a:r>
              <a:rPr lang="zh-CN" altLang="en-US" sz="2400" dirty="0">
                <a:solidFill>
                  <a:srgbClr val="000000"/>
                </a:solidFill>
                <a:latin typeface="微软雅黑" pitchFamily="18" charset="0"/>
                <a:cs typeface="微软雅黑" pitchFamily="18" charset="0"/>
              </a:rPr>
              <a:t>。</a:t>
            </a:r>
            <a:endParaRPr lang="en-US" altLang="zh-CN" sz="2400" dirty="0">
              <a:solidFill>
                <a:srgbClr val="000000"/>
              </a:solidFill>
              <a:latin typeface="微软雅黑" pitchFamily="18" charset="0"/>
              <a:cs typeface="微软雅黑" pitchFamily="18" charset="0"/>
            </a:endParaRPr>
          </a:p>
          <a:p>
            <a:pPr>
              <a:lnSpc>
                <a:spcPts val="3600"/>
              </a:lnSpc>
              <a:tabLst>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本课程不要求学生有</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Python</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语言编程经验。第一次上机时将介绍机器学习中</a:t>
            </a:r>
          </a:p>
          <a:p>
            <a:pPr>
              <a:lnSpc>
                <a:spcPts val="3600"/>
              </a:lnSpc>
              <a:tabLst>
                <a:tab pos="457200" algn="l"/>
                <a:tab pos="685800" algn="l"/>
              </a:tabLst>
            </a:pPr>
            <a:r>
              <a:rPr lang="en-US" altLang="zh-CN" sz="2400" dirty="0">
                <a:solidFill>
                  <a:srgbClr val="000000"/>
                </a:solidFill>
                <a:latin typeface="微软雅黑" pitchFamily="18" charset="0"/>
                <a:cs typeface="微软雅黑" pitchFamily="18" charset="0"/>
              </a:rPr>
              <a:t>	</a:t>
            </a:r>
            <a:r>
              <a:rPr lang="zh-CN" altLang="en-US" sz="2400" dirty="0">
                <a:solidFill>
                  <a:srgbClr val="000000"/>
                </a:solidFill>
                <a:latin typeface="微软雅黑" pitchFamily="18" charset="0"/>
                <a:cs typeface="微软雅黑" pitchFamily="18" charset="0"/>
              </a:rPr>
              <a:t>  </a:t>
            </a:r>
            <a:r>
              <a:rPr lang="en-US" altLang="zh-CN" sz="2400" dirty="0">
                <a:solidFill>
                  <a:srgbClr val="000000"/>
                </a:solidFill>
                <a:latin typeface="微软雅黑" pitchFamily="18" charset="0"/>
                <a:cs typeface="微软雅黑" pitchFamily="18" charset="0"/>
              </a:rPr>
              <a:t>需要用到的</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Python</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语言的基础</a:t>
            </a:r>
            <a:r>
              <a:rPr lang="zh-CN" altLang="en-US" sz="2400" dirty="0">
                <a:solidFill>
                  <a:srgbClr val="000000"/>
                </a:solidFill>
                <a:latin typeface="微软雅黑" pitchFamily="18" charset="0"/>
                <a:cs typeface="微软雅黑" pitchFamily="18" charset="0"/>
              </a:rPr>
              <a:t>知识。</a:t>
            </a:r>
            <a:endParaRPr lang="en-US" altLang="zh-CN" sz="2400" dirty="0">
              <a:solidFill>
                <a:srgbClr val="000000"/>
              </a:solidFill>
              <a:latin typeface="微软雅黑" pitchFamily="18" charset="0"/>
              <a:cs typeface="微软雅黑" pitchFamily="18" charset="0"/>
            </a:endParaRPr>
          </a:p>
        </p:txBody>
      </p:sp>
      <p:sp>
        <p:nvSpPr>
          <p:cNvPr id="7" name="TextBox 1">
            <a:extLst>
              <a:ext uri="{FF2B5EF4-FFF2-40B4-BE49-F238E27FC236}">
                <a16:creationId xmlns:a16="http://schemas.microsoft.com/office/drawing/2014/main" id="{C6B34996-A463-B14C-BD30-8D354546046E}"/>
              </a:ext>
            </a:extLst>
          </p:cNvPr>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a:t>
            </a:r>
          </a:p>
        </p:txBody>
      </p:sp>
      <p:sp>
        <p:nvSpPr>
          <p:cNvPr id="8" name="Freeform 3">
            <a:extLst>
              <a:ext uri="{FF2B5EF4-FFF2-40B4-BE49-F238E27FC236}">
                <a16:creationId xmlns:a16="http://schemas.microsoft.com/office/drawing/2014/main" id="{A9B6C291-2BE6-8D4B-A91A-D0DE0FDC877C}"/>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C9908FD7-2E74-DB46-83BD-5DB32940DF2D}"/>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GB" sz="3199" b="1" dirty="0">
                <a:solidFill>
                  <a:srgbClr val="000000"/>
                </a:solidFill>
                <a:latin typeface="微软雅黑" pitchFamily="18" charset="0"/>
                <a:cs typeface="Times New Roman" pitchFamily="18" charset="0"/>
              </a:rPr>
              <a:t>基本情况</a:t>
            </a:r>
            <a:endParaRPr lang="en-US" altLang="zh-CN" sz="3199" b="1" dirty="0">
              <a:solidFill>
                <a:srgbClr val="000000"/>
              </a:solidFill>
              <a:latin typeface="微软雅黑" pitchFamily="18" charset="0"/>
              <a:cs typeface="微软雅黑"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1000350"/>
            <a:ext cx="3821559" cy="1673150"/>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本课程计划有两次上机</a:t>
            </a:r>
          </a:p>
          <a:p>
            <a:pPr>
              <a:lnSpc>
                <a:spcPts val="37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第</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10</a:t>
            </a:r>
            <a:r>
              <a:rPr lang="en-US" altLang="zh-CN" sz="2400" dirty="0">
                <a:latin typeface="Times New Roman" pitchFamily="18" charset="0"/>
                <a:cs typeface="Times New Roman" pitchFamily="18" charset="0"/>
              </a:rPr>
              <a:t> </a:t>
            </a:r>
            <a:r>
              <a:rPr lang="en-US" altLang="zh-CN" sz="2400" dirty="0" err="1">
                <a:solidFill>
                  <a:srgbClr val="000000"/>
                </a:solidFill>
                <a:latin typeface="微软雅黑" pitchFamily="18" charset="0"/>
                <a:cs typeface="微软雅黑" pitchFamily="18" charset="0"/>
              </a:rPr>
              <a:t>周周</a:t>
            </a:r>
            <a:r>
              <a:rPr lang="zh-CN" altLang="en-US" sz="2400" dirty="0">
                <a:solidFill>
                  <a:srgbClr val="000000"/>
                </a:solidFill>
                <a:latin typeface="微软雅黑" pitchFamily="18" charset="0"/>
                <a:cs typeface="微软雅黑" pitchFamily="18" charset="0"/>
              </a:rPr>
              <a:t>五</a:t>
            </a:r>
            <a:r>
              <a:rPr lang="en-US" altLang="zh-CN" sz="2400" dirty="0" err="1">
                <a:solidFill>
                  <a:srgbClr val="000000"/>
                </a:solidFill>
                <a:latin typeface="微软雅黑" pitchFamily="18" charset="0"/>
                <a:cs typeface="微软雅黑" pitchFamily="18" charset="0"/>
              </a:rPr>
              <a:t>晚上</a:t>
            </a:r>
            <a:endParaRPr lang="en-US" altLang="zh-CN" sz="2400" dirty="0">
              <a:solidFill>
                <a:srgbClr val="000000"/>
              </a:solidFill>
              <a:latin typeface="微软雅黑" pitchFamily="18" charset="0"/>
              <a:cs typeface="微软雅黑" pitchFamily="18" charset="0"/>
            </a:endParaRP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第</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13</a:t>
            </a:r>
            <a:r>
              <a:rPr lang="en-US" altLang="zh-CN" sz="2400" dirty="0">
                <a:latin typeface="Times New Roman" pitchFamily="18" charset="0"/>
                <a:cs typeface="Times New Roman" pitchFamily="18" charset="0"/>
              </a:rPr>
              <a:t> </a:t>
            </a:r>
            <a:r>
              <a:rPr lang="en-US" altLang="zh-CN" sz="2400" dirty="0" err="1">
                <a:solidFill>
                  <a:srgbClr val="000000"/>
                </a:solidFill>
                <a:latin typeface="微软雅黑" pitchFamily="18" charset="0"/>
                <a:cs typeface="微软雅黑" pitchFamily="18" charset="0"/>
              </a:rPr>
              <a:t>周周</a:t>
            </a:r>
            <a:r>
              <a:rPr lang="zh-CN" altLang="en-US" sz="2400" dirty="0">
                <a:solidFill>
                  <a:srgbClr val="000000"/>
                </a:solidFill>
                <a:latin typeface="微软雅黑" pitchFamily="18" charset="0"/>
                <a:cs typeface="微软雅黑" pitchFamily="18" charset="0"/>
              </a:rPr>
              <a:t>五</a:t>
            </a:r>
            <a:r>
              <a:rPr lang="en-US" altLang="zh-CN" sz="2400" dirty="0" err="1">
                <a:solidFill>
                  <a:srgbClr val="000000"/>
                </a:solidFill>
                <a:latin typeface="微软雅黑" pitchFamily="18" charset="0"/>
                <a:cs typeface="微软雅黑" pitchFamily="18" charset="0"/>
              </a:rPr>
              <a:t>晚上</a:t>
            </a:r>
            <a:endParaRPr lang="en-US" altLang="zh-CN" sz="2400" dirty="0">
              <a:solidFill>
                <a:srgbClr val="000000"/>
              </a:solidFill>
              <a:latin typeface="微软雅黑" pitchFamily="18" charset="0"/>
              <a:cs typeface="微软雅黑" pitchFamily="18" charset="0"/>
            </a:endParaRPr>
          </a:p>
        </p:txBody>
      </p:sp>
      <p:sp>
        <p:nvSpPr>
          <p:cNvPr id="7" name="TextBox 1">
            <a:extLst>
              <a:ext uri="{FF2B5EF4-FFF2-40B4-BE49-F238E27FC236}">
                <a16:creationId xmlns:a16="http://schemas.microsoft.com/office/drawing/2014/main" id="{6DFBE6C5-8B99-854B-AD98-EB78E8365C4F}"/>
              </a:ext>
            </a:extLst>
          </p:cNvPr>
          <p:cNvSpPr txBox="1"/>
          <p:nvPr/>
        </p:nvSpPr>
        <p:spPr>
          <a:xfrm flipH="1">
            <a:off x="11602624" y="6477000"/>
            <a:ext cx="1321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9</a:t>
            </a:r>
          </a:p>
        </p:txBody>
      </p:sp>
      <p:sp>
        <p:nvSpPr>
          <p:cNvPr id="8" name="Freeform 3">
            <a:extLst>
              <a:ext uri="{FF2B5EF4-FFF2-40B4-BE49-F238E27FC236}">
                <a16:creationId xmlns:a16="http://schemas.microsoft.com/office/drawing/2014/main" id="{5B2E1009-4AB2-0549-A165-19BE341790F7}"/>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5C63CB5D-9314-114A-AB87-C3381DBB1C46}"/>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上机安排</a:t>
            </a:r>
            <a:endParaRPr lang="en-US" altLang="zh-CN" sz="3199" b="1" dirty="0">
              <a:solidFill>
                <a:srgbClr val="000000"/>
              </a:solidFill>
              <a:latin typeface="微软雅黑" pitchFamily="18" charset="0"/>
              <a:cs typeface="微软雅黑"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5866" y="985025"/>
            <a:ext cx="10961334" cy="2525050"/>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《人工智能与深度学习》课程着重传授人工智能领域的</a:t>
            </a:r>
            <a:r>
              <a:rPr lang="zh-CN" altLang="en-US" sz="2800" b="1" dirty="0">
                <a:solidFill>
                  <a:srgbClr val="000000"/>
                </a:solidFill>
                <a:latin typeface="微软雅黑" pitchFamily="18" charset="0"/>
                <a:cs typeface="微软雅黑" pitchFamily="18" charset="0"/>
              </a:rPr>
              <a:t> </a:t>
            </a:r>
            <a:r>
              <a:rPr lang="en-US" altLang="zh-CN" sz="2800" b="1" dirty="0">
                <a:solidFill>
                  <a:srgbClr val="C00000"/>
                </a:solidFill>
                <a:latin typeface="微软雅黑" pitchFamily="18" charset="0"/>
                <a:cs typeface="微软雅黑" pitchFamily="18" charset="0"/>
              </a:rPr>
              <a:t>基本理论</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p>
          <a:p>
            <a:pPr>
              <a:lnSpc>
                <a:spcPts val="3700"/>
              </a:lnSpc>
              <a:tabLst>
                <a:tab pos="228600" algn="l"/>
              </a:tabLst>
            </a:pPr>
            <a:r>
              <a:rPr lang="en-US" altLang="zh-CN" sz="2800" b="1" dirty="0">
                <a:solidFill>
                  <a:srgbClr val="C00000"/>
                </a:solidFill>
                <a:latin typeface="微软雅黑" pitchFamily="18" charset="0"/>
                <a:cs typeface="微软雅黑" pitchFamily="18" charset="0"/>
              </a:rPr>
              <a:t>基本思路</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和</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基本方法</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4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重点介绍人工智能中各</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相关支撑技术</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之间的</a:t>
            </a:r>
            <a:r>
              <a:rPr lang="zh-CN" altLang="en-US" sz="2800" b="1" dirty="0">
                <a:solidFill>
                  <a:srgbClr val="000000"/>
                </a:solidFill>
                <a:latin typeface="微软雅黑" pitchFamily="18" charset="0"/>
                <a:cs typeface="微软雅黑" pitchFamily="18" charset="0"/>
              </a:rPr>
              <a:t> </a:t>
            </a:r>
            <a:r>
              <a:rPr lang="en-US" altLang="zh-CN" sz="2800" b="1" dirty="0">
                <a:solidFill>
                  <a:srgbClr val="C00000"/>
                </a:solidFill>
                <a:latin typeface="微软雅黑" pitchFamily="18" charset="0"/>
                <a:cs typeface="微软雅黑" pitchFamily="18" charset="0"/>
              </a:rPr>
              <a:t>区别</a:t>
            </a:r>
            <a:r>
              <a:rPr lang="zh-CN" altLang="en-US" sz="2800" b="1" dirty="0">
                <a:solidFill>
                  <a:srgbClr val="C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与</a:t>
            </a:r>
            <a:r>
              <a:rPr lang="zh-CN" altLang="en-US" sz="2800" b="1" dirty="0">
                <a:solidFill>
                  <a:srgbClr val="000000"/>
                </a:solidFill>
                <a:latin typeface="微软雅黑" pitchFamily="18" charset="0"/>
                <a:cs typeface="微软雅黑" pitchFamily="18" charset="0"/>
              </a:rPr>
              <a:t> </a:t>
            </a:r>
            <a:r>
              <a:rPr lang="en-US" altLang="zh-CN" sz="2800" b="1" dirty="0">
                <a:solidFill>
                  <a:srgbClr val="C00000"/>
                </a:solidFill>
                <a:latin typeface="微软雅黑" pitchFamily="18" charset="0"/>
                <a:cs typeface="微软雅黑" pitchFamily="18" charset="0"/>
              </a:rPr>
              <a:t>联系</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7" name="TextBox 1">
            <a:extLst>
              <a:ext uri="{FF2B5EF4-FFF2-40B4-BE49-F238E27FC236}">
                <a16:creationId xmlns:a16="http://schemas.microsoft.com/office/drawing/2014/main" id="{D591F152-0D50-A241-94CC-F6DD5C1C1B08}"/>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10</a:t>
            </a:r>
          </a:p>
        </p:txBody>
      </p:sp>
      <p:sp>
        <p:nvSpPr>
          <p:cNvPr id="8" name="Freeform 3">
            <a:extLst>
              <a:ext uri="{FF2B5EF4-FFF2-40B4-BE49-F238E27FC236}">
                <a16:creationId xmlns:a16="http://schemas.microsoft.com/office/drawing/2014/main" id="{D450EF07-DDFE-834B-9FEC-474AD2CEA087}"/>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900C424A-E86F-EF4A-9FDF-1735197923BD}"/>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课程介绍</a:t>
            </a:r>
            <a:endParaRPr lang="en-US" altLang="zh-CN" sz="3199" b="1" dirty="0">
              <a:solidFill>
                <a:srgbClr val="000000"/>
              </a:solidFill>
              <a:latin typeface="微软雅黑" pitchFamily="18" charset="0"/>
              <a:cs typeface="微软雅黑"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p:cNvSpPr txBox="1"/>
          <p:nvPr/>
        </p:nvSpPr>
        <p:spPr>
          <a:xfrm>
            <a:off x="838200" y="1414861"/>
            <a:ext cx="10220747" cy="934871"/>
          </a:xfrm>
          <a:prstGeom prst="rect">
            <a:avLst/>
          </a:prstGeom>
          <a:noFill/>
        </p:spPr>
        <p:txBody>
          <a:bodyPr wrap="none" lIns="0" tIns="0" rIns="0" rtlCol="0">
            <a:spAutoFit/>
          </a:bodyPr>
          <a:lstStyle/>
          <a:p>
            <a:pPr>
              <a:lnSpc>
                <a:spcPts val="36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对</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搜索与优化</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常见机器学习模型</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深度学习</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b="1" dirty="0">
                <a:solidFill>
                  <a:srgbClr val="C00000"/>
                </a:solidFill>
                <a:latin typeface="微软雅黑" pitchFamily="18" charset="0"/>
                <a:cs typeface="微软雅黑" pitchFamily="18" charset="0"/>
              </a:rPr>
              <a:t>强化学习</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228600" algn="l"/>
              </a:tabLst>
            </a:pPr>
            <a:r>
              <a:rPr lang="en-US" altLang="zh-CN" sz="2800" dirty="0">
                <a:latin typeface="Times New Roman" pitchFamily="18" charset="0"/>
                <a:cs typeface="Times New Roman" pitchFamily="18" charset="0"/>
              </a:rPr>
              <a:t> </a:t>
            </a:r>
            <a:r>
              <a:rPr lang="zh-CN" altLang="en-US"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大数据</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等基本理论与技术进行讲授。</a:t>
            </a:r>
          </a:p>
        </p:txBody>
      </p:sp>
      <p:sp>
        <p:nvSpPr>
          <p:cNvPr id="7" name="TextBox 1"/>
          <p:cNvSpPr txBox="1"/>
          <p:nvPr/>
        </p:nvSpPr>
        <p:spPr>
          <a:xfrm>
            <a:off x="838200" y="2817979"/>
            <a:ext cx="9601200" cy="1401217"/>
          </a:xfrm>
          <a:prstGeom prst="rect">
            <a:avLst/>
          </a:prstGeom>
          <a:noFill/>
        </p:spPr>
        <p:txBody>
          <a:bodyPr wrap="squar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介绍人工智能与深度学习在</a:t>
            </a:r>
            <a:r>
              <a:rPr lang="en-US" altLang="zh-CN" sz="2800" dirty="0">
                <a:latin typeface="Times New Roman" pitchFamily="18" charset="0"/>
                <a:cs typeface="Times New Roman" pitchFamily="18" charset="0"/>
              </a:rPr>
              <a:t> </a:t>
            </a:r>
            <a:r>
              <a:rPr lang="en-US" altLang="zh-CN" sz="2800" b="1" dirty="0" err="1">
                <a:solidFill>
                  <a:srgbClr val="C00000"/>
                </a:solidFill>
                <a:latin typeface="微软雅黑" pitchFamily="18" charset="0"/>
                <a:cs typeface="微软雅黑" pitchFamily="18" charset="0"/>
              </a:rPr>
              <a:t>机器视觉</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err="1">
                <a:solidFill>
                  <a:srgbClr val="C00000"/>
                </a:solidFill>
                <a:latin typeface="微软雅黑" pitchFamily="18" charset="0"/>
                <a:cs typeface="微软雅黑" pitchFamily="18" charset="0"/>
              </a:rPr>
              <a:t>自然语言处理</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和</a:t>
            </a:r>
          </a:p>
          <a:p>
            <a:pPr>
              <a:lnSpc>
                <a:spcPts val="3600"/>
              </a:lnSpc>
            </a:pPr>
            <a:r>
              <a:rPr lang="en-US" altLang="zh-CN" sz="2800" dirty="0">
                <a:latin typeface="Times New Roman" pitchFamily="18" charset="0"/>
                <a:cs typeface="Times New Roman" pitchFamily="18" charset="0"/>
              </a:rPr>
              <a:t> </a:t>
            </a:r>
            <a:r>
              <a:rPr lang="zh-CN" altLang="en-US"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控制决策</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等典型领域的应用。</a:t>
            </a:r>
          </a:p>
          <a:p>
            <a:pPr>
              <a:lnSpc>
                <a:spcPts val="3600"/>
              </a:lnSpc>
            </a:pPr>
            <a:endParaRPr lang="en-US" altLang="zh-CN" sz="2800" b="1" dirty="0">
              <a:solidFill>
                <a:srgbClr val="C00000"/>
              </a:solidFill>
              <a:latin typeface="微软雅黑" pitchFamily="18" charset="0"/>
              <a:cs typeface="微软雅黑" pitchFamily="18" charset="0"/>
            </a:endParaRPr>
          </a:p>
        </p:txBody>
      </p:sp>
      <p:sp>
        <p:nvSpPr>
          <p:cNvPr id="9" name="TextBox 1"/>
          <p:cNvSpPr txBox="1"/>
          <p:nvPr/>
        </p:nvSpPr>
        <p:spPr>
          <a:xfrm>
            <a:off x="838200" y="4322929"/>
            <a:ext cx="10132582" cy="934871"/>
          </a:xfrm>
          <a:prstGeom prst="rect">
            <a:avLst/>
          </a:prstGeom>
          <a:noFill/>
        </p:spPr>
        <p:txBody>
          <a:bodyPr wrap="none" lIns="0" tIns="0" rIns="0" rtlCol="0">
            <a:spAutoFit/>
          </a:bodyPr>
          <a:lstStyle/>
          <a:p>
            <a:pPr>
              <a:lnSpc>
                <a:spcPts val="36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介绍基于机器学习的人工智能应用</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开发流程</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与相关要点，以及</a:t>
            </a:r>
          </a:p>
          <a:p>
            <a:pPr>
              <a:lnSpc>
                <a:spcPts val="3600"/>
              </a:lnSpc>
              <a:tabLst>
                <a:tab pos="2286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人工智能在</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机械行业</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中的应用现状与前景。</a:t>
            </a:r>
          </a:p>
        </p:txBody>
      </p:sp>
      <p:sp>
        <p:nvSpPr>
          <p:cNvPr id="11" name="TextBox 1">
            <a:extLst>
              <a:ext uri="{FF2B5EF4-FFF2-40B4-BE49-F238E27FC236}">
                <a16:creationId xmlns:a16="http://schemas.microsoft.com/office/drawing/2014/main" id="{2BE62718-A9A3-4047-A720-82D9C160B24C}"/>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11</a:t>
            </a:r>
          </a:p>
        </p:txBody>
      </p:sp>
      <p:sp>
        <p:nvSpPr>
          <p:cNvPr id="12" name="Freeform 3">
            <a:extLst>
              <a:ext uri="{FF2B5EF4-FFF2-40B4-BE49-F238E27FC236}">
                <a16:creationId xmlns:a16="http://schemas.microsoft.com/office/drawing/2014/main" id="{D0DC4C8F-889B-5C44-B22D-227256580361}"/>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050426A7-8689-6F4D-9565-3206002FC795}"/>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课程简介</a:t>
            </a:r>
            <a:endParaRPr lang="en-US" altLang="zh-CN" sz="3199" b="1" dirty="0">
              <a:solidFill>
                <a:srgbClr val="000000"/>
              </a:solidFill>
              <a:latin typeface="微软雅黑" pitchFamily="18" charset="0"/>
              <a:cs typeface="微软雅黑"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p:cNvSpPr txBox="1"/>
          <p:nvPr/>
        </p:nvSpPr>
        <p:spPr>
          <a:xfrm>
            <a:off x="838200" y="1217953"/>
            <a:ext cx="6540252" cy="454676"/>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本课程是入门课程，但不是概论</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导论课程</a:t>
            </a:r>
          </a:p>
        </p:txBody>
      </p:sp>
      <p:sp>
        <p:nvSpPr>
          <p:cNvPr id="7" name="TextBox 1"/>
          <p:cNvSpPr txBox="1"/>
          <p:nvPr/>
        </p:nvSpPr>
        <p:spPr>
          <a:xfrm>
            <a:off x="838200" y="2044146"/>
            <a:ext cx="10204717" cy="1320170"/>
          </a:xfrm>
          <a:prstGeom prst="rect">
            <a:avLst/>
          </a:prstGeom>
          <a:noFill/>
        </p:spPr>
        <p:txBody>
          <a:bodyPr wrap="none" lIns="0" tIns="0" rIns="0" rtlCol="0">
            <a:spAutoFit/>
          </a:bodyPr>
          <a:lstStyle/>
          <a:p>
            <a:pPr>
              <a:lnSpc>
                <a:spcPts val="3400"/>
              </a:lnSpc>
              <a:tabLst>
                <a:tab pos="2286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dirty="0">
                <a:solidFill>
                  <a:srgbClr val="000000"/>
                </a:solidFill>
                <a:latin typeface="Calibri" pitchFamily="18" charset="0"/>
                <a:cs typeface="Calibri" pitchFamily="18" charset="0"/>
              </a:rPr>
              <a:t>1.</a:t>
            </a:r>
            <a:r>
              <a:rPr lang="en-US" altLang="zh-CN" sz="2599" dirty="0">
                <a:latin typeface="Times New Roman" pitchFamily="18" charset="0"/>
                <a:cs typeface="Times New Roman" pitchFamily="18" charset="0"/>
              </a:rPr>
              <a:t> </a:t>
            </a:r>
            <a:r>
              <a:rPr lang="en-US" altLang="zh-CN" sz="2599" dirty="0">
                <a:solidFill>
                  <a:srgbClr val="000000"/>
                </a:solidFill>
                <a:latin typeface="微软雅黑" pitchFamily="18" charset="0"/>
                <a:cs typeface="微软雅黑" pitchFamily="18" charset="0"/>
              </a:rPr>
              <a:t>【基本概念】了解人工智能的基本概念和目前实现人工智能的主要</a:t>
            </a:r>
          </a:p>
          <a:p>
            <a:pPr>
              <a:lnSpc>
                <a:spcPts val="3400"/>
              </a:lnSpc>
              <a:tabLst>
                <a:tab pos="228600" algn="l"/>
              </a:tabLst>
            </a:pPr>
            <a:r>
              <a:rPr lang="zh-CN" altLang="en-US" sz="2599" dirty="0">
                <a:solidFill>
                  <a:srgbClr val="000000"/>
                </a:solidFill>
                <a:latin typeface="微软雅黑" pitchFamily="18" charset="0"/>
                <a:cs typeface="微软雅黑" pitchFamily="18" charset="0"/>
              </a:rPr>
              <a:t> </a:t>
            </a:r>
            <a:r>
              <a:rPr lang="en-US" altLang="zh-CN" sz="2599" dirty="0">
                <a:solidFill>
                  <a:srgbClr val="000000"/>
                </a:solidFill>
                <a:latin typeface="微软雅黑" pitchFamily="18" charset="0"/>
                <a:cs typeface="微软雅黑" pitchFamily="18" charset="0"/>
              </a:rPr>
              <a:t>技术手段，了解人工智能在机器视觉、自然语言处理和控制决策中的</a:t>
            </a:r>
          </a:p>
          <a:p>
            <a:pPr>
              <a:lnSpc>
                <a:spcPts val="3400"/>
              </a:lnSpc>
              <a:tabLst>
                <a:tab pos="228600" algn="l"/>
              </a:tabLst>
            </a:pPr>
            <a:r>
              <a:rPr lang="zh-CN" altLang="en-US" sz="2599" dirty="0">
                <a:solidFill>
                  <a:srgbClr val="000000"/>
                </a:solidFill>
                <a:latin typeface="微软雅黑" pitchFamily="18" charset="0"/>
                <a:cs typeface="微软雅黑" pitchFamily="18" charset="0"/>
              </a:rPr>
              <a:t> </a:t>
            </a:r>
            <a:r>
              <a:rPr lang="en-US" altLang="zh-CN" sz="2599" dirty="0">
                <a:solidFill>
                  <a:srgbClr val="000000"/>
                </a:solidFill>
                <a:latin typeface="微软雅黑" pitchFamily="18" charset="0"/>
                <a:cs typeface="微软雅黑" pitchFamily="18" charset="0"/>
              </a:rPr>
              <a:t>应用方式，了解人工智能在机械行业中的应用现状与前景。</a:t>
            </a:r>
          </a:p>
        </p:txBody>
      </p:sp>
      <p:sp>
        <p:nvSpPr>
          <p:cNvPr id="8" name="TextBox 1"/>
          <p:cNvSpPr txBox="1"/>
          <p:nvPr/>
        </p:nvSpPr>
        <p:spPr>
          <a:xfrm>
            <a:off x="838200" y="3886200"/>
            <a:ext cx="11185754" cy="1320170"/>
          </a:xfrm>
          <a:prstGeom prst="rect">
            <a:avLst/>
          </a:prstGeom>
          <a:noFill/>
        </p:spPr>
        <p:txBody>
          <a:bodyPr wrap="none" lIns="0" tIns="0" rIns="0" rtlCol="0">
            <a:spAutoFit/>
          </a:bodyPr>
          <a:lstStyle/>
          <a:p>
            <a:pPr>
              <a:lnSpc>
                <a:spcPts val="3400"/>
              </a:lnSpc>
              <a:tabLst>
                <a:tab pos="2286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dirty="0">
                <a:solidFill>
                  <a:srgbClr val="000000"/>
                </a:solidFill>
                <a:latin typeface="Calibri" pitchFamily="18" charset="0"/>
                <a:cs typeface="Calibri" pitchFamily="18" charset="0"/>
              </a:rPr>
              <a:t>2.</a:t>
            </a:r>
            <a:r>
              <a:rPr lang="en-US" altLang="zh-CN" sz="2599" dirty="0">
                <a:latin typeface="Times New Roman" pitchFamily="18" charset="0"/>
                <a:cs typeface="Times New Roman" pitchFamily="18" charset="0"/>
              </a:rPr>
              <a:t> </a:t>
            </a:r>
            <a:r>
              <a:rPr lang="en-US" altLang="zh-CN" sz="2599" dirty="0">
                <a:solidFill>
                  <a:srgbClr val="000000"/>
                </a:solidFill>
                <a:latin typeface="微软雅黑" pitchFamily="18" charset="0"/>
                <a:cs typeface="微软雅黑" pitchFamily="18" charset="0"/>
              </a:rPr>
              <a:t>【原理与流程】掌握机器学习的基本概念，掌握基于机器学习的应</a:t>
            </a:r>
          </a:p>
          <a:p>
            <a:pPr>
              <a:lnSpc>
                <a:spcPts val="3400"/>
              </a:lnSpc>
              <a:tabLst>
                <a:tab pos="228600" algn="l"/>
              </a:tabLst>
            </a:pPr>
            <a:r>
              <a:rPr lang="zh-CN" altLang="en-US" sz="2599" dirty="0">
                <a:solidFill>
                  <a:srgbClr val="000000"/>
                </a:solidFill>
                <a:latin typeface="微软雅黑" pitchFamily="18" charset="0"/>
                <a:cs typeface="微软雅黑" pitchFamily="18" charset="0"/>
              </a:rPr>
              <a:t> </a:t>
            </a:r>
            <a:r>
              <a:rPr lang="en-US" altLang="zh-CN" sz="2599" dirty="0">
                <a:solidFill>
                  <a:srgbClr val="000000"/>
                </a:solidFill>
                <a:latin typeface="微软雅黑" pitchFamily="18" charset="0"/>
                <a:cs typeface="微软雅黑" pitchFamily="18" charset="0"/>
              </a:rPr>
              <a:t>用</a:t>
            </a:r>
            <a:r>
              <a:rPr lang="en-US" altLang="zh-CN" sz="2599" dirty="0">
                <a:latin typeface="Times New Roman" pitchFamily="18" charset="0"/>
                <a:cs typeface="Times New Roman" pitchFamily="18" charset="0"/>
              </a:rPr>
              <a:t> </a:t>
            </a:r>
            <a:r>
              <a:rPr lang="en-US" altLang="zh-CN" sz="2599" dirty="0">
                <a:solidFill>
                  <a:srgbClr val="C00000"/>
                </a:solidFill>
                <a:latin typeface="微软雅黑" pitchFamily="18" charset="0"/>
                <a:cs typeface="微软雅黑" pitchFamily="18" charset="0"/>
              </a:rPr>
              <a:t>开发流程</a:t>
            </a:r>
            <a:r>
              <a:rPr lang="en-US" altLang="zh-CN" sz="2599" dirty="0">
                <a:latin typeface="Times New Roman" pitchFamily="18" charset="0"/>
                <a:cs typeface="Times New Roman" pitchFamily="18" charset="0"/>
              </a:rPr>
              <a:t> </a:t>
            </a:r>
            <a:r>
              <a:rPr lang="en-US" altLang="zh-CN" sz="2599" dirty="0">
                <a:solidFill>
                  <a:srgbClr val="000000"/>
                </a:solidFill>
                <a:latin typeface="微软雅黑" pitchFamily="18" charset="0"/>
                <a:cs typeface="微软雅黑" pitchFamily="18" charset="0"/>
              </a:rPr>
              <a:t>，</a:t>
            </a:r>
            <a:r>
              <a:rPr lang="en-US" altLang="zh-CN" sz="2599" dirty="0">
                <a:solidFill>
                  <a:srgbClr val="C00000"/>
                </a:solidFill>
                <a:latin typeface="微软雅黑" pitchFamily="18" charset="0"/>
                <a:cs typeface="微软雅黑" pitchFamily="18" charset="0"/>
              </a:rPr>
              <a:t>掌握神经网络、广义线性回归、决策树等常用机器学习</a:t>
            </a:r>
          </a:p>
          <a:p>
            <a:pPr>
              <a:lnSpc>
                <a:spcPts val="3400"/>
              </a:lnSpc>
              <a:tabLst>
                <a:tab pos="228600" algn="l"/>
              </a:tabLst>
            </a:pPr>
            <a:r>
              <a:rPr lang="zh-CN" altLang="en-US" sz="2599" dirty="0">
                <a:solidFill>
                  <a:srgbClr val="C00000"/>
                </a:solidFill>
                <a:latin typeface="微软雅黑" pitchFamily="18" charset="0"/>
                <a:cs typeface="微软雅黑" pitchFamily="18" charset="0"/>
              </a:rPr>
              <a:t> </a:t>
            </a:r>
            <a:r>
              <a:rPr lang="en-US" altLang="zh-CN" sz="2599" dirty="0">
                <a:solidFill>
                  <a:srgbClr val="C00000"/>
                </a:solidFill>
                <a:latin typeface="微软雅黑" pitchFamily="18" charset="0"/>
                <a:cs typeface="微软雅黑" pitchFamily="18" charset="0"/>
              </a:rPr>
              <a:t>模型的原理</a:t>
            </a:r>
            <a:r>
              <a:rPr lang="en-US" altLang="zh-CN" sz="2599" dirty="0">
                <a:latin typeface="Times New Roman" pitchFamily="18" charset="0"/>
                <a:cs typeface="Times New Roman" pitchFamily="18" charset="0"/>
              </a:rPr>
              <a:t> </a:t>
            </a:r>
            <a:r>
              <a:rPr lang="en-US" altLang="zh-CN" sz="2599" dirty="0">
                <a:solidFill>
                  <a:srgbClr val="000000"/>
                </a:solidFill>
                <a:latin typeface="微软雅黑" pitchFamily="18" charset="0"/>
                <a:cs typeface="微软雅黑" pitchFamily="18" charset="0"/>
              </a:rPr>
              <a:t>，掌握优化、搜索、强化学习和大数据的基本概念和应用范围。</a:t>
            </a:r>
          </a:p>
        </p:txBody>
      </p:sp>
      <p:sp>
        <p:nvSpPr>
          <p:cNvPr id="10" name="TextBox 1">
            <a:extLst>
              <a:ext uri="{FF2B5EF4-FFF2-40B4-BE49-F238E27FC236}">
                <a16:creationId xmlns:a16="http://schemas.microsoft.com/office/drawing/2014/main" id="{9DBEBE32-04CE-E54C-AD77-71A57E6E21DF}"/>
              </a:ext>
            </a:extLst>
          </p:cNvPr>
          <p:cNvSpPr txBox="1"/>
          <p:nvPr/>
        </p:nvSpPr>
        <p:spPr>
          <a:xfrm flipH="1">
            <a:off x="11602624" y="6477000"/>
            <a:ext cx="203120"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12</a:t>
            </a:r>
          </a:p>
        </p:txBody>
      </p:sp>
      <p:sp>
        <p:nvSpPr>
          <p:cNvPr id="11" name="Freeform 3">
            <a:extLst>
              <a:ext uri="{FF2B5EF4-FFF2-40B4-BE49-F238E27FC236}">
                <a16:creationId xmlns:a16="http://schemas.microsoft.com/office/drawing/2014/main" id="{FCCA760E-609D-0845-B06A-2689D239AC13}"/>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AD6697A0-7EEC-D145-B7C6-27504CAF8264}"/>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课程目标</a:t>
            </a:r>
            <a:endParaRPr lang="en-US" altLang="zh-CN" sz="3199" b="1" dirty="0">
              <a:solidFill>
                <a:srgbClr val="000000"/>
              </a:solidFill>
              <a:latin typeface="微软雅黑" pitchFamily="18" charset="0"/>
              <a:cs typeface="微软雅黑"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p:cNvSpPr txBox="1"/>
          <p:nvPr/>
        </p:nvSpPr>
        <p:spPr>
          <a:xfrm>
            <a:off x="838200" y="2053121"/>
            <a:ext cx="10685618" cy="1320170"/>
          </a:xfrm>
          <a:prstGeom prst="rect">
            <a:avLst/>
          </a:prstGeom>
          <a:noFill/>
        </p:spPr>
        <p:txBody>
          <a:bodyPr wrap="none" lIns="0" tIns="0" rIns="0" rtlCol="0">
            <a:spAutoFit/>
          </a:bodyPr>
          <a:lstStyle/>
          <a:p>
            <a:pPr>
              <a:lnSpc>
                <a:spcPts val="3400"/>
              </a:lnSpc>
              <a:tabLst>
                <a:tab pos="2286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dirty="0">
                <a:solidFill>
                  <a:srgbClr val="000000"/>
                </a:solidFill>
                <a:latin typeface="Calibri" pitchFamily="18" charset="0"/>
                <a:cs typeface="Calibri" pitchFamily="18" charset="0"/>
              </a:rPr>
              <a:t>3.</a:t>
            </a:r>
            <a:r>
              <a:rPr lang="en-US" altLang="zh-CN" sz="2599" dirty="0">
                <a:latin typeface="Times New Roman" pitchFamily="18" charset="0"/>
                <a:cs typeface="Times New Roman" pitchFamily="18" charset="0"/>
              </a:rPr>
              <a:t> </a:t>
            </a:r>
            <a:r>
              <a:rPr lang="en-US" altLang="zh-CN" sz="2599" dirty="0">
                <a:solidFill>
                  <a:srgbClr val="000000"/>
                </a:solidFill>
                <a:latin typeface="微软雅黑" pitchFamily="18" charset="0"/>
                <a:cs typeface="微软雅黑" pitchFamily="18" charset="0"/>
              </a:rPr>
              <a:t>【设计开发】能够运用所学的知识、原理和方法，</a:t>
            </a:r>
            <a:r>
              <a:rPr lang="en-US" altLang="zh-CN" sz="2599" dirty="0">
                <a:solidFill>
                  <a:srgbClr val="C00000"/>
                </a:solidFill>
                <a:latin typeface="微软雅黑" pitchFamily="18" charset="0"/>
                <a:cs typeface="微软雅黑" pitchFamily="18" charset="0"/>
              </a:rPr>
              <a:t>根据应用需求，</a:t>
            </a:r>
          </a:p>
          <a:p>
            <a:pPr>
              <a:lnSpc>
                <a:spcPts val="3400"/>
              </a:lnSpc>
              <a:tabLst>
                <a:tab pos="228600" algn="l"/>
              </a:tabLst>
            </a:pPr>
            <a:r>
              <a:rPr lang="zh-CN" altLang="en-US" sz="2599" dirty="0">
                <a:solidFill>
                  <a:srgbClr val="C00000"/>
                </a:solidFill>
                <a:latin typeface="微软雅黑" pitchFamily="18" charset="0"/>
                <a:cs typeface="微软雅黑" pitchFamily="18" charset="0"/>
              </a:rPr>
              <a:t> </a:t>
            </a:r>
            <a:r>
              <a:rPr lang="en-US" altLang="zh-CN" sz="2599" dirty="0">
                <a:solidFill>
                  <a:srgbClr val="C00000"/>
                </a:solidFill>
                <a:latin typeface="微软雅黑" pitchFamily="18" charset="0"/>
                <a:cs typeface="微软雅黑" pitchFamily="18" charset="0"/>
              </a:rPr>
              <a:t>选择、设计</a:t>
            </a:r>
            <a:r>
              <a:rPr lang="en-US" altLang="zh-CN" sz="2599" dirty="0">
                <a:latin typeface="Times New Roman" pitchFamily="18" charset="0"/>
                <a:cs typeface="Times New Roman" pitchFamily="18" charset="0"/>
              </a:rPr>
              <a:t> </a:t>
            </a:r>
            <a:r>
              <a:rPr lang="en-US" altLang="zh-CN" sz="2599" dirty="0">
                <a:solidFill>
                  <a:srgbClr val="000000"/>
                </a:solidFill>
                <a:latin typeface="微软雅黑" pitchFamily="18" charset="0"/>
                <a:cs typeface="微软雅黑" pitchFamily="18" charset="0"/>
              </a:rPr>
              <a:t>包括深度学习模型在内的多种常用机器学习模型，并使用</a:t>
            </a:r>
          </a:p>
          <a:p>
            <a:pPr>
              <a:lnSpc>
                <a:spcPts val="3400"/>
              </a:lnSpc>
              <a:tabLst>
                <a:tab pos="228600" algn="l"/>
              </a:tabLst>
            </a:pPr>
            <a:r>
              <a:rPr lang="zh-CN" altLang="en-US" sz="2599" dirty="0">
                <a:solidFill>
                  <a:srgbClr val="000000"/>
                </a:solidFill>
                <a:latin typeface="微软雅黑" pitchFamily="18" charset="0"/>
                <a:cs typeface="微软雅黑" pitchFamily="18" charset="0"/>
              </a:rPr>
              <a:t> </a:t>
            </a:r>
            <a:r>
              <a:rPr lang="en-US" altLang="zh-CN" sz="2599" dirty="0">
                <a:solidFill>
                  <a:srgbClr val="000000"/>
                </a:solidFill>
                <a:latin typeface="微软雅黑" pitchFamily="18" charset="0"/>
                <a:cs typeface="微软雅黑" pitchFamily="18" charset="0"/>
              </a:rPr>
              <a:t>数据进行模型</a:t>
            </a:r>
            <a:r>
              <a:rPr lang="en-US" altLang="zh-CN" sz="2599" dirty="0">
                <a:latin typeface="Times New Roman" pitchFamily="18" charset="0"/>
                <a:cs typeface="Times New Roman" pitchFamily="18" charset="0"/>
              </a:rPr>
              <a:t> </a:t>
            </a:r>
            <a:r>
              <a:rPr lang="en-US" altLang="zh-CN" sz="2599" dirty="0">
                <a:solidFill>
                  <a:srgbClr val="C00000"/>
                </a:solidFill>
                <a:latin typeface="微软雅黑" pitchFamily="18" charset="0"/>
                <a:cs typeface="微软雅黑" pitchFamily="18" charset="0"/>
              </a:rPr>
              <a:t>训练</a:t>
            </a:r>
            <a:r>
              <a:rPr lang="en-US" altLang="zh-CN" sz="2599" dirty="0">
                <a:latin typeface="Times New Roman" pitchFamily="18" charset="0"/>
                <a:cs typeface="Times New Roman" pitchFamily="18" charset="0"/>
              </a:rPr>
              <a:t> </a:t>
            </a:r>
            <a:r>
              <a:rPr lang="en-US" altLang="zh-CN" sz="2599" dirty="0">
                <a:solidFill>
                  <a:srgbClr val="000000"/>
                </a:solidFill>
                <a:latin typeface="微软雅黑" pitchFamily="18" charset="0"/>
                <a:cs typeface="微软雅黑" pitchFamily="18" charset="0"/>
              </a:rPr>
              <a:t>，</a:t>
            </a:r>
            <a:r>
              <a:rPr lang="en-US" altLang="zh-CN" sz="2599" dirty="0">
                <a:solidFill>
                  <a:srgbClr val="C00000"/>
                </a:solidFill>
                <a:latin typeface="微软雅黑" pitchFamily="18" charset="0"/>
                <a:cs typeface="微软雅黑" pitchFamily="18" charset="0"/>
              </a:rPr>
              <a:t>能够基于机器学习模型开发简单的人工智能应用</a:t>
            </a:r>
            <a:r>
              <a:rPr lang="en-US" altLang="zh-CN" sz="2599" dirty="0">
                <a:solidFill>
                  <a:srgbClr val="000000"/>
                </a:solidFill>
                <a:latin typeface="微软雅黑" pitchFamily="18" charset="0"/>
                <a:cs typeface="微软雅黑" pitchFamily="18" charset="0"/>
              </a:rPr>
              <a:t>。</a:t>
            </a:r>
          </a:p>
        </p:txBody>
      </p:sp>
      <p:sp>
        <p:nvSpPr>
          <p:cNvPr id="8" name="TextBox 1"/>
          <p:cNvSpPr txBox="1"/>
          <p:nvPr/>
        </p:nvSpPr>
        <p:spPr>
          <a:xfrm>
            <a:off x="838200" y="3765619"/>
            <a:ext cx="10871566" cy="454676"/>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dirty="0">
                <a:solidFill>
                  <a:srgbClr val="000000"/>
                </a:solidFill>
                <a:latin typeface="Calibri" pitchFamily="18" charset="0"/>
                <a:cs typeface="Calibri" pitchFamily="18" charset="0"/>
              </a:rPr>
              <a:t>4.</a:t>
            </a:r>
            <a:r>
              <a:rPr lang="en-US" altLang="zh-CN" sz="2599" dirty="0">
                <a:latin typeface="Times New Roman" pitchFamily="18" charset="0"/>
                <a:cs typeface="Times New Roman" pitchFamily="18" charset="0"/>
              </a:rPr>
              <a:t> </a:t>
            </a:r>
            <a:r>
              <a:rPr lang="en-US" altLang="zh-CN" sz="2599" dirty="0">
                <a:solidFill>
                  <a:srgbClr val="000000"/>
                </a:solidFill>
                <a:latin typeface="微软雅黑" pitchFamily="18" charset="0"/>
                <a:cs typeface="微软雅黑" pitchFamily="18" charset="0"/>
              </a:rPr>
              <a:t>【查找资料】具有查找、理解和运用人工智能相关工具的资料能力。</a:t>
            </a:r>
          </a:p>
        </p:txBody>
      </p:sp>
      <p:sp>
        <p:nvSpPr>
          <p:cNvPr id="11" name="TextBox 1">
            <a:extLst>
              <a:ext uri="{FF2B5EF4-FFF2-40B4-BE49-F238E27FC236}">
                <a16:creationId xmlns:a16="http://schemas.microsoft.com/office/drawing/2014/main" id="{E64BFBEF-7F5E-E643-8F37-1194F29F81D5}"/>
              </a:ext>
            </a:extLst>
          </p:cNvPr>
          <p:cNvSpPr txBox="1"/>
          <p:nvPr/>
        </p:nvSpPr>
        <p:spPr>
          <a:xfrm flipH="1">
            <a:off x="11602624" y="6477000"/>
            <a:ext cx="2845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13</a:t>
            </a:r>
          </a:p>
        </p:txBody>
      </p:sp>
      <p:sp>
        <p:nvSpPr>
          <p:cNvPr id="12" name="Freeform 3">
            <a:extLst>
              <a:ext uri="{FF2B5EF4-FFF2-40B4-BE49-F238E27FC236}">
                <a16:creationId xmlns:a16="http://schemas.microsoft.com/office/drawing/2014/main" id="{74BD7699-AB93-604D-AF03-FDE091330A41}"/>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9FEA47EC-781E-1C48-81F7-8F176A8FF741}"/>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课程目标</a:t>
            </a:r>
            <a:endParaRPr lang="en-US" altLang="zh-CN" sz="3199" b="1" dirty="0">
              <a:solidFill>
                <a:srgbClr val="000000"/>
              </a:solidFill>
              <a:latin typeface="微软雅黑" pitchFamily="18" charset="0"/>
              <a:cs typeface="微软雅黑" pitchFamily="18" charset="0"/>
            </a:endParaRPr>
          </a:p>
        </p:txBody>
      </p:sp>
      <p:sp>
        <p:nvSpPr>
          <p:cNvPr id="14" name="TextBox 1">
            <a:extLst>
              <a:ext uri="{FF2B5EF4-FFF2-40B4-BE49-F238E27FC236}">
                <a16:creationId xmlns:a16="http://schemas.microsoft.com/office/drawing/2014/main" id="{11F62705-7B3A-0547-8952-42BF152D36DE}"/>
              </a:ext>
            </a:extLst>
          </p:cNvPr>
          <p:cNvSpPr txBox="1"/>
          <p:nvPr/>
        </p:nvSpPr>
        <p:spPr>
          <a:xfrm>
            <a:off x="838200" y="1217953"/>
            <a:ext cx="6540252" cy="454676"/>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本课程是入门课程，但不是概论</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导论课程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
          <p:cNvSpPr txBox="1"/>
          <p:nvPr/>
        </p:nvSpPr>
        <p:spPr>
          <a:xfrm>
            <a:off x="914400" y="1185635"/>
            <a:ext cx="6900928" cy="448200"/>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本课程没有指定教材。首要参考资料为课件。</a:t>
            </a:r>
          </a:p>
        </p:txBody>
      </p:sp>
      <p:sp>
        <p:nvSpPr>
          <p:cNvPr id="11" name="TextBox 1"/>
          <p:cNvSpPr txBox="1"/>
          <p:nvPr/>
        </p:nvSpPr>
        <p:spPr>
          <a:xfrm>
            <a:off x="914400" y="2051666"/>
            <a:ext cx="3550652" cy="448200"/>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其它参考资料（主要）</a:t>
            </a:r>
          </a:p>
        </p:txBody>
      </p:sp>
      <p:sp>
        <p:nvSpPr>
          <p:cNvPr id="12" name="TextBox 1"/>
          <p:cNvSpPr txBox="1"/>
          <p:nvPr/>
        </p:nvSpPr>
        <p:spPr>
          <a:xfrm>
            <a:off x="1198824" y="2681168"/>
            <a:ext cx="7636706" cy="1691553"/>
          </a:xfrm>
          <a:prstGeom prst="rect">
            <a:avLst/>
          </a:prstGeom>
          <a:noFill/>
        </p:spPr>
        <p:txBody>
          <a:bodyPr wrap="none" lIns="0" tIns="0" rIns="0" rtlCol="0">
            <a:spAutoFit/>
          </a:bodyPr>
          <a:lstStyle/>
          <a:p>
            <a:pPr>
              <a:lnSpc>
                <a:spcPts val="2900"/>
              </a:lnSpc>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周志华，《机器学习》</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清华大学出版社，</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2016</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西瓜书</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t>
            </a:r>
          </a:p>
          <a:p>
            <a:pPr>
              <a:lnSpc>
                <a:spcPts val="3400"/>
              </a:lnSpc>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李德毅，《人工智能导论》</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中国科学技术出版社，</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2018</a:t>
            </a:r>
          </a:p>
          <a:p>
            <a:pPr>
              <a:lnSpc>
                <a:spcPts val="3400"/>
              </a:lnSpc>
            </a:pPr>
            <a:r>
              <a:rPr lang="en-US" altLang="zh-CN" sz="2199" dirty="0">
                <a:solidFill>
                  <a:srgbClr val="000000"/>
                </a:solidFill>
                <a:latin typeface="微软雅黑" pitchFamily="18" charset="0"/>
                <a:cs typeface="微软雅黑" pitchFamily="18" charset="0"/>
              </a:rPr>
              <a:t>（第一、五、七、八、十、十一章）</a:t>
            </a:r>
          </a:p>
          <a:p>
            <a:pPr>
              <a:lnSpc>
                <a:spcPts val="3400"/>
              </a:lnSpc>
            </a:pPr>
            <a:endParaRPr lang="en-US" altLang="zh-CN" sz="2199" dirty="0">
              <a:solidFill>
                <a:srgbClr val="000000"/>
              </a:solidFill>
              <a:latin typeface="Calibri" pitchFamily="18" charset="0"/>
              <a:cs typeface="Calibri" pitchFamily="18" charset="0"/>
            </a:endParaRPr>
          </a:p>
        </p:txBody>
      </p:sp>
      <p:sp>
        <p:nvSpPr>
          <p:cNvPr id="13" name="TextBox 1"/>
          <p:cNvSpPr txBox="1"/>
          <p:nvPr/>
        </p:nvSpPr>
        <p:spPr>
          <a:xfrm>
            <a:off x="2806700" y="3505200"/>
            <a:ext cx="65" cy="392223"/>
          </a:xfrm>
          <a:prstGeom prst="rect">
            <a:avLst/>
          </a:prstGeom>
          <a:noFill/>
        </p:spPr>
        <p:txBody>
          <a:bodyPr wrap="none" lIns="0" tIns="0" rIns="0" rtlCol="0">
            <a:spAutoFit/>
          </a:bodyPr>
          <a:lstStyle/>
          <a:p>
            <a:pPr>
              <a:lnSpc>
                <a:spcPts val="2900"/>
              </a:lnSpc>
            </a:pPr>
            <a:endParaRPr lang="en-US" altLang="zh-CN" sz="2199" dirty="0">
              <a:solidFill>
                <a:srgbClr val="000000"/>
              </a:solidFill>
              <a:latin typeface="微软雅黑" pitchFamily="18" charset="0"/>
              <a:cs typeface="微软雅黑" pitchFamily="18" charset="0"/>
            </a:endParaRPr>
          </a:p>
        </p:txBody>
      </p:sp>
      <p:sp>
        <p:nvSpPr>
          <p:cNvPr id="14" name="TextBox 1"/>
          <p:cNvSpPr txBox="1"/>
          <p:nvPr/>
        </p:nvSpPr>
        <p:spPr>
          <a:xfrm>
            <a:off x="1198824" y="3907635"/>
            <a:ext cx="10291856" cy="394082"/>
          </a:xfrm>
          <a:prstGeom prst="rect">
            <a:avLst/>
          </a:prstGeom>
          <a:noFill/>
        </p:spPr>
        <p:txBody>
          <a:bodyPr wrap="none" lIns="0" tIns="0" rIns="0" rtlCol="0">
            <a:spAutoFit/>
          </a:bodyPr>
          <a:lstStyle/>
          <a:p>
            <a:pPr>
              <a:lnSpc>
                <a:spcPts val="2900"/>
              </a:lnSpc>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Michael</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Nielsen</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Neural</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networks</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and</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deep</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learning</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solidFill>
                  <a:srgbClr val="000000"/>
                </a:solidFill>
                <a:latin typeface="Calibri" pitchFamily="18" charset="0"/>
                <a:cs typeface="Calibri" pitchFamily="18" charset="0"/>
              </a:rPr>
              <a:t>Determination</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Press</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2015</a:t>
            </a:r>
            <a:endParaRPr lang="en-US" altLang="zh-CN" sz="2199" dirty="0">
              <a:solidFill>
                <a:srgbClr val="000000"/>
              </a:solidFill>
              <a:latin typeface="微软雅黑" pitchFamily="18" charset="0"/>
              <a:cs typeface="微软雅黑" pitchFamily="18" charset="0"/>
            </a:endParaRPr>
          </a:p>
        </p:txBody>
      </p:sp>
      <p:sp>
        <p:nvSpPr>
          <p:cNvPr id="16" name="TextBox 1"/>
          <p:cNvSpPr txBox="1"/>
          <p:nvPr/>
        </p:nvSpPr>
        <p:spPr>
          <a:xfrm>
            <a:off x="1198824" y="4497993"/>
            <a:ext cx="2118529" cy="394082"/>
          </a:xfrm>
          <a:prstGeom prst="rect">
            <a:avLst/>
          </a:prstGeom>
          <a:noFill/>
        </p:spPr>
        <p:txBody>
          <a:bodyPr wrap="none" lIns="0" tIns="0" rIns="0" rtlCol="0">
            <a:spAutoFit/>
          </a:bodyPr>
          <a:lstStyle/>
          <a:p>
            <a:pPr>
              <a:lnSpc>
                <a:spcPts val="2900"/>
              </a:lnSpc>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scikit-learn</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文档</a:t>
            </a:r>
            <a:endParaRPr lang="en-US" altLang="zh-CN" sz="2199" dirty="0">
              <a:solidFill>
                <a:srgbClr val="0563C1"/>
              </a:solidFill>
              <a:latin typeface="Calibri" pitchFamily="18" charset="0"/>
              <a:cs typeface="Calibri" pitchFamily="18" charset="0"/>
              <a:hlinkClick r:id="rId3"/>
            </a:endParaRPr>
          </a:p>
        </p:txBody>
      </p:sp>
      <p:sp>
        <p:nvSpPr>
          <p:cNvPr id="18" name="TextBox 1"/>
          <p:cNvSpPr txBox="1"/>
          <p:nvPr/>
        </p:nvSpPr>
        <p:spPr>
          <a:xfrm>
            <a:off x="1198824" y="5123890"/>
            <a:ext cx="1772665" cy="394082"/>
          </a:xfrm>
          <a:prstGeom prst="rect">
            <a:avLst/>
          </a:prstGeom>
          <a:noFill/>
        </p:spPr>
        <p:txBody>
          <a:bodyPr wrap="none" lIns="0" tIns="0" rIns="0" rtlCol="0">
            <a:spAutoFit/>
          </a:bodyPr>
          <a:lstStyle/>
          <a:p>
            <a:pPr>
              <a:lnSpc>
                <a:spcPts val="2900"/>
              </a:lnSpc>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PyTorch</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文档</a:t>
            </a:r>
            <a:endParaRPr lang="en-US" altLang="zh-CN" sz="2199" dirty="0">
              <a:solidFill>
                <a:srgbClr val="0563C1"/>
              </a:solidFill>
              <a:latin typeface="Calibri" pitchFamily="18" charset="0"/>
              <a:cs typeface="Calibri" pitchFamily="18" charset="0"/>
              <a:hlinkClick r:id="rId4"/>
            </a:endParaRPr>
          </a:p>
        </p:txBody>
      </p:sp>
      <p:sp>
        <p:nvSpPr>
          <p:cNvPr id="21" name="TextBox 1">
            <a:extLst>
              <a:ext uri="{FF2B5EF4-FFF2-40B4-BE49-F238E27FC236}">
                <a16:creationId xmlns:a16="http://schemas.microsoft.com/office/drawing/2014/main" id="{57C27452-B55D-A04F-A906-072F1ECF3F00}"/>
              </a:ext>
            </a:extLst>
          </p:cNvPr>
          <p:cNvSpPr txBox="1"/>
          <p:nvPr/>
        </p:nvSpPr>
        <p:spPr>
          <a:xfrm flipH="1">
            <a:off x="11602624" y="6477000"/>
            <a:ext cx="203120"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14</a:t>
            </a:r>
          </a:p>
        </p:txBody>
      </p:sp>
      <p:sp>
        <p:nvSpPr>
          <p:cNvPr id="22" name="Freeform 3">
            <a:extLst>
              <a:ext uri="{FF2B5EF4-FFF2-40B4-BE49-F238E27FC236}">
                <a16:creationId xmlns:a16="http://schemas.microsoft.com/office/drawing/2014/main" id="{E8538CA8-E421-6941-BAB7-D9570BF14C39}"/>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TextBox 1">
            <a:extLst>
              <a:ext uri="{FF2B5EF4-FFF2-40B4-BE49-F238E27FC236}">
                <a16:creationId xmlns:a16="http://schemas.microsoft.com/office/drawing/2014/main" id="{E67AE9F5-6526-8D41-8504-19B7C68DD8E5}"/>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参考资料</a:t>
            </a:r>
            <a:endParaRPr lang="en-US" altLang="zh-CN" sz="3199" b="1" dirty="0">
              <a:solidFill>
                <a:srgbClr val="000000"/>
              </a:solidFill>
              <a:latin typeface="微软雅黑" pitchFamily="18" charset="0"/>
              <a:cs typeface="微软雅黑"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
          <p:cNvSpPr txBox="1"/>
          <p:nvPr/>
        </p:nvSpPr>
        <p:spPr>
          <a:xfrm>
            <a:off x="802774" y="1063990"/>
            <a:ext cx="3550652" cy="448200"/>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其它参考资料（次要）</a:t>
            </a:r>
          </a:p>
        </p:txBody>
      </p:sp>
      <p:sp>
        <p:nvSpPr>
          <p:cNvPr id="11" name="TextBox 1"/>
          <p:cNvSpPr txBox="1"/>
          <p:nvPr/>
        </p:nvSpPr>
        <p:spPr>
          <a:xfrm>
            <a:off x="1143000" y="1729744"/>
            <a:ext cx="7865423" cy="394082"/>
          </a:xfrm>
          <a:prstGeom prst="rect">
            <a:avLst/>
          </a:prstGeom>
          <a:noFill/>
        </p:spPr>
        <p:txBody>
          <a:bodyPr wrap="none" lIns="0" tIns="0" rIns="0" rtlCol="0">
            <a:spAutoFit/>
          </a:bodyPr>
          <a:lstStyle/>
          <a:p>
            <a:pPr>
              <a:lnSpc>
                <a:spcPts val="2900"/>
              </a:lnSpc>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Stephen</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Boyd,</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Lieven</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Vandenberghe</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Convex</a:t>
            </a:r>
            <a:r>
              <a:rPr lang="zh-CN" altLang="en-US" sz="2199" dirty="0">
                <a:solidFill>
                  <a:srgbClr val="000000"/>
                </a:solidFill>
                <a:latin typeface="Calibri" pitchFamily="18" charset="0"/>
                <a:cs typeface="Calibri" pitchFamily="18" charset="0"/>
              </a:rPr>
              <a:t> </a:t>
            </a:r>
            <a:r>
              <a:rPr lang="en-US" altLang="zh-CN" sz="2199" dirty="0">
                <a:solidFill>
                  <a:srgbClr val="000000"/>
                </a:solidFill>
                <a:latin typeface="Calibri" pitchFamily="18" charset="0"/>
                <a:cs typeface="Calibri" pitchFamily="18" charset="0"/>
              </a:rPr>
              <a:t>Optimization</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endParaRPr lang="en-US" altLang="zh-CN" sz="2199" dirty="0">
              <a:solidFill>
                <a:srgbClr val="000000"/>
              </a:solidFill>
              <a:latin typeface="Calibri" pitchFamily="18" charset="0"/>
              <a:cs typeface="Calibri" pitchFamily="18" charset="0"/>
            </a:endParaRPr>
          </a:p>
        </p:txBody>
      </p:sp>
      <p:sp>
        <p:nvSpPr>
          <p:cNvPr id="13" name="TextBox 1"/>
          <p:cNvSpPr txBox="1"/>
          <p:nvPr/>
        </p:nvSpPr>
        <p:spPr>
          <a:xfrm>
            <a:off x="1120848" y="2316227"/>
            <a:ext cx="10070962" cy="765979"/>
          </a:xfrm>
          <a:prstGeom prst="rect">
            <a:avLst/>
          </a:prstGeom>
          <a:noFill/>
        </p:spPr>
        <p:txBody>
          <a:bodyPr wrap="none" lIns="0" tIns="0" rIns="0" rtlCol="0">
            <a:spAutoFit/>
          </a:bodyPr>
          <a:lstStyle/>
          <a:p>
            <a:pPr>
              <a:lnSpc>
                <a:spcPts val="2900"/>
              </a:lnSpc>
              <a:tabLst>
                <a:tab pos="228600" algn="l"/>
              </a:tabLst>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Trevor</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Hastie,</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Robert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Tibshirani</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Jerome</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Friedman</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The</a:t>
            </a:r>
            <a:r>
              <a:rPr lang="zh-CN" altLang="en-US" sz="2199" dirty="0">
                <a:solidFill>
                  <a:srgbClr val="000000"/>
                </a:solidFill>
                <a:latin typeface="Calibri" pitchFamily="18" charset="0"/>
                <a:cs typeface="Calibri" pitchFamily="18" charset="0"/>
              </a:rPr>
              <a:t> </a:t>
            </a:r>
            <a:r>
              <a:rPr lang="en-US" altLang="zh-CN" sz="2199" dirty="0">
                <a:solidFill>
                  <a:srgbClr val="000000"/>
                </a:solidFill>
                <a:latin typeface="Calibri" pitchFamily="18" charset="0"/>
                <a:cs typeface="Calibri" pitchFamily="18" charset="0"/>
              </a:rPr>
              <a:t>Elements</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of</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Statistical</a:t>
            </a:r>
            <a:r>
              <a:rPr lang="en-US" altLang="zh-CN" sz="2199" dirty="0">
                <a:latin typeface="Times New Roman" pitchFamily="18" charset="0"/>
                <a:cs typeface="Times New Roman" pitchFamily="18" charset="0"/>
              </a:rPr>
              <a:t> </a:t>
            </a:r>
          </a:p>
          <a:p>
            <a:pPr>
              <a:lnSpc>
                <a:spcPts val="2900"/>
              </a:lnSpc>
              <a:tabLst>
                <a:tab pos="228600" algn="l"/>
              </a:tabLst>
            </a:pPr>
            <a:r>
              <a:rPr lang="zh-CN" altLang="en-US" sz="2199" dirty="0">
                <a:solidFill>
                  <a:srgbClr val="000000"/>
                </a:solidFill>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Learning:</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Data</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Mining,</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Inference,</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and</a:t>
            </a:r>
            <a:r>
              <a:rPr lang="zh-CN" altLang="en-US" sz="2199" dirty="0">
                <a:solidFill>
                  <a:srgbClr val="000000"/>
                </a:solidFill>
                <a:latin typeface="Calibri" pitchFamily="18" charset="0"/>
                <a:cs typeface="Calibri" pitchFamily="18" charset="0"/>
              </a:rPr>
              <a:t> </a:t>
            </a:r>
            <a:r>
              <a:rPr lang="en-US" altLang="zh-CN" sz="2199" dirty="0">
                <a:solidFill>
                  <a:srgbClr val="000000"/>
                </a:solidFill>
                <a:latin typeface="Calibri" pitchFamily="18" charset="0"/>
                <a:cs typeface="Calibri" pitchFamily="18" charset="0"/>
              </a:rPr>
              <a:t>Prediction</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Springer</a:t>
            </a:r>
            <a:r>
              <a:rPr lang="en-US" altLang="zh-CN" sz="2199" dirty="0">
                <a:latin typeface="Times New Roman" pitchFamily="18" charset="0"/>
                <a:cs typeface="Times New Roman" pitchFamily="18" charset="0"/>
              </a:rPr>
              <a:t> </a:t>
            </a:r>
          </a:p>
        </p:txBody>
      </p:sp>
      <p:sp>
        <p:nvSpPr>
          <p:cNvPr id="14" name="TextBox 1"/>
          <p:cNvSpPr txBox="1"/>
          <p:nvPr/>
        </p:nvSpPr>
        <p:spPr>
          <a:xfrm>
            <a:off x="1138156" y="3351865"/>
            <a:ext cx="8740470" cy="413318"/>
          </a:xfrm>
          <a:prstGeom prst="rect">
            <a:avLst/>
          </a:prstGeom>
          <a:noFill/>
        </p:spPr>
        <p:txBody>
          <a:bodyPr wrap="none" lIns="0" tIns="0" rIns="0" rtlCol="0">
            <a:spAutoFit/>
          </a:bodyPr>
          <a:lstStyle/>
          <a:p>
            <a:pPr>
              <a:lnSpc>
                <a:spcPts val="3100"/>
              </a:lnSpc>
              <a:tabLst>
                <a:tab pos="228600" algn="l"/>
              </a:tabLst>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Dimitri</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Bertsekas</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and</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John</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Tsitsiklis.</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Neuro-dynamic</a:t>
            </a:r>
            <a:r>
              <a:rPr lang="zh-CN" altLang="en-US" sz="2199" dirty="0">
                <a:solidFill>
                  <a:srgbClr val="000000"/>
                </a:solidFill>
                <a:latin typeface="Calibri" pitchFamily="18" charset="0"/>
                <a:cs typeface="Calibri" pitchFamily="18" charset="0"/>
              </a:rPr>
              <a:t> </a:t>
            </a:r>
            <a:r>
              <a:rPr lang="en-US" altLang="zh-CN" sz="2199" dirty="0">
                <a:solidFill>
                  <a:srgbClr val="000000"/>
                </a:solidFill>
                <a:latin typeface="Calibri" pitchFamily="18" charset="0"/>
                <a:cs typeface="Calibri" pitchFamily="18" charset="0"/>
              </a:rPr>
              <a:t>programming</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t>
            </a:r>
            <a:r>
              <a:rPr lang="en-US" altLang="zh-CN" sz="2199" dirty="0">
                <a:latin typeface="Times New Roman" pitchFamily="18" charset="0"/>
                <a:cs typeface="Times New Roman" pitchFamily="18" charset="0"/>
              </a:rPr>
              <a:t> </a:t>
            </a:r>
            <a:endParaRPr lang="en-US" altLang="zh-CN" sz="2199" dirty="0">
              <a:solidFill>
                <a:srgbClr val="000000"/>
              </a:solidFill>
              <a:latin typeface="Calibri" pitchFamily="18" charset="0"/>
              <a:cs typeface="Calibri" pitchFamily="18" charset="0"/>
            </a:endParaRPr>
          </a:p>
        </p:txBody>
      </p:sp>
      <p:sp>
        <p:nvSpPr>
          <p:cNvPr id="16" name="TextBox 1"/>
          <p:cNvSpPr txBox="1"/>
          <p:nvPr/>
        </p:nvSpPr>
        <p:spPr>
          <a:xfrm>
            <a:off x="1110661" y="4043756"/>
            <a:ext cx="7741286" cy="394082"/>
          </a:xfrm>
          <a:prstGeom prst="rect">
            <a:avLst/>
          </a:prstGeom>
          <a:noFill/>
        </p:spPr>
        <p:txBody>
          <a:bodyPr wrap="none" lIns="0" tIns="0" rIns="0" rtlCol="0">
            <a:spAutoFit/>
          </a:bodyPr>
          <a:lstStyle/>
          <a:p>
            <a:pPr>
              <a:lnSpc>
                <a:spcPts val="2900"/>
              </a:lnSpc>
            </a:pP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Jeff</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Erickson</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Algorithms</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Independently</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published,</a:t>
            </a:r>
            <a:r>
              <a:rPr lang="en-US" altLang="zh-CN" sz="2199" dirty="0">
                <a:latin typeface="Times New Roman" pitchFamily="18" charset="0"/>
                <a:cs typeface="Times New Roman" pitchFamily="18" charset="0"/>
              </a:rPr>
              <a:t> </a:t>
            </a:r>
            <a:r>
              <a:rPr lang="en-US" altLang="zh-CN" sz="2199" dirty="0">
                <a:solidFill>
                  <a:srgbClr val="000000"/>
                </a:solidFill>
                <a:latin typeface="Calibri" pitchFamily="18" charset="0"/>
                <a:cs typeface="Calibri" pitchFamily="18" charset="0"/>
              </a:rPr>
              <a:t>2019</a:t>
            </a:r>
          </a:p>
        </p:txBody>
      </p:sp>
      <p:sp>
        <p:nvSpPr>
          <p:cNvPr id="19" name="TextBox 1">
            <a:extLst>
              <a:ext uri="{FF2B5EF4-FFF2-40B4-BE49-F238E27FC236}">
                <a16:creationId xmlns:a16="http://schemas.microsoft.com/office/drawing/2014/main" id="{E0855E27-A192-9F4B-8F0F-4F26FB01BAC9}"/>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15</a:t>
            </a:r>
          </a:p>
        </p:txBody>
      </p:sp>
      <p:sp>
        <p:nvSpPr>
          <p:cNvPr id="20" name="Freeform 3">
            <a:extLst>
              <a:ext uri="{FF2B5EF4-FFF2-40B4-BE49-F238E27FC236}">
                <a16:creationId xmlns:a16="http://schemas.microsoft.com/office/drawing/2014/main" id="{38454F4F-1CBE-1448-B3E1-B3B1A6E16C51}"/>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TextBox 1">
            <a:extLst>
              <a:ext uri="{FF2B5EF4-FFF2-40B4-BE49-F238E27FC236}">
                <a16:creationId xmlns:a16="http://schemas.microsoft.com/office/drawing/2014/main" id="{BA3C1A91-FE3C-A141-BF7C-C0974634C1BD}"/>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参考资料</a:t>
            </a:r>
            <a:endParaRPr lang="en-US" altLang="zh-CN" sz="3199" b="1" dirty="0">
              <a:solidFill>
                <a:srgbClr val="000000"/>
              </a:solidFill>
              <a:latin typeface="微软雅黑" pitchFamily="18" charset="0"/>
              <a:cs typeface="微软雅黑"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980640"/>
            <a:ext cx="7040389" cy="422160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 pos="9144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zh-CN" altLang="en-US" sz="2800" b="1" dirty="0">
                <a:solidFill>
                  <a:srgbClr val="000000"/>
                </a:solidFill>
                <a:latin typeface="微软雅黑" pitchFamily="18" charset="0"/>
                <a:cs typeface="Times New Roman" pitchFamily="18" charset="0"/>
              </a:rPr>
              <a:t>期末考试 </a:t>
            </a:r>
            <a:r>
              <a:rPr lang="en-US" altLang="zh-CN" sz="2800" b="1" dirty="0">
                <a:solidFill>
                  <a:srgbClr val="000000"/>
                </a:solidFill>
                <a:latin typeface="Calibri" pitchFamily="18" charset="0"/>
                <a:cs typeface="Calibri" pitchFamily="18" charset="0"/>
              </a:rPr>
              <a:t>50%</a:t>
            </a:r>
          </a:p>
          <a:p>
            <a:pPr>
              <a:lnSpc>
                <a:spcPts val="4700"/>
              </a:lnSpc>
              <a:tabLst>
                <a:tab pos="457200" algn="l"/>
                <a:tab pos="9144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大作业</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a:t>
            </a:r>
          </a:p>
          <a:p>
            <a:pPr>
              <a:lnSpc>
                <a:spcPts val="3600"/>
              </a:lnSpc>
              <a:tabLst>
                <a:tab pos="457200" algn="l"/>
                <a:tab pos="9144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独立完成一项基于机器学习的人工智能项目</a:t>
            </a:r>
          </a:p>
          <a:p>
            <a:pPr>
              <a:lnSpc>
                <a:spcPts val="3100"/>
              </a:lnSpc>
              <a:tabLst>
                <a:tab pos="457200" algn="l"/>
                <a:tab pos="914400" algn="l"/>
              </a:tabLst>
            </a:pPr>
            <a:r>
              <a:rPr lang="en-US" altLang="zh-CN" dirty="0"/>
              <a:t>		</a:t>
            </a:r>
            <a:r>
              <a:rPr lang="en-US" altLang="zh-CN" sz="2000" dirty="0">
                <a:solidFill>
                  <a:srgbClr val="000000"/>
                </a:solidFill>
                <a:latin typeface="Arial" pitchFamily="18" charset="0"/>
                <a:cs typeface="Arial" pitchFamily="18" charset="0"/>
              </a:rPr>
              <a:t>•</a:t>
            </a:r>
            <a:r>
              <a:rPr lang="en-US" altLang="zh-CN" sz="2000" dirty="0">
                <a:latin typeface="Times New Roman" pitchFamily="18" charset="0"/>
                <a:cs typeface="Times New Roman" pitchFamily="18" charset="0"/>
              </a:rPr>
              <a:t>  </a:t>
            </a:r>
            <a:r>
              <a:rPr lang="en-US" altLang="zh-CN" sz="2000" dirty="0">
                <a:solidFill>
                  <a:srgbClr val="000000"/>
                </a:solidFill>
                <a:latin typeface="微软雅黑" pitchFamily="18" charset="0"/>
                <a:cs typeface="微软雅黑" pitchFamily="18" charset="0"/>
              </a:rPr>
              <a:t>编写代码，分析模型与数据结果，撰写报告</a:t>
            </a:r>
          </a:p>
          <a:p>
            <a:pPr>
              <a:lnSpc>
                <a:spcPts val="3700"/>
              </a:lnSpc>
              <a:tabLst>
                <a:tab pos="457200" algn="l"/>
                <a:tab pos="9144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评价标准</a:t>
            </a:r>
          </a:p>
          <a:p>
            <a:pPr>
              <a:lnSpc>
                <a:spcPts val="3000"/>
              </a:lnSpc>
              <a:tabLst>
                <a:tab pos="457200" algn="l"/>
                <a:tab pos="914400" algn="l"/>
              </a:tabLst>
            </a:pPr>
            <a:r>
              <a:rPr lang="en-US" altLang="zh-CN" dirty="0"/>
              <a:t>		</a:t>
            </a:r>
            <a:r>
              <a:rPr lang="en-US" altLang="zh-CN" sz="2000" dirty="0">
                <a:solidFill>
                  <a:srgbClr val="000000"/>
                </a:solidFill>
                <a:latin typeface="Arial" pitchFamily="18" charset="0"/>
                <a:cs typeface="Arial" pitchFamily="18" charset="0"/>
              </a:rPr>
              <a:t>•</a:t>
            </a:r>
            <a:r>
              <a:rPr lang="en-US" altLang="zh-CN" sz="2000" dirty="0">
                <a:latin typeface="Times New Roman" pitchFamily="18" charset="0"/>
                <a:cs typeface="Times New Roman" pitchFamily="18" charset="0"/>
              </a:rPr>
              <a:t>  </a:t>
            </a:r>
            <a:r>
              <a:rPr lang="en-US" altLang="zh-CN" sz="2000" dirty="0">
                <a:solidFill>
                  <a:srgbClr val="000000"/>
                </a:solidFill>
                <a:latin typeface="微软雅黑" pitchFamily="18" charset="0"/>
                <a:cs typeface="微软雅黑" pitchFamily="18" charset="0"/>
              </a:rPr>
              <a:t>技术方案与创新性，工作完整度，报告撰写，源代码</a:t>
            </a:r>
          </a:p>
          <a:p>
            <a:pPr>
              <a:lnSpc>
                <a:spcPts val="3700"/>
              </a:lnSpc>
              <a:tabLst>
                <a:tab pos="457200" algn="l"/>
                <a:tab pos="9144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err="1">
                <a:solidFill>
                  <a:srgbClr val="000000"/>
                </a:solidFill>
                <a:latin typeface="微软雅黑" pitchFamily="18" charset="0"/>
                <a:cs typeface="微软雅黑" pitchFamily="18" charset="0"/>
              </a:rPr>
              <a:t>详情第</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12</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周左右公布</a:t>
            </a:r>
          </a:p>
          <a:p>
            <a:pPr>
              <a:lnSpc>
                <a:spcPts val="4500"/>
              </a:lnSpc>
              <a:tabLst>
                <a:tab pos="457200" algn="l"/>
                <a:tab pos="9144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平时成绩（含平时作业与上机）</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30%</a:t>
            </a:r>
          </a:p>
        </p:txBody>
      </p:sp>
      <p:sp>
        <p:nvSpPr>
          <p:cNvPr id="7" name="TextBox 1">
            <a:extLst>
              <a:ext uri="{FF2B5EF4-FFF2-40B4-BE49-F238E27FC236}">
                <a16:creationId xmlns:a16="http://schemas.microsoft.com/office/drawing/2014/main" id="{1457FCC1-BD52-D140-8136-AD99FA667F34}"/>
              </a:ext>
            </a:extLst>
          </p:cNvPr>
          <p:cNvSpPr txBox="1"/>
          <p:nvPr/>
        </p:nvSpPr>
        <p:spPr>
          <a:xfrm flipH="1">
            <a:off x="11602624" y="6477000"/>
            <a:ext cx="203120"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16</a:t>
            </a:r>
          </a:p>
        </p:txBody>
      </p:sp>
      <p:sp>
        <p:nvSpPr>
          <p:cNvPr id="8" name="Freeform 3">
            <a:extLst>
              <a:ext uri="{FF2B5EF4-FFF2-40B4-BE49-F238E27FC236}">
                <a16:creationId xmlns:a16="http://schemas.microsoft.com/office/drawing/2014/main" id="{37DD1A7C-996F-FC49-805B-C6456EBA4FF9}"/>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8140DA44-847E-7D40-8288-FC4AEAAAEB30}"/>
              </a:ext>
            </a:extLst>
          </p:cNvPr>
          <p:cNvSpPr txBox="1"/>
          <p:nvPr/>
        </p:nvSpPr>
        <p:spPr>
          <a:xfrm>
            <a:off x="472354" y="152400"/>
            <a:ext cx="7003520" cy="542393"/>
          </a:xfrm>
          <a:prstGeom prst="rect">
            <a:avLst/>
          </a:prstGeom>
          <a:noFill/>
        </p:spPr>
        <p:txBody>
          <a:bodyPr wrap="none" lIns="0" tIns="0" rIns="0" rtlCol="0">
            <a:spAutoFit/>
          </a:bodyPr>
          <a:lstStyle/>
          <a:p>
            <a:pPr>
              <a:lnSpc>
                <a:spcPts val="4200"/>
              </a:lnSpc>
            </a:pPr>
            <a:r>
              <a:rPr lang="zh-CN" altLang="en-US" sz="3199" b="1" dirty="0">
                <a:solidFill>
                  <a:srgbClr val="000000"/>
                </a:solidFill>
                <a:latin typeface="微软雅黑" pitchFamily="18" charset="0"/>
                <a:cs typeface="Times New Roman" pitchFamily="18" charset="0"/>
              </a:rPr>
              <a:t>考核及评分方式（春季学期，大三下）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762000" y="963358"/>
            <a:ext cx="10494861" cy="2737929"/>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作业须独立完成！</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200"/>
              </a:lnSpc>
              <a:tabLst>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本课程作业不允许使用人工智能辅助</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提示：在其它学术工作中，必须按要求披露任何使用人工智能辅助的情况</a:t>
            </a:r>
          </a:p>
        </p:txBody>
      </p:sp>
      <p:sp>
        <p:nvSpPr>
          <p:cNvPr id="8" name="TextBox 1">
            <a:extLst>
              <a:ext uri="{FF2B5EF4-FFF2-40B4-BE49-F238E27FC236}">
                <a16:creationId xmlns:a16="http://schemas.microsoft.com/office/drawing/2014/main" id="{90FDE275-FD75-5F48-9284-E15C88F0F3B7}"/>
              </a:ext>
            </a:extLst>
          </p:cNvPr>
          <p:cNvSpPr txBox="1"/>
          <p:nvPr/>
        </p:nvSpPr>
        <p:spPr>
          <a:xfrm flipH="1">
            <a:off x="11602624" y="6477000"/>
            <a:ext cx="2845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17</a:t>
            </a:r>
          </a:p>
        </p:txBody>
      </p:sp>
      <p:sp>
        <p:nvSpPr>
          <p:cNvPr id="9" name="Freeform 3">
            <a:extLst>
              <a:ext uri="{FF2B5EF4-FFF2-40B4-BE49-F238E27FC236}">
                <a16:creationId xmlns:a16="http://schemas.microsoft.com/office/drawing/2014/main" id="{268462D0-AD5C-684B-B5A7-805A628032A7}"/>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8B27B47F-7C3F-BA45-B358-02E7F91CBAD3}"/>
              </a:ext>
            </a:extLst>
          </p:cNvPr>
          <p:cNvSpPr txBox="1"/>
          <p:nvPr/>
        </p:nvSpPr>
        <p:spPr>
          <a:xfrm>
            <a:off x="472354" y="152400"/>
            <a:ext cx="2883803" cy="542393"/>
          </a:xfrm>
          <a:prstGeom prst="rect">
            <a:avLst/>
          </a:prstGeom>
          <a:noFill/>
        </p:spPr>
        <p:txBody>
          <a:bodyPr wrap="none" lIns="0" tIns="0" rIns="0" rtlCol="0">
            <a:spAutoFit/>
          </a:bodyPr>
          <a:lstStyle/>
          <a:p>
            <a:pPr>
              <a:lnSpc>
                <a:spcPts val="4200"/>
              </a:lnSpc>
              <a:tabLst>
                <a:tab pos="457200" algn="l"/>
                <a:tab pos="685800" algn="l"/>
              </a:tabLst>
            </a:pPr>
            <a:r>
              <a:rPr lang="en-US" altLang="zh-CN" sz="3199" b="1" dirty="0">
                <a:solidFill>
                  <a:srgbClr val="000000"/>
                </a:solidFill>
                <a:latin typeface="微软雅黑" pitchFamily="18" charset="0"/>
                <a:cs typeface="微软雅黑" pitchFamily="18" charset="0"/>
              </a:rPr>
              <a:t>考核及评分方式</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49700" y="2654301"/>
            <a:ext cx="4331314" cy="790601"/>
          </a:xfrm>
          <a:prstGeom prst="rect">
            <a:avLst/>
          </a:prstGeom>
          <a:noFill/>
        </p:spPr>
        <p:txBody>
          <a:bodyPr wrap="none" lIns="0" tIns="0" rIns="0" rtlCol="0">
            <a:spAutoFit/>
          </a:bodyPr>
          <a:lstStyle/>
          <a:p>
            <a:pPr>
              <a:lnSpc>
                <a:spcPts val="6300"/>
              </a:lnSpc>
            </a:pPr>
            <a:r>
              <a:rPr lang="en-US" altLang="zh-CN" sz="4800" b="1" dirty="0">
                <a:solidFill>
                  <a:srgbClr val="000000"/>
                </a:solidFill>
                <a:latin typeface="微软雅黑" pitchFamily="18" charset="0"/>
                <a:cs typeface="微软雅黑" pitchFamily="18" charset="0"/>
              </a:rPr>
              <a:t>什么是人工智能</a:t>
            </a:r>
          </a:p>
        </p:txBody>
      </p:sp>
      <p:sp>
        <p:nvSpPr>
          <p:cNvPr id="6" name="TextBox 1">
            <a:extLst>
              <a:ext uri="{FF2B5EF4-FFF2-40B4-BE49-F238E27FC236}">
                <a16:creationId xmlns:a16="http://schemas.microsoft.com/office/drawing/2014/main" id="{A63685BB-E049-C44A-89E6-AC8741543D41}"/>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3"/>
          <a:srcRect t="2390"/>
          <a:stretch/>
        </p:blipFill>
        <p:spPr bwMode="auto">
          <a:xfrm>
            <a:off x="1524000" y="869949"/>
            <a:ext cx="4775200" cy="3111500"/>
          </a:xfrm>
          <a:prstGeom prst="rect">
            <a:avLst/>
          </a:prstGeom>
          <a:noFill/>
        </p:spPr>
      </p:pic>
      <p:pic>
        <p:nvPicPr>
          <p:cNvPr id="6" name="Picture 3"/>
          <p:cNvPicPr>
            <a:picLocks noChangeAspect="1" noChangeArrowheads="1"/>
          </p:cNvPicPr>
          <p:nvPr/>
        </p:nvPicPr>
        <p:blipFill>
          <a:blip r:embed="rId4"/>
          <a:srcRect/>
          <a:stretch>
            <a:fillRect/>
          </a:stretch>
        </p:blipFill>
        <p:spPr bwMode="auto">
          <a:xfrm>
            <a:off x="7543800" y="1201093"/>
            <a:ext cx="3162300" cy="2921000"/>
          </a:xfrm>
          <a:prstGeom prst="rect">
            <a:avLst/>
          </a:prstGeom>
          <a:noFill/>
        </p:spPr>
      </p:pic>
      <p:pic>
        <p:nvPicPr>
          <p:cNvPr id="7" name="Picture 3"/>
          <p:cNvPicPr>
            <a:picLocks noChangeAspect="1" noChangeArrowheads="1"/>
          </p:cNvPicPr>
          <p:nvPr/>
        </p:nvPicPr>
        <p:blipFill>
          <a:blip r:embed="rId5"/>
          <a:srcRect/>
          <a:stretch>
            <a:fillRect/>
          </a:stretch>
        </p:blipFill>
        <p:spPr bwMode="auto">
          <a:xfrm>
            <a:off x="1524000" y="4432301"/>
            <a:ext cx="5194300" cy="2006600"/>
          </a:xfrm>
          <a:prstGeom prst="rect">
            <a:avLst/>
          </a:prstGeom>
          <a:noFill/>
        </p:spPr>
      </p:pic>
      <p:pic>
        <p:nvPicPr>
          <p:cNvPr id="8" name="Picture 3"/>
          <p:cNvPicPr>
            <a:picLocks noChangeAspect="1" noChangeArrowheads="1"/>
          </p:cNvPicPr>
          <p:nvPr/>
        </p:nvPicPr>
        <p:blipFill>
          <a:blip r:embed="rId6"/>
          <a:srcRect/>
          <a:stretch>
            <a:fillRect/>
          </a:stretch>
        </p:blipFill>
        <p:spPr bwMode="auto">
          <a:xfrm>
            <a:off x="7848600" y="4476751"/>
            <a:ext cx="2552700" cy="1917700"/>
          </a:xfrm>
          <a:prstGeom prst="rect">
            <a:avLst/>
          </a:prstGeom>
          <a:noFill/>
        </p:spPr>
      </p:pic>
      <p:sp>
        <p:nvSpPr>
          <p:cNvPr id="2" name="TextBox 1"/>
          <p:cNvSpPr txBox="1"/>
          <p:nvPr/>
        </p:nvSpPr>
        <p:spPr>
          <a:xfrm>
            <a:off x="914400" y="763010"/>
            <a:ext cx="3293850" cy="878767"/>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Artificial</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Intelligence</a:t>
            </a:r>
          </a:p>
        </p:txBody>
      </p:sp>
      <p:sp>
        <p:nvSpPr>
          <p:cNvPr id="12" name="Freeform 3">
            <a:extLst>
              <a:ext uri="{FF2B5EF4-FFF2-40B4-BE49-F238E27FC236}">
                <a16:creationId xmlns:a16="http://schemas.microsoft.com/office/drawing/2014/main" id="{EA34689D-ADD0-734C-A1F6-545F85AE7B4C}"/>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3A2B5F9A-FBD2-424D-A954-23C83A5F7EF2}"/>
              </a:ext>
            </a:extLst>
          </p:cNvPr>
          <p:cNvSpPr txBox="1"/>
          <p:nvPr/>
        </p:nvSpPr>
        <p:spPr>
          <a:xfrm>
            <a:off x="472354" y="152400"/>
            <a:ext cx="2883803"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什么是人工智能</a:t>
            </a:r>
          </a:p>
        </p:txBody>
      </p:sp>
      <p:sp>
        <p:nvSpPr>
          <p:cNvPr id="14" name="TextBox 1">
            <a:extLst>
              <a:ext uri="{FF2B5EF4-FFF2-40B4-BE49-F238E27FC236}">
                <a16:creationId xmlns:a16="http://schemas.microsoft.com/office/drawing/2014/main" id="{D8EECF8C-62A7-AE41-B5E9-E93296D95122}"/>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73512" y="1905000"/>
            <a:ext cx="3136900" cy="2095500"/>
          </a:xfrm>
          <a:prstGeom prst="rect">
            <a:avLst/>
          </a:prstGeom>
          <a:noFill/>
        </p:spPr>
      </p:pic>
      <p:pic>
        <p:nvPicPr>
          <p:cNvPr id="6" name="Picture 3"/>
          <p:cNvPicPr>
            <a:picLocks noChangeAspect="1" noChangeArrowheads="1"/>
          </p:cNvPicPr>
          <p:nvPr/>
        </p:nvPicPr>
        <p:blipFill>
          <a:blip r:embed="rId4"/>
          <a:srcRect/>
          <a:stretch>
            <a:fillRect/>
          </a:stretch>
        </p:blipFill>
        <p:spPr bwMode="auto">
          <a:xfrm>
            <a:off x="7673512" y="4152900"/>
            <a:ext cx="3136900" cy="1917700"/>
          </a:xfrm>
          <a:prstGeom prst="rect">
            <a:avLst/>
          </a:prstGeom>
          <a:noFill/>
        </p:spPr>
      </p:pic>
      <p:sp>
        <p:nvSpPr>
          <p:cNvPr id="7" name="TextBox 1"/>
          <p:cNvSpPr txBox="1"/>
          <p:nvPr/>
        </p:nvSpPr>
        <p:spPr>
          <a:xfrm>
            <a:off x="762000" y="819867"/>
            <a:ext cx="7428316" cy="5058372"/>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413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目前还没有一个被大家一致认同的精确的定义</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300"/>
              </a:lnSpc>
              <a:tabLst>
                <a:tab pos="2413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人工智能是使机器做那些</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人</a:t>
            </a:r>
            <a:r>
              <a:rPr lang="en-US" altLang="zh-CN" sz="2800" b="1" dirty="0">
                <a:solidFill>
                  <a:srgbClr val="000000"/>
                </a:solidFill>
                <a:latin typeface="微软雅黑" pitchFamily="18" charset="0"/>
                <a:cs typeface="微软雅黑" pitchFamily="18" charset="0"/>
              </a:rPr>
              <a:t>需要通过</a:t>
            </a:r>
          </a:p>
          <a:p>
            <a:pPr>
              <a:lnSpc>
                <a:spcPts val="4300"/>
              </a:lnSpc>
              <a:tabLst>
                <a:tab pos="241300" algn="l"/>
              </a:tabLst>
            </a:pPr>
            <a:r>
              <a:rPr lang="zh-CN" altLang="en-US" sz="2800" b="1" dirty="0">
                <a:solidFill>
                  <a:srgbClr val="000000"/>
                </a:solidFill>
                <a:latin typeface="微软雅黑" pitchFamily="18" charset="0"/>
                <a:cs typeface="Times New Roman" pitchFamily="18" charset="0"/>
              </a:rPr>
              <a:t> </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智能</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来做的事</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400"/>
              </a:lnSpc>
              <a:tabLst>
                <a:tab pos="2413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人工智能是使机器能</a:t>
            </a:r>
            <a:r>
              <a:rPr lang="en-US" altLang="zh-CN" sz="2800" dirty="0">
                <a:latin typeface="Times New Roman" pitchFamily="18" charset="0"/>
                <a:cs typeface="Times New Roman" pitchFamily="18" charset="0"/>
              </a:rPr>
              <a:t> </a:t>
            </a:r>
            <a:r>
              <a:rPr lang="en-US" altLang="zh-CN" sz="2800" b="1" dirty="0">
                <a:solidFill>
                  <a:srgbClr val="C00000"/>
                </a:solidFill>
                <a:latin typeface="微软雅黑" pitchFamily="18" charset="0"/>
                <a:cs typeface="微软雅黑" pitchFamily="18" charset="0"/>
              </a:rPr>
              <a:t>理性</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地完成任务，</a:t>
            </a:r>
          </a:p>
          <a:p>
            <a:pPr>
              <a:lnSpc>
                <a:spcPts val="4400"/>
              </a:lnSpc>
              <a:tabLst>
                <a:tab pos="2413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即感知外界环境，并且能采取行动，以最</a:t>
            </a:r>
          </a:p>
          <a:p>
            <a:pPr>
              <a:lnSpc>
                <a:spcPts val="4400"/>
              </a:lnSpc>
              <a:tabLst>
                <a:tab pos="2413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大化其完成目标的可能性</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p>
        </p:txBody>
      </p:sp>
      <p:sp>
        <p:nvSpPr>
          <p:cNvPr id="10" name="TextBox 1">
            <a:extLst>
              <a:ext uri="{FF2B5EF4-FFF2-40B4-BE49-F238E27FC236}">
                <a16:creationId xmlns:a16="http://schemas.microsoft.com/office/drawing/2014/main" id="{3D17F75D-9B6F-924A-A398-D91459115E05}"/>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20</a:t>
            </a:r>
          </a:p>
        </p:txBody>
      </p:sp>
      <p:sp>
        <p:nvSpPr>
          <p:cNvPr id="11" name="Freeform 3">
            <a:extLst>
              <a:ext uri="{FF2B5EF4-FFF2-40B4-BE49-F238E27FC236}">
                <a16:creationId xmlns:a16="http://schemas.microsoft.com/office/drawing/2014/main" id="{A1D0B98D-AC1A-7749-805B-89DB7F540631}"/>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ECC86A93-F652-C243-A2D7-5A7C8D791EF5}"/>
              </a:ext>
            </a:extLst>
          </p:cNvPr>
          <p:cNvSpPr txBox="1"/>
          <p:nvPr/>
        </p:nvSpPr>
        <p:spPr>
          <a:xfrm>
            <a:off x="472354" y="152400"/>
            <a:ext cx="2883803"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什么是人工智能</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561126" y="2077143"/>
            <a:ext cx="5534874" cy="3764101"/>
          </a:xfrm>
          <a:prstGeom prst="rect">
            <a:avLst/>
          </a:prstGeom>
          <a:noFill/>
        </p:spPr>
      </p:pic>
      <p:sp>
        <p:nvSpPr>
          <p:cNvPr id="2" name="TextBox 1"/>
          <p:cNvSpPr txBox="1"/>
          <p:nvPr/>
        </p:nvSpPr>
        <p:spPr>
          <a:xfrm>
            <a:off x="838200" y="802366"/>
            <a:ext cx="8210581" cy="867482"/>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图灵测试</a:t>
            </a:r>
            <a:r>
              <a:rPr lang="en-US" altLang="zh-CN" sz="2800" dirty="0">
                <a:latin typeface="Times New Roman" pitchFamily="18" charset="0"/>
                <a:cs typeface="Times New Roman" pitchFamily="18" charset="0"/>
              </a:rPr>
              <a:t> </a:t>
            </a:r>
            <a:r>
              <a:rPr lang="en-US" altLang="zh-CN" sz="2800" dirty="0">
                <a:solidFill>
                  <a:srgbClr val="000000"/>
                </a:solidFill>
                <a:latin typeface="微软雅黑" pitchFamily="18" charset="0"/>
                <a:cs typeface="微软雅黑" pitchFamily="18" charset="0"/>
              </a:rPr>
              <a:t>：能否通过问答，判断对方是人还是机器</a:t>
            </a:r>
          </a:p>
        </p:txBody>
      </p:sp>
      <p:sp>
        <p:nvSpPr>
          <p:cNvPr id="9" name="TextBox 1">
            <a:extLst>
              <a:ext uri="{FF2B5EF4-FFF2-40B4-BE49-F238E27FC236}">
                <a16:creationId xmlns:a16="http://schemas.microsoft.com/office/drawing/2014/main" id="{E70BF72B-C2FC-6B44-A863-E80081B0E73C}"/>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21</a:t>
            </a:r>
          </a:p>
        </p:txBody>
      </p:sp>
      <p:sp>
        <p:nvSpPr>
          <p:cNvPr id="10" name="Freeform 3">
            <a:extLst>
              <a:ext uri="{FF2B5EF4-FFF2-40B4-BE49-F238E27FC236}">
                <a16:creationId xmlns:a16="http://schemas.microsoft.com/office/drawing/2014/main" id="{DB2A87A1-B53D-624B-98AE-606138B652FC}"/>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7A29FE93-0DF2-D34E-BB71-072E3B4A0B82}"/>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什么是智能</a:t>
            </a:r>
          </a:p>
        </p:txBody>
      </p:sp>
      <p:sp>
        <p:nvSpPr>
          <p:cNvPr id="12" name="文本框 11">
            <a:extLst>
              <a:ext uri="{FF2B5EF4-FFF2-40B4-BE49-F238E27FC236}">
                <a16:creationId xmlns:a16="http://schemas.microsoft.com/office/drawing/2014/main" id="{C517ECB8-DD65-4440-9C30-8981BA37E02A}"/>
              </a:ext>
            </a:extLst>
          </p:cNvPr>
          <p:cNvSpPr txBox="1"/>
          <p:nvPr/>
        </p:nvSpPr>
        <p:spPr>
          <a:xfrm>
            <a:off x="6248400" y="1862755"/>
            <a:ext cx="5791200" cy="4192879"/>
          </a:xfrm>
          <a:prstGeom prst="rect">
            <a:avLst/>
          </a:prstGeom>
          <a:noFill/>
        </p:spPr>
        <p:txBody>
          <a:bodyPr wrap="square">
            <a:spAutoFit/>
          </a:bodyPr>
          <a:lstStyle/>
          <a:p>
            <a:pPr>
              <a:lnSpc>
                <a:spcPct val="150000"/>
              </a:lnSpc>
            </a:pPr>
            <a:r>
              <a:rPr lang="zh-CN" altLang="en-US" sz="2000" i="0">
                <a:effectLst/>
                <a:latin typeface="Microsoft YaHei" panose="020B0503020204020204" pitchFamily="34" charset="-122"/>
                <a:ea typeface="Microsoft YaHei" panose="020B0503020204020204" pitchFamily="34" charset="-122"/>
              </a:rPr>
              <a:t>图灵测试</a:t>
            </a:r>
            <a:r>
              <a:rPr lang="en-US" altLang="zh-CN" sz="2000" i="0">
                <a:effectLst/>
                <a:latin typeface="Microsoft YaHei" panose="020B0503020204020204" pitchFamily="34" charset="-122"/>
                <a:ea typeface="Microsoft YaHei" panose="020B0503020204020204" pitchFamily="34" charset="-122"/>
              </a:rPr>
              <a:t>(</a:t>
            </a:r>
            <a:r>
              <a:rPr lang="en-GB" altLang="zh-CN" sz="2000" i="0">
                <a:effectLst/>
                <a:latin typeface="Microsoft YaHei" panose="020B0503020204020204" pitchFamily="34" charset="-122"/>
                <a:ea typeface="Microsoft YaHei" panose="020B0503020204020204" pitchFamily="34" charset="-122"/>
              </a:rPr>
              <a:t>The Turing Test)</a:t>
            </a:r>
            <a:r>
              <a:rPr lang="zh-CN" altLang="en-US" sz="2000" b="1" i="0">
                <a:effectLst/>
                <a:latin typeface="Microsoft YaHei" panose="020B0503020204020204" pitchFamily="34" charset="-122"/>
                <a:ea typeface="Microsoft YaHei" panose="020B0503020204020204" pitchFamily="34" charset="-122"/>
              </a:rPr>
              <a:t>起源于</a:t>
            </a:r>
            <a:r>
              <a:rPr lang="zh-CN" altLang="en-US" sz="2000" i="0" strike="noStrike">
                <a:effectLst/>
                <a:latin typeface="Microsoft YaHei" panose="020B0503020204020204" pitchFamily="34" charset="-122"/>
                <a:ea typeface="Microsoft YaHei" panose="020B0503020204020204" pitchFamily="34" charset="-122"/>
              </a:rPr>
              <a:t>计算机科学</a:t>
            </a:r>
            <a:r>
              <a:rPr lang="zh-CN" altLang="en-US" sz="2000" i="0">
                <a:effectLst/>
                <a:latin typeface="Microsoft YaHei" panose="020B0503020204020204" pitchFamily="34" charset="-122"/>
                <a:ea typeface="Microsoft YaHei" panose="020B0503020204020204" pitchFamily="34" charset="-122"/>
              </a:rPr>
              <a:t>和密码学的先驱艾伦</a:t>
            </a:r>
            <a:r>
              <a:rPr lang="en-US" altLang="zh-CN" sz="2000" i="0">
                <a:effectLst/>
                <a:latin typeface="Microsoft YaHei" panose="020B0503020204020204" pitchFamily="34" charset="-122"/>
                <a:ea typeface="Microsoft YaHei" panose="020B0503020204020204" pitchFamily="34" charset="-122"/>
              </a:rPr>
              <a:t>·</a:t>
            </a:r>
            <a:r>
              <a:rPr lang="zh-CN" altLang="en-US" sz="2000" i="0">
                <a:effectLst/>
                <a:latin typeface="Microsoft YaHei" panose="020B0503020204020204" pitchFamily="34" charset="-122"/>
                <a:ea typeface="Microsoft YaHei" panose="020B0503020204020204" pitchFamily="34" charset="-122"/>
              </a:rPr>
              <a:t>麦席森</a:t>
            </a:r>
            <a:r>
              <a:rPr lang="en-US" altLang="zh-CN" sz="2000" i="0">
                <a:effectLst/>
                <a:latin typeface="Microsoft YaHei" panose="020B0503020204020204" pitchFamily="34" charset="-122"/>
                <a:ea typeface="Microsoft YaHei" panose="020B0503020204020204" pitchFamily="34" charset="-122"/>
              </a:rPr>
              <a:t>·</a:t>
            </a:r>
            <a:r>
              <a:rPr lang="zh-CN" altLang="en-US" sz="2000" i="0">
                <a:effectLst/>
                <a:latin typeface="Microsoft YaHei" panose="020B0503020204020204" pitchFamily="34" charset="-122"/>
                <a:ea typeface="Microsoft YaHei" panose="020B0503020204020204" pitchFamily="34" charset="-122"/>
              </a:rPr>
              <a:t>图灵发表于</a:t>
            </a:r>
            <a:r>
              <a:rPr lang="en-US" altLang="zh-CN" sz="2000" i="0">
                <a:effectLst/>
                <a:latin typeface="Microsoft YaHei" panose="020B0503020204020204" pitchFamily="34" charset="-122"/>
                <a:ea typeface="Microsoft YaHei" panose="020B0503020204020204" pitchFamily="34" charset="-122"/>
              </a:rPr>
              <a:t>1950</a:t>
            </a:r>
            <a:r>
              <a:rPr lang="zh-CN" altLang="en-US" sz="2000" i="0">
                <a:effectLst/>
                <a:latin typeface="Microsoft YaHei" panose="020B0503020204020204" pitchFamily="34" charset="-122"/>
                <a:ea typeface="Microsoft YaHei" panose="020B0503020204020204" pitchFamily="34" charset="-122"/>
              </a:rPr>
              <a:t>年的一篇论文</a:t>
            </a:r>
            <a:r>
              <a:rPr lang="en-US" altLang="zh-CN" sz="2000" i="0">
                <a:effectLst/>
                <a:latin typeface="Microsoft YaHei" panose="020B0503020204020204" pitchFamily="34" charset="-122"/>
                <a:ea typeface="Microsoft YaHei" panose="020B0503020204020204" pitchFamily="34" charset="-122"/>
              </a:rPr>
              <a:t>《</a:t>
            </a:r>
            <a:r>
              <a:rPr lang="zh-CN" altLang="en-US" sz="2000" i="0">
                <a:effectLst/>
                <a:latin typeface="Microsoft YaHei" panose="020B0503020204020204" pitchFamily="34" charset="-122"/>
                <a:ea typeface="Microsoft YaHei" panose="020B0503020204020204" pitchFamily="34" charset="-122"/>
              </a:rPr>
              <a:t>计算机器与智能</a:t>
            </a:r>
            <a:r>
              <a:rPr lang="en-US" altLang="zh-CN" sz="2000" i="0">
                <a:effectLst/>
                <a:latin typeface="Microsoft YaHei" panose="020B0503020204020204" pitchFamily="34" charset="-122"/>
                <a:ea typeface="Microsoft YaHei" panose="020B0503020204020204" pitchFamily="34" charset="-122"/>
              </a:rPr>
              <a:t>》</a:t>
            </a:r>
            <a:r>
              <a:rPr lang="zh-CN" altLang="en-US" sz="2000" i="0">
                <a:effectLst/>
                <a:latin typeface="Microsoft YaHei" panose="020B0503020204020204" pitchFamily="34" charset="-122"/>
                <a:ea typeface="Microsoft YaHei" panose="020B0503020204020204" pitchFamily="34" charset="-122"/>
              </a:rPr>
              <a:t>。</a:t>
            </a:r>
            <a:endParaRPr lang="en-US" altLang="zh-CN" sz="2000" i="0">
              <a:effectLst/>
              <a:latin typeface="Microsoft YaHei" panose="020B0503020204020204" pitchFamily="34" charset="-122"/>
              <a:ea typeface="Microsoft YaHei" panose="020B0503020204020204" pitchFamily="34" charset="-122"/>
            </a:endParaRPr>
          </a:p>
          <a:p>
            <a:pPr>
              <a:lnSpc>
                <a:spcPct val="150000"/>
              </a:lnSpc>
            </a:pPr>
            <a:endParaRPr lang="en-US" altLang="zh-CN" sz="2000" i="0">
              <a:effectLst/>
              <a:latin typeface="Microsoft YaHei" panose="020B0503020204020204" pitchFamily="34" charset="-122"/>
              <a:ea typeface="Microsoft YaHei" panose="020B0503020204020204" pitchFamily="34" charset="-122"/>
            </a:endParaRPr>
          </a:p>
          <a:p>
            <a:pPr>
              <a:lnSpc>
                <a:spcPct val="150000"/>
              </a:lnSpc>
            </a:pPr>
            <a:r>
              <a:rPr lang="zh-CN" altLang="en-US" sz="2000" b="1" i="0">
                <a:effectLst/>
                <a:latin typeface="Microsoft YaHei" panose="020B0503020204020204" pitchFamily="34" charset="-122"/>
                <a:ea typeface="Microsoft YaHei" panose="020B0503020204020204" pitchFamily="34" charset="-122"/>
              </a:rPr>
              <a:t>具体流程</a:t>
            </a:r>
            <a:r>
              <a:rPr lang="zh-CN" altLang="en-US" sz="2000" i="0">
                <a:effectLst/>
                <a:latin typeface="Microsoft YaHei" panose="020B0503020204020204" pitchFamily="34" charset="-122"/>
                <a:ea typeface="Microsoft YaHei" panose="020B0503020204020204" pitchFamily="34" charset="-122"/>
              </a:rPr>
              <a:t>：一名测试者写下自己的问题，随后将问题以纯文本的形式（如计算机屏幕和键盘）发送给另一个房间中的一个人与一台机器。测试者根据他们的回答来判断哪一个是真人，哪一个是机器。所有参与测试的人或</a:t>
            </a:r>
            <a:r>
              <a:rPr lang="zh-CN" altLang="en-US" sz="2000">
                <a:latin typeface="Microsoft YaHei" panose="020B0503020204020204" pitchFamily="34" charset="-122"/>
                <a:ea typeface="Microsoft YaHei" panose="020B0503020204020204" pitchFamily="34" charset="-122"/>
              </a:rPr>
              <a:t>机器</a:t>
            </a:r>
            <a:r>
              <a:rPr lang="zh-CN" altLang="en-US" sz="2000" i="0">
                <a:effectLst/>
                <a:latin typeface="Microsoft YaHei" panose="020B0503020204020204" pitchFamily="34" charset="-122"/>
                <a:ea typeface="Microsoft YaHei" panose="020B0503020204020204" pitchFamily="34" charset="-122"/>
              </a:rPr>
              <a:t>都会被分开。</a:t>
            </a:r>
            <a:endParaRPr lang="zh-CN" altLang="en-US" sz="2000">
              <a:latin typeface="Microsoft YaHei" panose="020B0503020204020204" pitchFamily="34" charset="-122"/>
              <a:ea typeface="Microsoft YaHei"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609600" y="2191619"/>
            <a:ext cx="5832612" cy="3613217"/>
          </a:xfrm>
          <a:prstGeom prst="rect">
            <a:avLst/>
          </a:prstGeom>
          <a:noFill/>
        </p:spPr>
      </p:pic>
      <p:sp>
        <p:nvSpPr>
          <p:cNvPr id="2" name="TextBox 1"/>
          <p:cNvSpPr txBox="1"/>
          <p:nvPr/>
        </p:nvSpPr>
        <p:spPr>
          <a:xfrm>
            <a:off x="914400" y="736600"/>
            <a:ext cx="8571257" cy="867482"/>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中文屋测试</a:t>
            </a:r>
            <a:r>
              <a:rPr lang="en-US" altLang="zh-CN" sz="2800" dirty="0">
                <a:latin typeface="Times New Roman" pitchFamily="18" charset="0"/>
                <a:cs typeface="Times New Roman" pitchFamily="18" charset="0"/>
              </a:rPr>
              <a:t> </a:t>
            </a:r>
            <a:r>
              <a:rPr lang="en-US" altLang="zh-CN" sz="2800" dirty="0">
                <a:solidFill>
                  <a:srgbClr val="000000"/>
                </a:solidFill>
                <a:latin typeface="微软雅黑" pitchFamily="18" charset="0"/>
                <a:cs typeface="微软雅黑" pitchFamily="18" charset="0"/>
              </a:rPr>
              <a:t>：通过图灵测试是否就真的有智能了呢？</a:t>
            </a:r>
          </a:p>
        </p:txBody>
      </p:sp>
      <p:sp>
        <p:nvSpPr>
          <p:cNvPr id="9" name="TextBox 1">
            <a:extLst>
              <a:ext uri="{FF2B5EF4-FFF2-40B4-BE49-F238E27FC236}">
                <a16:creationId xmlns:a16="http://schemas.microsoft.com/office/drawing/2014/main" id="{B85B9FD4-4129-6946-A2AF-B0D6C838C0BE}"/>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22</a:t>
            </a:r>
          </a:p>
        </p:txBody>
      </p:sp>
      <p:sp>
        <p:nvSpPr>
          <p:cNvPr id="10" name="Freeform 3">
            <a:extLst>
              <a:ext uri="{FF2B5EF4-FFF2-40B4-BE49-F238E27FC236}">
                <a16:creationId xmlns:a16="http://schemas.microsoft.com/office/drawing/2014/main" id="{10DE343C-05AB-7D45-830E-893C2B88C6C5}"/>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9348D709-9605-2846-859B-4F422973E30C}"/>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什么是智能</a:t>
            </a:r>
          </a:p>
        </p:txBody>
      </p:sp>
      <p:sp>
        <p:nvSpPr>
          <p:cNvPr id="13" name="文本框 12">
            <a:extLst>
              <a:ext uri="{FF2B5EF4-FFF2-40B4-BE49-F238E27FC236}">
                <a16:creationId xmlns:a16="http://schemas.microsoft.com/office/drawing/2014/main" id="{58F678AC-EAF2-6445-BD35-DC4EC49396D7}"/>
              </a:ext>
            </a:extLst>
          </p:cNvPr>
          <p:cNvSpPr txBox="1"/>
          <p:nvPr/>
        </p:nvSpPr>
        <p:spPr>
          <a:xfrm>
            <a:off x="6553200" y="1858890"/>
            <a:ext cx="5420925" cy="4198393"/>
          </a:xfrm>
          <a:prstGeom prst="rect">
            <a:avLst/>
          </a:prstGeom>
          <a:noFill/>
        </p:spPr>
        <p:txBody>
          <a:bodyPr wrap="square">
            <a:spAutoFit/>
          </a:bodyPr>
          <a:lstStyle/>
          <a:p>
            <a:pPr>
              <a:lnSpc>
                <a:spcPct val="150000"/>
              </a:lnSpc>
            </a:pPr>
            <a:r>
              <a:rPr lang="zh-CN" altLang="en-US">
                <a:latin typeface="Microsoft YaHei" panose="020B0503020204020204" pitchFamily="34" charset="-122"/>
                <a:ea typeface="Microsoft YaHei" panose="020B0503020204020204" pitchFamily="34" charset="-122"/>
              </a:rPr>
              <a:t>“中文屋”最早由美国哲学家</a:t>
            </a:r>
            <a:r>
              <a:rPr lang="en-GB" altLang="zh-CN">
                <a:latin typeface="Microsoft YaHei" panose="020B0503020204020204" pitchFamily="34" charset="-122"/>
                <a:ea typeface="Microsoft YaHei" panose="020B0503020204020204" pitchFamily="34" charset="-122"/>
              </a:rPr>
              <a:t>John Searle</a:t>
            </a:r>
            <a:r>
              <a:rPr lang="zh-CN" altLang="en-US">
                <a:latin typeface="Microsoft YaHei" panose="020B0503020204020204" pitchFamily="34" charset="-122"/>
                <a:ea typeface="Microsoft YaHei" panose="020B0503020204020204" pitchFamily="34" charset="-122"/>
              </a:rPr>
              <a:t>于</a:t>
            </a:r>
            <a:r>
              <a:rPr lang="en-US" altLang="zh-CN">
                <a:latin typeface="Microsoft YaHei" panose="020B0503020204020204" pitchFamily="34" charset="-122"/>
                <a:ea typeface="Microsoft YaHei" panose="020B0503020204020204" pitchFamily="34" charset="-122"/>
              </a:rPr>
              <a:t>20</a:t>
            </a:r>
            <a:r>
              <a:rPr lang="zh-CN" altLang="en-US">
                <a:latin typeface="Microsoft YaHei" panose="020B0503020204020204" pitchFamily="34" charset="-122"/>
                <a:ea typeface="Microsoft YaHei" panose="020B0503020204020204" pitchFamily="34" charset="-122"/>
              </a:rPr>
              <a:t>世纪</a:t>
            </a:r>
            <a:r>
              <a:rPr lang="en-US" altLang="zh-CN">
                <a:latin typeface="Microsoft YaHei" panose="020B0503020204020204" pitchFamily="34" charset="-122"/>
                <a:ea typeface="Microsoft YaHei" panose="020B0503020204020204" pitchFamily="34" charset="-122"/>
              </a:rPr>
              <a:t>80</a:t>
            </a:r>
            <a:r>
              <a:rPr lang="zh-CN" altLang="en-US">
                <a:latin typeface="Microsoft YaHei" panose="020B0503020204020204" pitchFamily="34" charset="-122"/>
                <a:ea typeface="Microsoft YaHei" panose="020B0503020204020204" pitchFamily="34" charset="-122"/>
              </a:rPr>
              <a:t>年代初提出。</a:t>
            </a:r>
            <a:endParaRPr lang="en-US" altLang="zh-CN">
              <a:latin typeface="Microsoft YaHei" panose="020B0503020204020204" pitchFamily="34" charset="-122"/>
              <a:ea typeface="Microsoft YaHei" panose="020B0503020204020204" pitchFamily="34" charset="-122"/>
            </a:endParaRPr>
          </a:p>
          <a:p>
            <a:pPr>
              <a:lnSpc>
                <a:spcPct val="150000"/>
              </a:lnSpc>
            </a:pPr>
            <a:r>
              <a:rPr lang="zh-CN" altLang="en-US" b="1">
                <a:latin typeface="Microsoft YaHei" panose="020B0503020204020204" pitchFamily="34" charset="-122"/>
                <a:ea typeface="Microsoft YaHei" panose="020B0503020204020204" pitchFamily="34" charset="-122"/>
              </a:rPr>
              <a:t>实验过程：</a:t>
            </a:r>
            <a:r>
              <a:rPr lang="zh-CN" altLang="en-US">
                <a:latin typeface="Microsoft YaHei" panose="020B0503020204020204" pitchFamily="34" charset="-122"/>
                <a:ea typeface="Microsoft YaHei" panose="020B0503020204020204" pitchFamily="34" charset="-122"/>
              </a:rPr>
              <a:t>想象自己是一位只说英语的人身处一个房间之中，这间房间除了门上有一个小窗口以外，全部都是封闭的。随身带着一本写有中文翻译程序的书。房间里还有足够的稿纸、铅笔和橱柜。写着中文的纸片通过小窗口被送入房间中。房间中的人可以使用他的书来翻译这些文字并用中文回复。虽然他完全不会中文，</a:t>
            </a:r>
            <a:r>
              <a:rPr lang="en-GB" altLang="zh-CN">
                <a:latin typeface="Microsoft YaHei" panose="020B0503020204020204" pitchFamily="34" charset="-122"/>
                <a:ea typeface="Microsoft YaHei" panose="020B0503020204020204" pitchFamily="34" charset="-122"/>
              </a:rPr>
              <a:t>Searle</a:t>
            </a:r>
            <a:r>
              <a:rPr lang="zh-CN" altLang="en-US">
                <a:latin typeface="Microsoft YaHei" panose="020B0503020204020204" pitchFamily="34" charset="-122"/>
                <a:ea typeface="Microsoft YaHei" panose="020B0503020204020204" pitchFamily="34" charset="-122"/>
              </a:rPr>
              <a:t>认为通过这个过程，房间里的人可以让房间外的人以为他会说流利的中文。</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349500" y="2108200"/>
            <a:ext cx="3276600" cy="1854200"/>
          </a:xfrm>
          <a:prstGeom prst="rect">
            <a:avLst/>
          </a:prstGeom>
          <a:noFill/>
        </p:spPr>
      </p:pic>
      <p:pic>
        <p:nvPicPr>
          <p:cNvPr id="6" name="Picture 3"/>
          <p:cNvPicPr>
            <a:picLocks noChangeAspect="1" noChangeArrowheads="1"/>
          </p:cNvPicPr>
          <p:nvPr/>
        </p:nvPicPr>
        <p:blipFill>
          <a:blip r:embed="rId4"/>
          <a:srcRect/>
          <a:stretch>
            <a:fillRect/>
          </a:stretch>
        </p:blipFill>
        <p:spPr bwMode="auto">
          <a:xfrm>
            <a:off x="2362200" y="4546600"/>
            <a:ext cx="3251200" cy="1854200"/>
          </a:xfrm>
          <a:prstGeom prst="rect">
            <a:avLst/>
          </a:prstGeom>
          <a:noFill/>
        </p:spPr>
      </p:pic>
      <p:pic>
        <p:nvPicPr>
          <p:cNvPr id="7" name="Picture 3"/>
          <p:cNvPicPr>
            <a:picLocks noChangeAspect="1" noChangeArrowheads="1"/>
          </p:cNvPicPr>
          <p:nvPr/>
        </p:nvPicPr>
        <p:blipFill>
          <a:blip r:embed="rId5"/>
          <a:srcRect/>
          <a:stretch>
            <a:fillRect/>
          </a:stretch>
        </p:blipFill>
        <p:spPr bwMode="auto">
          <a:xfrm>
            <a:off x="6565900" y="2108200"/>
            <a:ext cx="3276600" cy="1854200"/>
          </a:xfrm>
          <a:prstGeom prst="rect">
            <a:avLst/>
          </a:prstGeom>
          <a:noFill/>
        </p:spPr>
      </p:pic>
      <p:pic>
        <p:nvPicPr>
          <p:cNvPr id="8" name="Picture 3"/>
          <p:cNvPicPr>
            <a:picLocks noChangeAspect="1" noChangeArrowheads="1"/>
          </p:cNvPicPr>
          <p:nvPr/>
        </p:nvPicPr>
        <p:blipFill>
          <a:blip r:embed="rId6"/>
          <a:srcRect/>
          <a:stretch>
            <a:fillRect/>
          </a:stretch>
        </p:blipFill>
        <p:spPr bwMode="auto">
          <a:xfrm>
            <a:off x="6311900" y="4546600"/>
            <a:ext cx="3797300" cy="1905000"/>
          </a:xfrm>
          <a:prstGeom prst="rect">
            <a:avLst/>
          </a:prstGeom>
          <a:noFill/>
        </p:spPr>
      </p:pic>
      <p:sp>
        <p:nvSpPr>
          <p:cNvPr id="2" name="TextBox 1"/>
          <p:cNvSpPr txBox="1"/>
          <p:nvPr/>
        </p:nvSpPr>
        <p:spPr>
          <a:xfrm>
            <a:off x="697359" y="707329"/>
            <a:ext cx="3821559" cy="132087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理性：效用函数最大化</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关注结果和效果</a:t>
            </a:r>
          </a:p>
        </p:txBody>
      </p:sp>
      <p:sp>
        <p:nvSpPr>
          <p:cNvPr id="10" name="TextBox 1"/>
          <p:cNvSpPr txBox="1"/>
          <p:nvPr/>
        </p:nvSpPr>
        <p:spPr>
          <a:xfrm>
            <a:off x="2743200" y="4064000"/>
            <a:ext cx="2333972"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在游戏中取得高分或战胜对手</a:t>
            </a:r>
          </a:p>
        </p:txBody>
      </p:sp>
      <p:sp>
        <p:nvSpPr>
          <p:cNvPr id="11" name="TextBox 1"/>
          <p:cNvSpPr txBox="1"/>
          <p:nvPr/>
        </p:nvSpPr>
        <p:spPr>
          <a:xfrm>
            <a:off x="3441700" y="6464300"/>
            <a:ext cx="1077218"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翻译尽量准确</a:t>
            </a:r>
          </a:p>
        </p:txBody>
      </p:sp>
      <p:sp>
        <p:nvSpPr>
          <p:cNvPr id="12" name="TextBox 1"/>
          <p:cNvSpPr txBox="1"/>
          <p:nvPr/>
        </p:nvSpPr>
        <p:spPr>
          <a:xfrm>
            <a:off x="7124700" y="4013200"/>
            <a:ext cx="1974900"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正确预测蛋白质折叠形态</a:t>
            </a:r>
          </a:p>
        </p:txBody>
      </p:sp>
      <p:sp>
        <p:nvSpPr>
          <p:cNvPr id="13" name="TextBox 1"/>
          <p:cNvSpPr txBox="1"/>
          <p:nvPr/>
        </p:nvSpPr>
        <p:spPr>
          <a:xfrm>
            <a:off x="6959601" y="6477000"/>
            <a:ext cx="2513509"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在一定规则下实现安全自动驾驶</a:t>
            </a:r>
          </a:p>
        </p:txBody>
      </p:sp>
      <p:sp>
        <p:nvSpPr>
          <p:cNvPr id="16" name="TextBox 1">
            <a:extLst>
              <a:ext uri="{FF2B5EF4-FFF2-40B4-BE49-F238E27FC236}">
                <a16:creationId xmlns:a16="http://schemas.microsoft.com/office/drawing/2014/main" id="{4931B5D6-F16B-C441-8809-55CA3B575A54}"/>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23</a:t>
            </a:r>
          </a:p>
        </p:txBody>
      </p:sp>
      <p:sp>
        <p:nvSpPr>
          <p:cNvPr id="17" name="Freeform 3">
            <a:extLst>
              <a:ext uri="{FF2B5EF4-FFF2-40B4-BE49-F238E27FC236}">
                <a16:creationId xmlns:a16="http://schemas.microsoft.com/office/drawing/2014/main" id="{D0699375-ED2E-ED47-97F2-548CEDD53126}"/>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1">
            <a:extLst>
              <a:ext uri="{FF2B5EF4-FFF2-40B4-BE49-F238E27FC236}">
                <a16:creationId xmlns:a16="http://schemas.microsoft.com/office/drawing/2014/main" id="{DEDDA41E-FA70-494D-813B-D97E2FDA9563}"/>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什么是理性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609600" y="2590800"/>
            <a:ext cx="5002636" cy="3259782"/>
          </a:xfrm>
          <a:prstGeom prst="rect">
            <a:avLst/>
          </a:prstGeom>
          <a:noFill/>
        </p:spPr>
      </p:pic>
      <p:sp>
        <p:nvSpPr>
          <p:cNvPr id="2" name="TextBox 1"/>
          <p:cNvSpPr txBox="1"/>
          <p:nvPr/>
        </p:nvSpPr>
        <p:spPr>
          <a:xfrm>
            <a:off x="914400" y="809436"/>
            <a:ext cx="7467600" cy="1349024"/>
          </a:xfrm>
          <a:prstGeom prst="rect">
            <a:avLst/>
          </a:prstGeom>
          <a:noFill/>
        </p:spPr>
        <p:txBody>
          <a:bodyPr wrap="squar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有些人也把人工智能领域的一些基础技术称为</a:t>
            </a:r>
            <a:r>
              <a:rPr lang="en-US" altLang="zh-CN" sz="2800" dirty="0">
                <a:latin typeface="Times New Roman" pitchFamily="18" charset="0"/>
                <a:cs typeface="Times New Roman" pitchFamily="18" charset="0"/>
              </a:rPr>
              <a:t> </a:t>
            </a:r>
            <a:r>
              <a:rPr lang="en-US" altLang="zh-CN" sz="2800" b="1" dirty="0" err="1">
                <a:solidFill>
                  <a:srgbClr val="C00000"/>
                </a:solidFill>
                <a:latin typeface="微软雅黑" pitchFamily="18" charset="0"/>
                <a:cs typeface="微软雅黑" pitchFamily="18" charset="0"/>
              </a:rPr>
              <a:t>计算理性</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Computational</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Rationality</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Freeform 3">
            <a:extLst>
              <a:ext uri="{FF2B5EF4-FFF2-40B4-BE49-F238E27FC236}">
                <a16:creationId xmlns:a16="http://schemas.microsoft.com/office/drawing/2014/main" id="{E4DE373E-4B5E-E94A-95A2-1798CB0DEABC}"/>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4947F802-61F7-8348-865D-3240A1D1D5CB}"/>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什么是理性</a:t>
            </a:r>
          </a:p>
        </p:txBody>
      </p:sp>
      <p:sp>
        <p:nvSpPr>
          <p:cNvPr id="11" name="TextBox 1">
            <a:extLst>
              <a:ext uri="{FF2B5EF4-FFF2-40B4-BE49-F238E27FC236}">
                <a16:creationId xmlns:a16="http://schemas.microsoft.com/office/drawing/2014/main" id="{F821DD35-35D0-AB41-B5E5-40419D62E8AA}"/>
              </a:ext>
            </a:extLst>
          </p:cNvPr>
          <p:cNvSpPr txBox="1"/>
          <p:nvPr/>
        </p:nvSpPr>
        <p:spPr>
          <a:xfrm flipH="1">
            <a:off x="11602624" y="6435568"/>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24</a:t>
            </a:r>
          </a:p>
        </p:txBody>
      </p:sp>
      <p:sp>
        <p:nvSpPr>
          <p:cNvPr id="12" name="文本框 11">
            <a:extLst>
              <a:ext uri="{FF2B5EF4-FFF2-40B4-BE49-F238E27FC236}">
                <a16:creationId xmlns:a16="http://schemas.microsoft.com/office/drawing/2014/main" id="{801B8FF9-2C32-2348-9F13-6B9D6683A43B}"/>
              </a:ext>
            </a:extLst>
          </p:cNvPr>
          <p:cNvSpPr txBox="1"/>
          <p:nvPr/>
        </p:nvSpPr>
        <p:spPr>
          <a:xfrm>
            <a:off x="5789596" y="2124635"/>
            <a:ext cx="6097604" cy="753220"/>
          </a:xfrm>
          <a:prstGeom prst="rect">
            <a:avLst/>
          </a:prstGeom>
          <a:noFill/>
        </p:spPr>
        <p:txBody>
          <a:bodyPr wrap="square">
            <a:spAutoFit/>
          </a:bodyPr>
          <a:lstStyle/>
          <a:p>
            <a:pPr>
              <a:lnSpc>
                <a:spcPct val="125000"/>
              </a:lnSpc>
            </a:pPr>
            <a:r>
              <a:rPr lang="zh-CN" altLang="en-US" b="1" i="0">
                <a:solidFill>
                  <a:srgbClr val="0F1115"/>
                </a:solidFill>
                <a:effectLst/>
                <a:latin typeface="Microsoft YaHei" panose="020B0503020204020204" pitchFamily="34" charset="-122"/>
                <a:ea typeface="Microsoft YaHei" panose="020B0503020204020204" pitchFamily="34" charset="-122"/>
              </a:rPr>
              <a:t>计算理性的核心问题在于：</a:t>
            </a:r>
            <a:r>
              <a:rPr lang="zh-CN" altLang="en-US" i="0">
                <a:solidFill>
                  <a:srgbClr val="0F1115"/>
                </a:solidFill>
                <a:effectLst/>
                <a:latin typeface="Microsoft YaHei" panose="020B0503020204020204" pitchFamily="34" charset="-122"/>
                <a:ea typeface="Microsoft YaHei" panose="020B0503020204020204" pitchFamily="34" charset="-122"/>
              </a:rPr>
              <a:t>在有限的时间、脑力或算力下，什么才是“最好”的决策？</a:t>
            </a:r>
            <a:endParaRPr lang="zh-CN" altLang="en-US">
              <a:latin typeface="Microsoft YaHei" panose="020B0503020204020204" pitchFamily="34" charset="-122"/>
              <a:ea typeface="Microsoft YaHei" panose="020B0503020204020204" pitchFamily="34" charset="-122"/>
            </a:endParaRPr>
          </a:p>
        </p:txBody>
      </p:sp>
      <p:sp>
        <p:nvSpPr>
          <p:cNvPr id="13" name="文本框 12">
            <a:extLst>
              <a:ext uri="{FF2B5EF4-FFF2-40B4-BE49-F238E27FC236}">
                <a16:creationId xmlns:a16="http://schemas.microsoft.com/office/drawing/2014/main" id="{13E4CE9B-31BE-0B47-9BE7-5F80A27B9199}"/>
              </a:ext>
            </a:extLst>
          </p:cNvPr>
          <p:cNvSpPr txBox="1"/>
          <p:nvPr/>
        </p:nvSpPr>
        <p:spPr>
          <a:xfrm>
            <a:off x="5789596" y="3037862"/>
            <a:ext cx="6097604" cy="1445717"/>
          </a:xfrm>
          <a:prstGeom prst="rect">
            <a:avLst/>
          </a:prstGeom>
          <a:noFill/>
        </p:spPr>
        <p:txBody>
          <a:bodyPr wrap="square">
            <a:spAutoFit/>
          </a:bodyPr>
          <a:lstStyle/>
          <a:p>
            <a:pPr>
              <a:lnSpc>
                <a:spcPct val="125000"/>
              </a:lnSpc>
            </a:pPr>
            <a:r>
              <a:rPr lang="zh-CN" altLang="en-US" b="1" i="0">
                <a:solidFill>
                  <a:srgbClr val="0F1115"/>
                </a:solidFill>
                <a:effectLst/>
                <a:latin typeface="Microsoft YaHei" panose="020B0503020204020204" pitchFamily="34" charset="-122"/>
                <a:ea typeface="Microsoft YaHei" panose="020B0503020204020204" pitchFamily="34" charset="-122"/>
              </a:rPr>
              <a:t>完美理性（</a:t>
            </a:r>
            <a:r>
              <a:rPr lang="en-GB" altLang="zh-CN" b="1" i="0">
                <a:solidFill>
                  <a:srgbClr val="0F1115"/>
                </a:solidFill>
                <a:effectLst/>
                <a:latin typeface="Microsoft YaHei" panose="020B0503020204020204" pitchFamily="34" charset="-122"/>
                <a:ea typeface="Microsoft YaHei" panose="020B0503020204020204" pitchFamily="34" charset="-122"/>
              </a:rPr>
              <a:t>Perfect Rationality</a:t>
            </a:r>
            <a:r>
              <a:rPr lang="zh-CN" altLang="en-GB" b="1" i="0">
                <a:solidFill>
                  <a:srgbClr val="0F1115"/>
                </a:solidFill>
                <a:effectLst/>
                <a:latin typeface="Microsoft YaHei" panose="020B0503020204020204" pitchFamily="34" charset="-122"/>
                <a:ea typeface="Microsoft YaHei" panose="020B0503020204020204" pitchFamily="34" charset="-122"/>
              </a:rPr>
              <a:t>）</a:t>
            </a:r>
            <a:r>
              <a:rPr lang="zh-CN" altLang="en-US" b="1" i="0">
                <a:solidFill>
                  <a:srgbClr val="0F1115"/>
                </a:solidFill>
                <a:effectLst/>
                <a:latin typeface="Microsoft YaHei" panose="020B0503020204020204" pitchFamily="34" charset="-122"/>
                <a:ea typeface="Microsoft YaHei" panose="020B0503020204020204" pitchFamily="34" charset="-122"/>
              </a:rPr>
              <a:t>：</a:t>
            </a:r>
            <a:r>
              <a:rPr lang="zh-CN" altLang="en-US" i="0">
                <a:solidFill>
                  <a:srgbClr val="0F1115"/>
                </a:solidFill>
                <a:effectLst/>
                <a:latin typeface="Microsoft YaHei" panose="020B0503020204020204" pitchFamily="34" charset="-122"/>
                <a:ea typeface="Microsoft YaHei" panose="020B0503020204020204" pitchFamily="34" charset="-122"/>
              </a:rPr>
              <a:t>智能体拥有无限的计算能力、无限的时间和完美的信息。它总是能通过严密的逻辑推导，选择那个能最大化其期望效用（</a:t>
            </a:r>
            <a:r>
              <a:rPr lang="en-GB" altLang="zh-CN" i="0">
                <a:solidFill>
                  <a:srgbClr val="0F1115"/>
                </a:solidFill>
                <a:effectLst/>
                <a:latin typeface="Microsoft YaHei" panose="020B0503020204020204" pitchFamily="34" charset="-122"/>
                <a:ea typeface="Microsoft YaHei" panose="020B0503020204020204" pitchFamily="34" charset="-122"/>
              </a:rPr>
              <a:t>Expected Utility</a:t>
            </a:r>
            <a:r>
              <a:rPr lang="zh-CN" altLang="en-GB" i="0">
                <a:solidFill>
                  <a:srgbClr val="0F1115"/>
                </a:solidFill>
                <a:effectLst/>
                <a:latin typeface="Microsoft YaHei" panose="020B0503020204020204" pitchFamily="34" charset="-122"/>
                <a:ea typeface="Microsoft YaHei" panose="020B0503020204020204" pitchFamily="34" charset="-122"/>
              </a:rPr>
              <a:t>）</a:t>
            </a:r>
            <a:r>
              <a:rPr lang="zh-CN" altLang="en-US" i="0">
                <a:solidFill>
                  <a:srgbClr val="0F1115"/>
                </a:solidFill>
                <a:effectLst/>
                <a:latin typeface="Microsoft YaHei" panose="020B0503020204020204" pitchFamily="34" charset="-122"/>
                <a:ea typeface="Microsoft YaHei" panose="020B0503020204020204" pitchFamily="34" charset="-122"/>
              </a:rPr>
              <a:t>的绝对最优解。</a:t>
            </a:r>
            <a:r>
              <a:rPr lang="zh-CN" altLang="en-US" b="1" i="0">
                <a:solidFill>
                  <a:srgbClr val="FF0000"/>
                </a:solidFill>
                <a:effectLst/>
                <a:latin typeface="Microsoft YaHei" panose="020B0503020204020204" pitchFamily="34" charset="-122"/>
                <a:ea typeface="Microsoft YaHei" panose="020B0503020204020204" pitchFamily="34" charset="-122"/>
              </a:rPr>
              <a:t>忽略了计算的成本和可行性。</a:t>
            </a:r>
            <a:endParaRPr lang="zh-CN" altLang="en-US" b="1">
              <a:solidFill>
                <a:srgbClr val="FF0000"/>
              </a:solidFill>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85052E12-B6E2-9B47-A70D-5E8FFE75F496}"/>
              </a:ext>
            </a:extLst>
          </p:cNvPr>
          <p:cNvSpPr txBox="1"/>
          <p:nvPr/>
        </p:nvSpPr>
        <p:spPr>
          <a:xfrm>
            <a:off x="5790398" y="4567386"/>
            <a:ext cx="6097604" cy="2138214"/>
          </a:xfrm>
          <a:prstGeom prst="rect">
            <a:avLst/>
          </a:prstGeom>
          <a:noFill/>
        </p:spPr>
        <p:txBody>
          <a:bodyPr wrap="square">
            <a:spAutoFit/>
          </a:bodyPr>
          <a:lstStyle/>
          <a:p>
            <a:pPr>
              <a:lnSpc>
                <a:spcPct val="125000"/>
              </a:lnSpc>
            </a:pPr>
            <a:r>
              <a:rPr lang="zh-CN" altLang="en-US" b="1" i="0">
                <a:solidFill>
                  <a:srgbClr val="0F1115"/>
                </a:solidFill>
                <a:effectLst/>
                <a:latin typeface="Microsoft YaHei" panose="020B0503020204020204" pitchFamily="34" charset="-122"/>
                <a:ea typeface="Microsoft YaHei" panose="020B0503020204020204" pitchFamily="34" charset="-122"/>
              </a:rPr>
              <a:t>有限理性（</a:t>
            </a:r>
            <a:r>
              <a:rPr lang="en-GB" altLang="zh-CN" b="1" i="0">
                <a:solidFill>
                  <a:srgbClr val="0F1115"/>
                </a:solidFill>
                <a:effectLst/>
                <a:latin typeface="Microsoft YaHei" panose="020B0503020204020204" pitchFamily="34" charset="-122"/>
                <a:ea typeface="Microsoft YaHei" panose="020B0503020204020204" pitchFamily="34" charset="-122"/>
              </a:rPr>
              <a:t>Bounded Rationality</a:t>
            </a:r>
            <a:r>
              <a:rPr lang="zh-CN" altLang="en-GB" b="1" i="0">
                <a:solidFill>
                  <a:srgbClr val="0F1115"/>
                </a:solidFill>
                <a:effectLst/>
                <a:latin typeface="Microsoft YaHei" panose="020B0503020204020204" pitchFamily="34" charset="-122"/>
                <a:ea typeface="Microsoft YaHei" panose="020B0503020204020204" pitchFamily="34" charset="-122"/>
              </a:rPr>
              <a:t>）</a:t>
            </a:r>
            <a:r>
              <a:rPr lang="zh-CN" altLang="en-US" b="1" i="0">
                <a:solidFill>
                  <a:srgbClr val="0F1115"/>
                </a:solidFill>
                <a:effectLst/>
                <a:latin typeface="Microsoft YaHei" panose="020B0503020204020204" pitchFamily="34" charset="-122"/>
                <a:ea typeface="Microsoft YaHei" panose="020B0503020204020204" pitchFamily="34" charset="-122"/>
              </a:rPr>
              <a:t>：</a:t>
            </a:r>
            <a:r>
              <a:rPr lang="zh-CN" altLang="en-US" i="0">
                <a:solidFill>
                  <a:srgbClr val="0F1115"/>
                </a:solidFill>
                <a:effectLst/>
                <a:latin typeface="Microsoft YaHei" panose="020B0503020204020204" pitchFamily="34" charset="-122"/>
                <a:ea typeface="Microsoft YaHei" panose="020B0503020204020204" pitchFamily="34" charset="-122"/>
              </a:rPr>
              <a:t>由于人类的认知能力（如注意力、记忆力、处理速度）是有限的，因此我们无法找到最优解，只能寻求满意解（</a:t>
            </a:r>
            <a:r>
              <a:rPr lang="en-GB" altLang="zh-CN" i="0">
                <a:solidFill>
                  <a:srgbClr val="0F1115"/>
                </a:solidFill>
                <a:effectLst/>
                <a:latin typeface="Microsoft YaHei" panose="020B0503020204020204" pitchFamily="34" charset="-122"/>
                <a:ea typeface="Microsoft YaHei" panose="020B0503020204020204" pitchFamily="34" charset="-122"/>
              </a:rPr>
              <a:t>Satisficing</a:t>
            </a:r>
            <a:r>
              <a:rPr lang="zh-CN" altLang="en-GB" i="0">
                <a:solidFill>
                  <a:srgbClr val="0F1115"/>
                </a:solidFill>
                <a:effectLst/>
                <a:latin typeface="Microsoft YaHei" panose="020B0503020204020204" pitchFamily="34" charset="-122"/>
                <a:ea typeface="Microsoft YaHei" panose="020B0503020204020204" pitchFamily="34" charset="-122"/>
              </a:rPr>
              <a:t>）。</a:t>
            </a:r>
            <a:r>
              <a:rPr lang="zh-CN" altLang="en-US" i="0">
                <a:solidFill>
                  <a:srgbClr val="0F1115"/>
                </a:solidFill>
                <a:effectLst/>
                <a:latin typeface="Microsoft YaHei" panose="020B0503020204020204" pitchFamily="34" charset="-122"/>
                <a:ea typeface="Microsoft YaHei" panose="020B0503020204020204" pitchFamily="34" charset="-122"/>
              </a:rPr>
              <a:t>即，找到一个“足够好”的方案就停止搜索。</a:t>
            </a:r>
            <a:r>
              <a:rPr lang="zh-CN" altLang="en-US" b="1">
                <a:solidFill>
                  <a:srgbClr val="FF0000"/>
                </a:solidFill>
                <a:latin typeface="Microsoft YaHei" panose="020B0503020204020204" pitchFamily="34" charset="-122"/>
                <a:ea typeface="Microsoft YaHei" panose="020B0503020204020204" pitchFamily="34" charset="-122"/>
              </a:rPr>
              <a:t>其为描</a:t>
            </a:r>
            <a:r>
              <a:rPr lang="zh-CN" altLang="en-US" b="1" i="0">
                <a:solidFill>
                  <a:srgbClr val="FF0000"/>
                </a:solidFill>
                <a:effectLst/>
                <a:latin typeface="Microsoft YaHei" panose="020B0503020204020204" pitchFamily="34" charset="-122"/>
                <a:ea typeface="Microsoft YaHei" panose="020B0503020204020204" pitchFamily="34" charset="-122"/>
              </a:rPr>
              <a:t>述性理论（描述人类实际如何决策），而非规范性理论（规定应该如何最优地决策 </a:t>
            </a:r>
            <a:r>
              <a:rPr lang="en-GB" altLang="zh-CN" b="1" i="0">
                <a:solidFill>
                  <a:srgbClr val="FF0000"/>
                </a:solidFill>
                <a:effectLst/>
                <a:latin typeface="Microsoft YaHei" panose="020B0503020204020204" pitchFamily="34" charset="-122"/>
                <a:ea typeface="Microsoft YaHei" panose="020B0503020204020204" pitchFamily="34" charset="-122"/>
              </a:rPr>
              <a:t>given </a:t>
            </a:r>
            <a:r>
              <a:rPr lang="zh-CN" altLang="en-US" b="1" i="0">
                <a:solidFill>
                  <a:srgbClr val="FF0000"/>
                </a:solidFill>
                <a:effectLst/>
                <a:latin typeface="Microsoft YaHei" panose="020B0503020204020204" pitchFamily="34" charset="-122"/>
                <a:ea typeface="Microsoft YaHei" panose="020B0503020204020204" pitchFamily="34" charset="-122"/>
              </a:rPr>
              <a:t>限制）。</a:t>
            </a:r>
            <a:endParaRPr lang="zh-CN" altLang="en-US" b="1">
              <a:solidFill>
                <a:srgbClr val="FF0000"/>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2425700" y="2654301"/>
            <a:ext cx="7425110" cy="790601"/>
          </a:xfrm>
          <a:prstGeom prst="rect">
            <a:avLst/>
          </a:prstGeom>
          <a:noFill/>
        </p:spPr>
        <p:txBody>
          <a:bodyPr wrap="none" lIns="0" tIns="0" rIns="0" rtlCol="0">
            <a:spAutoFit/>
          </a:bodyPr>
          <a:lstStyle/>
          <a:p>
            <a:pPr>
              <a:lnSpc>
                <a:spcPts val="6300"/>
              </a:lnSpc>
            </a:pPr>
            <a:r>
              <a:rPr lang="en-US" altLang="zh-CN" sz="4800" b="1" dirty="0">
                <a:solidFill>
                  <a:srgbClr val="000000"/>
                </a:solidFill>
                <a:latin typeface="微软雅黑" pitchFamily="18" charset="0"/>
                <a:cs typeface="微软雅黑" pitchFamily="18" charset="0"/>
              </a:rPr>
              <a:t>人工智能的发展历史及现状</a:t>
            </a:r>
          </a:p>
        </p:txBody>
      </p:sp>
      <p:sp>
        <p:nvSpPr>
          <p:cNvPr id="7" name="TextBox 1">
            <a:extLst>
              <a:ext uri="{FF2B5EF4-FFF2-40B4-BE49-F238E27FC236}">
                <a16:creationId xmlns:a16="http://schemas.microsoft.com/office/drawing/2014/main" id="{76011A83-DF8E-BE47-8EE5-EBFF2DB27AEA}"/>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4928211" y="1094064"/>
            <a:ext cx="4182234" cy="5589464"/>
          </a:xfrm>
          <a:prstGeom prst="rect">
            <a:avLst/>
          </a:prstGeom>
          <a:noFill/>
        </p:spPr>
      </p:pic>
      <p:sp>
        <p:nvSpPr>
          <p:cNvPr id="6" name="TextBox 1"/>
          <p:cNvSpPr txBox="1"/>
          <p:nvPr/>
        </p:nvSpPr>
        <p:spPr>
          <a:xfrm>
            <a:off x="9144001" y="1524000"/>
            <a:ext cx="2743199" cy="2493888"/>
          </a:xfrm>
          <a:prstGeom prst="rect">
            <a:avLst/>
          </a:prstGeom>
          <a:noFill/>
        </p:spPr>
        <p:txBody>
          <a:bodyPr wrap="square" lIns="0" tIns="0" rIns="0" rtlCol="0">
            <a:spAutoFit/>
          </a:bodyPr>
          <a:lstStyle/>
          <a:p>
            <a:pPr algn="ctr">
              <a:lnSpc>
                <a:spcPts val="1000"/>
              </a:lnSpc>
            </a:pPr>
            <a:endParaRPr lang="en-US" altLang="zh-CN" dirty="0"/>
          </a:p>
          <a:p>
            <a:pPr algn="ctr">
              <a:lnSpc>
                <a:spcPts val="1000"/>
              </a:lnSpc>
            </a:pPr>
            <a:endParaRPr lang="en-US" altLang="zh-CN" dirty="0"/>
          </a:p>
          <a:p>
            <a:pPr algn="ctr">
              <a:lnSpc>
                <a:spcPts val="4400"/>
              </a:lnSpc>
              <a:tabLst>
                <a:tab pos="228600" algn="l"/>
                <a:tab pos="457200" algn="l"/>
                <a:tab pos="685800" algn="l"/>
              </a:tabLst>
            </a:pPr>
            <a:r>
              <a:rPr lang="en-US" altLang="zh-CN" sz="2400" dirty="0" err="1">
                <a:solidFill>
                  <a:srgbClr val="000000"/>
                </a:solidFill>
                <a:latin typeface="微软雅黑" pitchFamily="18" charset="0"/>
                <a:cs typeface="微软雅黑" pitchFamily="18" charset="0"/>
              </a:rPr>
              <a:t>达特茅斯会议</a:t>
            </a:r>
            <a:r>
              <a:rPr lang="zh-CN" altLang="en-US" sz="2400" dirty="0">
                <a:solidFill>
                  <a:srgbClr val="000000"/>
                </a:solidFill>
                <a:latin typeface="微软雅黑" pitchFamily="18" charset="0"/>
                <a:cs typeface="微软雅黑" pitchFamily="18" charset="0"/>
              </a:rPr>
              <a:t>主题：</a:t>
            </a:r>
            <a:endParaRPr lang="en-US" altLang="zh-CN" sz="2400" dirty="0">
              <a:solidFill>
                <a:srgbClr val="000000"/>
              </a:solidFill>
              <a:latin typeface="微软雅黑" pitchFamily="18" charset="0"/>
              <a:cs typeface="微软雅黑" pitchFamily="18" charset="0"/>
            </a:endParaRPr>
          </a:p>
          <a:p>
            <a:pPr algn="ctr">
              <a:lnSpc>
                <a:spcPts val="4400"/>
              </a:lnSpc>
              <a:tabLst>
                <a:tab pos="228600" algn="l"/>
                <a:tab pos="457200" algn="l"/>
                <a:tab pos="685800" algn="l"/>
              </a:tabLst>
            </a:pPr>
            <a:r>
              <a:rPr lang="zh-CN" altLang="en-US" sz="2400" dirty="0">
                <a:solidFill>
                  <a:srgbClr val="000000"/>
                </a:solidFill>
                <a:latin typeface="微软雅黑" pitchFamily="18" charset="0"/>
                <a:cs typeface="Calibri" pitchFamily="18" charset="0"/>
              </a:rPr>
              <a:t>“用机器来模仿人类学习以及其他方面的智能”</a:t>
            </a:r>
            <a:endParaRPr lang="en-US" altLang="zh-CN" sz="2000" dirty="0">
              <a:solidFill>
                <a:srgbClr val="000000"/>
              </a:solidFill>
              <a:latin typeface="Calibri" pitchFamily="18" charset="0"/>
              <a:cs typeface="Calibri" pitchFamily="18" charset="0"/>
            </a:endParaRPr>
          </a:p>
        </p:txBody>
      </p:sp>
      <p:sp>
        <p:nvSpPr>
          <p:cNvPr id="9" name="Freeform 3">
            <a:extLst>
              <a:ext uri="{FF2B5EF4-FFF2-40B4-BE49-F238E27FC236}">
                <a16:creationId xmlns:a16="http://schemas.microsoft.com/office/drawing/2014/main" id="{C11EEF3A-BE31-0D4A-9A41-4DAC6B3B477C}"/>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968B0C6B-235D-C346-8EFF-B4358725C9DC}"/>
              </a:ext>
            </a:extLst>
          </p:cNvPr>
          <p:cNvSpPr txBox="1"/>
          <p:nvPr/>
        </p:nvSpPr>
        <p:spPr>
          <a:xfrm>
            <a:off x="472354" y="152400"/>
            <a:ext cx="3707746" cy="542393"/>
          </a:xfrm>
          <a:prstGeom prst="rect">
            <a:avLst/>
          </a:prstGeom>
          <a:noFill/>
        </p:spPr>
        <p:txBody>
          <a:bodyPr wrap="none" lIns="0" tIns="0" rIns="0" rtlCol="0">
            <a:spAutoFit/>
          </a:bodyPr>
          <a:lstStyle/>
          <a:p>
            <a:pPr>
              <a:lnSpc>
                <a:spcPts val="4200"/>
              </a:lnSpc>
              <a:tabLst>
                <a:tab pos="228600" algn="l"/>
                <a:tab pos="457200" algn="l"/>
                <a:tab pos="685800" algn="l"/>
              </a:tabLst>
            </a:pPr>
            <a:r>
              <a:rPr lang="en-US" altLang="zh-CN" sz="3199" b="1" dirty="0">
                <a:solidFill>
                  <a:srgbClr val="000000"/>
                </a:solidFill>
                <a:latin typeface="微软雅黑" pitchFamily="18" charset="0"/>
                <a:cs typeface="微软雅黑" pitchFamily="18" charset="0"/>
              </a:rPr>
              <a:t>现代人工智能的起源</a:t>
            </a:r>
          </a:p>
        </p:txBody>
      </p:sp>
      <p:sp>
        <p:nvSpPr>
          <p:cNvPr id="11" name="TextBox 1">
            <a:extLst>
              <a:ext uri="{FF2B5EF4-FFF2-40B4-BE49-F238E27FC236}">
                <a16:creationId xmlns:a16="http://schemas.microsoft.com/office/drawing/2014/main" id="{080A571E-70D7-5245-804F-92E2C8EFD3D2}"/>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26</a:t>
            </a:r>
          </a:p>
        </p:txBody>
      </p:sp>
      <p:sp>
        <p:nvSpPr>
          <p:cNvPr id="7" name="TextBox 1">
            <a:extLst>
              <a:ext uri="{FF2B5EF4-FFF2-40B4-BE49-F238E27FC236}">
                <a16:creationId xmlns:a16="http://schemas.microsoft.com/office/drawing/2014/main" id="{DD54DF6B-4B0F-4BA8-BB6A-CC55E4504257}"/>
              </a:ext>
            </a:extLst>
          </p:cNvPr>
          <p:cNvSpPr txBox="1"/>
          <p:nvPr/>
        </p:nvSpPr>
        <p:spPr>
          <a:xfrm>
            <a:off x="737212" y="1230460"/>
            <a:ext cx="4343399" cy="5303183"/>
          </a:xfrm>
          <a:prstGeom prst="rect">
            <a:avLst/>
          </a:prstGeom>
          <a:noFill/>
        </p:spPr>
        <p:txBody>
          <a:bodyPr wrap="square" lIns="0" tIns="0" rIns="0" rtlCol="0">
            <a:spAutoFit/>
          </a:bodyPr>
          <a:lstStyle/>
          <a:p>
            <a:pPr>
              <a:lnSpc>
                <a:spcPts val="1000"/>
              </a:lnSpc>
            </a:pPr>
            <a:endParaRPr lang="en-US" altLang="zh-CN" dirty="0"/>
          </a:p>
          <a:p>
            <a:pPr>
              <a:lnSpc>
                <a:spcPts val="1000"/>
              </a:lnSpc>
            </a:pPr>
            <a:endParaRPr lang="en-US" altLang="zh-CN" dirty="0"/>
          </a:p>
          <a:p>
            <a:pPr>
              <a:lnSpc>
                <a:spcPts val="4400"/>
              </a:lnSpc>
              <a:tabLst>
                <a:tab pos="228600" algn="l"/>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1950</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年，艾伦</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图灵</a:t>
            </a:r>
          </a:p>
          <a:p>
            <a:pPr>
              <a:lnSpc>
                <a:spcPts val="3400"/>
              </a:lnSpc>
              <a:tabLst>
                <a:tab pos="228600" algn="l"/>
                <a:tab pos="457200" algn="l"/>
                <a:tab pos="685800" algn="l"/>
              </a:tabLst>
            </a:pPr>
            <a:r>
              <a:rPr lang="en-US" altLang="zh-CN" dirty="0"/>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Alan</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Turing</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b="1" dirty="0" err="1">
                <a:solidFill>
                  <a:srgbClr val="000000"/>
                </a:solidFill>
                <a:latin typeface="微软雅黑" pitchFamily="18" charset="0"/>
                <a:cs typeface="微软雅黑" pitchFamily="18" charset="0"/>
              </a:rPr>
              <a:t>提出了</a:t>
            </a:r>
            <a:endParaRPr lang="en-US" altLang="zh-CN" sz="2800" b="1" dirty="0">
              <a:solidFill>
                <a:srgbClr val="000000"/>
              </a:solidFill>
              <a:latin typeface="微软雅黑" pitchFamily="18" charset="0"/>
              <a:cs typeface="微软雅黑" pitchFamily="18" charset="0"/>
            </a:endParaRPr>
          </a:p>
          <a:p>
            <a:pPr>
              <a:lnSpc>
                <a:spcPts val="3300"/>
              </a:lnSpc>
              <a:tabLst>
                <a:tab pos="228600" algn="l"/>
                <a:tab pos="457200" algn="l"/>
                <a:tab pos="685800" algn="l"/>
              </a:tabLst>
            </a:pPr>
            <a:r>
              <a:rPr lang="en-US" altLang="zh-CN" dirty="0"/>
              <a:t>	</a:t>
            </a:r>
            <a:r>
              <a:rPr lang="en-US" altLang="zh-CN" sz="2800" b="1" dirty="0" err="1">
                <a:solidFill>
                  <a:srgbClr val="000000"/>
                </a:solidFill>
                <a:latin typeface="微软雅黑" pitchFamily="18" charset="0"/>
                <a:cs typeface="微软雅黑" pitchFamily="18" charset="0"/>
              </a:rPr>
              <a:t>图灵测试</a:t>
            </a:r>
            <a:endParaRPr lang="en-US" altLang="zh-CN" sz="2800" b="1" dirty="0">
              <a:solidFill>
                <a:srgbClr val="000000"/>
              </a:solidFill>
              <a:latin typeface="微软雅黑" pitchFamily="18" charset="0"/>
              <a:cs typeface="微软雅黑" pitchFamily="18" charset="0"/>
            </a:endParaRP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现代意义上的人工智能，是在</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1956</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年</a:t>
            </a:r>
            <a:r>
              <a:rPr lang="zh-CN" altLang="en-US" sz="2800" b="1" dirty="0">
                <a:solidFill>
                  <a:srgbClr val="000000"/>
                </a:solidFill>
                <a:latin typeface="微软雅黑" pitchFamily="18" charset="0"/>
                <a:cs typeface="微软雅黑" pitchFamily="18" charset="0"/>
              </a:rPr>
              <a:t>美国</a:t>
            </a:r>
            <a:r>
              <a:rPr lang="en-US" altLang="zh-CN" sz="2800" b="1" dirty="0" err="1">
                <a:solidFill>
                  <a:srgbClr val="000000"/>
                </a:solidFill>
                <a:latin typeface="微软雅黑" pitchFamily="18" charset="0"/>
                <a:cs typeface="微软雅黑" pitchFamily="18" charset="0"/>
              </a:rPr>
              <a:t>达特茅斯会议上提出</a:t>
            </a:r>
            <a:endParaRPr lang="en-US" altLang="zh-CN" sz="2800" b="1" dirty="0">
              <a:solidFill>
                <a:srgbClr val="000000"/>
              </a:solidFill>
              <a:latin typeface="微软雅黑" pitchFamily="18" charset="0"/>
              <a:cs typeface="微软雅黑" pitchFamily="18" charset="0"/>
            </a:endParaRPr>
          </a:p>
          <a:p>
            <a:pPr>
              <a:lnSpc>
                <a:spcPts val="3400"/>
              </a:lnSpc>
              <a:tabLst>
                <a:tab pos="228600" algn="l"/>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John</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McCarthy</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等</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10</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位学</a:t>
            </a:r>
          </a:p>
          <a:p>
            <a:pPr>
              <a:lnSpc>
                <a:spcPts val="2900"/>
              </a:lnSpc>
              <a:tabLst>
                <a:tab pos="228600" algn="l"/>
                <a:tab pos="457200" algn="l"/>
                <a:tab pos="685800" algn="l"/>
              </a:tabLst>
            </a:pPr>
            <a:r>
              <a:rPr lang="en-US" altLang="zh-CN" dirty="0"/>
              <a:t>			</a:t>
            </a:r>
            <a:r>
              <a:rPr lang="en-US" altLang="zh-CN" sz="2400" dirty="0">
                <a:solidFill>
                  <a:srgbClr val="000000"/>
                </a:solidFill>
                <a:latin typeface="微软雅黑" pitchFamily="18" charset="0"/>
                <a:cs typeface="微软雅黑" pitchFamily="18" charset="0"/>
              </a:rPr>
              <a:t>者组织的</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Dartmouth</a:t>
            </a:r>
          </a:p>
          <a:p>
            <a:pPr>
              <a:lnSpc>
                <a:spcPts val="2700"/>
              </a:lnSpc>
              <a:tabLst>
                <a:tab pos="228600" algn="l"/>
                <a:tab pos="457200" algn="l"/>
                <a:tab pos="685800" algn="l"/>
              </a:tabLst>
            </a:pPr>
            <a:r>
              <a:rPr lang="en-US" altLang="zh-CN" dirty="0"/>
              <a:t>			</a:t>
            </a:r>
            <a:r>
              <a:rPr lang="en-US" altLang="zh-CN" sz="2400" dirty="0">
                <a:solidFill>
                  <a:srgbClr val="000000"/>
                </a:solidFill>
                <a:latin typeface="Calibri" pitchFamily="18" charset="0"/>
                <a:cs typeface="Calibri" pitchFamily="18" charset="0"/>
              </a:rPr>
              <a:t>summer</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research</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project</a:t>
            </a:r>
          </a:p>
          <a:p>
            <a:pPr>
              <a:lnSpc>
                <a:spcPts val="2900"/>
              </a:lnSpc>
              <a:tabLst>
                <a:tab pos="228600" algn="l"/>
                <a:tab pos="457200" algn="l"/>
                <a:tab pos="685800" algn="l"/>
              </a:tabLst>
            </a:pPr>
            <a:r>
              <a:rPr lang="en-US" altLang="zh-CN" dirty="0"/>
              <a:t>			</a:t>
            </a:r>
            <a:r>
              <a:rPr lang="en-US" altLang="zh-CN" sz="2400" dirty="0">
                <a:solidFill>
                  <a:srgbClr val="000000"/>
                </a:solidFill>
                <a:latin typeface="Calibri" pitchFamily="18" charset="0"/>
                <a:cs typeface="Calibri" pitchFamily="18" charset="0"/>
              </a:rPr>
              <a:t>on</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artificial</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intelligence</a:t>
            </a:r>
          </a:p>
        </p:txBody>
      </p:sp>
      <p:sp>
        <p:nvSpPr>
          <p:cNvPr id="8" name="TextBox 1">
            <a:extLst>
              <a:ext uri="{FF2B5EF4-FFF2-40B4-BE49-F238E27FC236}">
                <a16:creationId xmlns:a16="http://schemas.microsoft.com/office/drawing/2014/main" id="{260AC79F-897F-4F73-9D8A-031945A23723}"/>
              </a:ext>
            </a:extLst>
          </p:cNvPr>
          <p:cNvSpPr txBox="1"/>
          <p:nvPr/>
        </p:nvSpPr>
        <p:spPr>
          <a:xfrm>
            <a:off x="9144001" y="4343400"/>
            <a:ext cx="2819399" cy="1365374"/>
          </a:xfrm>
          <a:prstGeom prst="rect">
            <a:avLst/>
          </a:prstGeom>
          <a:noFill/>
        </p:spPr>
        <p:txBody>
          <a:bodyPr wrap="square" lIns="0" tIns="0" rIns="0" rtlCol="0">
            <a:spAutoFit/>
          </a:bodyPr>
          <a:lstStyle/>
          <a:p>
            <a:pPr algn="ctr">
              <a:lnSpc>
                <a:spcPts val="1000"/>
              </a:lnSpc>
            </a:pPr>
            <a:endParaRPr lang="en-US" altLang="zh-CN" dirty="0"/>
          </a:p>
          <a:p>
            <a:pPr algn="ctr">
              <a:lnSpc>
                <a:spcPts val="1000"/>
              </a:lnSpc>
            </a:pPr>
            <a:endParaRPr lang="en-US" altLang="zh-CN" dirty="0"/>
          </a:p>
          <a:p>
            <a:pPr>
              <a:lnSpc>
                <a:spcPts val="4400"/>
              </a:lnSpc>
              <a:tabLst>
                <a:tab pos="228600" algn="l"/>
                <a:tab pos="457200" algn="l"/>
                <a:tab pos="685800" algn="l"/>
              </a:tabLst>
            </a:pPr>
            <a:r>
              <a:rPr lang="zh-CN" altLang="en-US" sz="2400" dirty="0">
                <a:solidFill>
                  <a:srgbClr val="000000"/>
                </a:solidFill>
                <a:latin typeface="微软雅黑" pitchFamily="18" charset="0"/>
                <a:cs typeface="微软雅黑" pitchFamily="18" charset="0"/>
              </a:rPr>
              <a:t>因此，</a:t>
            </a:r>
            <a:r>
              <a:rPr lang="en-US" altLang="zh-CN" sz="2400" dirty="0">
                <a:solidFill>
                  <a:srgbClr val="000000"/>
                </a:solidFill>
                <a:latin typeface="微软雅黑" pitchFamily="18" charset="0"/>
                <a:cs typeface="微软雅黑" pitchFamily="18" charset="0"/>
              </a:rPr>
              <a:t>1956</a:t>
            </a:r>
            <a:r>
              <a:rPr lang="zh-CN" altLang="en-US" sz="2400" dirty="0">
                <a:solidFill>
                  <a:srgbClr val="000000"/>
                </a:solidFill>
                <a:latin typeface="微软雅黑" pitchFamily="18" charset="0"/>
                <a:cs typeface="微软雅黑" pitchFamily="18" charset="0"/>
              </a:rPr>
              <a:t>年被认为是人工智能的元年</a:t>
            </a:r>
            <a:endParaRPr lang="en-US" altLang="zh-CN" sz="2000" dirty="0">
              <a:solidFill>
                <a:srgbClr val="000000"/>
              </a:solidFill>
              <a:latin typeface="Calibri" pitchFamily="18" charset="0"/>
              <a:cs typeface="Calibri"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3429000" y="2197354"/>
            <a:ext cx="5181600" cy="2944734"/>
          </a:xfrm>
          <a:prstGeom prst="rect">
            <a:avLst/>
          </a:prstGeom>
          <a:noFill/>
        </p:spPr>
      </p:pic>
      <p:sp>
        <p:nvSpPr>
          <p:cNvPr id="2" name="TextBox 1"/>
          <p:cNvSpPr txBox="1"/>
          <p:nvPr/>
        </p:nvSpPr>
        <p:spPr>
          <a:xfrm>
            <a:off x="762000" y="831354"/>
            <a:ext cx="10494861" cy="132087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4700"/>
              </a:lnSpc>
              <a:tabLst>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50</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60</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年代：通过逻辑推理系统</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，构建人工智能</a:t>
            </a:r>
          </a:p>
          <a:p>
            <a:pPr>
              <a:lnSpc>
                <a:spcPts val="3600"/>
              </a:lnSpc>
              <a:tabLst>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err="1">
                <a:solidFill>
                  <a:srgbClr val="000000"/>
                </a:solidFill>
                <a:latin typeface="微软雅黑" pitchFamily="18" charset="0"/>
                <a:cs typeface="微软雅黑" pitchFamily="18" charset="0"/>
              </a:rPr>
              <a:t>早期计算机：通过晶体管实现与、或、非</a:t>
            </a:r>
            <a:r>
              <a:rPr lang="zh-CN" altLang="en-US" sz="2400" dirty="0">
                <a:solidFill>
                  <a:srgbClr val="000000"/>
                </a:solidFill>
                <a:latin typeface="微软雅黑" pitchFamily="18" charset="0"/>
                <a:cs typeface="微软雅黑" pitchFamily="18" charset="0"/>
              </a:rPr>
              <a:t>、与非、或非</a:t>
            </a:r>
            <a:r>
              <a:rPr lang="en-US" altLang="zh-CN" sz="2400" dirty="0">
                <a:solidFill>
                  <a:srgbClr val="000000"/>
                </a:solidFill>
                <a:latin typeface="微软雅黑" pitchFamily="18" charset="0"/>
                <a:cs typeface="微软雅黑" pitchFamily="18" charset="0"/>
              </a:rPr>
              <a:t>、异或等逻辑运算</a:t>
            </a:r>
          </a:p>
        </p:txBody>
      </p:sp>
      <p:sp>
        <p:nvSpPr>
          <p:cNvPr id="6" name="TextBox 1"/>
          <p:cNvSpPr txBox="1"/>
          <p:nvPr/>
        </p:nvSpPr>
        <p:spPr>
          <a:xfrm>
            <a:off x="1219200" y="5240397"/>
            <a:ext cx="9109866" cy="1379865"/>
          </a:xfrm>
          <a:prstGeom prst="rect">
            <a:avLst/>
          </a:prstGeom>
          <a:noFill/>
        </p:spPr>
        <p:txBody>
          <a:bodyPr wrap="none" lIns="0" tIns="0" rIns="0" rtlCol="0">
            <a:spAutoFit/>
          </a:bodyPr>
          <a:lstStyle/>
          <a:p>
            <a:pPr>
              <a:lnSpc>
                <a:spcPts val="3100"/>
              </a:lnSpc>
              <a:tabLst>
                <a:tab pos="228600" algn="l"/>
                <a:tab pos="7200900" algn="l"/>
              </a:tabLst>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早期人工智能的思路：建立符号系统，基于逻辑运算，进行推理、</a:t>
            </a:r>
          </a:p>
          <a:p>
            <a:pPr>
              <a:lnSpc>
                <a:spcPts val="3100"/>
              </a:lnSpc>
              <a:tabLst>
                <a:tab pos="228600" algn="l"/>
                <a:tab pos="7200900" algn="l"/>
              </a:tabLst>
            </a:pPr>
            <a:r>
              <a:rPr lang="en-US" altLang="zh-CN" sz="2400" dirty="0">
                <a:solidFill>
                  <a:srgbClr val="000000"/>
                </a:solidFill>
                <a:latin typeface="微软雅黑" pitchFamily="18" charset="0"/>
                <a:cs typeface="微软雅黑" pitchFamily="18" charset="0"/>
              </a:rPr>
              <a:t>决策、定理证明、翻译等</a:t>
            </a:r>
          </a:p>
          <a:p>
            <a:pPr>
              <a:lnSpc>
                <a:spcPts val="1000"/>
              </a:lnSpc>
            </a:pPr>
            <a:endParaRPr lang="en-US" altLang="zh-CN" dirty="0"/>
          </a:p>
          <a:p>
            <a:pPr>
              <a:lnSpc>
                <a:spcPts val="1000"/>
              </a:lnSpc>
            </a:pPr>
            <a:endParaRPr lang="en-US" altLang="zh-CN" dirty="0"/>
          </a:p>
          <a:p>
            <a:pPr>
              <a:lnSpc>
                <a:spcPts val="2300"/>
              </a:lnSpc>
              <a:tabLst>
                <a:tab pos="228600" algn="l"/>
                <a:tab pos="7200900" algn="l"/>
              </a:tabLst>
            </a:pPr>
            <a:r>
              <a:rPr lang="en-US" altLang="zh-CN" dirty="0"/>
              <a:t>		</a:t>
            </a:r>
            <a:endParaRPr lang="en-US" altLang="zh-CN" sz="1200" dirty="0">
              <a:solidFill>
                <a:srgbClr val="898989"/>
              </a:solidFill>
              <a:latin typeface="Calibri" pitchFamily="18" charset="0"/>
              <a:cs typeface="Calibri" pitchFamily="18" charset="0"/>
            </a:endParaRPr>
          </a:p>
        </p:txBody>
      </p:sp>
      <p:sp>
        <p:nvSpPr>
          <p:cNvPr id="9" name="Freeform 3">
            <a:extLst>
              <a:ext uri="{FF2B5EF4-FFF2-40B4-BE49-F238E27FC236}">
                <a16:creationId xmlns:a16="http://schemas.microsoft.com/office/drawing/2014/main" id="{6CE2A68E-47DF-9E40-9549-EBB9028E92AC}"/>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8C14F29F-7472-F047-9884-F4621AD6BA1C}"/>
              </a:ext>
            </a:extLst>
          </p:cNvPr>
          <p:cNvSpPr txBox="1"/>
          <p:nvPr/>
        </p:nvSpPr>
        <p:spPr>
          <a:xfrm>
            <a:off x="472354" y="152400"/>
            <a:ext cx="6848029" cy="550472"/>
          </a:xfrm>
          <a:prstGeom prst="rect">
            <a:avLst/>
          </a:prstGeom>
          <a:noFill/>
        </p:spPr>
        <p:txBody>
          <a:bodyPr wrap="none" lIns="0" tIns="0" rIns="0" rtlCol="0">
            <a:spAutoFit/>
          </a:bodyPr>
          <a:lstStyle/>
          <a:p>
            <a:pPr>
              <a:lnSpc>
                <a:spcPts val="4200"/>
              </a:lnSpc>
              <a:tabLst>
                <a:tab pos="457200" algn="l"/>
                <a:tab pos="685800" algn="l"/>
              </a:tabLst>
            </a:pPr>
            <a:r>
              <a:rPr lang="en-US" altLang="zh-CN" sz="3199" b="1" dirty="0">
                <a:solidFill>
                  <a:srgbClr val="000000"/>
                </a:solidFill>
                <a:latin typeface="微软雅黑" pitchFamily="18" charset="0"/>
                <a:cs typeface="微软雅黑" pitchFamily="18" charset="0"/>
              </a:rPr>
              <a:t>早期的人工智能（一）</a:t>
            </a:r>
            <a:r>
              <a:rPr lang="en-US" altLang="zh-CN" sz="3137" dirty="0">
                <a:latin typeface="Times New Roman" pitchFamily="18" charset="0"/>
                <a:cs typeface="Times New Roman" pitchFamily="18" charset="0"/>
              </a:rPr>
              <a:t> </a:t>
            </a:r>
            <a:r>
              <a:rPr lang="en-US" altLang="zh-CN" sz="3137" b="1" dirty="0">
                <a:solidFill>
                  <a:srgbClr val="000000"/>
                </a:solidFill>
                <a:latin typeface="Calibri Light" pitchFamily="18" charset="0"/>
                <a:cs typeface="Calibri Light"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Calibri" pitchFamily="18" charset="0"/>
                <a:cs typeface="Calibri"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微软雅黑" pitchFamily="18" charset="0"/>
                <a:cs typeface="微软雅黑" pitchFamily="18" charset="0"/>
              </a:rPr>
              <a:t>推理期</a:t>
            </a:r>
            <a:r>
              <a:rPr lang="en-US" altLang="zh-CN" sz="3199" dirty="0">
                <a:latin typeface="Times New Roman" pitchFamily="18" charset="0"/>
                <a:cs typeface="Times New Roman" pitchFamily="18" charset="0"/>
              </a:rPr>
              <a:t> </a:t>
            </a:r>
            <a:r>
              <a:rPr lang="en-US" altLang="zh-CN" sz="3199" b="1" dirty="0">
                <a:solidFill>
                  <a:srgbClr val="000000"/>
                </a:solidFill>
                <a:latin typeface="Calibri" pitchFamily="18" charset="0"/>
                <a:cs typeface="Calibri" pitchFamily="18" charset="0"/>
              </a:rPr>
              <a:t>”</a:t>
            </a:r>
          </a:p>
        </p:txBody>
      </p:sp>
      <p:sp>
        <p:nvSpPr>
          <p:cNvPr id="11" name="TextBox 1">
            <a:extLst>
              <a:ext uri="{FF2B5EF4-FFF2-40B4-BE49-F238E27FC236}">
                <a16:creationId xmlns:a16="http://schemas.microsoft.com/office/drawing/2014/main" id="{19136576-CEAD-664B-98C3-AC8881238C70}"/>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2952152" y="4235629"/>
            <a:ext cx="5867400" cy="2425700"/>
          </a:xfrm>
          <a:prstGeom prst="rect">
            <a:avLst/>
          </a:prstGeom>
          <a:noFill/>
        </p:spPr>
      </p:pic>
      <p:sp>
        <p:nvSpPr>
          <p:cNvPr id="2" name="TextBox 1"/>
          <p:cNvSpPr txBox="1"/>
          <p:nvPr/>
        </p:nvSpPr>
        <p:spPr>
          <a:xfrm>
            <a:off x="838200" y="800717"/>
            <a:ext cx="7981352" cy="3337067"/>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4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70</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年代：人工智能领域进入低谷</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基于逻辑推理系统的研究进展有限</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对人工智能领域研究的投入减少</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4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80</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年代：尝试在各专业领域内实现人工智能</a:t>
            </a:r>
          </a:p>
          <a:p>
            <a:pPr>
              <a:lnSpc>
                <a:spcPts val="37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建立知识库（比如以</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知识图谱</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的形式）和专家系统</a:t>
            </a:r>
          </a:p>
        </p:txBody>
      </p:sp>
      <p:sp>
        <p:nvSpPr>
          <p:cNvPr id="9" name="TextBox 1">
            <a:extLst>
              <a:ext uri="{FF2B5EF4-FFF2-40B4-BE49-F238E27FC236}">
                <a16:creationId xmlns:a16="http://schemas.microsoft.com/office/drawing/2014/main" id="{445A153F-ACF5-9A4B-BAEF-D630C9637A95}"/>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28</a:t>
            </a:r>
          </a:p>
        </p:txBody>
      </p:sp>
      <p:sp>
        <p:nvSpPr>
          <p:cNvPr id="10" name="Freeform 3">
            <a:extLst>
              <a:ext uri="{FF2B5EF4-FFF2-40B4-BE49-F238E27FC236}">
                <a16:creationId xmlns:a16="http://schemas.microsoft.com/office/drawing/2014/main" id="{3A2B5612-DDA0-D24B-B2F4-555335466B66}"/>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396A21CE-0C28-DA4C-A081-C37576859729}"/>
              </a:ext>
            </a:extLst>
          </p:cNvPr>
          <p:cNvSpPr txBox="1"/>
          <p:nvPr/>
        </p:nvSpPr>
        <p:spPr>
          <a:xfrm>
            <a:off x="472354" y="152400"/>
            <a:ext cx="8172109" cy="550472"/>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早期的人工智能（二）</a:t>
            </a:r>
            <a:r>
              <a:rPr lang="en-US" altLang="zh-CN" sz="3137" dirty="0">
                <a:latin typeface="Times New Roman" pitchFamily="18" charset="0"/>
                <a:cs typeface="Times New Roman" pitchFamily="18" charset="0"/>
              </a:rPr>
              <a:t> </a:t>
            </a:r>
            <a:r>
              <a:rPr lang="en-US" altLang="zh-CN" sz="3137" b="1" dirty="0">
                <a:solidFill>
                  <a:srgbClr val="000000"/>
                </a:solidFill>
                <a:latin typeface="Calibri Light" pitchFamily="18" charset="0"/>
                <a:cs typeface="Calibri Light"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微软雅黑" pitchFamily="18" charset="0"/>
                <a:cs typeface="微软雅黑" pitchFamily="18" charset="0"/>
              </a:rPr>
              <a:t>低谷与</a:t>
            </a:r>
            <a:r>
              <a:rPr lang="en-US" altLang="zh-CN" sz="3199" dirty="0">
                <a:latin typeface="Times New Roman" pitchFamily="18" charset="0"/>
                <a:cs typeface="Times New Roman" pitchFamily="18" charset="0"/>
              </a:rPr>
              <a:t> </a:t>
            </a:r>
            <a:r>
              <a:rPr lang="en-US" altLang="zh-CN" sz="3199" b="1" dirty="0">
                <a:solidFill>
                  <a:srgbClr val="000000"/>
                </a:solidFill>
                <a:latin typeface="Calibri" pitchFamily="18" charset="0"/>
                <a:cs typeface="Calibri"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微软雅黑" pitchFamily="18" charset="0"/>
                <a:cs typeface="微软雅黑" pitchFamily="18" charset="0"/>
              </a:rPr>
              <a:t>知识期</a:t>
            </a:r>
            <a:r>
              <a:rPr lang="en-US" altLang="zh-CN" sz="3137" dirty="0">
                <a:latin typeface="Times New Roman" pitchFamily="18" charset="0"/>
                <a:cs typeface="Times New Roman" pitchFamily="18" charset="0"/>
              </a:rPr>
              <a:t> </a:t>
            </a:r>
            <a:r>
              <a:rPr lang="en-US" altLang="zh-CN" sz="3137" b="1" dirty="0">
                <a:solidFill>
                  <a:srgbClr val="000000"/>
                </a:solidFill>
                <a:latin typeface="Calibri Light" pitchFamily="18" charset="0"/>
                <a:cs typeface="Calibri Light" pitchFamily="18" charset="0"/>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3086275" y="2514600"/>
            <a:ext cx="5969000" cy="3670300"/>
          </a:xfrm>
          <a:prstGeom prst="rect">
            <a:avLst/>
          </a:prstGeom>
          <a:noFill/>
        </p:spPr>
      </p:pic>
      <p:sp>
        <p:nvSpPr>
          <p:cNvPr id="2" name="TextBox 1"/>
          <p:cNvSpPr txBox="1"/>
          <p:nvPr/>
        </p:nvSpPr>
        <p:spPr>
          <a:xfrm>
            <a:off x="685800" y="904630"/>
            <a:ext cx="11045268" cy="143821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4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从</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80</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年代末期开始</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b="1" dirty="0" err="1">
                <a:solidFill>
                  <a:srgbClr val="000000"/>
                </a:solidFill>
                <a:latin typeface="微软雅黑" pitchFamily="18" charset="0"/>
                <a:cs typeface="微软雅黑" pitchFamily="18" charset="0"/>
              </a:rPr>
              <a:t>基于</a:t>
            </a:r>
            <a:r>
              <a:rPr lang="en-US" altLang="zh-CN" sz="2800" dirty="0">
                <a:latin typeface="Times New Roman" pitchFamily="18" charset="0"/>
                <a:cs typeface="Times New Roman" pitchFamily="18" charset="0"/>
              </a:rPr>
              <a:t> </a:t>
            </a:r>
            <a:r>
              <a:rPr lang="en-US" altLang="zh-CN" sz="2800" b="1" dirty="0" err="1">
                <a:solidFill>
                  <a:srgbClr val="C00000"/>
                </a:solidFill>
                <a:latin typeface="微软雅黑" pitchFamily="18" charset="0"/>
                <a:cs typeface="微软雅黑" pitchFamily="18" charset="0"/>
              </a:rPr>
              <a:t>统计学习</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statistical</a:t>
            </a:r>
            <a:r>
              <a:rPr lang="zh-CN" altLang="en-US" sz="2800" b="1" dirty="0">
                <a:solidFill>
                  <a:srgbClr val="000000"/>
                </a:solidFill>
                <a:latin typeface="Calibri" pitchFamily="18" charset="0"/>
                <a:cs typeface="Calibri" pitchFamily="18" charset="0"/>
              </a:rPr>
              <a:t> </a:t>
            </a:r>
            <a:r>
              <a:rPr lang="en-US" altLang="zh-CN" sz="2800" b="1" dirty="0">
                <a:solidFill>
                  <a:srgbClr val="000000"/>
                </a:solidFill>
                <a:latin typeface="Calibri" pitchFamily="18" charset="0"/>
                <a:cs typeface="Calibri" pitchFamily="18" charset="0"/>
              </a:rPr>
              <a:t>learning</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）的方法</a:t>
            </a:r>
            <a:r>
              <a:rPr lang="en-US" altLang="zh-CN" sz="2800" dirty="0">
                <a:latin typeface="Times New Roman" pitchFamily="18" charset="0"/>
                <a:cs typeface="Times New Roman" pitchFamily="18" charset="0"/>
              </a:rPr>
              <a:t> </a:t>
            </a:r>
          </a:p>
          <a:p>
            <a:pPr>
              <a:lnSpc>
                <a:spcPts val="4700"/>
              </a:lnSpc>
              <a:tabLst>
                <a:tab pos="228600" algn="l"/>
              </a:tabLst>
            </a:pPr>
            <a:r>
              <a:rPr lang="zh-CN" altLang="en-US" sz="2800" b="1" dirty="0">
                <a:solidFill>
                  <a:srgbClr val="000000"/>
                </a:solidFill>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逐渐成为人工智能的主流</a:t>
            </a:r>
            <a:r>
              <a:rPr lang="zh-CN" altLang="en-US" sz="2800" b="1" dirty="0">
                <a:solidFill>
                  <a:srgbClr val="000000"/>
                </a:solidFill>
                <a:latin typeface="微软雅黑" pitchFamily="18" charset="0"/>
                <a:cs typeface="微软雅黑" pitchFamily="18" charset="0"/>
              </a:rPr>
              <a:t>。</a:t>
            </a:r>
            <a:endParaRPr lang="en-US" altLang="zh-CN" sz="2800" b="1" dirty="0">
              <a:solidFill>
                <a:srgbClr val="000000"/>
              </a:solidFill>
              <a:latin typeface="微软雅黑" pitchFamily="18" charset="0"/>
              <a:cs typeface="微软雅黑" pitchFamily="18" charset="0"/>
            </a:endParaRPr>
          </a:p>
        </p:txBody>
      </p:sp>
      <p:sp>
        <p:nvSpPr>
          <p:cNvPr id="9" name="TextBox 1">
            <a:extLst>
              <a:ext uri="{FF2B5EF4-FFF2-40B4-BE49-F238E27FC236}">
                <a16:creationId xmlns:a16="http://schemas.microsoft.com/office/drawing/2014/main" id="{573092E4-FA04-2D49-B31D-5E4210B2239D}"/>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29</a:t>
            </a:r>
          </a:p>
        </p:txBody>
      </p:sp>
      <p:sp>
        <p:nvSpPr>
          <p:cNvPr id="12" name="Freeform 3">
            <a:extLst>
              <a:ext uri="{FF2B5EF4-FFF2-40B4-BE49-F238E27FC236}">
                <a16:creationId xmlns:a16="http://schemas.microsoft.com/office/drawing/2014/main" id="{D425222F-E871-E94B-A7D6-72088E56F10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8BCAF808-BE36-0C4B-B38C-5E489F9FB48B}"/>
              </a:ext>
            </a:extLst>
          </p:cNvPr>
          <p:cNvSpPr txBox="1"/>
          <p:nvPr/>
        </p:nvSpPr>
        <p:spPr>
          <a:xfrm>
            <a:off x="472354" y="152400"/>
            <a:ext cx="5612114" cy="550472"/>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当代的人工智能</a:t>
            </a:r>
            <a:r>
              <a:rPr lang="en-US" altLang="zh-CN" sz="3137" dirty="0">
                <a:latin typeface="Times New Roman" pitchFamily="18" charset="0"/>
                <a:cs typeface="Times New Roman" pitchFamily="18" charset="0"/>
              </a:rPr>
              <a:t> </a:t>
            </a:r>
            <a:r>
              <a:rPr lang="en-US" altLang="zh-CN" sz="3137" b="1" dirty="0">
                <a:solidFill>
                  <a:srgbClr val="000000"/>
                </a:solidFill>
                <a:latin typeface="Calibri Light" pitchFamily="18" charset="0"/>
                <a:cs typeface="Calibri Light"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Calibri" pitchFamily="18" charset="0"/>
                <a:cs typeface="Calibri"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微软雅黑" pitchFamily="18" charset="0"/>
                <a:cs typeface="微软雅黑" pitchFamily="18" charset="0"/>
              </a:rPr>
              <a:t>学习期</a:t>
            </a:r>
            <a:r>
              <a:rPr lang="en-US" altLang="zh-CN" sz="3199" dirty="0">
                <a:latin typeface="Times New Roman" pitchFamily="18" charset="0"/>
                <a:cs typeface="Times New Roman" pitchFamily="18" charset="0"/>
              </a:rPr>
              <a:t> </a:t>
            </a:r>
            <a:r>
              <a:rPr lang="en-US" altLang="zh-CN" sz="3199" b="1" dirty="0">
                <a:solidFill>
                  <a:srgbClr val="000000"/>
                </a:solidFill>
                <a:latin typeface="Calibri" pitchFamily="18" charset="0"/>
                <a:cs typeface="Calibri" pitchFamily="18"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TextBox 1"/>
          <p:cNvSpPr txBox="1"/>
          <p:nvPr/>
        </p:nvSpPr>
        <p:spPr>
          <a:xfrm>
            <a:off x="914400" y="1179701"/>
            <a:ext cx="7878760" cy="473206"/>
          </a:xfrm>
          <a:prstGeom prst="rect">
            <a:avLst/>
          </a:prstGeom>
          <a:noFill/>
        </p:spPr>
        <p:txBody>
          <a:bodyPr wrap="non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为什么基于统计学习的方法在近期得到大发展？</a:t>
            </a:r>
          </a:p>
        </p:txBody>
      </p:sp>
      <p:sp>
        <p:nvSpPr>
          <p:cNvPr id="7" name="TextBox 1"/>
          <p:cNvSpPr txBox="1"/>
          <p:nvPr/>
        </p:nvSpPr>
        <p:spPr>
          <a:xfrm>
            <a:off x="923705" y="2009623"/>
            <a:ext cx="4272003" cy="473206"/>
          </a:xfrm>
          <a:prstGeom prst="rect">
            <a:avLst/>
          </a:prstGeom>
          <a:noFill/>
        </p:spPr>
        <p:txBody>
          <a:bodyPr wrap="non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这段时期发生的巨大变化</a:t>
            </a:r>
          </a:p>
        </p:txBody>
      </p:sp>
      <p:sp>
        <p:nvSpPr>
          <p:cNvPr id="8" name="TextBox 1"/>
          <p:cNvSpPr txBox="1"/>
          <p:nvPr/>
        </p:nvSpPr>
        <p:spPr>
          <a:xfrm>
            <a:off x="1295400" y="2683331"/>
            <a:ext cx="4901983" cy="413575"/>
          </a:xfrm>
          <a:prstGeom prst="rect">
            <a:avLst/>
          </a:prstGeom>
          <a:noFill/>
        </p:spPr>
        <p:txBody>
          <a:bodyPr wrap="none" lIns="0" tIns="0" rIns="0" rtlCol="0">
            <a:spAutoFit/>
          </a:bodyPr>
          <a:lstStyle/>
          <a:p>
            <a:pPr>
              <a:lnSpc>
                <a:spcPts val="3100"/>
              </a:lnSpc>
            </a:pPr>
            <a:r>
              <a:rPr lang="en-US" altLang="zh-CN" sz="2400" dirty="0">
                <a:solidFill>
                  <a:srgbClr val="C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C00000"/>
                </a:solidFill>
                <a:latin typeface="微软雅黑" pitchFamily="18" charset="0"/>
                <a:cs typeface="微软雅黑" pitchFamily="18" charset="0"/>
              </a:rPr>
              <a:t>算力</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：计算机的运算能力飞速提升</a:t>
            </a:r>
          </a:p>
        </p:txBody>
      </p:sp>
      <p:sp>
        <p:nvSpPr>
          <p:cNvPr id="9" name="TextBox 1"/>
          <p:cNvSpPr txBox="1"/>
          <p:nvPr/>
        </p:nvSpPr>
        <p:spPr>
          <a:xfrm>
            <a:off x="1295400" y="3165930"/>
            <a:ext cx="7377019" cy="1320874"/>
          </a:xfrm>
          <a:prstGeom prst="rect">
            <a:avLst/>
          </a:prstGeom>
          <a:noFill/>
        </p:spPr>
        <p:txBody>
          <a:bodyPr wrap="none" lIns="0" tIns="0" rIns="0" rtlCol="0">
            <a:spAutoFit/>
          </a:bodyPr>
          <a:lstStyle/>
          <a:p>
            <a:pPr>
              <a:lnSpc>
                <a:spcPts val="3100"/>
              </a:lnSpc>
            </a:pPr>
            <a:r>
              <a:rPr lang="en-US" altLang="zh-CN" sz="2400" dirty="0">
                <a:solidFill>
                  <a:srgbClr val="C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C00000"/>
                </a:solidFill>
                <a:latin typeface="微软雅黑" pitchFamily="18" charset="0"/>
                <a:cs typeface="微软雅黑" pitchFamily="18" charset="0"/>
              </a:rPr>
              <a:t>数据</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：互联网兴起，给集中大量数据提供了便利</a:t>
            </a:r>
          </a:p>
          <a:p>
            <a:pPr>
              <a:lnSpc>
                <a:spcPts val="3600"/>
              </a:lnSpc>
            </a:pPr>
            <a:r>
              <a:rPr lang="en-US" altLang="zh-CN" sz="2400" dirty="0">
                <a:solidFill>
                  <a:srgbClr val="C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C00000"/>
                </a:solidFill>
                <a:latin typeface="微软雅黑" pitchFamily="18" charset="0"/>
                <a:cs typeface="微软雅黑" pitchFamily="18" charset="0"/>
              </a:rPr>
              <a:t>算法</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：基于高算力与大数据，相关的算法快速发展</a:t>
            </a:r>
          </a:p>
          <a:p>
            <a:pPr>
              <a:lnSpc>
                <a:spcPts val="3600"/>
              </a:lnSpc>
            </a:pPr>
            <a:r>
              <a:rPr lang="en-US" altLang="zh-CN" sz="2400" dirty="0">
                <a:solidFill>
                  <a:srgbClr val="C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C00000"/>
                </a:solidFill>
                <a:latin typeface="微软雅黑" pitchFamily="18" charset="0"/>
                <a:cs typeface="微软雅黑" pitchFamily="18" charset="0"/>
              </a:rPr>
              <a:t>商业化</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：许多基于人工智能的产品开始落地和商业化</a:t>
            </a:r>
          </a:p>
        </p:txBody>
      </p:sp>
      <p:sp>
        <p:nvSpPr>
          <p:cNvPr id="10" name="TextBox 1"/>
          <p:cNvSpPr txBox="1"/>
          <p:nvPr/>
        </p:nvSpPr>
        <p:spPr>
          <a:xfrm>
            <a:off x="923705" y="5104175"/>
            <a:ext cx="9109866" cy="815095"/>
          </a:xfrm>
          <a:prstGeom prst="rect">
            <a:avLst/>
          </a:prstGeom>
          <a:noFill/>
        </p:spPr>
        <p:txBody>
          <a:bodyPr wrap="none" lIns="0" tIns="0" rIns="0" rtlCol="0">
            <a:spAutoFit/>
          </a:bodyPr>
          <a:lstStyle/>
          <a:p>
            <a:pPr>
              <a:lnSpc>
                <a:spcPts val="3100"/>
              </a:lnSpc>
            </a:pPr>
            <a:r>
              <a:rPr lang="en-US" altLang="zh-CN" sz="2400" b="1" dirty="0">
                <a:solidFill>
                  <a:srgbClr val="000000"/>
                </a:solidFill>
                <a:latin typeface="Arial" pitchFamily="18" charset="0"/>
                <a:cs typeface="Arial" pitchFamily="18" charset="0"/>
              </a:rPr>
              <a:t>•</a:t>
            </a:r>
            <a:r>
              <a:rPr lang="en-US" altLang="zh-CN" sz="2400" b="1"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基于推理和知识的方法也在发展，但所受关注低于基于学习的方法</a:t>
            </a:r>
          </a:p>
          <a:p>
            <a:pPr>
              <a:lnSpc>
                <a:spcPts val="3100"/>
              </a:lnSpc>
            </a:pPr>
            <a:endParaRPr lang="en-US" altLang="zh-CN" sz="2400" b="1" dirty="0">
              <a:solidFill>
                <a:srgbClr val="000000"/>
              </a:solidFill>
              <a:latin typeface="微软雅黑" pitchFamily="18" charset="0"/>
              <a:cs typeface="微软雅黑" pitchFamily="18" charset="0"/>
            </a:endParaRPr>
          </a:p>
        </p:txBody>
      </p:sp>
      <p:sp>
        <p:nvSpPr>
          <p:cNvPr id="14" name="TextBox 1">
            <a:extLst>
              <a:ext uri="{FF2B5EF4-FFF2-40B4-BE49-F238E27FC236}">
                <a16:creationId xmlns:a16="http://schemas.microsoft.com/office/drawing/2014/main" id="{F79070D8-2721-E044-8ECE-62F2FBE7355E}"/>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30</a:t>
            </a:r>
          </a:p>
        </p:txBody>
      </p:sp>
      <p:sp>
        <p:nvSpPr>
          <p:cNvPr id="15" name="Freeform 3">
            <a:extLst>
              <a:ext uri="{FF2B5EF4-FFF2-40B4-BE49-F238E27FC236}">
                <a16:creationId xmlns:a16="http://schemas.microsoft.com/office/drawing/2014/main" id="{5C473609-96BA-6340-B968-8FCDDB1D61B8}"/>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
            <a:extLst>
              <a:ext uri="{FF2B5EF4-FFF2-40B4-BE49-F238E27FC236}">
                <a16:creationId xmlns:a16="http://schemas.microsoft.com/office/drawing/2014/main" id="{9BE5EC90-1ED9-A04A-9248-4B0CF303FA62}"/>
              </a:ext>
            </a:extLst>
          </p:cNvPr>
          <p:cNvSpPr txBox="1"/>
          <p:nvPr/>
        </p:nvSpPr>
        <p:spPr>
          <a:xfrm>
            <a:off x="472354" y="152400"/>
            <a:ext cx="5612114" cy="550472"/>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当代的人工智能</a:t>
            </a:r>
            <a:r>
              <a:rPr lang="en-US" altLang="zh-CN" sz="3137" dirty="0">
                <a:latin typeface="Times New Roman" pitchFamily="18" charset="0"/>
                <a:cs typeface="Times New Roman" pitchFamily="18" charset="0"/>
              </a:rPr>
              <a:t> </a:t>
            </a:r>
            <a:r>
              <a:rPr lang="en-US" altLang="zh-CN" sz="3137" b="1" dirty="0">
                <a:solidFill>
                  <a:srgbClr val="000000"/>
                </a:solidFill>
                <a:latin typeface="Calibri Light" pitchFamily="18" charset="0"/>
                <a:cs typeface="Calibri Light"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Calibri" pitchFamily="18" charset="0"/>
                <a:cs typeface="Calibri" pitchFamily="18" charset="0"/>
              </a:rPr>
              <a:t>“</a:t>
            </a:r>
            <a:r>
              <a:rPr lang="en-US" altLang="zh-CN" sz="3199" dirty="0">
                <a:latin typeface="Times New Roman" pitchFamily="18" charset="0"/>
                <a:cs typeface="Times New Roman" pitchFamily="18" charset="0"/>
              </a:rPr>
              <a:t> </a:t>
            </a:r>
            <a:r>
              <a:rPr lang="en-US" altLang="zh-CN" sz="3199" b="1" dirty="0">
                <a:solidFill>
                  <a:srgbClr val="000000"/>
                </a:solidFill>
                <a:latin typeface="微软雅黑" pitchFamily="18" charset="0"/>
                <a:cs typeface="微软雅黑" pitchFamily="18" charset="0"/>
              </a:rPr>
              <a:t>学习期</a:t>
            </a:r>
            <a:r>
              <a:rPr lang="en-US" altLang="zh-CN" sz="3199" dirty="0">
                <a:latin typeface="Times New Roman" pitchFamily="18" charset="0"/>
                <a:cs typeface="Times New Roman" pitchFamily="18" charset="0"/>
              </a:rPr>
              <a:t> </a:t>
            </a:r>
            <a:r>
              <a:rPr lang="en-US" altLang="zh-CN" sz="3199" b="1" dirty="0">
                <a:solidFill>
                  <a:srgbClr val="000000"/>
                </a:solidFill>
                <a:latin typeface="Calibri" pitchFamily="18" charset="0"/>
                <a:cs typeface="Calibri" pitchFamily="18" charset="0"/>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054650" y="4988194"/>
            <a:ext cx="4032250" cy="546100"/>
          </a:xfrm>
          <a:custGeom>
            <a:avLst/>
            <a:gdLst>
              <a:gd name="connsiteX0" fmla="*/ 0 w 4032250"/>
              <a:gd name="connsiteY0" fmla="*/ 136525 h 546100"/>
              <a:gd name="connsiteX1" fmla="*/ 3759200 w 4032250"/>
              <a:gd name="connsiteY1" fmla="*/ 136525 h 546100"/>
              <a:gd name="connsiteX2" fmla="*/ 3759200 w 4032250"/>
              <a:gd name="connsiteY2" fmla="*/ 0 h 546100"/>
              <a:gd name="connsiteX3" fmla="*/ 4032250 w 4032250"/>
              <a:gd name="connsiteY3" fmla="*/ 273050 h 546100"/>
              <a:gd name="connsiteX4" fmla="*/ 3759200 w 4032250"/>
              <a:gd name="connsiteY4" fmla="*/ 546100 h 546100"/>
              <a:gd name="connsiteX5" fmla="*/ 3759200 w 4032250"/>
              <a:gd name="connsiteY5" fmla="*/ 409575 h 546100"/>
              <a:gd name="connsiteX6" fmla="*/ 0 w 4032250"/>
              <a:gd name="connsiteY6" fmla="*/ 409575 h 546100"/>
              <a:gd name="connsiteX7" fmla="*/ 136525 w 4032250"/>
              <a:gd name="connsiteY7" fmla="*/ 273050 h 546100"/>
              <a:gd name="connsiteX8" fmla="*/ 0 w 4032250"/>
              <a:gd name="connsiteY8" fmla="*/ 136525 h 54610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4032250" h="546100">
                <a:moveTo>
                  <a:pt x="0" y="136525"/>
                </a:moveTo>
                <a:lnTo>
                  <a:pt x="3759200" y="136525"/>
                </a:lnTo>
                <a:lnTo>
                  <a:pt x="3759200" y="0"/>
                </a:lnTo>
                <a:lnTo>
                  <a:pt x="4032250" y="273050"/>
                </a:lnTo>
                <a:lnTo>
                  <a:pt x="3759200" y="546100"/>
                </a:lnTo>
                <a:lnTo>
                  <a:pt x="3759200" y="409575"/>
                </a:lnTo>
                <a:lnTo>
                  <a:pt x="0" y="409575"/>
                </a:lnTo>
                <a:lnTo>
                  <a:pt x="136525" y="273050"/>
                </a:lnTo>
                <a:lnTo>
                  <a:pt x="0" y="136525"/>
                </a:lnTo>
              </a:path>
            </a:pathLst>
          </a:custGeom>
          <a:solidFill>
            <a:srgbClr val="8FAAD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1143000" y="1126988"/>
            <a:ext cx="4038600" cy="2273300"/>
          </a:xfrm>
          <a:prstGeom prst="rect">
            <a:avLst/>
          </a:prstGeom>
          <a:noFill/>
        </p:spPr>
      </p:pic>
      <p:pic>
        <p:nvPicPr>
          <p:cNvPr id="7" name="Picture 3"/>
          <p:cNvPicPr>
            <a:picLocks noChangeAspect="1" noChangeArrowheads="1"/>
          </p:cNvPicPr>
          <p:nvPr/>
        </p:nvPicPr>
        <p:blipFill>
          <a:blip r:embed="rId4"/>
          <a:srcRect/>
          <a:stretch>
            <a:fillRect/>
          </a:stretch>
        </p:blipFill>
        <p:spPr bwMode="auto">
          <a:xfrm>
            <a:off x="7010402" y="1087904"/>
            <a:ext cx="3441700" cy="2290202"/>
          </a:xfrm>
          <a:prstGeom prst="rect">
            <a:avLst/>
          </a:prstGeom>
          <a:noFill/>
        </p:spPr>
      </p:pic>
      <p:sp>
        <p:nvSpPr>
          <p:cNvPr id="9" name="TextBox 1"/>
          <p:cNvSpPr txBox="1"/>
          <p:nvPr/>
        </p:nvSpPr>
        <p:spPr>
          <a:xfrm>
            <a:off x="1143001" y="3568701"/>
            <a:ext cx="4558940" cy="531364"/>
          </a:xfrm>
          <a:prstGeom prst="rect">
            <a:avLst/>
          </a:prstGeom>
          <a:noFill/>
        </p:spPr>
        <p:txBody>
          <a:bodyPr wrap="none" lIns="0" tIns="0" rIns="0" rtlCol="0">
            <a:spAutoFit/>
          </a:bodyPr>
          <a:lstStyle/>
          <a:p>
            <a:pPr>
              <a:lnSpc>
                <a:spcPts val="1800"/>
              </a:lnSpc>
              <a:tabLst>
                <a:tab pos="1308100" algn="l"/>
              </a:tabLst>
            </a:pPr>
            <a:r>
              <a:rPr lang="en-US" altLang="zh-CN" sz="1600" b="1" dirty="0">
                <a:solidFill>
                  <a:srgbClr val="000000"/>
                </a:solidFill>
                <a:latin typeface="Calibri" pitchFamily="18" charset="0"/>
                <a:cs typeface="Calibri" pitchFamily="18" charset="0"/>
              </a:rPr>
              <a:t>1997</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年，</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IBM</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的</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“Deep</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Blue”</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击败国际象棋大师加</a:t>
            </a:r>
          </a:p>
          <a:p>
            <a:pPr>
              <a:lnSpc>
                <a:spcPts val="1800"/>
              </a:lnSpc>
              <a:tabLst>
                <a:tab pos="1308100" algn="l"/>
              </a:tabLst>
            </a:pPr>
            <a:r>
              <a:rPr lang="en-US" altLang="zh-CN" sz="2400" b="1" dirty="0"/>
              <a:t>	</a:t>
            </a:r>
            <a:r>
              <a:rPr lang="en-US" altLang="zh-CN" sz="1600" b="1" dirty="0">
                <a:solidFill>
                  <a:srgbClr val="000000"/>
                </a:solidFill>
                <a:latin typeface="微软雅黑" pitchFamily="18" charset="0"/>
                <a:cs typeface="微软雅黑" pitchFamily="18" charset="0"/>
              </a:rPr>
              <a:t>里</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卡斯帕罗夫</a:t>
            </a:r>
          </a:p>
        </p:txBody>
      </p:sp>
      <p:sp>
        <p:nvSpPr>
          <p:cNvPr id="10" name="TextBox 1"/>
          <p:cNvSpPr txBox="1"/>
          <p:nvPr/>
        </p:nvSpPr>
        <p:spPr>
          <a:xfrm>
            <a:off x="1133475" y="4351699"/>
            <a:ext cx="72136" cy="469359"/>
          </a:xfrm>
          <a:prstGeom prst="rect">
            <a:avLst/>
          </a:prstGeom>
          <a:noFill/>
        </p:spPr>
        <p:txBody>
          <a:bodyPr wrap="none" lIns="0" tIns="0" rIns="0" rtlCol="0">
            <a:spAutoFit/>
          </a:bodyPr>
          <a:lstStyle/>
          <a:p>
            <a:pPr>
              <a:lnSpc>
                <a:spcPts val="1500"/>
              </a:lnSpc>
            </a:pPr>
            <a:r>
              <a:rPr lang="en-US" altLang="zh-CN" sz="1600" b="1" dirty="0">
                <a:solidFill>
                  <a:srgbClr val="000000"/>
                </a:solidFill>
                <a:latin typeface="Arial" pitchFamily="18" charset="0"/>
                <a:cs typeface="Arial" pitchFamily="18" charset="0"/>
              </a:rPr>
              <a:t>•</a:t>
            </a:r>
          </a:p>
          <a:p>
            <a:pPr>
              <a:lnSpc>
                <a:spcPts val="1800"/>
              </a:lnSpc>
            </a:pPr>
            <a:r>
              <a:rPr lang="en-US" altLang="zh-CN" sz="1600" b="1" dirty="0">
                <a:solidFill>
                  <a:srgbClr val="000000"/>
                </a:solidFill>
                <a:latin typeface="Arial" pitchFamily="18" charset="0"/>
                <a:cs typeface="Arial" pitchFamily="18" charset="0"/>
              </a:rPr>
              <a:t>•</a:t>
            </a:r>
          </a:p>
        </p:txBody>
      </p:sp>
      <p:sp>
        <p:nvSpPr>
          <p:cNvPr id="11" name="TextBox 1"/>
          <p:cNvSpPr txBox="1"/>
          <p:nvPr/>
        </p:nvSpPr>
        <p:spPr>
          <a:xfrm>
            <a:off x="1412876" y="4326300"/>
            <a:ext cx="3485826" cy="507831"/>
          </a:xfrm>
          <a:prstGeom prst="rect">
            <a:avLst/>
          </a:prstGeom>
          <a:noFill/>
        </p:spPr>
        <p:txBody>
          <a:bodyPr wrap="none" lIns="0" tIns="0" rIns="0" rtlCol="0">
            <a:spAutoFit/>
          </a:bodyPr>
          <a:lstStyle/>
          <a:p>
            <a:pPr>
              <a:lnSpc>
                <a:spcPts val="1800"/>
              </a:lnSpc>
            </a:pPr>
            <a:r>
              <a:rPr lang="en-US" altLang="zh-CN" sz="1600" b="1" dirty="0">
                <a:solidFill>
                  <a:srgbClr val="000000"/>
                </a:solidFill>
                <a:latin typeface="微软雅黑" pitchFamily="18" charset="0"/>
                <a:cs typeface="微软雅黑" pitchFamily="18" charset="0"/>
              </a:rPr>
              <a:t>深蓝使用的计算机算力为</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11</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GigaFLOPS</a:t>
            </a:r>
          </a:p>
          <a:p>
            <a:pPr>
              <a:lnSpc>
                <a:spcPts val="1800"/>
              </a:lnSpc>
            </a:pPr>
            <a:r>
              <a:rPr lang="en-US" altLang="zh-CN" sz="1600" b="1" dirty="0">
                <a:solidFill>
                  <a:srgbClr val="000000"/>
                </a:solidFill>
                <a:latin typeface="微软雅黑" pitchFamily="18" charset="0"/>
                <a:cs typeface="微软雅黑" pitchFamily="18" charset="0"/>
              </a:rPr>
              <a:t>深蓝主要通过经验指导加计算机搜索</a:t>
            </a:r>
          </a:p>
        </p:txBody>
      </p:sp>
      <p:sp>
        <p:nvSpPr>
          <p:cNvPr id="12" name="TextBox 1"/>
          <p:cNvSpPr txBox="1"/>
          <p:nvPr/>
        </p:nvSpPr>
        <p:spPr>
          <a:xfrm>
            <a:off x="6578600" y="3568701"/>
            <a:ext cx="4332533" cy="521746"/>
          </a:xfrm>
          <a:prstGeom prst="rect">
            <a:avLst/>
          </a:prstGeom>
          <a:noFill/>
        </p:spPr>
        <p:txBody>
          <a:bodyPr wrap="none" lIns="0" tIns="0" rIns="0" rtlCol="0">
            <a:spAutoFit/>
          </a:bodyPr>
          <a:lstStyle/>
          <a:p>
            <a:pPr>
              <a:lnSpc>
                <a:spcPts val="1800"/>
              </a:lnSpc>
              <a:tabLst>
                <a:tab pos="1397000" algn="l"/>
              </a:tabLst>
            </a:pPr>
            <a:r>
              <a:rPr lang="en-US" altLang="zh-CN" sz="1600" b="1" dirty="0">
                <a:solidFill>
                  <a:srgbClr val="000000"/>
                </a:solidFill>
                <a:latin typeface="Calibri" pitchFamily="18" charset="0"/>
                <a:cs typeface="Calibri" pitchFamily="18" charset="0"/>
              </a:rPr>
              <a:t>2015</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年，</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DeepMind</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的</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“AlphaGo”</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击败欧洲围棋</a:t>
            </a:r>
          </a:p>
          <a:p>
            <a:pPr>
              <a:lnSpc>
                <a:spcPts val="1700"/>
              </a:lnSpc>
              <a:tabLst>
                <a:tab pos="1397000" algn="l"/>
              </a:tabLst>
            </a:pPr>
            <a:r>
              <a:rPr lang="en-US" altLang="zh-CN" sz="2400" b="1" dirty="0"/>
              <a:t>	</a:t>
            </a:r>
            <a:r>
              <a:rPr lang="en-US" altLang="zh-CN" sz="1600" b="1" dirty="0">
                <a:solidFill>
                  <a:srgbClr val="000000"/>
                </a:solidFill>
                <a:latin typeface="微软雅黑" pitchFamily="18" charset="0"/>
                <a:cs typeface="微软雅黑" pitchFamily="18" charset="0"/>
              </a:rPr>
              <a:t>冠军樊麾</a:t>
            </a:r>
          </a:p>
        </p:txBody>
      </p:sp>
      <p:sp>
        <p:nvSpPr>
          <p:cNvPr id="13" name="TextBox 1"/>
          <p:cNvSpPr txBox="1"/>
          <p:nvPr/>
        </p:nvSpPr>
        <p:spPr>
          <a:xfrm>
            <a:off x="6565900" y="4292600"/>
            <a:ext cx="72136" cy="469359"/>
          </a:xfrm>
          <a:prstGeom prst="rect">
            <a:avLst/>
          </a:prstGeom>
          <a:noFill/>
        </p:spPr>
        <p:txBody>
          <a:bodyPr wrap="none" lIns="0" tIns="0" rIns="0" rtlCol="0">
            <a:spAutoFit/>
          </a:bodyPr>
          <a:lstStyle/>
          <a:p>
            <a:pPr>
              <a:lnSpc>
                <a:spcPts val="1500"/>
              </a:lnSpc>
            </a:pPr>
            <a:r>
              <a:rPr lang="en-US" altLang="zh-CN" sz="1600" b="1" dirty="0">
                <a:solidFill>
                  <a:srgbClr val="000000"/>
                </a:solidFill>
                <a:latin typeface="Arial" pitchFamily="18" charset="0"/>
                <a:cs typeface="Arial" pitchFamily="18" charset="0"/>
              </a:rPr>
              <a:t>•</a:t>
            </a:r>
          </a:p>
          <a:p>
            <a:pPr>
              <a:lnSpc>
                <a:spcPts val="1800"/>
              </a:lnSpc>
            </a:pPr>
            <a:r>
              <a:rPr lang="en-US" altLang="zh-CN" sz="1600" b="1" dirty="0">
                <a:solidFill>
                  <a:srgbClr val="000000"/>
                </a:solidFill>
                <a:latin typeface="Arial" pitchFamily="18" charset="0"/>
                <a:cs typeface="Arial" pitchFamily="18" charset="0"/>
              </a:rPr>
              <a:t>•</a:t>
            </a:r>
          </a:p>
        </p:txBody>
      </p:sp>
      <p:sp>
        <p:nvSpPr>
          <p:cNvPr id="14" name="TextBox 1"/>
          <p:cNvSpPr txBox="1"/>
          <p:nvPr/>
        </p:nvSpPr>
        <p:spPr>
          <a:xfrm>
            <a:off x="6845300" y="4267201"/>
            <a:ext cx="3862532" cy="507831"/>
          </a:xfrm>
          <a:prstGeom prst="rect">
            <a:avLst/>
          </a:prstGeom>
          <a:noFill/>
        </p:spPr>
        <p:txBody>
          <a:bodyPr wrap="none" lIns="0" tIns="0" rIns="0" rtlCol="0">
            <a:spAutoFit/>
          </a:bodyPr>
          <a:lstStyle/>
          <a:p>
            <a:pPr>
              <a:lnSpc>
                <a:spcPts val="1800"/>
              </a:lnSpc>
            </a:pPr>
            <a:r>
              <a:rPr lang="en-US" altLang="zh-CN" sz="1600" b="1" dirty="0">
                <a:solidFill>
                  <a:srgbClr val="000000"/>
                </a:solidFill>
                <a:latin typeface="Calibri" pitchFamily="18" charset="0"/>
                <a:cs typeface="Calibri" pitchFamily="18" charset="0"/>
              </a:rPr>
              <a:t>AlphaGo</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使用的计算机算力为</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11</a:t>
            </a:r>
            <a:r>
              <a:rPr lang="en-US" altLang="zh-CN" sz="1600" b="1" dirty="0">
                <a:latin typeface="Times New Roman" pitchFamily="18" charset="0"/>
                <a:cs typeface="Times New Roman" pitchFamily="18" charset="0"/>
              </a:rPr>
              <a:t> </a:t>
            </a:r>
            <a:r>
              <a:rPr lang="en-US" altLang="zh-CN" sz="1600" b="1" dirty="0">
                <a:solidFill>
                  <a:srgbClr val="000000"/>
                </a:solidFill>
                <a:latin typeface="Calibri" pitchFamily="18" charset="0"/>
                <a:cs typeface="Calibri" pitchFamily="18" charset="0"/>
              </a:rPr>
              <a:t>PetaFLOPS</a:t>
            </a:r>
          </a:p>
          <a:p>
            <a:pPr>
              <a:lnSpc>
                <a:spcPts val="1800"/>
              </a:lnSpc>
            </a:pPr>
            <a:r>
              <a:rPr lang="en-US" altLang="zh-CN" sz="1600" b="1" dirty="0">
                <a:solidFill>
                  <a:srgbClr val="000000"/>
                </a:solidFill>
                <a:latin typeface="Calibri" pitchFamily="18" charset="0"/>
                <a:cs typeface="Calibri" pitchFamily="18" charset="0"/>
              </a:rPr>
              <a:t>AlphaGo</a:t>
            </a:r>
            <a:r>
              <a:rPr lang="en-US" altLang="zh-CN" sz="1600" b="1" dirty="0">
                <a:latin typeface="Times New Roman" pitchFamily="18" charset="0"/>
                <a:cs typeface="Times New Roman" pitchFamily="18" charset="0"/>
              </a:rPr>
              <a:t> </a:t>
            </a:r>
            <a:r>
              <a:rPr lang="en-US" altLang="zh-CN" sz="1600" b="1" dirty="0">
                <a:solidFill>
                  <a:srgbClr val="000000"/>
                </a:solidFill>
                <a:latin typeface="微软雅黑" pitchFamily="18" charset="0"/>
                <a:cs typeface="微软雅黑" pitchFamily="18" charset="0"/>
              </a:rPr>
              <a:t>基于深度学习与强化学习</a:t>
            </a:r>
          </a:p>
        </p:txBody>
      </p:sp>
      <p:sp>
        <p:nvSpPr>
          <p:cNvPr id="15" name="TextBox 1"/>
          <p:cNvSpPr txBox="1"/>
          <p:nvPr/>
        </p:nvSpPr>
        <p:spPr>
          <a:xfrm>
            <a:off x="4817605" y="5631038"/>
            <a:ext cx="2556790" cy="909223"/>
          </a:xfrm>
          <a:prstGeom prst="rect">
            <a:avLst/>
          </a:prstGeom>
          <a:noFill/>
        </p:spPr>
        <p:txBody>
          <a:bodyPr wrap="none" lIns="0" tIns="0" rIns="0" rtlCol="0">
            <a:spAutoFit/>
          </a:bodyPr>
          <a:lstStyle/>
          <a:p>
            <a:pPr>
              <a:lnSpc>
                <a:spcPts val="2300"/>
              </a:lnSpc>
              <a:tabLst>
                <a:tab pos="228600" algn="l"/>
                <a:tab pos="520700" algn="l"/>
              </a:tabLst>
            </a:pPr>
            <a:r>
              <a:rPr lang="en-US" altLang="zh-CN" dirty="0"/>
              <a:t>		</a:t>
            </a:r>
            <a:r>
              <a:rPr lang="en-US" altLang="zh-CN" b="1" dirty="0">
                <a:solidFill>
                  <a:srgbClr val="000000"/>
                </a:solidFill>
                <a:latin typeface="微软雅黑" pitchFamily="18" charset="0"/>
                <a:cs typeface="微软雅黑" pitchFamily="18" charset="0"/>
              </a:rPr>
              <a:t>间隔</a:t>
            </a:r>
            <a:r>
              <a:rPr lang="en-US" altLang="zh-CN" dirty="0">
                <a:latin typeface="Times New Roman" pitchFamily="18" charset="0"/>
                <a:cs typeface="Times New Roman" pitchFamily="18" charset="0"/>
              </a:rPr>
              <a:t> </a:t>
            </a:r>
            <a:r>
              <a:rPr lang="en-US" altLang="zh-CN" b="1" dirty="0">
                <a:solidFill>
                  <a:srgbClr val="000000"/>
                </a:solidFill>
                <a:latin typeface="Calibri" pitchFamily="18" charset="0"/>
                <a:cs typeface="Calibri" pitchFamily="18" charset="0"/>
              </a:rPr>
              <a:t>18</a:t>
            </a:r>
            <a:r>
              <a:rPr lang="en-US" altLang="zh-CN" dirty="0">
                <a:latin typeface="Times New Roman" pitchFamily="18" charset="0"/>
                <a:cs typeface="Times New Roman" pitchFamily="18" charset="0"/>
              </a:rPr>
              <a:t> </a:t>
            </a:r>
            <a:r>
              <a:rPr lang="en-US" altLang="zh-CN" b="1" dirty="0">
                <a:solidFill>
                  <a:srgbClr val="000000"/>
                </a:solidFill>
                <a:latin typeface="微软雅黑" pitchFamily="18" charset="0"/>
                <a:cs typeface="微软雅黑" pitchFamily="18" charset="0"/>
              </a:rPr>
              <a:t>年时间</a:t>
            </a:r>
          </a:p>
          <a:p>
            <a:pPr>
              <a:lnSpc>
                <a:spcPts val="2300"/>
              </a:lnSpc>
              <a:tabLst>
                <a:tab pos="228600" algn="l"/>
                <a:tab pos="520700" algn="l"/>
              </a:tabLst>
            </a:pPr>
            <a:r>
              <a:rPr lang="en-US" altLang="zh-CN" dirty="0"/>
              <a:t>	</a:t>
            </a:r>
            <a:r>
              <a:rPr lang="en-US" altLang="zh-CN" b="1" dirty="0">
                <a:solidFill>
                  <a:srgbClr val="000000"/>
                </a:solidFill>
                <a:latin typeface="微软雅黑" pitchFamily="18" charset="0"/>
                <a:cs typeface="微软雅黑" pitchFamily="18" charset="0"/>
              </a:rPr>
              <a:t>算力提升了</a:t>
            </a:r>
            <a:r>
              <a:rPr lang="en-US" altLang="zh-CN" sz="2000" b="1" dirty="0">
                <a:solidFill>
                  <a:srgbClr val="C00000"/>
                </a:solidFill>
                <a:latin typeface="微软雅黑" pitchFamily="18" charset="0"/>
                <a:cs typeface="微软雅黑" pitchFamily="18" charset="0"/>
              </a:rPr>
              <a:t>一百万</a:t>
            </a:r>
            <a:r>
              <a:rPr lang="en-US" altLang="zh-CN" b="1" dirty="0">
                <a:solidFill>
                  <a:srgbClr val="000000"/>
                </a:solidFill>
                <a:latin typeface="微软雅黑" pitchFamily="18" charset="0"/>
                <a:cs typeface="微软雅黑" pitchFamily="18" charset="0"/>
              </a:rPr>
              <a:t>倍</a:t>
            </a:r>
          </a:p>
          <a:p>
            <a:pPr>
              <a:lnSpc>
                <a:spcPts val="2300"/>
              </a:lnSpc>
              <a:tabLst>
                <a:tab pos="228600" algn="l"/>
                <a:tab pos="520700" algn="l"/>
              </a:tabLst>
            </a:pPr>
            <a:r>
              <a:rPr lang="en-US" altLang="zh-CN" b="1" dirty="0">
                <a:solidFill>
                  <a:srgbClr val="000000"/>
                </a:solidFill>
                <a:latin typeface="微软雅黑" pitchFamily="18" charset="0"/>
                <a:cs typeface="微软雅黑" pitchFamily="18" charset="0"/>
              </a:rPr>
              <a:t>使用的算法也有巨大变化</a:t>
            </a:r>
          </a:p>
        </p:txBody>
      </p:sp>
      <p:sp>
        <p:nvSpPr>
          <p:cNvPr id="18" name="TextBox 1">
            <a:extLst>
              <a:ext uri="{FF2B5EF4-FFF2-40B4-BE49-F238E27FC236}">
                <a16:creationId xmlns:a16="http://schemas.microsoft.com/office/drawing/2014/main" id="{18B06023-7952-D243-AF2C-C07BA22D7049}"/>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31</a:t>
            </a:r>
          </a:p>
        </p:txBody>
      </p:sp>
      <p:sp>
        <p:nvSpPr>
          <p:cNvPr id="19" name="Freeform 3">
            <a:extLst>
              <a:ext uri="{FF2B5EF4-FFF2-40B4-BE49-F238E27FC236}">
                <a16:creationId xmlns:a16="http://schemas.microsoft.com/office/drawing/2014/main" id="{681E6243-48C6-5646-B5E8-32DEA9E7A40B}"/>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TextBox 1">
            <a:extLst>
              <a:ext uri="{FF2B5EF4-FFF2-40B4-BE49-F238E27FC236}">
                <a16:creationId xmlns:a16="http://schemas.microsoft.com/office/drawing/2014/main" id="{8A8A6B2C-7138-1A45-A787-7AA8D4F1B45A}"/>
              </a:ext>
            </a:extLst>
          </p:cNvPr>
          <p:cNvSpPr txBox="1"/>
          <p:nvPr/>
        </p:nvSpPr>
        <p:spPr>
          <a:xfrm>
            <a:off x="472354" y="152400"/>
            <a:ext cx="2883803" cy="550472"/>
          </a:xfrm>
          <a:prstGeom prst="rect">
            <a:avLst/>
          </a:prstGeom>
          <a:noFill/>
        </p:spPr>
        <p:txBody>
          <a:bodyPr wrap="none" lIns="0" tIns="0" rIns="0" rtlCol="0">
            <a:spAutoFit/>
          </a:bodyPr>
          <a:lstStyle/>
          <a:p>
            <a:pPr>
              <a:lnSpc>
                <a:spcPts val="4200"/>
              </a:lnSpc>
              <a:tabLst>
                <a:tab pos="457200" algn="l"/>
              </a:tabLst>
            </a:pPr>
            <a:r>
              <a:rPr lang="zh-CN" altLang="en-US" sz="3199" b="1" dirty="0">
                <a:solidFill>
                  <a:srgbClr val="000000"/>
                </a:solidFill>
                <a:latin typeface="微软雅黑" pitchFamily="18" charset="0"/>
                <a:cs typeface="微软雅黑" pitchFamily="18" charset="0"/>
              </a:rPr>
              <a:t>人工智能的发展</a:t>
            </a:r>
            <a:endParaRPr lang="en-US" altLang="zh-CN" sz="3137" b="1" dirty="0">
              <a:solidFill>
                <a:srgbClr val="000000"/>
              </a:solidFill>
              <a:latin typeface="Calibri Light" pitchFamily="18" charset="0"/>
              <a:cs typeface="Calibri Light"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362200" y="2690232"/>
            <a:ext cx="4048980" cy="2423012"/>
          </a:xfrm>
          <a:prstGeom prst="rect">
            <a:avLst/>
          </a:prstGeom>
          <a:noFill/>
        </p:spPr>
      </p:pic>
      <p:sp>
        <p:nvSpPr>
          <p:cNvPr id="2" name="TextBox 1"/>
          <p:cNvSpPr txBox="1"/>
          <p:nvPr/>
        </p:nvSpPr>
        <p:spPr>
          <a:xfrm>
            <a:off x="815603" y="804671"/>
            <a:ext cx="10944599" cy="1782539"/>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当前的最热门领域：大语言模型</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Large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Language</a:t>
            </a:r>
            <a:r>
              <a:rPr lang="zh-CN" altLang="en-US" sz="2800" b="1" dirty="0">
                <a:solidFill>
                  <a:srgbClr val="000000"/>
                </a:solidFill>
                <a:latin typeface="Calibri" pitchFamily="18" charset="0"/>
                <a:cs typeface="Calibri" pitchFamily="18" charset="0"/>
              </a:rPr>
              <a:t> </a:t>
            </a:r>
            <a:r>
              <a:rPr lang="en-US" altLang="zh-CN" sz="2800" b="1" dirty="0">
                <a:solidFill>
                  <a:srgbClr val="000000"/>
                </a:solidFill>
                <a:latin typeface="Calibri" pitchFamily="18" charset="0"/>
                <a:cs typeface="Calibri" pitchFamily="18" charset="0"/>
              </a:rPr>
              <a:t>Model</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LLM</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228600" algn="l"/>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大语言模型由包含数百亿以上权重的深度神经网络构建，使用自监督学习</a:t>
            </a:r>
          </a:p>
          <a:p>
            <a:pPr>
              <a:lnSpc>
                <a:spcPts val="3600"/>
              </a:lnSpc>
              <a:tabLst>
                <a:tab pos="228600" algn="l"/>
                <a:tab pos="457200" algn="l"/>
                <a:tab pos="685800" algn="l"/>
              </a:tabLst>
            </a:pPr>
            <a:r>
              <a:rPr lang="zh-CN" altLang="en-US" sz="2400" dirty="0">
                <a:solidFill>
                  <a:srgbClr val="000000"/>
                </a:solidFill>
                <a:latin typeface="微软雅黑" pitchFamily="18" charset="0"/>
                <a:cs typeface="微软雅黑" pitchFamily="18" charset="0"/>
              </a:rPr>
              <a:t>       </a:t>
            </a:r>
            <a:r>
              <a:rPr lang="en-US" altLang="zh-CN" sz="2400" dirty="0">
                <a:solidFill>
                  <a:srgbClr val="000000"/>
                </a:solidFill>
                <a:latin typeface="微软雅黑" pitchFamily="18" charset="0"/>
                <a:cs typeface="微软雅黑" pitchFamily="18" charset="0"/>
              </a:rPr>
              <a:t>为主的方式进行训练</a:t>
            </a:r>
          </a:p>
        </p:txBody>
      </p:sp>
      <p:sp>
        <p:nvSpPr>
          <p:cNvPr id="6" name="TextBox 1"/>
          <p:cNvSpPr txBox="1"/>
          <p:nvPr/>
        </p:nvSpPr>
        <p:spPr>
          <a:xfrm>
            <a:off x="815603" y="5244425"/>
            <a:ext cx="10853933" cy="1251625"/>
          </a:xfrm>
          <a:prstGeom prst="rect">
            <a:avLst/>
          </a:prstGeom>
          <a:noFill/>
        </p:spPr>
        <p:txBody>
          <a:bodyPr wrap="none" lIns="0" tIns="0" rIns="0" rtlCol="0">
            <a:spAutoFit/>
          </a:bodyPr>
          <a:lstStyle/>
          <a:p>
            <a:pPr>
              <a:lnSpc>
                <a:spcPts val="3600"/>
              </a:lnSpc>
              <a:tabLst>
                <a:tab pos="228600" algn="l"/>
                <a:tab pos="76581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多模态大语言模型基于大语言模型进行扩展，具有解读图像等信息</a:t>
            </a:r>
            <a:endParaRPr lang="en-US" altLang="zh-CN" sz="2800" b="1" dirty="0">
              <a:solidFill>
                <a:srgbClr val="000000"/>
              </a:solidFill>
              <a:latin typeface="微软雅黑" pitchFamily="18" charset="0"/>
              <a:cs typeface="微软雅黑" pitchFamily="18" charset="0"/>
            </a:endParaRPr>
          </a:p>
          <a:p>
            <a:pPr>
              <a:lnSpc>
                <a:spcPts val="3600"/>
              </a:lnSpc>
              <a:tabLst>
                <a:tab pos="228600" algn="l"/>
                <a:tab pos="76581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的能力</a:t>
            </a:r>
          </a:p>
          <a:p>
            <a:pPr>
              <a:lnSpc>
                <a:spcPts val="2300"/>
              </a:lnSpc>
              <a:tabLst>
                <a:tab pos="228600" algn="l"/>
                <a:tab pos="7658100" algn="l"/>
              </a:tabLst>
            </a:pPr>
            <a:r>
              <a:rPr lang="en-US" altLang="zh-CN" dirty="0"/>
              <a:t>		</a:t>
            </a:r>
            <a:endParaRPr lang="en-US" altLang="zh-CN" sz="1200" dirty="0">
              <a:solidFill>
                <a:srgbClr val="898989"/>
              </a:solidFill>
              <a:latin typeface="Calibri" pitchFamily="18" charset="0"/>
              <a:cs typeface="Calibri" pitchFamily="18" charset="0"/>
            </a:endParaRPr>
          </a:p>
        </p:txBody>
      </p:sp>
      <p:sp>
        <p:nvSpPr>
          <p:cNvPr id="9" name="TextBox 1">
            <a:extLst>
              <a:ext uri="{FF2B5EF4-FFF2-40B4-BE49-F238E27FC236}">
                <a16:creationId xmlns:a16="http://schemas.microsoft.com/office/drawing/2014/main" id="{942AC14D-5502-6D40-809D-56F17087DF68}"/>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32</a:t>
            </a:r>
          </a:p>
        </p:txBody>
      </p:sp>
      <p:sp>
        <p:nvSpPr>
          <p:cNvPr id="10" name="Freeform 3">
            <a:extLst>
              <a:ext uri="{FF2B5EF4-FFF2-40B4-BE49-F238E27FC236}">
                <a16:creationId xmlns:a16="http://schemas.microsoft.com/office/drawing/2014/main" id="{1E9281E4-27B7-004F-8B08-797BA95E8849}"/>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095D490E-E237-5442-9583-6836346270F8}"/>
              </a:ext>
            </a:extLst>
          </p:cNvPr>
          <p:cNvSpPr txBox="1"/>
          <p:nvPr/>
        </p:nvSpPr>
        <p:spPr>
          <a:xfrm>
            <a:off x="472354" y="152400"/>
            <a:ext cx="6676828" cy="550535"/>
          </a:xfrm>
          <a:prstGeom prst="rect">
            <a:avLst/>
          </a:prstGeom>
          <a:noFill/>
        </p:spPr>
        <p:txBody>
          <a:bodyPr wrap="none" lIns="0" tIns="0" rIns="0" rtlCol="0">
            <a:spAutoFit/>
          </a:bodyPr>
          <a:lstStyle/>
          <a:p>
            <a:pPr>
              <a:lnSpc>
                <a:spcPts val="4200"/>
              </a:lnSpc>
              <a:tabLst>
                <a:tab pos="228600" algn="l"/>
                <a:tab pos="457200" algn="l"/>
                <a:tab pos="685800" algn="l"/>
              </a:tabLst>
            </a:pPr>
            <a:r>
              <a:rPr lang="en-US" altLang="zh-CN" sz="3200" b="1" dirty="0">
                <a:solidFill>
                  <a:srgbClr val="000000"/>
                </a:solidFill>
                <a:latin typeface="微软雅黑" pitchFamily="18" charset="0"/>
                <a:cs typeface="微软雅黑" pitchFamily="18" charset="0"/>
              </a:rPr>
              <a:t>当前的人工智能</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State</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of</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the</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Art</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(SoTA)</a:t>
            </a:r>
          </a:p>
        </p:txBody>
      </p:sp>
      <p:pic>
        <p:nvPicPr>
          <p:cNvPr id="3" name="图片 2">
            <a:extLst>
              <a:ext uri="{FF2B5EF4-FFF2-40B4-BE49-F238E27FC236}">
                <a16:creationId xmlns:a16="http://schemas.microsoft.com/office/drawing/2014/main" id="{A3821188-8175-4BA8-AB2E-C8DB2BF71152}"/>
              </a:ext>
            </a:extLst>
          </p:cNvPr>
          <p:cNvPicPr>
            <a:picLocks noChangeAspect="1"/>
          </p:cNvPicPr>
          <p:nvPr/>
        </p:nvPicPr>
        <p:blipFill rotWithShape="1">
          <a:blip r:embed="rId4"/>
          <a:srcRect l="21875" r="24375"/>
          <a:stretch/>
        </p:blipFill>
        <p:spPr>
          <a:xfrm>
            <a:off x="6553200" y="2665544"/>
            <a:ext cx="4267200" cy="247238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1524000" y="2298700"/>
            <a:ext cx="9144000" cy="1727200"/>
          </a:xfrm>
          <a:prstGeom prst="rect">
            <a:avLst/>
          </a:prstGeom>
          <a:noFill/>
        </p:spPr>
      </p:pic>
      <p:sp>
        <p:nvSpPr>
          <p:cNvPr id="2" name="TextBox 1"/>
          <p:cNvSpPr txBox="1"/>
          <p:nvPr/>
        </p:nvSpPr>
        <p:spPr>
          <a:xfrm>
            <a:off x="914400" y="846436"/>
            <a:ext cx="8388322" cy="1302921"/>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45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Generative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Pre-trained</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Transformer</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）自然</a:t>
            </a:r>
          </a:p>
          <a:p>
            <a:pPr>
              <a:lnSpc>
                <a:spcPts val="3300"/>
              </a:lnSpc>
              <a:tabLst>
                <a:tab pos="228600" algn="l"/>
              </a:tabLst>
            </a:pPr>
            <a:r>
              <a:rPr lang="en-US" altLang="zh-CN" dirty="0"/>
              <a:t>	</a:t>
            </a:r>
            <a:r>
              <a:rPr lang="en-US" altLang="zh-CN" sz="2800" b="1" dirty="0">
                <a:solidFill>
                  <a:srgbClr val="000000"/>
                </a:solidFill>
                <a:latin typeface="微软雅黑" pitchFamily="18" charset="0"/>
                <a:cs typeface="微软雅黑" pitchFamily="18" charset="0"/>
              </a:rPr>
              <a:t>语言处理深度学习模型（</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2021</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6" name="TextBox 1"/>
          <p:cNvSpPr txBox="1"/>
          <p:nvPr/>
        </p:nvSpPr>
        <p:spPr>
          <a:xfrm>
            <a:off x="1066800" y="4151107"/>
            <a:ext cx="7609455" cy="2551596"/>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模型包含了</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1750</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亿个参数</a:t>
            </a:r>
          </a:p>
          <a:p>
            <a:pPr>
              <a:lnSpc>
                <a:spcPts val="34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使用了</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45TB</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数据进行训练</a:t>
            </a:r>
          </a:p>
          <a:p>
            <a:pPr>
              <a:lnSpc>
                <a:spcPts val="32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训练成本约五百万美元</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用途：翻译；问答；写作；一切与语言文字有关的智能</a:t>
            </a:r>
          </a:p>
          <a:p>
            <a:pPr>
              <a:lnSpc>
                <a:spcPts val="34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扩展：基于</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GPT-3</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开发更多人工智能应用</a:t>
            </a:r>
            <a:endParaRPr lang="en-US" altLang="zh-CN" sz="1200" dirty="0">
              <a:solidFill>
                <a:srgbClr val="898989"/>
              </a:solidFill>
              <a:latin typeface="Calibri" pitchFamily="18" charset="0"/>
              <a:cs typeface="Calibri" pitchFamily="18" charset="0"/>
            </a:endParaRPr>
          </a:p>
        </p:txBody>
      </p:sp>
      <p:sp>
        <p:nvSpPr>
          <p:cNvPr id="9" name="TextBox 1">
            <a:extLst>
              <a:ext uri="{FF2B5EF4-FFF2-40B4-BE49-F238E27FC236}">
                <a16:creationId xmlns:a16="http://schemas.microsoft.com/office/drawing/2014/main" id="{55EC8285-7186-154A-B4BB-634993CB25D7}"/>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33</a:t>
            </a:r>
          </a:p>
        </p:txBody>
      </p:sp>
      <p:sp>
        <p:nvSpPr>
          <p:cNvPr id="10" name="Freeform 3">
            <a:extLst>
              <a:ext uri="{FF2B5EF4-FFF2-40B4-BE49-F238E27FC236}">
                <a16:creationId xmlns:a16="http://schemas.microsoft.com/office/drawing/2014/main" id="{9B36A5F1-27CC-E24E-97C7-1C2DD622E00E}"/>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6582D1F7-5747-AD42-9704-F0BF6ECC7B6B}"/>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209800" y="1460778"/>
            <a:ext cx="7315200" cy="5232400"/>
          </a:xfrm>
          <a:prstGeom prst="rect">
            <a:avLst/>
          </a:prstGeom>
          <a:noFill/>
        </p:spPr>
      </p:pic>
      <p:sp>
        <p:nvSpPr>
          <p:cNvPr id="2" name="TextBox 1"/>
          <p:cNvSpPr txBox="1"/>
          <p:nvPr/>
        </p:nvSpPr>
        <p:spPr>
          <a:xfrm>
            <a:off x="825128" y="652500"/>
            <a:ext cx="6098401"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err="1">
                <a:solidFill>
                  <a:srgbClr val="C00000"/>
                </a:solidFill>
                <a:latin typeface="微软雅黑" pitchFamily="18" charset="0"/>
                <a:cs typeface="微软雅黑" pitchFamily="18" charset="0"/>
              </a:rPr>
              <a:t>哄一哄</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能让</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GPT-3</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准确率暴涨</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61%”</a:t>
            </a:r>
          </a:p>
        </p:txBody>
      </p:sp>
      <p:sp>
        <p:nvSpPr>
          <p:cNvPr id="7" name="TextBox 1"/>
          <p:cNvSpPr txBox="1"/>
          <p:nvPr/>
        </p:nvSpPr>
        <p:spPr>
          <a:xfrm>
            <a:off x="9736370" y="1905000"/>
            <a:ext cx="1617430" cy="212109"/>
          </a:xfrm>
          <a:prstGeom prst="rect">
            <a:avLst/>
          </a:prstGeom>
          <a:noFill/>
        </p:spPr>
        <p:txBody>
          <a:bodyPr wrap="none" lIns="0" tIns="0" rIns="0" rtlCol="0">
            <a:spAutoFit/>
          </a:bodyPr>
          <a:lstStyle/>
          <a:p>
            <a:pPr>
              <a:lnSpc>
                <a:spcPts val="1400"/>
              </a:lnSpc>
            </a:pPr>
            <a:r>
              <a:rPr lang="en-US" altLang="zh-CN" sz="1099" dirty="0">
                <a:solidFill>
                  <a:srgbClr val="222222"/>
                </a:solidFill>
                <a:latin typeface="Verdana" pitchFamily="18" charset="0"/>
                <a:cs typeface="Verdana" pitchFamily="18" charset="0"/>
              </a:rPr>
              <a:t>CoT</a:t>
            </a:r>
            <a:r>
              <a:rPr lang="en-US" altLang="zh-CN" sz="1099" dirty="0">
                <a:latin typeface="Times New Roman" pitchFamily="18" charset="0"/>
                <a:cs typeface="Times New Roman" pitchFamily="18" charset="0"/>
              </a:rPr>
              <a:t> </a:t>
            </a:r>
            <a:r>
              <a:rPr lang="en-US" altLang="zh-CN" sz="1099" dirty="0">
                <a:solidFill>
                  <a:srgbClr val="222222"/>
                </a:solidFill>
                <a:latin typeface="微软雅黑" pitchFamily="18" charset="0"/>
                <a:cs typeface="微软雅黑" pitchFamily="18" charset="0"/>
              </a:rPr>
              <a:t>：</a:t>
            </a:r>
            <a:r>
              <a:rPr lang="en-US" altLang="zh-CN" sz="1099" dirty="0">
                <a:latin typeface="Times New Roman" pitchFamily="18" charset="0"/>
                <a:cs typeface="Times New Roman" pitchFamily="18" charset="0"/>
              </a:rPr>
              <a:t> </a:t>
            </a:r>
            <a:r>
              <a:rPr lang="en-US" altLang="zh-CN" sz="1099" dirty="0">
                <a:solidFill>
                  <a:srgbClr val="222222"/>
                </a:solidFill>
                <a:latin typeface="Verdana" pitchFamily="18" charset="0"/>
                <a:cs typeface="Verdana" pitchFamily="18" charset="0"/>
              </a:rPr>
              <a:t>chain</a:t>
            </a:r>
            <a:r>
              <a:rPr lang="en-US" altLang="zh-CN" sz="1099" dirty="0">
                <a:latin typeface="Times New Roman" pitchFamily="18" charset="0"/>
                <a:cs typeface="Times New Roman" pitchFamily="18" charset="0"/>
              </a:rPr>
              <a:t> </a:t>
            </a:r>
            <a:r>
              <a:rPr lang="en-US" altLang="zh-CN" sz="1099" dirty="0">
                <a:solidFill>
                  <a:srgbClr val="222222"/>
                </a:solidFill>
                <a:latin typeface="Verdana" pitchFamily="18" charset="0"/>
                <a:cs typeface="Verdana" pitchFamily="18" charset="0"/>
              </a:rPr>
              <a:t>of</a:t>
            </a:r>
            <a:r>
              <a:rPr lang="en-US" altLang="zh-CN" sz="1099" dirty="0">
                <a:latin typeface="Times New Roman" pitchFamily="18" charset="0"/>
                <a:cs typeface="Times New Roman" pitchFamily="18" charset="0"/>
              </a:rPr>
              <a:t> </a:t>
            </a:r>
            <a:r>
              <a:rPr lang="en-US" altLang="zh-CN" sz="1099" dirty="0">
                <a:solidFill>
                  <a:srgbClr val="222222"/>
                </a:solidFill>
                <a:latin typeface="Verdana" pitchFamily="18" charset="0"/>
                <a:cs typeface="Verdana" pitchFamily="18" charset="0"/>
              </a:rPr>
              <a:t>thought</a:t>
            </a:r>
          </a:p>
        </p:txBody>
      </p:sp>
      <p:sp>
        <p:nvSpPr>
          <p:cNvPr id="10" name="TextBox 1">
            <a:extLst>
              <a:ext uri="{FF2B5EF4-FFF2-40B4-BE49-F238E27FC236}">
                <a16:creationId xmlns:a16="http://schemas.microsoft.com/office/drawing/2014/main" id="{2F8B0CE3-0BE8-2344-82E7-4E3A69A503A3}"/>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34</a:t>
            </a:r>
          </a:p>
        </p:txBody>
      </p:sp>
      <p:sp>
        <p:nvSpPr>
          <p:cNvPr id="11" name="Freeform 3">
            <a:extLst>
              <a:ext uri="{FF2B5EF4-FFF2-40B4-BE49-F238E27FC236}">
                <a16:creationId xmlns:a16="http://schemas.microsoft.com/office/drawing/2014/main" id="{3200AD06-B2A9-AD4E-BB12-2496D6A1516F}"/>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3CB185FE-4C67-964F-9609-CD1D4808B1B8}"/>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sp>
        <p:nvSpPr>
          <p:cNvPr id="4" name="文本框 3">
            <a:extLst>
              <a:ext uri="{FF2B5EF4-FFF2-40B4-BE49-F238E27FC236}">
                <a16:creationId xmlns:a16="http://schemas.microsoft.com/office/drawing/2014/main" id="{639B3E2C-6012-714F-BA05-0AE73EDEB629}"/>
              </a:ext>
            </a:extLst>
          </p:cNvPr>
          <p:cNvSpPr txBox="1"/>
          <p:nvPr/>
        </p:nvSpPr>
        <p:spPr>
          <a:xfrm>
            <a:off x="1295400" y="2565047"/>
            <a:ext cx="1003672" cy="369332"/>
          </a:xfrm>
          <a:prstGeom prst="rect">
            <a:avLst/>
          </a:prstGeom>
          <a:noFill/>
        </p:spPr>
        <p:txBody>
          <a:bodyPr wrap="square" rtlCol="0">
            <a:spAutoFit/>
          </a:bodyPr>
          <a:lstStyle/>
          <a:p>
            <a:r>
              <a:rPr kumimoji="1" lang="zh-CN" altLang="en-US">
                <a:latin typeface="Microsoft YaHei" panose="020B0503020204020204" pitchFamily="34" charset="-122"/>
                <a:ea typeface="Microsoft YaHei" panose="020B0503020204020204" pitchFamily="34" charset="-122"/>
              </a:rPr>
              <a:t>少样本</a:t>
            </a:r>
          </a:p>
        </p:txBody>
      </p:sp>
      <p:sp>
        <p:nvSpPr>
          <p:cNvPr id="13" name="文本框 12">
            <a:extLst>
              <a:ext uri="{FF2B5EF4-FFF2-40B4-BE49-F238E27FC236}">
                <a16:creationId xmlns:a16="http://schemas.microsoft.com/office/drawing/2014/main" id="{FCFCCBFA-60C7-464E-BAFC-57D069BF22E6}"/>
              </a:ext>
            </a:extLst>
          </p:cNvPr>
          <p:cNvSpPr txBox="1"/>
          <p:nvPr/>
        </p:nvSpPr>
        <p:spPr>
          <a:xfrm>
            <a:off x="1295400" y="4444446"/>
            <a:ext cx="1003672" cy="369332"/>
          </a:xfrm>
          <a:prstGeom prst="rect">
            <a:avLst/>
          </a:prstGeom>
          <a:noFill/>
        </p:spPr>
        <p:txBody>
          <a:bodyPr wrap="square" rtlCol="0">
            <a:spAutoFit/>
          </a:bodyPr>
          <a:lstStyle/>
          <a:p>
            <a:r>
              <a:rPr kumimoji="1" lang="zh-CN" altLang="en-US">
                <a:latin typeface="Microsoft YaHei" panose="020B0503020204020204" pitchFamily="34" charset="-122"/>
                <a:ea typeface="Microsoft YaHei" panose="020B0503020204020204" pitchFamily="34" charset="-122"/>
              </a:rPr>
              <a:t>零样本</a:t>
            </a:r>
          </a:p>
        </p:txBody>
      </p:sp>
      <p:sp>
        <p:nvSpPr>
          <p:cNvPr id="14" name="文本框 13">
            <a:extLst>
              <a:ext uri="{FF2B5EF4-FFF2-40B4-BE49-F238E27FC236}">
                <a16:creationId xmlns:a16="http://schemas.microsoft.com/office/drawing/2014/main" id="{4570949C-E24B-1743-950D-18C10FFD55A9}"/>
              </a:ext>
            </a:extLst>
          </p:cNvPr>
          <p:cNvSpPr txBox="1"/>
          <p:nvPr/>
        </p:nvSpPr>
        <p:spPr>
          <a:xfrm>
            <a:off x="9557454" y="2565047"/>
            <a:ext cx="2253545" cy="369332"/>
          </a:xfrm>
          <a:prstGeom prst="rect">
            <a:avLst/>
          </a:prstGeom>
          <a:noFill/>
        </p:spPr>
        <p:txBody>
          <a:bodyPr wrap="square" rtlCol="0">
            <a:spAutoFit/>
          </a:bodyPr>
          <a:lstStyle/>
          <a:p>
            <a:r>
              <a:rPr kumimoji="1" lang="zh-CN" altLang="en-US">
                <a:latin typeface="Microsoft YaHei" panose="020B0503020204020204" pitchFamily="34" charset="-122"/>
                <a:ea typeface="Microsoft YaHei" panose="020B0503020204020204" pitchFamily="34" charset="-122"/>
              </a:rPr>
              <a:t>使用</a:t>
            </a:r>
            <a:r>
              <a:rPr kumimoji="1" lang="zh-CN" altLang="en-US">
                <a:solidFill>
                  <a:srgbClr val="FF0000"/>
                </a:solidFill>
                <a:latin typeface="Microsoft YaHei" panose="020B0503020204020204" pitchFamily="34" charset="-122"/>
                <a:ea typeface="Microsoft YaHei" panose="020B0503020204020204" pitchFamily="34" charset="-122"/>
              </a:rPr>
              <a:t>推理链</a:t>
            </a:r>
            <a:r>
              <a:rPr kumimoji="1" lang="zh-CN" altLang="en-US">
                <a:latin typeface="Microsoft YaHei" panose="020B0503020204020204" pitchFamily="34" charset="-122"/>
                <a:ea typeface="Microsoft YaHei" panose="020B0503020204020204" pitchFamily="34" charset="-122"/>
              </a:rPr>
              <a:t>的少样本</a:t>
            </a:r>
          </a:p>
        </p:txBody>
      </p:sp>
      <p:sp>
        <p:nvSpPr>
          <p:cNvPr id="15" name="文本框 14">
            <a:extLst>
              <a:ext uri="{FF2B5EF4-FFF2-40B4-BE49-F238E27FC236}">
                <a16:creationId xmlns:a16="http://schemas.microsoft.com/office/drawing/2014/main" id="{68F0E734-90DE-0C46-A9DD-5BAB9D3A4895}"/>
              </a:ext>
            </a:extLst>
          </p:cNvPr>
          <p:cNvSpPr txBox="1"/>
          <p:nvPr/>
        </p:nvSpPr>
        <p:spPr>
          <a:xfrm>
            <a:off x="9525000" y="4444446"/>
            <a:ext cx="2359047" cy="369332"/>
          </a:xfrm>
          <a:prstGeom prst="rect">
            <a:avLst/>
          </a:prstGeom>
          <a:noFill/>
        </p:spPr>
        <p:txBody>
          <a:bodyPr wrap="square" rtlCol="0">
            <a:spAutoFit/>
          </a:bodyPr>
          <a:lstStyle/>
          <a:p>
            <a:r>
              <a:rPr kumimoji="1" lang="zh-CN" altLang="en-US">
                <a:latin typeface="Microsoft YaHei" panose="020B0503020204020204" pitchFamily="34" charset="-122"/>
                <a:ea typeface="Microsoft YaHei" panose="020B0503020204020204" pitchFamily="34" charset="-122"/>
              </a:rPr>
              <a:t>使用</a:t>
            </a:r>
            <a:r>
              <a:rPr kumimoji="1" lang="zh-CN" altLang="en-US">
                <a:solidFill>
                  <a:srgbClr val="FF0000"/>
                </a:solidFill>
                <a:latin typeface="Microsoft YaHei" panose="020B0503020204020204" pitchFamily="34" charset="-122"/>
                <a:ea typeface="Microsoft YaHei" panose="020B0503020204020204" pitchFamily="34" charset="-122"/>
              </a:rPr>
              <a:t>推理链的</a:t>
            </a:r>
            <a:r>
              <a:rPr kumimoji="1" lang="zh-CN" altLang="en-US">
                <a:latin typeface="Microsoft YaHei" panose="020B0503020204020204" pitchFamily="34" charset="-122"/>
                <a:ea typeface="Microsoft YaHei" panose="020B0503020204020204" pitchFamily="34" charset="-122"/>
              </a:rPr>
              <a:t>零样本</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590800" y="2997156"/>
            <a:ext cx="6250932" cy="3843819"/>
          </a:xfrm>
          <a:prstGeom prst="rect">
            <a:avLst/>
          </a:prstGeom>
          <a:noFill/>
        </p:spPr>
      </p:pic>
      <p:sp>
        <p:nvSpPr>
          <p:cNvPr id="2" name="TextBox 1"/>
          <p:cNvSpPr txBox="1"/>
          <p:nvPr/>
        </p:nvSpPr>
        <p:spPr>
          <a:xfrm>
            <a:off x="838200" y="647028"/>
            <a:ext cx="9236503" cy="224420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ChatGPT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2022</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ChatGPT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在刚发布时基于</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GPT-3.5</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（免费）</a:t>
            </a:r>
          </a:p>
          <a:p>
            <a:pPr>
              <a:lnSpc>
                <a:spcPts val="3600"/>
              </a:lnSpc>
              <a:tabLst>
                <a:tab pos="457200" algn="l"/>
                <a:tab pos="685800" algn="l"/>
              </a:tabLst>
            </a:pPr>
            <a:r>
              <a:rPr lang="zh-CN" altLang="en-US" sz="2400" b="1" dirty="0">
                <a:solidFill>
                  <a:srgbClr val="000000"/>
                </a:solidFill>
                <a:latin typeface="微软雅黑" pitchFamily="18" charset="0"/>
                <a:cs typeface="微软雅黑" pitchFamily="18" charset="0"/>
              </a:rPr>
              <a:t>       </a:t>
            </a:r>
            <a:r>
              <a:rPr lang="en-US" altLang="zh-CN" sz="2400" b="1" dirty="0">
                <a:solidFill>
                  <a:srgbClr val="000000"/>
                </a:solidFill>
                <a:latin typeface="微软雅黑" pitchFamily="18" charset="0"/>
                <a:cs typeface="微软雅黑" pitchFamily="18" charset="0"/>
              </a:rPr>
              <a:t>后来增加了基于</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GPT-4</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a:t>
            </a:r>
            <a:r>
              <a:rPr lang="en-US" altLang="zh-CN" sz="2400" b="1" dirty="0" err="1">
                <a:solidFill>
                  <a:srgbClr val="000000"/>
                </a:solidFill>
                <a:latin typeface="微软雅黑" pitchFamily="18" charset="0"/>
                <a:cs typeface="微软雅黑" pitchFamily="18" charset="0"/>
              </a:rPr>
              <a:t>收费）的功能</a:t>
            </a:r>
            <a:endParaRPr lang="en-US" altLang="zh-CN" sz="2400" b="1" dirty="0">
              <a:solidFill>
                <a:srgbClr val="000000"/>
              </a:solidFill>
              <a:latin typeface="微软雅黑" pitchFamily="18" charset="0"/>
              <a:cs typeface="微软雅黑" pitchFamily="18" charset="0"/>
            </a:endParaRPr>
          </a:p>
          <a:p>
            <a:pPr>
              <a:lnSpc>
                <a:spcPts val="3600"/>
              </a:lnSpc>
              <a:tabLst>
                <a:tab pos="457200" algn="l"/>
                <a:tab pos="685800" algn="l"/>
              </a:tabLst>
            </a:pPr>
            <a:r>
              <a:rPr lang="en-US" altLang="zh-CN" sz="2400" b="1" dirty="0">
                <a:solidFill>
                  <a:srgbClr val="000000"/>
                </a:solidFill>
                <a:latin typeface="微软雅黑" pitchFamily="18" charset="0"/>
              </a:rPr>
              <a:t>       2025</a:t>
            </a:r>
            <a:r>
              <a:rPr lang="zh-CN" altLang="en-US" sz="2400" b="1" dirty="0">
                <a:solidFill>
                  <a:srgbClr val="000000"/>
                </a:solidFill>
                <a:latin typeface="微软雅黑" pitchFamily="18" charset="0"/>
              </a:rPr>
              <a:t>年</a:t>
            </a:r>
            <a:r>
              <a:rPr lang="en-US" altLang="zh-CN" sz="2400" b="1" dirty="0">
                <a:solidFill>
                  <a:srgbClr val="000000"/>
                </a:solidFill>
                <a:latin typeface="微软雅黑" pitchFamily="18" charset="0"/>
              </a:rPr>
              <a:t>8</a:t>
            </a:r>
            <a:r>
              <a:rPr lang="zh-CN" altLang="en-US" sz="2400" b="1" dirty="0">
                <a:solidFill>
                  <a:srgbClr val="000000"/>
                </a:solidFill>
                <a:latin typeface="微软雅黑" pitchFamily="18" charset="0"/>
              </a:rPr>
              <a:t>月</a:t>
            </a:r>
            <a:r>
              <a:rPr lang="en-US" altLang="zh-CN" sz="2400" b="1" dirty="0">
                <a:solidFill>
                  <a:srgbClr val="000000"/>
                </a:solidFill>
                <a:latin typeface="微软雅黑" pitchFamily="18" charset="0"/>
              </a:rPr>
              <a:t>7</a:t>
            </a:r>
            <a:r>
              <a:rPr lang="zh-CN" altLang="en-US" sz="2400" b="1" dirty="0">
                <a:solidFill>
                  <a:srgbClr val="000000"/>
                </a:solidFill>
                <a:latin typeface="微软雅黑" pitchFamily="18" charset="0"/>
              </a:rPr>
              <a:t>日，发布了</a:t>
            </a:r>
            <a:r>
              <a:rPr lang="en-US" altLang="zh-CN" sz="2400" b="1" dirty="0">
                <a:solidFill>
                  <a:srgbClr val="000000"/>
                </a:solidFill>
                <a:latin typeface="微软雅黑" pitchFamily="18" charset="0"/>
              </a:rPr>
              <a:t>GPT-5</a:t>
            </a:r>
            <a:r>
              <a:rPr lang="zh-CN" altLang="en-US" sz="2400" b="1" dirty="0">
                <a:solidFill>
                  <a:srgbClr val="000000"/>
                </a:solidFill>
                <a:latin typeface="微软雅黑" pitchFamily="18" charset="0"/>
              </a:rPr>
              <a:t>；</a:t>
            </a:r>
            <a:r>
              <a:rPr lang="en-US" altLang="zh-CN" sz="2400" b="1" dirty="0">
                <a:solidFill>
                  <a:srgbClr val="000000"/>
                </a:solidFill>
                <a:latin typeface="微软雅黑" pitchFamily="18" charset="0"/>
              </a:rPr>
              <a:t>2026</a:t>
            </a:r>
            <a:r>
              <a:rPr lang="zh-CN" altLang="en-US" sz="2400" b="1" dirty="0">
                <a:solidFill>
                  <a:srgbClr val="000000"/>
                </a:solidFill>
                <a:latin typeface="微软雅黑" pitchFamily="18" charset="0"/>
              </a:rPr>
              <a:t>年</a:t>
            </a:r>
            <a:r>
              <a:rPr lang="en-US" altLang="zh-CN" sz="2400" b="1" dirty="0">
                <a:solidFill>
                  <a:srgbClr val="000000"/>
                </a:solidFill>
                <a:latin typeface="微软雅黑" pitchFamily="18" charset="0"/>
              </a:rPr>
              <a:t>3</a:t>
            </a:r>
            <a:r>
              <a:rPr lang="zh-CN" altLang="en-US" sz="2400" b="1" dirty="0">
                <a:solidFill>
                  <a:srgbClr val="000000"/>
                </a:solidFill>
                <a:latin typeface="微软雅黑" pitchFamily="18" charset="0"/>
              </a:rPr>
              <a:t>月，发布了</a:t>
            </a:r>
            <a:r>
              <a:rPr lang="en-US" altLang="zh-CN" sz="2400" b="1" dirty="0">
                <a:solidFill>
                  <a:srgbClr val="000000"/>
                </a:solidFill>
                <a:latin typeface="微软雅黑" pitchFamily="18" charset="0"/>
              </a:rPr>
              <a:t>GPT-5.4</a:t>
            </a:r>
          </a:p>
        </p:txBody>
      </p:sp>
      <p:sp>
        <p:nvSpPr>
          <p:cNvPr id="9" name="TextBox 1">
            <a:extLst>
              <a:ext uri="{FF2B5EF4-FFF2-40B4-BE49-F238E27FC236}">
                <a16:creationId xmlns:a16="http://schemas.microsoft.com/office/drawing/2014/main" id="{5ED1B451-ACD7-9D46-A101-F63F7CED89EB}"/>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35</a:t>
            </a:r>
          </a:p>
        </p:txBody>
      </p:sp>
      <p:sp>
        <p:nvSpPr>
          <p:cNvPr id="10" name="Freeform 3">
            <a:extLst>
              <a:ext uri="{FF2B5EF4-FFF2-40B4-BE49-F238E27FC236}">
                <a16:creationId xmlns:a16="http://schemas.microsoft.com/office/drawing/2014/main" id="{77A0D22D-55F8-D047-B08A-76FB344969DE}"/>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FEF8740C-F19C-DE4C-883C-C40DADF3356A}"/>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1905000" y="1808786"/>
            <a:ext cx="8474398" cy="4439613"/>
          </a:xfrm>
          <a:prstGeom prst="rect">
            <a:avLst/>
          </a:prstGeom>
          <a:noFill/>
        </p:spPr>
      </p:pic>
      <p:sp>
        <p:nvSpPr>
          <p:cNvPr id="6" name="TextBox 1"/>
          <p:cNvSpPr txBox="1"/>
          <p:nvPr/>
        </p:nvSpPr>
        <p:spPr>
          <a:xfrm>
            <a:off x="838200" y="94145"/>
            <a:ext cx="3629712" cy="1413144"/>
          </a:xfrm>
          <a:prstGeom prst="rect">
            <a:avLst/>
          </a:prstGeom>
          <a:noFill/>
        </p:spPr>
        <p:txBody>
          <a:bodyPr wrap="none" lIns="0" tIns="0" rIns="0" rtlCol="0">
            <a:spAutoFit/>
          </a:bodyPr>
          <a:lstStyle/>
          <a:p>
            <a:pPr>
              <a:lnSpc>
                <a:spcPts val="4200"/>
              </a:lnSpc>
            </a:pPr>
            <a:endParaRPr lang="en-US" altLang="zh-CN" sz="3199" b="1" dirty="0">
              <a:solidFill>
                <a:srgbClr val="000000"/>
              </a:solidFill>
              <a:latin typeface="微软雅黑" pitchFamily="18" charset="0"/>
              <a:cs typeface="微软雅黑" pitchFamily="18" charset="0"/>
            </a:endParaRP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ChatGPT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GPT-3.5</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TextBox 1">
            <a:extLst>
              <a:ext uri="{FF2B5EF4-FFF2-40B4-BE49-F238E27FC236}">
                <a16:creationId xmlns:a16="http://schemas.microsoft.com/office/drawing/2014/main" id="{90431CF4-F2CD-584E-906A-2E64C0E7E572}"/>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36</a:t>
            </a:r>
          </a:p>
        </p:txBody>
      </p:sp>
      <p:sp>
        <p:nvSpPr>
          <p:cNvPr id="10" name="Freeform 3">
            <a:extLst>
              <a:ext uri="{FF2B5EF4-FFF2-40B4-BE49-F238E27FC236}">
                <a16:creationId xmlns:a16="http://schemas.microsoft.com/office/drawing/2014/main" id="{7D7AB472-6073-F648-81F4-9BB1B02F3F00}"/>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0AB90056-D903-7040-9427-A9DB73F1B76D}"/>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315200" y="889000"/>
            <a:ext cx="2933700" cy="5905500"/>
          </a:xfrm>
          <a:prstGeom prst="rect">
            <a:avLst/>
          </a:prstGeom>
          <a:noFill/>
        </p:spPr>
      </p:pic>
      <p:sp>
        <p:nvSpPr>
          <p:cNvPr id="6" name="TextBox 1"/>
          <p:cNvSpPr txBox="1"/>
          <p:nvPr/>
        </p:nvSpPr>
        <p:spPr>
          <a:xfrm>
            <a:off x="762000" y="952360"/>
            <a:ext cx="6432723" cy="4131259"/>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问</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ChatGPT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：创建一段</a:t>
            </a:r>
            <a:r>
              <a:rPr lang="en-US" altLang="zh-CN" sz="2800" b="1" dirty="0">
                <a:solidFill>
                  <a:srgbClr val="000000"/>
                </a:solidFill>
                <a:latin typeface="Calibri" pitchFamily="18" charset="0"/>
                <a:cs typeface="Calibri" pitchFamily="18" charset="0"/>
              </a:rPr>
              <a:t>PyTorch</a:t>
            </a:r>
            <a:r>
              <a:rPr lang="en-US" altLang="zh-CN" sz="2800" b="1" dirty="0">
                <a:solidFill>
                  <a:srgbClr val="000000"/>
                </a:solidFill>
                <a:latin typeface="微软雅黑" pitchFamily="18" charset="0"/>
                <a:cs typeface="微软雅黑" pitchFamily="18" charset="0"/>
              </a:rPr>
              <a:t>代码</a:t>
            </a:r>
          </a:p>
          <a:p>
            <a:pPr>
              <a:lnSpc>
                <a:spcPts val="3700"/>
              </a:lnSpc>
              <a:tabLst>
                <a:tab pos="2286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实现对</a:t>
            </a:r>
            <a:r>
              <a:rPr lang="en-US" altLang="zh-CN" sz="2800" b="1" dirty="0">
                <a:solidFill>
                  <a:srgbClr val="000000"/>
                </a:solidFill>
                <a:latin typeface="Calibri" pitchFamily="18" charset="0"/>
                <a:cs typeface="Calibri" pitchFamily="18" charset="0"/>
              </a:rPr>
              <a:t>MNIST</a:t>
            </a:r>
            <a:r>
              <a:rPr lang="en-US" altLang="zh-CN" sz="2800" b="1" dirty="0">
                <a:solidFill>
                  <a:srgbClr val="000000"/>
                </a:solidFill>
                <a:latin typeface="微软雅黑" pitchFamily="18" charset="0"/>
                <a:cs typeface="微软雅黑" pitchFamily="18" charset="0"/>
              </a:rPr>
              <a:t>数据集的分类深度学习</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4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下面是使用</a:t>
            </a:r>
            <a:r>
              <a:rPr lang="en-US" altLang="zh-CN" sz="2800" b="1" dirty="0">
                <a:solidFill>
                  <a:srgbClr val="000000"/>
                </a:solidFill>
                <a:latin typeface="Calibri" pitchFamily="18" charset="0"/>
                <a:cs typeface="Calibri" pitchFamily="18" charset="0"/>
              </a:rPr>
              <a:t>PyTorch</a:t>
            </a:r>
            <a:r>
              <a:rPr lang="en-US" altLang="zh-CN" sz="2800" b="1" dirty="0">
                <a:solidFill>
                  <a:srgbClr val="000000"/>
                </a:solidFill>
                <a:latin typeface="微软雅黑" pitchFamily="18" charset="0"/>
                <a:cs typeface="微软雅黑" pitchFamily="18" charset="0"/>
              </a:rPr>
              <a:t>实现对</a:t>
            </a:r>
            <a:r>
              <a:rPr lang="en-US" altLang="zh-CN" sz="2800" b="1" dirty="0">
                <a:solidFill>
                  <a:srgbClr val="000000"/>
                </a:solidFill>
                <a:latin typeface="Calibri" pitchFamily="18" charset="0"/>
                <a:cs typeface="Calibri" pitchFamily="18" charset="0"/>
              </a:rPr>
              <a:t>MNIST</a:t>
            </a:r>
            <a:r>
              <a:rPr lang="en-US" altLang="zh-CN" sz="2800" b="1" dirty="0">
                <a:solidFill>
                  <a:srgbClr val="000000"/>
                </a:solidFill>
                <a:latin typeface="微软雅黑" pitchFamily="18" charset="0"/>
                <a:cs typeface="微软雅黑" pitchFamily="18" charset="0"/>
              </a:rPr>
              <a:t>数据集</a:t>
            </a:r>
            <a:r>
              <a:rPr lang="en-US" altLang="zh-CN" sz="2800" dirty="0">
                <a:latin typeface="Times New Roman" pitchFamily="18" charset="0"/>
                <a:cs typeface="Times New Roman" pitchFamily="18" charset="0"/>
              </a:rPr>
              <a:t> </a:t>
            </a:r>
          </a:p>
          <a:p>
            <a:pPr>
              <a:lnSpc>
                <a:spcPts val="4400"/>
              </a:lnSpc>
              <a:tabLst>
                <a:tab pos="228600" algn="l"/>
              </a:tabLst>
            </a:pPr>
            <a:r>
              <a:rPr lang="zh-CN" altLang="en-US" sz="2800" b="1" dirty="0">
                <a:solidFill>
                  <a:srgbClr val="000000"/>
                </a:solidFill>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的分类的示例</a:t>
            </a:r>
          </a:p>
          <a:p>
            <a:pPr>
              <a:lnSpc>
                <a:spcPts val="4400"/>
              </a:lnSpc>
              <a:tabLst>
                <a:tab pos="228600" algn="l"/>
              </a:tabLst>
            </a:pPr>
            <a:endParaRPr lang="en-US" altLang="zh-CN" sz="2800" b="1" dirty="0">
              <a:solidFill>
                <a:srgbClr val="000000"/>
              </a:solidFill>
              <a:latin typeface="微软雅黑" pitchFamily="18" charset="0"/>
              <a:cs typeface="微软雅黑" pitchFamily="18" charset="0"/>
            </a:endParaRPr>
          </a:p>
          <a:p>
            <a:pPr>
              <a:lnSpc>
                <a:spcPts val="3500"/>
              </a:lnSpc>
              <a:tabLst>
                <a:tab pos="228600" algn="l"/>
              </a:tabLst>
            </a:pPr>
            <a:r>
              <a:rPr lang="en-US" altLang="zh-CN" dirty="0"/>
              <a:t>	</a:t>
            </a:r>
            <a:r>
              <a:rPr lang="zh-CN" altLang="en-US" dirty="0"/>
              <a:t>                                            </a:t>
            </a:r>
            <a:r>
              <a:rPr lang="en-US" altLang="zh-CN" sz="2800" b="1" dirty="0" err="1">
                <a:solidFill>
                  <a:srgbClr val="000000"/>
                </a:solidFill>
                <a:latin typeface="微软雅黑" pitchFamily="18" charset="0"/>
                <a:cs typeface="微软雅黑" pitchFamily="18" charset="0"/>
              </a:rPr>
              <a:t>代码</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TextBox 1">
            <a:extLst>
              <a:ext uri="{FF2B5EF4-FFF2-40B4-BE49-F238E27FC236}">
                <a16:creationId xmlns:a16="http://schemas.microsoft.com/office/drawing/2014/main" id="{13090CFF-7389-A24E-AE65-AA3628521733}"/>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37</a:t>
            </a:r>
          </a:p>
        </p:txBody>
      </p:sp>
      <p:sp>
        <p:nvSpPr>
          <p:cNvPr id="10" name="Freeform 3">
            <a:extLst>
              <a:ext uri="{FF2B5EF4-FFF2-40B4-BE49-F238E27FC236}">
                <a16:creationId xmlns:a16="http://schemas.microsoft.com/office/drawing/2014/main" id="{3EAC1FB8-71F3-6E44-899D-C2F2713BB378}"/>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7373A466-ADDB-5A4C-BD54-724C81794E4E}"/>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743200" y="2895600"/>
            <a:ext cx="5759890" cy="3246124"/>
          </a:xfrm>
          <a:prstGeom prst="rect">
            <a:avLst/>
          </a:prstGeom>
          <a:noFill/>
        </p:spPr>
      </p:pic>
      <p:sp>
        <p:nvSpPr>
          <p:cNvPr id="2" name="TextBox 1"/>
          <p:cNvSpPr txBox="1"/>
          <p:nvPr/>
        </p:nvSpPr>
        <p:spPr>
          <a:xfrm>
            <a:off x="838200" y="794194"/>
            <a:ext cx="9298828"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Generative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Pre-trained</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Transformer</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TextBox 1">
            <a:extLst>
              <a:ext uri="{FF2B5EF4-FFF2-40B4-BE49-F238E27FC236}">
                <a16:creationId xmlns:a16="http://schemas.microsoft.com/office/drawing/2014/main" id="{66B3699A-E08E-6E45-9EDB-BDE2C500DF1F}"/>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38</a:t>
            </a:r>
          </a:p>
        </p:txBody>
      </p:sp>
      <p:sp>
        <p:nvSpPr>
          <p:cNvPr id="10" name="Freeform 3">
            <a:extLst>
              <a:ext uri="{FF2B5EF4-FFF2-40B4-BE49-F238E27FC236}">
                <a16:creationId xmlns:a16="http://schemas.microsoft.com/office/drawing/2014/main" id="{FAF1D298-3879-EB4F-9E4D-ACC71C23D7C2}"/>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3A4A8E09-C180-7649-8E9D-3A21A80B9C25}"/>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sp>
        <p:nvSpPr>
          <p:cNvPr id="3" name="矩形 2">
            <a:extLst>
              <a:ext uri="{FF2B5EF4-FFF2-40B4-BE49-F238E27FC236}">
                <a16:creationId xmlns:a16="http://schemas.microsoft.com/office/drawing/2014/main" id="{7DCCFB8A-0640-4FD4-8480-20C9F7E58CCE}"/>
              </a:ext>
            </a:extLst>
          </p:cNvPr>
          <p:cNvSpPr/>
          <p:nvPr/>
        </p:nvSpPr>
        <p:spPr>
          <a:xfrm>
            <a:off x="900997" y="1618210"/>
            <a:ext cx="10376603" cy="1200329"/>
          </a:xfrm>
          <a:prstGeom prst="rect">
            <a:avLst/>
          </a:prstGeom>
        </p:spPr>
        <p:txBody>
          <a:bodyPr wrap="square">
            <a:spAutoFit/>
          </a:bodyPr>
          <a:lstStyle/>
          <a:p>
            <a:r>
              <a:rPr lang="zh-CN" altLang="en-US" sz="2400" dirty="0"/>
              <a:t>生成式预训练变换模型：美国开放人工智能研究中心（</a:t>
            </a:r>
            <a:r>
              <a:rPr lang="en-US" altLang="zh-CN" sz="2400" dirty="0" err="1"/>
              <a:t>OpenAI</a:t>
            </a:r>
            <a:r>
              <a:rPr lang="zh-CN" altLang="en-US" sz="2400" dirty="0"/>
              <a:t>）提出的基于</a:t>
            </a:r>
            <a:r>
              <a:rPr lang="en-US" altLang="zh-CN" sz="2400" dirty="0"/>
              <a:t>Transformer</a:t>
            </a:r>
            <a:r>
              <a:rPr lang="zh-CN" altLang="en-US" sz="2400" dirty="0"/>
              <a:t>解码器的预训练语言模型，既可以执行如情感分类、阅读理解等判别类任务，又可以执行如摘要生成、文章补全等文本生成类任务。</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1031876" y="2133600"/>
            <a:ext cx="3108325" cy="467212"/>
          </a:xfrm>
          <a:custGeom>
            <a:avLst/>
            <a:gdLst>
              <a:gd name="connsiteX0" fmla="*/ 0 w 3108325"/>
              <a:gd name="connsiteY0" fmla="*/ 467212 h 467212"/>
              <a:gd name="connsiteX1" fmla="*/ 3108325 w 3108325"/>
              <a:gd name="connsiteY1" fmla="*/ 467212 h 467212"/>
              <a:gd name="connsiteX2" fmla="*/ 3108325 w 3108325"/>
              <a:gd name="connsiteY2" fmla="*/ 0 h 467212"/>
              <a:gd name="connsiteX3" fmla="*/ 0 w 3108325"/>
              <a:gd name="connsiteY3" fmla="*/ 0 h 467212"/>
              <a:gd name="connsiteX4" fmla="*/ 0 w 3108325"/>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08325" h="467212">
                <a:moveTo>
                  <a:pt x="0" y="467212"/>
                </a:moveTo>
                <a:lnTo>
                  <a:pt x="3108325" y="467212"/>
                </a:lnTo>
                <a:lnTo>
                  <a:pt x="3108325" y="0"/>
                </a:lnTo>
                <a:lnTo>
                  <a:pt x="0" y="0"/>
                </a:lnTo>
                <a:lnTo>
                  <a:pt x="0" y="467212"/>
                </a:lnTo>
              </a:path>
            </a:pathLst>
          </a:custGeom>
          <a:solidFill>
            <a:srgbClr val="4472C4">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4140200" y="2133600"/>
            <a:ext cx="1803400" cy="467212"/>
          </a:xfrm>
          <a:custGeom>
            <a:avLst/>
            <a:gdLst>
              <a:gd name="connsiteX0" fmla="*/ 0 w 1803400"/>
              <a:gd name="connsiteY0" fmla="*/ 467212 h 467212"/>
              <a:gd name="connsiteX1" fmla="*/ 1803400 w 1803400"/>
              <a:gd name="connsiteY1" fmla="*/ 467212 h 467212"/>
              <a:gd name="connsiteX2" fmla="*/ 1803400 w 1803400"/>
              <a:gd name="connsiteY2" fmla="*/ 0 h 467212"/>
              <a:gd name="connsiteX3" fmla="*/ 0 w 1803400"/>
              <a:gd name="connsiteY3" fmla="*/ 0 h 467212"/>
              <a:gd name="connsiteX4" fmla="*/ 0 w 1803400"/>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03400" h="467212">
                <a:moveTo>
                  <a:pt x="0" y="467212"/>
                </a:moveTo>
                <a:lnTo>
                  <a:pt x="1803400" y="467212"/>
                </a:lnTo>
                <a:lnTo>
                  <a:pt x="1803400" y="0"/>
                </a:lnTo>
                <a:lnTo>
                  <a:pt x="0" y="0"/>
                </a:lnTo>
                <a:lnTo>
                  <a:pt x="0" y="467212"/>
                </a:lnTo>
              </a:path>
            </a:pathLst>
          </a:custGeom>
          <a:solidFill>
            <a:srgbClr val="4472C4">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1031876" y="2600812"/>
            <a:ext cx="3108325" cy="467212"/>
          </a:xfrm>
          <a:custGeom>
            <a:avLst/>
            <a:gdLst>
              <a:gd name="connsiteX0" fmla="*/ 0 w 3108325"/>
              <a:gd name="connsiteY0" fmla="*/ 467212 h 467212"/>
              <a:gd name="connsiteX1" fmla="*/ 3108325 w 3108325"/>
              <a:gd name="connsiteY1" fmla="*/ 467212 h 467212"/>
              <a:gd name="connsiteX2" fmla="*/ 3108325 w 3108325"/>
              <a:gd name="connsiteY2" fmla="*/ 0 h 467212"/>
              <a:gd name="connsiteX3" fmla="*/ 0 w 3108325"/>
              <a:gd name="connsiteY3" fmla="*/ 0 h 467212"/>
              <a:gd name="connsiteX4" fmla="*/ 0 w 3108325"/>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08325" h="467212">
                <a:moveTo>
                  <a:pt x="0" y="467212"/>
                </a:moveTo>
                <a:lnTo>
                  <a:pt x="3108325" y="467212"/>
                </a:lnTo>
                <a:lnTo>
                  <a:pt x="3108325" y="0"/>
                </a:lnTo>
                <a:lnTo>
                  <a:pt x="0" y="0"/>
                </a:lnTo>
                <a:lnTo>
                  <a:pt x="0" y="467212"/>
                </a:lnTo>
              </a:path>
            </a:pathLst>
          </a:custGeom>
          <a:solidFill>
            <a:srgbClr val="CFD5EA">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4140200" y="2600812"/>
            <a:ext cx="1803400" cy="467212"/>
          </a:xfrm>
          <a:custGeom>
            <a:avLst/>
            <a:gdLst>
              <a:gd name="connsiteX0" fmla="*/ 0 w 1803400"/>
              <a:gd name="connsiteY0" fmla="*/ 467212 h 467212"/>
              <a:gd name="connsiteX1" fmla="*/ 1803400 w 1803400"/>
              <a:gd name="connsiteY1" fmla="*/ 467212 h 467212"/>
              <a:gd name="connsiteX2" fmla="*/ 1803400 w 1803400"/>
              <a:gd name="connsiteY2" fmla="*/ 0 h 467212"/>
              <a:gd name="connsiteX3" fmla="*/ 0 w 1803400"/>
              <a:gd name="connsiteY3" fmla="*/ 0 h 467212"/>
              <a:gd name="connsiteX4" fmla="*/ 0 w 1803400"/>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03400" h="467212">
                <a:moveTo>
                  <a:pt x="0" y="467212"/>
                </a:moveTo>
                <a:lnTo>
                  <a:pt x="1803400" y="467212"/>
                </a:lnTo>
                <a:lnTo>
                  <a:pt x="1803400" y="0"/>
                </a:lnTo>
                <a:lnTo>
                  <a:pt x="0" y="0"/>
                </a:lnTo>
                <a:lnTo>
                  <a:pt x="0" y="467212"/>
                </a:lnTo>
              </a:path>
            </a:pathLst>
          </a:custGeom>
          <a:solidFill>
            <a:srgbClr val="CFD5EA">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1031876" y="3068026"/>
            <a:ext cx="3108325" cy="467211"/>
          </a:xfrm>
          <a:custGeom>
            <a:avLst/>
            <a:gdLst>
              <a:gd name="connsiteX0" fmla="*/ 0 w 3108325"/>
              <a:gd name="connsiteY0" fmla="*/ 467211 h 467211"/>
              <a:gd name="connsiteX1" fmla="*/ 3108325 w 3108325"/>
              <a:gd name="connsiteY1" fmla="*/ 467211 h 467211"/>
              <a:gd name="connsiteX2" fmla="*/ 3108325 w 3108325"/>
              <a:gd name="connsiteY2" fmla="*/ 0 h 467211"/>
              <a:gd name="connsiteX3" fmla="*/ 0 w 3108325"/>
              <a:gd name="connsiteY3" fmla="*/ 0 h 467211"/>
              <a:gd name="connsiteX4" fmla="*/ 0 w 3108325"/>
              <a:gd name="connsiteY4" fmla="*/ 467211 h 46721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08325" h="467211">
                <a:moveTo>
                  <a:pt x="0" y="467211"/>
                </a:moveTo>
                <a:lnTo>
                  <a:pt x="3108325" y="467211"/>
                </a:lnTo>
                <a:lnTo>
                  <a:pt x="3108325" y="0"/>
                </a:lnTo>
                <a:lnTo>
                  <a:pt x="0" y="0"/>
                </a:lnTo>
                <a:lnTo>
                  <a:pt x="0" y="467211"/>
                </a:lnTo>
              </a:path>
            </a:pathLst>
          </a:custGeom>
          <a:solidFill>
            <a:srgbClr val="E9EBF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4140200" y="3068026"/>
            <a:ext cx="1803400" cy="467211"/>
          </a:xfrm>
          <a:custGeom>
            <a:avLst/>
            <a:gdLst>
              <a:gd name="connsiteX0" fmla="*/ 0 w 1803400"/>
              <a:gd name="connsiteY0" fmla="*/ 467211 h 467211"/>
              <a:gd name="connsiteX1" fmla="*/ 1803400 w 1803400"/>
              <a:gd name="connsiteY1" fmla="*/ 467211 h 467211"/>
              <a:gd name="connsiteX2" fmla="*/ 1803400 w 1803400"/>
              <a:gd name="connsiteY2" fmla="*/ 0 h 467211"/>
              <a:gd name="connsiteX3" fmla="*/ 0 w 1803400"/>
              <a:gd name="connsiteY3" fmla="*/ 0 h 467211"/>
              <a:gd name="connsiteX4" fmla="*/ 0 w 1803400"/>
              <a:gd name="connsiteY4" fmla="*/ 467211 h 46721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03400" h="467211">
                <a:moveTo>
                  <a:pt x="0" y="467211"/>
                </a:moveTo>
                <a:lnTo>
                  <a:pt x="1803400" y="467211"/>
                </a:lnTo>
                <a:lnTo>
                  <a:pt x="1803400" y="0"/>
                </a:lnTo>
                <a:lnTo>
                  <a:pt x="0" y="0"/>
                </a:lnTo>
                <a:lnTo>
                  <a:pt x="0" y="467211"/>
                </a:lnTo>
              </a:path>
            </a:pathLst>
          </a:custGeom>
          <a:solidFill>
            <a:srgbClr val="E9EBF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1031876" y="3535236"/>
            <a:ext cx="3108325" cy="467212"/>
          </a:xfrm>
          <a:custGeom>
            <a:avLst/>
            <a:gdLst>
              <a:gd name="connsiteX0" fmla="*/ 0 w 3108325"/>
              <a:gd name="connsiteY0" fmla="*/ 467212 h 467212"/>
              <a:gd name="connsiteX1" fmla="*/ 3108325 w 3108325"/>
              <a:gd name="connsiteY1" fmla="*/ 467212 h 467212"/>
              <a:gd name="connsiteX2" fmla="*/ 3108325 w 3108325"/>
              <a:gd name="connsiteY2" fmla="*/ 0 h 467212"/>
              <a:gd name="connsiteX3" fmla="*/ 0 w 3108325"/>
              <a:gd name="connsiteY3" fmla="*/ 0 h 467212"/>
              <a:gd name="connsiteX4" fmla="*/ 0 w 3108325"/>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08325" h="467212">
                <a:moveTo>
                  <a:pt x="0" y="467212"/>
                </a:moveTo>
                <a:lnTo>
                  <a:pt x="3108325" y="467212"/>
                </a:lnTo>
                <a:lnTo>
                  <a:pt x="3108325" y="0"/>
                </a:lnTo>
                <a:lnTo>
                  <a:pt x="0" y="0"/>
                </a:lnTo>
                <a:lnTo>
                  <a:pt x="0" y="467212"/>
                </a:lnTo>
              </a:path>
            </a:pathLst>
          </a:custGeom>
          <a:solidFill>
            <a:srgbClr val="CFD5EA">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4140200" y="3535236"/>
            <a:ext cx="1803400" cy="467212"/>
          </a:xfrm>
          <a:custGeom>
            <a:avLst/>
            <a:gdLst>
              <a:gd name="connsiteX0" fmla="*/ 0 w 1803400"/>
              <a:gd name="connsiteY0" fmla="*/ 467212 h 467212"/>
              <a:gd name="connsiteX1" fmla="*/ 1803400 w 1803400"/>
              <a:gd name="connsiteY1" fmla="*/ 467212 h 467212"/>
              <a:gd name="connsiteX2" fmla="*/ 1803400 w 1803400"/>
              <a:gd name="connsiteY2" fmla="*/ 0 h 467212"/>
              <a:gd name="connsiteX3" fmla="*/ 0 w 1803400"/>
              <a:gd name="connsiteY3" fmla="*/ 0 h 467212"/>
              <a:gd name="connsiteX4" fmla="*/ 0 w 1803400"/>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03400" h="467212">
                <a:moveTo>
                  <a:pt x="0" y="467212"/>
                </a:moveTo>
                <a:lnTo>
                  <a:pt x="1803400" y="467212"/>
                </a:lnTo>
                <a:lnTo>
                  <a:pt x="1803400" y="0"/>
                </a:lnTo>
                <a:lnTo>
                  <a:pt x="0" y="0"/>
                </a:lnTo>
                <a:lnTo>
                  <a:pt x="0" y="467212"/>
                </a:lnTo>
              </a:path>
            </a:pathLst>
          </a:custGeom>
          <a:solidFill>
            <a:srgbClr val="CFD5EA">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3"/>
          <p:cNvSpPr/>
          <p:nvPr/>
        </p:nvSpPr>
        <p:spPr>
          <a:xfrm>
            <a:off x="1031876" y="4002449"/>
            <a:ext cx="3108325" cy="467212"/>
          </a:xfrm>
          <a:custGeom>
            <a:avLst/>
            <a:gdLst>
              <a:gd name="connsiteX0" fmla="*/ 0 w 3108325"/>
              <a:gd name="connsiteY0" fmla="*/ 467212 h 467212"/>
              <a:gd name="connsiteX1" fmla="*/ 3108325 w 3108325"/>
              <a:gd name="connsiteY1" fmla="*/ 467212 h 467212"/>
              <a:gd name="connsiteX2" fmla="*/ 3108325 w 3108325"/>
              <a:gd name="connsiteY2" fmla="*/ 0 h 467212"/>
              <a:gd name="connsiteX3" fmla="*/ 0 w 3108325"/>
              <a:gd name="connsiteY3" fmla="*/ 0 h 467212"/>
              <a:gd name="connsiteX4" fmla="*/ 0 w 3108325"/>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08325" h="467212">
                <a:moveTo>
                  <a:pt x="0" y="467212"/>
                </a:moveTo>
                <a:lnTo>
                  <a:pt x="3108325" y="467212"/>
                </a:lnTo>
                <a:lnTo>
                  <a:pt x="3108325" y="0"/>
                </a:lnTo>
                <a:lnTo>
                  <a:pt x="0" y="0"/>
                </a:lnTo>
                <a:lnTo>
                  <a:pt x="0" y="467212"/>
                </a:lnTo>
              </a:path>
            </a:pathLst>
          </a:custGeom>
          <a:solidFill>
            <a:srgbClr val="E9EBF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3"/>
          <p:cNvSpPr/>
          <p:nvPr/>
        </p:nvSpPr>
        <p:spPr>
          <a:xfrm>
            <a:off x="4140200" y="4002449"/>
            <a:ext cx="1803400" cy="467212"/>
          </a:xfrm>
          <a:custGeom>
            <a:avLst/>
            <a:gdLst>
              <a:gd name="connsiteX0" fmla="*/ 0 w 1803400"/>
              <a:gd name="connsiteY0" fmla="*/ 467212 h 467212"/>
              <a:gd name="connsiteX1" fmla="*/ 1803400 w 1803400"/>
              <a:gd name="connsiteY1" fmla="*/ 467212 h 467212"/>
              <a:gd name="connsiteX2" fmla="*/ 1803400 w 1803400"/>
              <a:gd name="connsiteY2" fmla="*/ 0 h 467212"/>
              <a:gd name="connsiteX3" fmla="*/ 0 w 1803400"/>
              <a:gd name="connsiteY3" fmla="*/ 0 h 467212"/>
              <a:gd name="connsiteX4" fmla="*/ 0 w 1803400"/>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03400" h="467212">
                <a:moveTo>
                  <a:pt x="0" y="467212"/>
                </a:moveTo>
                <a:lnTo>
                  <a:pt x="1803400" y="467212"/>
                </a:lnTo>
                <a:lnTo>
                  <a:pt x="1803400" y="0"/>
                </a:lnTo>
                <a:lnTo>
                  <a:pt x="0" y="0"/>
                </a:lnTo>
                <a:lnTo>
                  <a:pt x="0" y="467212"/>
                </a:lnTo>
              </a:path>
            </a:pathLst>
          </a:custGeom>
          <a:solidFill>
            <a:srgbClr val="E9EBF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1031876" y="4469660"/>
            <a:ext cx="3108325" cy="467212"/>
          </a:xfrm>
          <a:custGeom>
            <a:avLst/>
            <a:gdLst>
              <a:gd name="connsiteX0" fmla="*/ 0 w 3108325"/>
              <a:gd name="connsiteY0" fmla="*/ 467212 h 467212"/>
              <a:gd name="connsiteX1" fmla="*/ 3108325 w 3108325"/>
              <a:gd name="connsiteY1" fmla="*/ 467212 h 467212"/>
              <a:gd name="connsiteX2" fmla="*/ 3108325 w 3108325"/>
              <a:gd name="connsiteY2" fmla="*/ 0 h 467212"/>
              <a:gd name="connsiteX3" fmla="*/ 0 w 3108325"/>
              <a:gd name="connsiteY3" fmla="*/ 0 h 467212"/>
              <a:gd name="connsiteX4" fmla="*/ 0 w 3108325"/>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08325" h="467212">
                <a:moveTo>
                  <a:pt x="0" y="467212"/>
                </a:moveTo>
                <a:lnTo>
                  <a:pt x="3108325" y="467212"/>
                </a:lnTo>
                <a:lnTo>
                  <a:pt x="3108325" y="0"/>
                </a:lnTo>
                <a:lnTo>
                  <a:pt x="0" y="0"/>
                </a:lnTo>
                <a:lnTo>
                  <a:pt x="0" y="467212"/>
                </a:lnTo>
              </a:path>
            </a:pathLst>
          </a:custGeom>
          <a:solidFill>
            <a:srgbClr val="CFD5EA">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reeform 3"/>
          <p:cNvSpPr/>
          <p:nvPr/>
        </p:nvSpPr>
        <p:spPr>
          <a:xfrm>
            <a:off x="4140200" y="4469660"/>
            <a:ext cx="1803400" cy="467212"/>
          </a:xfrm>
          <a:custGeom>
            <a:avLst/>
            <a:gdLst>
              <a:gd name="connsiteX0" fmla="*/ 0 w 1803400"/>
              <a:gd name="connsiteY0" fmla="*/ 467212 h 467212"/>
              <a:gd name="connsiteX1" fmla="*/ 1803400 w 1803400"/>
              <a:gd name="connsiteY1" fmla="*/ 467212 h 467212"/>
              <a:gd name="connsiteX2" fmla="*/ 1803400 w 1803400"/>
              <a:gd name="connsiteY2" fmla="*/ 0 h 467212"/>
              <a:gd name="connsiteX3" fmla="*/ 0 w 1803400"/>
              <a:gd name="connsiteY3" fmla="*/ 0 h 467212"/>
              <a:gd name="connsiteX4" fmla="*/ 0 w 1803400"/>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03400" h="467212">
                <a:moveTo>
                  <a:pt x="0" y="467212"/>
                </a:moveTo>
                <a:lnTo>
                  <a:pt x="1803400" y="467212"/>
                </a:lnTo>
                <a:lnTo>
                  <a:pt x="1803400" y="0"/>
                </a:lnTo>
                <a:lnTo>
                  <a:pt x="0" y="0"/>
                </a:lnTo>
                <a:lnTo>
                  <a:pt x="0" y="467212"/>
                </a:lnTo>
              </a:path>
            </a:pathLst>
          </a:custGeom>
          <a:solidFill>
            <a:srgbClr val="CFD5EA">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3"/>
          <p:cNvSpPr/>
          <p:nvPr/>
        </p:nvSpPr>
        <p:spPr>
          <a:xfrm>
            <a:off x="1031876" y="4936872"/>
            <a:ext cx="3108325" cy="467212"/>
          </a:xfrm>
          <a:custGeom>
            <a:avLst/>
            <a:gdLst>
              <a:gd name="connsiteX0" fmla="*/ 0 w 3108325"/>
              <a:gd name="connsiteY0" fmla="*/ 467212 h 467212"/>
              <a:gd name="connsiteX1" fmla="*/ 3108325 w 3108325"/>
              <a:gd name="connsiteY1" fmla="*/ 467212 h 467212"/>
              <a:gd name="connsiteX2" fmla="*/ 3108325 w 3108325"/>
              <a:gd name="connsiteY2" fmla="*/ 0 h 467212"/>
              <a:gd name="connsiteX3" fmla="*/ 0 w 3108325"/>
              <a:gd name="connsiteY3" fmla="*/ 0 h 467212"/>
              <a:gd name="connsiteX4" fmla="*/ 0 w 3108325"/>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08325" h="467212">
                <a:moveTo>
                  <a:pt x="0" y="467212"/>
                </a:moveTo>
                <a:lnTo>
                  <a:pt x="3108325" y="467212"/>
                </a:lnTo>
                <a:lnTo>
                  <a:pt x="3108325" y="0"/>
                </a:lnTo>
                <a:lnTo>
                  <a:pt x="0" y="0"/>
                </a:lnTo>
                <a:lnTo>
                  <a:pt x="0" y="467212"/>
                </a:lnTo>
              </a:path>
            </a:pathLst>
          </a:custGeom>
          <a:solidFill>
            <a:srgbClr val="E9EBF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
          <p:cNvSpPr/>
          <p:nvPr/>
        </p:nvSpPr>
        <p:spPr>
          <a:xfrm>
            <a:off x="4140200" y="4936872"/>
            <a:ext cx="1803400" cy="467212"/>
          </a:xfrm>
          <a:custGeom>
            <a:avLst/>
            <a:gdLst>
              <a:gd name="connsiteX0" fmla="*/ 0 w 1803400"/>
              <a:gd name="connsiteY0" fmla="*/ 467212 h 467212"/>
              <a:gd name="connsiteX1" fmla="*/ 1803400 w 1803400"/>
              <a:gd name="connsiteY1" fmla="*/ 467212 h 467212"/>
              <a:gd name="connsiteX2" fmla="*/ 1803400 w 1803400"/>
              <a:gd name="connsiteY2" fmla="*/ 0 h 467212"/>
              <a:gd name="connsiteX3" fmla="*/ 0 w 1803400"/>
              <a:gd name="connsiteY3" fmla="*/ 0 h 467212"/>
              <a:gd name="connsiteX4" fmla="*/ 0 w 1803400"/>
              <a:gd name="connsiteY4" fmla="*/ 467212 h 46721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03400" h="467212">
                <a:moveTo>
                  <a:pt x="0" y="467212"/>
                </a:moveTo>
                <a:lnTo>
                  <a:pt x="1803400" y="467212"/>
                </a:lnTo>
                <a:lnTo>
                  <a:pt x="1803400" y="0"/>
                </a:lnTo>
                <a:lnTo>
                  <a:pt x="0" y="0"/>
                </a:lnTo>
                <a:lnTo>
                  <a:pt x="0" y="467212"/>
                </a:lnTo>
              </a:path>
            </a:pathLst>
          </a:custGeom>
          <a:solidFill>
            <a:srgbClr val="E9EBF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3"/>
          <p:cNvSpPr/>
          <p:nvPr/>
        </p:nvSpPr>
        <p:spPr>
          <a:xfrm>
            <a:off x="-75653904" y="-78104352"/>
            <a:ext cx="161302704" cy="164573184"/>
          </a:xfrm>
          <a:custGeom>
            <a:avLst/>
            <a:gdLst>
              <a:gd name="connsiteX0" fmla="*/ 80645000 w 161302704"/>
              <a:gd name="connsiteY0" fmla="*/ 80645000 h 164573184"/>
              <a:gd name="connsiteX1" fmla="*/ 80645000 w 161302704"/>
              <a:gd name="connsiteY1" fmla="*/ 83928176 h 164573184"/>
            </a:gdLst>
            <a:ahLst/>
            <a:cxnLst>
              <a:cxn ang="0">
                <a:pos x="connsiteX0" y="connsiteY0"/>
              </a:cxn>
              <a:cxn ang="1">
                <a:pos x="connsiteX1" y="connsiteY1"/>
              </a:cxn>
            </a:cxnLst>
            <a:rect l="l" t="t" r="r" b="b"/>
            <a:pathLst>
              <a:path w="161302704" h="164573184">
                <a:moveTo>
                  <a:pt x="80645000" y="80645000"/>
                </a:moveTo>
                <a:lnTo>
                  <a:pt x="80645000" y="83928176"/>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Freeform 3"/>
          <p:cNvSpPr/>
          <p:nvPr/>
        </p:nvSpPr>
        <p:spPr>
          <a:xfrm>
            <a:off x="-240058576" y="-238920784"/>
            <a:ext cx="488794432" cy="483908096"/>
          </a:xfrm>
          <a:custGeom>
            <a:avLst/>
            <a:gdLst>
              <a:gd name="connsiteX0" fmla="*/ 241935008 w 488794432"/>
              <a:gd name="connsiteY0" fmla="*/ 241935008 h 483908096"/>
              <a:gd name="connsiteX1" fmla="*/ 246859424 w 488794432"/>
              <a:gd name="connsiteY1" fmla="*/ 241935008 h 483908096"/>
            </a:gdLst>
            <a:ahLst/>
            <a:cxnLst>
              <a:cxn ang="0">
                <a:pos x="connsiteX0" y="connsiteY0"/>
              </a:cxn>
              <a:cxn ang="1">
                <a:pos x="connsiteX1" y="connsiteY1"/>
              </a:cxn>
            </a:cxnLst>
            <a:rect l="l" t="t" r="r" b="b"/>
            <a:pathLst>
              <a:path w="488794432" h="483908096">
                <a:moveTo>
                  <a:pt x="241935008" y="241935008"/>
                </a:moveTo>
                <a:lnTo>
                  <a:pt x="246859424" y="241935008"/>
                </a:lnTo>
              </a:path>
            </a:pathLst>
          </a:custGeom>
          <a:ln w="381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Freeform 3"/>
          <p:cNvSpPr/>
          <p:nvPr/>
        </p:nvSpPr>
        <p:spPr>
          <a:xfrm>
            <a:off x="-78768576" y="-77163584"/>
            <a:ext cx="166214432" cy="161302704"/>
          </a:xfrm>
          <a:custGeom>
            <a:avLst/>
            <a:gdLst>
              <a:gd name="connsiteX0" fmla="*/ 80645000 w 166214432"/>
              <a:gd name="connsiteY0" fmla="*/ 80645000 h 161302704"/>
              <a:gd name="connsiteX1" fmla="*/ 85569424 w 166214432"/>
              <a:gd name="connsiteY1" fmla="*/ 80645000 h 161302704"/>
            </a:gdLst>
            <a:ahLst/>
            <a:cxnLst>
              <a:cxn ang="0">
                <a:pos x="connsiteX0" y="connsiteY0"/>
              </a:cxn>
              <a:cxn ang="1">
                <a:pos x="connsiteX1" y="connsiteY1"/>
              </a:cxn>
            </a:cxnLst>
            <a:rect l="l" t="t" r="r" b="b"/>
            <a:pathLst>
              <a:path w="166214432" h="161302704">
                <a:moveTo>
                  <a:pt x="80645000" y="80645000"/>
                </a:moveTo>
                <a:lnTo>
                  <a:pt x="85569424" y="8064500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Freeform 3"/>
          <p:cNvSpPr/>
          <p:nvPr/>
        </p:nvSpPr>
        <p:spPr>
          <a:xfrm>
            <a:off x="-78768576" y="-76696376"/>
            <a:ext cx="166214432" cy="161302704"/>
          </a:xfrm>
          <a:custGeom>
            <a:avLst/>
            <a:gdLst>
              <a:gd name="connsiteX0" fmla="*/ 80645000 w 166214432"/>
              <a:gd name="connsiteY0" fmla="*/ 80645000 h 161302704"/>
              <a:gd name="connsiteX1" fmla="*/ 85569424 w 166214432"/>
              <a:gd name="connsiteY1" fmla="*/ 80645000 h 161302704"/>
            </a:gdLst>
            <a:ahLst/>
            <a:cxnLst>
              <a:cxn ang="0">
                <a:pos x="connsiteX0" y="connsiteY0"/>
              </a:cxn>
              <a:cxn ang="1">
                <a:pos x="connsiteX1" y="connsiteY1"/>
              </a:cxn>
            </a:cxnLst>
            <a:rect l="l" t="t" r="r" b="b"/>
            <a:pathLst>
              <a:path w="166214432" h="161302704">
                <a:moveTo>
                  <a:pt x="80645000" y="80645000"/>
                </a:moveTo>
                <a:lnTo>
                  <a:pt x="85569424" y="8064500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Freeform 3"/>
          <p:cNvSpPr/>
          <p:nvPr/>
        </p:nvSpPr>
        <p:spPr>
          <a:xfrm>
            <a:off x="-78768576" y="-76229160"/>
            <a:ext cx="166214432" cy="161302704"/>
          </a:xfrm>
          <a:custGeom>
            <a:avLst/>
            <a:gdLst>
              <a:gd name="connsiteX0" fmla="*/ 80645000 w 166214432"/>
              <a:gd name="connsiteY0" fmla="*/ 80645000 h 161302704"/>
              <a:gd name="connsiteX1" fmla="*/ 85569424 w 166214432"/>
              <a:gd name="connsiteY1" fmla="*/ 80645000 h 161302704"/>
            </a:gdLst>
            <a:ahLst/>
            <a:cxnLst>
              <a:cxn ang="0">
                <a:pos x="connsiteX0" y="connsiteY0"/>
              </a:cxn>
              <a:cxn ang="1">
                <a:pos x="connsiteX1" y="connsiteY1"/>
              </a:cxn>
            </a:cxnLst>
            <a:rect l="l" t="t" r="r" b="b"/>
            <a:pathLst>
              <a:path w="166214432" h="161302704">
                <a:moveTo>
                  <a:pt x="80645000" y="80645000"/>
                </a:moveTo>
                <a:lnTo>
                  <a:pt x="85569424" y="8064500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Freeform 3"/>
          <p:cNvSpPr/>
          <p:nvPr/>
        </p:nvSpPr>
        <p:spPr>
          <a:xfrm>
            <a:off x="-78768576" y="-75761952"/>
            <a:ext cx="166214432" cy="161302704"/>
          </a:xfrm>
          <a:custGeom>
            <a:avLst/>
            <a:gdLst>
              <a:gd name="connsiteX0" fmla="*/ 80645000 w 166214432"/>
              <a:gd name="connsiteY0" fmla="*/ 80645000 h 161302704"/>
              <a:gd name="connsiteX1" fmla="*/ 85569424 w 166214432"/>
              <a:gd name="connsiteY1" fmla="*/ 80645000 h 161302704"/>
            </a:gdLst>
            <a:ahLst/>
            <a:cxnLst>
              <a:cxn ang="0">
                <a:pos x="connsiteX0" y="connsiteY0"/>
              </a:cxn>
              <a:cxn ang="1">
                <a:pos x="connsiteX1" y="connsiteY1"/>
              </a:cxn>
            </a:cxnLst>
            <a:rect l="l" t="t" r="r" b="b"/>
            <a:pathLst>
              <a:path w="166214432" h="161302704">
                <a:moveTo>
                  <a:pt x="80645000" y="80645000"/>
                </a:moveTo>
                <a:lnTo>
                  <a:pt x="85569424" y="8064500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Freeform 3"/>
          <p:cNvSpPr/>
          <p:nvPr/>
        </p:nvSpPr>
        <p:spPr>
          <a:xfrm>
            <a:off x="-78768576" y="-75294736"/>
            <a:ext cx="166214432" cy="161302704"/>
          </a:xfrm>
          <a:custGeom>
            <a:avLst/>
            <a:gdLst>
              <a:gd name="connsiteX0" fmla="*/ 80645000 w 166214432"/>
              <a:gd name="connsiteY0" fmla="*/ 80645000 h 161302704"/>
              <a:gd name="connsiteX1" fmla="*/ 85569424 w 166214432"/>
              <a:gd name="connsiteY1" fmla="*/ 80645000 h 161302704"/>
            </a:gdLst>
            <a:ahLst/>
            <a:cxnLst>
              <a:cxn ang="0">
                <a:pos x="connsiteX0" y="connsiteY0"/>
              </a:cxn>
              <a:cxn ang="1">
                <a:pos x="connsiteX1" y="connsiteY1"/>
              </a:cxn>
            </a:cxnLst>
            <a:rect l="l" t="t" r="r" b="b"/>
            <a:pathLst>
              <a:path w="166214432" h="161302704">
                <a:moveTo>
                  <a:pt x="80645000" y="80645000"/>
                </a:moveTo>
                <a:lnTo>
                  <a:pt x="85569424" y="8064500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Freeform 3"/>
          <p:cNvSpPr/>
          <p:nvPr/>
        </p:nvSpPr>
        <p:spPr>
          <a:xfrm>
            <a:off x="-78762224" y="-78104352"/>
            <a:ext cx="161302704" cy="164573184"/>
          </a:xfrm>
          <a:custGeom>
            <a:avLst/>
            <a:gdLst>
              <a:gd name="connsiteX0" fmla="*/ 80645000 w 161302704"/>
              <a:gd name="connsiteY0" fmla="*/ 80645000 h 164573184"/>
              <a:gd name="connsiteX1" fmla="*/ 80645000 w 161302704"/>
              <a:gd name="connsiteY1" fmla="*/ 83928176 h 164573184"/>
            </a:gdLst>
            <a:ahLst/>
            <a:cxnLst>
              <a:cxn ang="0">
                <a:pos x="connsiteX0" y="connsiteY0"/>
              </a:cxn>
              <a:cxn ang="1">
                <a:pos x="connsiteX1" y="connsiteY1"/>
              </a:cxn>
            </a:cxnLst>
            <a:rect l="l" t="t" r="r" b="b"/>
            <a:pathLst>
              <a:path w="161302704" h="164573184">
                <a:moveTo>
                  <a:pt x="80645000" y="80645000"/>
                </a:moveTo>
                <a:lnTo>
                  <a:pt x="80645000" y="83928176"/>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Freeform 3"/>
          <p:cNvSpPr/>
          <p:nvPr/>
        </p:nvSpPr>
        <p:spPr>
          <a:xfrm>
            <a:off x="-73850496" y="-78104352"/>
            <a:ext cx="161302704" cy="164573184"/>
          </a:xfrm>
          <a:custGeom>
            <a:avLst/>
            <a:gdLst>
              <a:gd name="connsiteX0" fmla="*/ 80645000 w 161302704"/>
              <a:gd name="connsiteY0" fmla="*/ 80645000 h 164573184"/>
              <a:gd name="connsiteX1" fmla="*/ 80645000 w 161302704"/>
              <a:gd name="connsiteY1" fmla="*/ 83928176 h 164573184"/>
            </a:gdLst>
            <a:ahLst/>
            <a:cxnLst>
              <a:cxn ang="0">
                <a:pos x="connsiteX0" y="connsiteY0"/>
              </a:cxn>
              <a:cxn ang="1">
                <a:pos x="connsiteX1" y="connsiteY1"/>
              </a:cxn>
            </a:cxnLst>
            <a:rect l="l" t="t" r="r" b="b"/>
            <a:pathLst>
              <a:path w="161302704" h="164573184">
                <a:moveTo>
                  <a:pt x="80645000" y="80645000"/>
                </a:moveTo>
                <a:lnTo>
                  <a:pt x="80645000" y="83928176"/>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Freeform 3"/>
          <p:cNvSpPr/>
          <p:nvPr/>
        </p:nvSpPr>
        <p:spPr>
          <a:xfrm>
            <a:off x="-78768576" y="-74818902"/>
            <a:ext cx="166214432" cy="161302704"/>
          </a:xfrm>
          <a:custGeom>
            <a:avLst/>
            <a:gdLst>
              <a:gd name="connsiteX0" fmla="*/ 80645000 w 166214432"/>
              <a:gd name="connsiteY0" fmla="*/ 80645000 h 161302704"/>
              <a:gd name="connsiteX1" fmla="*/ 85569424 w 166214432"/>
              <a:gd name="connsiteY1" fmla="*/ 80645000 h 161302704"/>
            </a:gdLst>
            <a:ahLst/>
            <a:cxnLst>
              <a:cxn ang="0">
                <a:pos x="connsiteX0" y="connsiteY0"/>
              </a:cxn>
              <a:cxn ang="1">
                <a:pos x="connsiteX1" y="connsiteY1"/>
              </a:cxn>
            </a:cxnLst>
            <a:rect l="l" t="t" r="r" b="b"/>
            <a:pathLst>
              <a:path w="166214432" h="161302704">
                <a:moveTo>
                  <a:pt x="80645000" y="80645000"/>
                </a:moveTo>
                <a:lnTo>
                  <a:pt x="85569424" y="8064500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6482654" y="2296424"/>
            <a:ext cx="5249922" cy="3035669"/>
          </a:xfrm>
          <a:prstGeom prst="rect">
            <a:avLst/>
          </a:prstGeom>
          <a:noFill/>
        </p:spPr>
      </p:pic>
      <p:sp>
        <p:nvSpPr>
          <p:cNvPr id="2" name="TextBox 1"/>
          <p:cNvSpPr txBox="1"/>
          <p:nvPr/>
        </p:nvSpPr>
        <p:spPr>
          <a:xfrm>
            <a:off x="914400" y="724733"/>
            <a:ext cx="4416337"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参加人类考试的成绩</a:t>
            </a:r>
          </a:p>
        </p:txBody>
      </p:sp>
      <p:sp>
        <p:nvSpPr>
          <p:cNvPr id="32" name="TextBox 1"/>
          <p:cNvSpPr txBox="1"/>
          <p:nvPr/>
        </p:nvSpPr>
        <p:spPr>
          <a:xfrm>
            <a:off x="1117601" y="2253610"/>
            <a:ext cx="2835969" cy="3173561"/>
          </a:xfrm>
          <a:prstGeom prst="rect">
            <a:avLst/>
          </a:prstGeom>
          <a:noFill/>
        </p:spPr>
        <p:txBody>
          <a:bodyPr wrap="none" lIns="0" tIns="0" rIns="0" rtlCol="0">
            <a:spAutoFit/>
          </a:bodyPr>
          <a:lstStyle/>
          <a:p>
            <a:pPr>
              <a:lnSpc>
                <a:spcPts val="3100"/>
              </a:lnSpc>
            </a:pPr>
            <a:r>
              <a:rPr lang="en-US" altLang="zh-CN" sz="2400" b="1" dirty="0">
                <a:solidFill>
                  <a:srgbClr val="FFFFFF"/>
                </a:solidFill>
                <a:latin typeface="微软雅黑" pitchFamily="18" charset="0"/>
                <a:cs typeface="微软雅黑" pitchFamily="18" charset="0"/>
              </a:rPr>
              <a:t>考试</a:t>
            </a:r>
          </a:p>
          <a:p>
            <a:pPr>
              <a:lnSpc>
                <a:spcPts val="3600"/>
              </a:lnSpc>
            </a:pPr>
            <a:r>
              <a:rPr lang="en-US" altLang="zh-CN" sz="2400" dirty="0">
                <a:solidFill>
                  <a:srgbClr val="000000"/>
                </a:solidFill>
                <a:latin typeface="微软雅黑" pitchFamily="18" charset="0"/>
                <a:cs typeface="微软雅黑" pitchFamily="18" charset="0"/>
              </a:rPr>
              <a:t>模拟律师资格考试</a:t>
            </a:r>
          </a:p>
          <a:p>
            <a:pPr>
              <a:lnSpc>
                <a:spcPts val="3600"/>
              </a:lnSpc>
            </a:pPr>
            <a:r>
              <a:rPr lang="en-US" altLang="zh-CN" sz="2400" dirty="0">
                <a:solidFill>
                  <a:srgbClr val="000000"/>
                </a:solidFill>
                <a:latin typeface="Calibri" pitchFamily="18" charset="0"/>
                <a:cs typeface="Calibri" pitchFamily="18" charset="0"/>
              </a:rPr>
              <a:t>SAT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阅读考试</a:t>
            </a:r>
          </a:p>
          <a:p>
            <a:pPr>
              <a:lnSpc>
                <a:spcPts val="3600"/>
              </a:lnSpc>
            </a:pPr>
            <a:r>
              <a:rPr lang="en-US" altLang="zh-CN" sz="2400" dirty="0">
                <a:solidFill>
                  <a:srgbClr val="000000"/>
                </a:solidFill>
                <a:latin typeface="Calibri" pitchFamily="18" charset="0"/>
                <a:cs typeface="Calibri" pitchFamily="18" charset="0"/>
              </a:rPr>
              <a:t>SAT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数学考试</a:t>
            </a:r>
          </a:p>
          <a:p>
            <a:pPr>
              <a:lnSpc>
                <a:spcPts val="3600"/>
              </a:lnSpc>
            </a:pPr>
            <a:r>
              <a:rPr lang="en-US" altLang="zh-CN" sz="2400" dirty="0">
                <a:solidFill>
                  <a:srgbClr val="000000"/>
                </a:solidFill>
                <a:latin typeface="Calibri" pitchFamily="18" charset="0"/>
                <a:cs typeface="Calibri" pitchFamily="18" charset="0"/>
              </a:rPr>
              <a:t>GRE</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Quantitative</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考试</a:t>
            </a:r>
          </a:p>
          <a:p>
            <a:pPr>
              <a:lnSpc>
                <a:spcPts val="3600"/>
              </a:lnSpc>
            </a:pPr>
            <a:r>
              <a:rPr lang="en-US" altLang="zh-CN" sz="2400" dirty="0">
                <a:solidFill>
                  <a:srgbClr val="000000"/>
                </a:solidFill>
                <a:latin typeface="Calibri" pitchFamily="18" charset="0"/>
                <a:cs typeface="Calibri" pitchFamily="18" charset="0"/>
              </a:rPr>
              <a:t>GRE</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Verbal</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考试</a:t>
            </a:r>
          </a:p>
          <a:p>
            <a:pPr>
              <a:lnSpc>
                <a:spcPts val="3600"/>
              </a:lnSpc>
            </a:pPr>
            <a:r>
              <a:rPr lang="en-US" altLang="zh-CN" sz="2400" dirty="0">
                <a:solidFill>
                  <a:srgbClr val="000000"/>
                </a:solidFill>
                <a:latin typeface="Calibri" pitchFamily="18" charset="0"/>
                <a:cs typeface="Calibri" pitchFamily="18" charset="0"/>
              </a:rPr>
              <a:t>GRE</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写作考试</a:t>
            </a:r>
          </a:p>
        </p:txBody>
      </p:sp>
      <p:sp>
        <p:nvSpPr>
          <p:cNvPr id="33" name="TextBox 1"/>
          <p:cNvSpPr txBox="1"/>
          <p:nvPr/>
        </p:nvSpPr>
        <p:spPr>
          <a:xfrm>
            <a:off x="4229100" y="2253610"/>
            <a:ext cx="1530868" cy="3186385"/>
          </a:xfrm>
          <a:prstGeom prst="rect">
            <a:avLst/>
          </a:prstGeom>
          <a:noFill/>
        </p:spPr>
        <p:txBody>
          <a:bodyPr wrap="none" lIns="0" tIns="0" rIns="0" rtlCol="0">
            <a:spAutoFit/>
          </a:bodyPr>
          <a:lstStyle/>
          <a:p>
            <a:pPr>
              <a:lnSpc>
                <a:spcPts val="3100"/>
              </a:lnSpc>
            </a:pPr>
            <a:r>
              <a:rPr lang="en-US" altLang="zh-CN" sz="2400" b="1" dirty="0">
                <a:solidFill>
                  <a:srgbClr val="FFFFFF"/>
                </a:solidFill>
                <a:latin typeface="微软雅黑" pitchFamily="18" charset="0"/>
                <a:cs typeface="微软雅黑" pitchFamily="18" charset="0"/>
              </a:rPr>
              <a:t>排名情况</a:t>
            </a:r>
          </a:p>
          <a:p>
            <a:pPr>
              <a:lnSpc>
                <a:spcPts val="3700"/>
              </a:lnSpc>
            </a:pPr>
            <a:r>
              <a:rPr lang="en-US" altLang="zh-CN" sz="2400" dirty="0">
                <a:solidFill>
                  <a:srgbClr val="000000"/>
                </a:solidFill>
                <a:latin typeface="微软雅黑" pitchFamily="18" charset="0"/>
                <a:cs typeface="微软雅黑" pitchFamily="18" charset="0"/>
              </a:rPr>
              <a:t>排名前</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10%</a:t>
            </a:r>
          </a:p>
          <a:p>
            <a:pPr>
              <a:lnSpc>
                <a:spcPts val="3600"/>
              </a:lnSpc>
            </a:pPr>
            <a:r>
              <a:rPr lang="en-US" altLang="zh-CN" sz="2400" dirty="0">
                <a:solidFill>
                  <a:srgbClr val="000000"/>
                </a:solidFill>
                <a:latin typeface="微软雅黑" pitchFamily="18" charset="0"/>
                <a:cs typeface="微软雅黑" pitchFamily="18" charset="0"/>
              </a:rPr>
              <a:t>排名前</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7%</a:t>
            </a:r>
          </a:p>
          <a:p>
            <a:pPr>
              <a:lnSpc>
                <a:spcPts val="3600"/>
              </a:lnSpc>
            </a:pPr>
            <a:r>
              <a:rPr lang="en-US" altLang="zh-CN" sz="2400" dirty="0">
                <a:solidFill>
                  <a:srgbClr val="000000"/>
                </a:solidFill>
                <a:latin typeface="微软雅黑" pitchFamily="18" charset="0"/>
                <a:cs typeface="微软雅黑" pitchFamily="18" charset="0"/>
              </a:rPr>
              <a:t>排名前</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11%</a:t>
            </a:r>
          </a:p>
          <a:p>
            <a:pPr>
              <a:lnSpc>
                <a:spcPts val="3600"/>
              </a:lnSpc>
            </a:pPr>
            <a:r>
              <a:rPr lang="en-US" altLang="zh-CN" sz="2400" dirty="0">
                <a:solidFill>
                  <a:srgbClr val="000000"/>
                </a:solidFill>
                <a:latin typeface="微软雅黑" pitchFamily="18" charset="0"/>
                <a:cs typeface="微软雅黑" pitchFamily="18" charset="0"/>
              </a:rPr>
              <a:t>排名前</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20%</a:t>
            </a:r>
          </a:p>
          <a:p>
            <a:pPr>
              <a:lnSpc>
                <a:spcPts val="3600"/>
              </a:lnSpc>
            </a:pPr>
            <a:r>
              <a:rPr lang="en-US" altLang="zh-CN" sz="2400" dirty="0">
                <a:solidFill>
                  <a:srgbClr val="000000"/>
                </a:solidFill>
                <a:latin typeface="微软雅黑" pitchFamily="18" charset="0"/>
                <a:cs typeface="微软雅黑" pitchFamily="18" charset="0"/>
              </a:rPr>
              <a:t>排名前</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1%</a:t>
            </a:r>
          </a:p>
          <a:p>
            <a:pPr>
              <a:lnSpc>
                <a:spcPts val="3600"/>
              </a:lnSpc>
            </a:pPr>
            <a:r>
              <a:rPr lang="en-US" altLang="zh-CN" sz="2400" dirty="0">
                <a:solidFill>
                  <a:srgbClr val="000000"/>
                </a:solidFill>
                <a:latin typeface="微软雅黑" pitchFamily="18" charset="0"/>
                <a:cs typeface="微软雅黑" pitchFamily="18" charset="0"/>
              </a:rPr>
              <a:t>排名前</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46%</a:t>
            </a:r>
          </a:p>
        </p:txBody>
      </p:sp>
      <p:sp>
        <p:nvSpPr>
          <p:cNvPr id="36" name="TextBox 1">
            <a:extLst>
              <a:ext uri="{FF2B5EF4-FFF2-40B4-BE49-F238E27FC236}">
                <a16:creationId xmlns:a16="http://schemas.microsoft.com/office/drawing/2014/main" id="{22E859B6-21F3-CD43-A9E7-F072DC9DCBA4}"/>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39</a:t>
            </a:r>
          </a:p>
        </p:txBody>
      </p:sp>
      <p:sp>
        <p:nvSpPr>
          <p:cNvPr id="37" name="Freeform 3">
            <a:extLst>
              <a:ext uri="{FF2B5EF4-FFF2-40B4-BE49-F238E27FC236}">
                <a16:creationId xmlns:a16="http://schemas.microsoft.com/office/drawing/2014/main" id="{01C8D082-7C6E-114D-8E34-2E2305CB733D}"/>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TextBox 1">
            <a:extLst>
              <a:ext uri="{FF2B5EF4-FFF2-40B4-BE49-F238E27FC236}">
                <a16:creationId xmlns:a16="http://schemas.microsoft.com/office/drawing/2014/main" id="{023078BE-0F17-5642-BE27-AB11C438BAD2}"/>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2642426" y="1489740"/>
            <a:ext cx="6883400" cy="5359400"/>
          </a:xfrm>
          <a:prstGeom prst="rect">
            <a:avLst/>
          </a:prstGeom>
          <a:noFill/>
        </p:spPr>
      </p:pic>
      <p:sp>
        <p:nvSpPr>
          <p:cNvPr id="2" name="TextBox 1"/>
          <p:cNvSpPr txBox="1"/>
          <p:nvPr/>
        </p:nvSpPr>
        <p:spPr>
          <a:xfrm>
            <a:off x="852817" y="624065"/>
            <a:ext cx="8092087"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与</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GPT-3.5</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2022</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参加人类考试的成绩</a:t>
            </a:r>
          </a:p>
        </p:txBody>
      </p:sp>
      <p:sp>
        <p:nvSpPr>
          <p:cNvPr id="9" name="TextBox 1">
            <a:extLst>
              <a:ext uri="{FF2B5EF4-FFF2-40B4-BE49-F238E27FC236}">
                <a16:creationId xmlns:a16="http://schemas.microsoft.com/office/drawing/2014/main" id="{72685433-4F8F-4D41-A83D-6B268A0756FB}"/>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40</a:t>
            </a:r>
          </a:p>
        </p:txBody>
      </p:sp>
      <p:sp>
        <p:nvSpPr>
          <p:cNvPr id="10" name="Freeform 3">
            <a:extLst>
              <a:ext uri="{FF2B5EF4-FFF2-40B4-BE49-F238E27FC236}">
                <a16:creationId xmlns:a16="http://schemas.microsoft.com/office/drawing/2014/main" id="{AF9C5065-C6C3-3245-A5F0-A90930F37173}"/>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9E6326D8-4975-4D4B-9B53-A0693D7DBA1D}"/>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362199" y="2469336"/>
            <a:ext cx="7382157" cy="3733343"/>
          </a:xfrm>
          <a:prstGeom prst="rect">
            <a:avLst/>
          </a:prstGeom>
          <a:noFill/>
        </p:spPr>
      </p:pic>
      <p:sp>
        <p:nvSpPr>
          <p:cNvPr id="6" name="TextBox 1"/>
          <p:cNvSpPr txBox="1"/>
          <p:nvPr/>
        </p:nvSpPr>
        <p:spPr>
          <a:xfrm>
            <a:off x="533400" y="823576"/>
            <a:ext cx="7787388" cy="134203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多模态大语言模型基于大语言模型进行扩展</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700"/>
              </a:lnSpc>
              <a:tabLst>
                <a:tab pos="2286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具有解读图像等信息的能力</a:t>
            </a:r>
          </a:p>
        </p:txBody>
      </p:sp>
      <p:sp>
        <p:nvSpPr>
          <p:cNvPr id="10" name="TextBox 1">
            <a:extLst>
              <a:ext uri="{FF2B5EF4-FFF2-40B4-BE49-F238E27FC236}">
                <a16:creationId xmlns:a16="http://schemas.microsoft.com/office/drawing/2014/main" id="{08FAA6A1-2FEA-F44B-A740-49974E359D0D}"/>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41</a:t>
            </a:r>
          </a:p>
        </p:txBody>
      </p:sp>
      <p:sp>
        <p:nvSpPr>
          <p:cNvPr id="11" name="Freeform 3">
            <a:extLst>
              <a:ext uri="{FF2B5EF4-FFF2-40B4-BE49-F238E27FC236}">
                <a16:creationId xmlns:a16="http://schemas.microsoft.com/office/drawing/2014/main" id="{1C823057-206E-B840-9609-77231A300682}"/>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95B9C717-480C-9B4D-AEEC-876FA74C442E}"/>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多模态大语言模型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4648200" y="904523"/>
            <a:ext cx="4546600" cy="5829300"/>
          </a:xfrm>
          <a:prstGeom prst="rect">
            <a:avLst/>
          </a:prstGeom>
          <a:noFill/>
        </p:spPr>
      </p:pic>
      <p:sp>
        <p:nvSpPr>
          <p:cNvPr id="2" name="TextBox 1"/>
          <p:cNvSpPr txBox="1"/>
          <p:nvPr/>
        </p:nvSpPr>
        <p:spPr>
          <a:xfrm>
            <a:off x="914400" y="800717"/>
            <a:ext cx="2612959"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解读图片</a:t>
            </a:r>
          </a:p>
        </p:txBody>
      </p:sp>
      <p:sp>
        <p:nvSpPr>
          <p:cNvPr id="10" name="TextBox 1">
            <a:extLst>
              <a:ext uri="{FF2B5EF4-FFF2-40B4-BE49-F238E27FC236}">
                <a16:creationId xmlns:a16="http://schemas.microsoft.com/office/drawing/2014/main" id="{A767415E-A2E4-9249-B66C-B19A88E021D7}"/>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42</a:t>
            </a:r>
          </a:p>
        </p:txBody>
      </p:sp>
      <p:sp>
        <p:nvSpPr>
          <p:cNvPr id="11" name="Freeform 3">
            <a:extLst>
              <a:ext uri="{FF2B5EF4-FFF2-40B4-BE49-F238E27FC236}">
                <a16:creationId xmlns:a16="http://schemas.microsoft.com/office/drawing/2014/main" id="{D3FBDBC7-BF53-F84C-A143-325C0D1C4943}"/>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00896F58-97B9-2049-A02F-8D2D8EEEC2BA}"/>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多模态大语言模型</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5346700" y="876300"/>
            <a:ext cx="5041900" cy="5981700"/>
          </a:xfrm>
          <a:prstGeom prst="rect">
            <a:avLst/>
          </a:prstGeom>
          <a:noFill/>
        </p:spPr>
      </p:pic>
      <p:sp>
        <p:nvSpPr>
          <p:cNvPr id="2" name="TextBox 1"/>
          <p:cNvSpPr txBox="1"/>
          <p:nvPr/>
        </p:nvSpPr>
        <p:spPr>
          <a:xfrm>
            <a:off x="762000" y="1006939"/>
            <a:ext cx="5715000" cy="750526"/>
          </a:xfrm>
          <a:prstGeom prst="rect">
            <a:avLst/>
          </a:prstGeom>
          <a:noFill/>
        </p:spPr>
        <p:txBody>
          <a:bodyPr wrap="square" lIns="0" tIns="0" rIns="0" rtlCol="0">
            <a:spAutoFit/>
          </a:bodyPr>
          <a:lstStyle/>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GPT-4</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on</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LeetCode</a:t>
            </a:r>
            <a:r>
              <a:rPr lang="zh-CN" altLang="en-US" sz="2800" b="1" dirty="0">
                <a:solidFill>
                  <a:srgbClr val="000000"/>
                </a:solidFill>
                <a:latin typeface="Calibri" pitchFamily="18" charset="0"/>
                <a:cs typeface="Calibri" pitchFamily="18" charset="0"/>
              </a:rPr>
              <a:t> </a:t>
            </a:r>
            <a:r>
              <a:rPr lang="en-US" altLang="zh-CN" sz="2800" b="1" dirty="0">
                <a:solidFill>
                  <a:srgbClr val="000000"/>
                </a:solidFill>
                <a:latin typeface="Calibri" pitchFamily="18" charset="0"/>
                <a:cs typeface="Calibri" pitchFamily="18" charset="0"/>
              </a:rPr>
              <a:t>problems</a:t>
            </a:r>
          </a:p>
        </p:txBody>
      </p:sp>
      <p:sp>
        <p:nvSpPr>
          <p:cNvPr id="9" name="TextBox 1">
            <a:extLst>
              <a:ext uri="{FF2B5EF4-FFF2-40B4-BE49-F238E27FC236}">
                <a16:creationId xmlns:a16="http://schemas.microsoft.com/office/drawing/2014/main" id="{1D7C2BB1-59A1-C24F-9C7C-2529E604C89B}"/>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43</a:t>
            </a:r>
          </a:p>
        </p:txBody>
      </p:sp>
      <p:sp>
        <p:nvSpPr>
          <p:cNvPr id="10" name="Freeform 3">
            <a:extLst>
              <a:ext uri="{FF2B5EF4-FFF2-40B4-BE49-F238E27FC236}">
                <a16:creationId xmlns:a16="http://schemas.microsoft.com/office/drawing/2014/main" id="{34EFABA1-D853-B74A-8B67-37A1C6602883}"/>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59002041-E070-AF47-9921-90197CD274F6}"/>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多模态大语言模型</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3"/>
          <a:srcRect b="21974"/>
          <a:stretch/>
        </p:blipFill>
        <p:spPr bwMode="auto">
          <a:xfrm>
            <a:off x="1620477" y="2274081"/>
            <a:ext cx="4254500" cy="3745719"/>
          </a:xfrm>
          <a:prstGeom prst="rect">
            <a:avLst/>
          </a:prstGeom>
          <a:noFill/>
        </p:spPr>
      </p:pic>
      <p:pic>
        <p:nvPicPr>
          <p:cNvPr id="6" name="Picture 3"/>
          <p:cNvPicPr>
            <a:picLocks noChangeAspect="1" noChangeArrowheads="1"/>
          </p:cNvPicPr>
          <p:nvPr/>
        </p:nvPicPr>
        <p:blipFill rotWithShape="1">
          <a:blip r:embed="rId4"/>
          <a:srcRect t="25301"/>
          <a:stretch/>
        </p:blipFill>
        <p:spPr bwMode="auto">
          <a:xfrm>
            <a:off x="6395677" y="1490018"/>
            <a:ext cx="4406900" cy="4724400"/>
          </a:xfrm>
          <a:prstGeom prst="rect">
            <a:avLst/>
          </a:prstGeom>
          <a:noFill/>
        </p:spPr>
      </p:pic>
      <p:sp>
        <p:nvSpPr>
          <p:cNvPr id="2" name="TextBox 1"/>
          <p:cNvSpPr txBox="1"/>
          <p:nvPr/>
        </p:nvSpPr>
        <p:spPr>
          <a:xfrm>
            <a:off x="1014099" y="660236"/>
            <a:ext cx="5285101" cy="1326902"/>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GPT-4Vision</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可实现跨模态（图片</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文字）理解</a:t>
            </a:r>
          </a:p>
        </p:txBody>
      </p:sp>
      <p:sp>
        <p:nvSpPr>
          <p:cNvPr id="10" name="Freeform 3">
            <a:extLst>
              <a:ext uri="{FF2B5EF4-FFF2-40B4-BE49-F238E27FC236}">
                <a16:creationId xmlns:a16="http://schemas.microsoft.com/office/drawing/2014/main" id="{31FF5613-3544-3D45-B14B-F790A9A20021}"/>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73CA0836-8FBB-7348-B789-6C15AC924EB3}"/>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多模态大语言模型</a:t>
            </a:r>
          </a:p>
        </p:txBody>
      </p:sp>
      <p:sp>
        <p:nvSpPr>
          <p:cNvPr id="15" name="TextBox 1">
            <a:extLst>
              <a:ext uri="{FF2B5EF4-FFF2-40B4-BE49-F238E27FC236}">
                <a16:creationId xmlns:a16="http://schemas.microsoft.com/office/drawing/2014/main" id="{F3127AC6-32E4-3F42-890A-275EBE41F4F9}"/>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762000" y="660364"/>
            <a:ext cx="3717428"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GPT-4Vision</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TextBox 1">
            <a:extLst>
              <a:ext uri="{FF2B5EF4-FFF2-40B4-BE49-F238E27FC236}">
                <a16:creationId xmlns:a16="http://schemas.microsoft.com/office/drawing/2014/main" id="{0A9B9A2C-6044-B744-86CE-127E01546CA3}"/>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45</a:t>
            </a:r>
          </a:p>
        </p:txBody>
      </p:sp>
      <p:sp>
        <p:nvSpPr>
          <p:cNvPr id="10" name="Freeform 3">
            <a:extLst>
              <a:ext uri="{FF2B5EF4-FFF2-40B4-BE49-F238E27FC236}">
                <a16:creationId xmlns:a16="http://schemas.microsoft.com/office/drawing/2014/main" id="{06C04A14-260C-9948-9F7E-8095BAB278B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32906AC0-7535-F64D-9E94-E77830F7DCEF}"/>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多模态大语言模型</a:t>
            </a:r>
          </a:p>
        </p:txBody>
      </p:sp>
      <p:pic>
        <p:nvPicPr>
          <p:cNvPr id="6" name="图片 5">
            <a:extLst>
              <a:ext uri="{FF2B5EF4-FFF2-40B4-BE49-F238E27FC236}">
                <a16:creationId xmlns:a16="http://schemas.microsoft.com/office/drawing/2014/main" id="{1F29EFFB-55AF-4990-9E34-9BDE233A96E8}"/>
              </a:ext>
            </a:extLst>
          </p:cNvPr>
          <p:cNvPicPr>
            <a:picLocks noChangeAspect="1"/>
          </p:cNvPicPr>
          <p:nvPr/>
        </p:nvPicPr>
        <p:blipFill>
          <a:blip r:embed="rId2"/>
          <a:stretch>
            <a:fillRect/>
          </a:stretch>
        </p:blipFill>
        <p:spPr>
          <a:xfrm>
            <a:off x="2269628" y="1676400"/>
            <a:ext cx="7467600" cy="492012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838200" y="794194"/>
            <a:ext cx="9785051"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GPT-5</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Generative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Pre-trained</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Transformer</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5</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2025.08</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TextBox 1">
            <a:extLst>
              <a:ext uri="{FF2B5EF4-FFF2-40B4-BE49-F238E27FC236}">
                <a16:creationId xmlns:a16="http://schemas.microsoft.com/office/drawing/2014/main" id="{66B3699A-E08E-6E45-9EDB-BDE2C500DF1F}"/>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38</a:t>
            </a:r>
          </a:p>
        </p:txBody>
      </p:sp>
      <p:sp>
        <p:nvSpPr>
          <p:cNvPr id="10" name="Freeform 3">
            <a:extLst>
              <a:ext uri="{FF2B5EF4-FFF2-40B4-BE49-F238E27FC236}">
                <a16:creationId xmlns:a16="http://schemas.microsoft.com/office/drawing/2014/main" id="{FAF1D298-3879-EB4F-9E4D-ACC71C23D7C2}"/>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3A4A8E09-C180-7649-8E9D-3A21A80B9C25}"/>
              </a:ext>
            </a:extLst>
          </p:cNvPr>
          <p:cNvSpPr txBox="1"/>
          <p:nvPr/>
        </p:nvSpPr>
        <p:spPr>
          <a:xfrm>
            <a:off x="472354" y="152400"/>
            <a:ext cx="2059859"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大语言模型</a:t>
            </a:r>
          </a:p>
        </p:txBody>
      </p:sp>
      <p:pic>
        <p:nvPicPr>
          <p:cNvPr id="8" name="图片 7">
            <a:extLst>
              <a:ext uri="{FF2B5EF4-FFF2-40B4-BE49-F238E27FC236}">
                <a16:creationId xmlns:a16="http://schemas.microsoft.com/office/drawing/2014/main" id="{DDF9941D-E8E7-4EBD-A574-459943905C70}"/>
              </a:ext>
            </a:extLst>
          </p:cNvPr>
          <p:cNvPicPr>
            <a:picLocks noChangeAspect="1"/>
          </p:cNvPicPr>
          <p:nvPr/>
        </p:nvPicPr>
        <p:blipFill rotWithShape="1">
          <a:blip r:embed="rId3"/>
          <a:srcRect t="7778" b="5111"/>
          <a:stretch/>
        </p:blipFill>
        <p:spPr>
          <a:xfrm>
            <a:off x="1676400" y="1742668"/>
            <a:ext cx="7924800" cy="4314614"/>
          </a:xfrm>
          <a:prstGeom prst="rect">
            <a:avLst/>
          </a:prstGeom>
        </p:spPr>
      </p:pic>
      <p:sp>
        <p:nvSpPr>
          <p:cNvPr id="3" name="矩形 2">
            <a:extLst>
              <a:ext uri="{FF2B5EF4-FFF2-40B4-BE49-F238E27FC236}">
                <a16:creationId xmlns:a16="http://schemas.microsoft.com/office/drawing/2014/main" id="{E74CB9AB-467B-45D9-A56F-DA5883CFD048}"/>
              </a:ext>
            </a:extLst>
          </p:cNvPr>
          <p:cNvSpPr/>
          <p:nvPr/>
        </p:nvSpPr>
        <p:spPr>
          <a:xfrm>
            <a:off x="1968573" y="6220519"/>
            <a:ext cx="7524304" cy="369332"/>
          </a:xfrm>
          <a:prstGeom prst="rect">
            <a:avLst/>
          </a:prstGeom>
        </p:spPr>
        <p:txBody>
          <a:bodyPr wrap="none">
            <a:spAutoFit/>
          </a:bodyPr>
          <a:lstStyle/>
          <a:p>
            <a:r>
              <a:rPr lang="en-US" altLang="zh-CN" dirty="0">
                <a:latin typeface="Times New Roman" pitchFamily="18" charset="0"/>
                <a:cs typeface="Times New Roman" pitchFamily="18" charset="0"/>
              </a:rPr>
              <a:t> </a:t>
            </a:r>
            <a:r>
              <a:rPr lang="en-US" altLang="zh-CN" b="1" dirty="0">
                <a:solidFill>
                  <a:srgbClr val="000000"/>
                </a:solidFill>
                <a:latin typeface="Calibri" pitchFamily="18" charset="0"/>
                <a:cs typeface="Calibri" pitchFamily="18" charset="0"/>
              </a:rPr>
              <a:t>GPT-3</a:t>
            </a:r>
            <a:r>
              <a:rPr lang="zh-CN" altLang="en-US" b="1" dirty="0">
                <a:solidFill>
                  <a:srgbClr val="000000"/>
                </a:solidFill>
                <a:latin typeface="Calibri" pitchFamily="18" charset="0"/>
                <a:cs typeface="Calibri" pitchFamily="18" charset="0"/>
              </a:rPr>
              <a:t>（高中生） → </a:t>
            </a:r>
            <a:r>
              <a:rPr lang="en-US" altLang="zh-CN" b="1" dirty="0">
                <a:solidFill>
                  <a:srgbClr val="000000"/>
                </a:solidFill>
                <a:latin typeface="Calibri" pitchFamily="18" charset="0"/>
                <a:cs typeface="Calibri" pitchFamily="18" charset="0"/>
              </a:rPr>
              <a:t>GPT-4</a:t>
            </a:r>
            <a:r>
              <a:rPr lang="zh-CN" altLang="en-US" b="1" dirty="0">
                <a:solidFill>
                  <a:srgbClr val="000000"/>
                </a:solidFill>
                <a:latin typeface="Calibri" pitchFamily="18" charset="0"/>
                <a:cs typeface="Calibri" pitchFamily="18" charset="0"/>
              </a:rPr>
              <a:t>（大学生） → </a:t>
            </a:r>
            <a:r>
              <a:rPr lang="en-US" altLang="zh-CN" b="1" dirty="0">
                <a:solidFill>
                  <a:srgbClr val="000000"/>
                </a:solidFill>
                <a:latin typeface="Calibri" pitchFamily="18" charset="0"/>
                <a:cs typeface="Calibri" pitchFamily="18" charset="0"/>
              </a:rPr>
              <a:t>GPT-5</a:t>
            </a:r>
            <a:r>
              <a:rPr lang="zh-CN" altLang="en-US" b="1" dirty="0">
                <a:solidFill>
                  <a:srgbClr val="000000"/>
                </a:solidFill>
                <a:latin typeface="Calibri" pitchFamily="18" charset="0"/>
                <a:cs typeface="Calibri" pitchFamily="18" charset="0"/>
              </a:rPr>
              <a:t>（博士生，甚至专家级）</a:t>
            </a:r>
            <a:r>
              <a:rPr lang="en-US" altLang="zh-CN" dirty="0">
                <a:latin typeface="Times New Roman" pitchFamily="18" charset="0"/>
                <a:cs typeface="Times New Roman" pitchFamily="18" charset="0"/>
              </a:rPr>
              <a:t> </a:t>
            </a:r>
            <a:endParaRPr lang="zh-CN" altLang="en-US" dirty="0"/>
          </a:p>
        </p:txBody>
      </p:sp>
    </p:spTree>
    <p:extLst>
      <p:ext uri="{BB962C8B-B14F-4D97-AF65-F5344CB8AC3E}">
        <p14:creationId xmlns:p14="http://schemas.microsoft.com/office/powerpoint/2010/main" val="3472791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1219200" y="1008328"/>
            <a:ext cx="4068743" cy="5520357"/>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国内的大语言模型</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err="1">
                <a:latin typeface="Times New Roman" pitchFamily="18" charset="0"/>
                <a:cs typeface="Times New Roman" pitchFamily="18" charset="0"/>
              </a:rPr>
              <a:t>DeepSeek</a:t>
            </a:r>
            <a:endParaRPr lang="en-US" altLang="zh-CN" sz="2400" dirty="0">
              <a:latin typeface="Times New Roman" pitchFamily="18" charset="0"/>
              <a:cs typeface="Times New Roman" pitchFamily="18" charset="0"/>
            </a:endParaRPr>
          </a:p>
          <a:p>
            <a:pPr>
              <a:lnSpc>
                <a:spcPts val="3600"/>
              </a:lnSpc>
              <a:tabLst>
                <a:tab pos="457200" algn="l"/>
              </a:tabLst>
            </a:pPr>
            <a:r>
              <a:rPr lang="en-US" altLang="zh-CN" sz="2400" b="1" dirty="0">
                <a:solidFill>
                  <a:srgbClr val="000000"/>
                </a:solidFill>
                <a:latin typeface="Times New Roman" pitchFamily="18" charset="0"/>
                <a:cs typeface="Times New Roman" pitchFamily="18" charset="0"/>
              </a:rPr>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err="1">
                <a:solidFill>
                  <a:srgbClr val="000000"/>
                </a:solidFill>
                <a:latin typeface="微软雅黑" pitchFamily="18" charset="0"/>
                <a:cs typeface="微软雅黑" pitchFamily="18" charset="0"/>
              </a:rPr>
              <a:t>百度：文心一言</a:t>
            </a:r>
            <a:endParaRPr lang="en-US" altLang="zh-CN" sz="2400" b="1" dirty="0">
              <a:solidFill>
                <a:srgbClr val="000000"/>
              </a:solidFill>
              <a:latin typeface="微软雅黑" pitchFamily="18" charset="0"/>
              <a:cs typeface="微软雅黑" pitchFamily="18" charset="0"/>
            </a:endParaRP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华为：盘古</a:t>
            </a:r>
          </a:p>
          <a:p>
            <a:pPr>
              <a:lnSpc>
                <a:spcPts val="37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科大讯飞：星火</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阿里：通义</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腾讯：混元</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复旦：</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MOSS</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清华（智谱）：</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ChatGLM</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月之暗面：</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Kimi</a:t>
            </a:r>
          </a:p>
        </p:txBody>
      </p:sp>
      <p:sp>
        <p:nvSpPr>
          <p:cNvPr id="8" name="TextBox 1">
            <a:extLst>
              <a:ext uri="{FF2B5EF4-FFF2-40B4-BE49-F238E27FC236}">
                <a16:creationId xmlns:a16="http://schemas.microsoft.com/office/drawing/2014/main" id="{6EBA6DC2-A3C4-3243-9C14-4D1B3C4017BA}"/>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46</a:t>
            </a:r>
          </a:p>
        </p:txBody>
      </p:sp>
      <p:sp>
        <p:nvSpPr>
          <p:cNvPr id="9" name="Freeform 3">
            <a:extLst>
              <a:ext uri="{FF2B5EF4-FFF2-40B4-BE49-F238E27FC236}">
                <a16:creationId xmlns:a16="http://schemas.microsoft.com/office/drawing/2014/main" id="{2B750F61-A494-B04B-9732-3B176FB75A0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13ED8FEC-C4C2-0E4B-9523-F67A2F85984B}"/>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多模态大语言模型</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TextBox 1">
            <a:extLst>
              <a:ext uri="{FF2B5EF4-FFF2-40B4-BE49-F238E27FC236}">
                <a16:creationId xmlns:a16="http://schemas.microsoft.com/office/drawing/2014/main" id="{6EBA6DC2-A3C4-3243-9C14-4D1B3C4017BA}"/>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46</a:t>
            </a:r>
          </a:p>
        </p:txBody>
      </p:sp>
      <p:sp>
        <p:nvSpPr>
          <p:cNvPr id="9" name="Freeform 3">
            <a:extLst>
              <a:ext uri="{FF2B5EF4-FFF2-40B4-BE49-F238E27FC236}">
                <a16:creationId xmlns:a16="http://schemas.microsoft.com/office/drawing/2014/main" id="{2B750F61-A494-B04B-9732-3B176FB75A0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13ED8FEC-C4C2-0E4B-9523-F67A2F85984B}"/>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多模态大语言模型</a:t>
            </a:r>
          </a:p>
        </p:txBody>
      </p:sp>
      <p:sp>
        <p:nvSpPr>
          <p:cNvPr id="4" name="矩形 3">
            <a:extLst>
              <a:ext uri="{FF2B5EF4-FFF2-40B4-BE49-F238E27FC236}">
                <a16:creationId xmlns:a16="http://schemas.microsoft.com/office/drawing/2014/main" id="{2FB973D1-4A00-4C1B-82C1-30506F2C4FDE}"/>
              </a:ext>
            </a:extLst>
          </p:cNvPr>
          <p:cNvSpPr/>
          <p:nvPr/>
        </p:nvSpPr>
        <p:spPr>
          <a:xfrm>
            <a:off x="1153981" y="2144309"/>
            <a:ext cx="2895216" cy="369332"/>
          </a:xfrm>
          <a:prstGeom prst="rect">
            <a:avLst/>
          </a:prstGeom>
        </p:spPr>
        <p:txBody>
          <a:bodyPr wrap="none">
            <a:spAutoFit/>
          </a:bodyPr>
          <a:lstStyle/>
          <a:p>
            <a:r>
              <a:rPr lang="en-US" altLang="zh-CN" dirty="0"/>
              <a:t>https://www.deepseek.com/</a:t>
            </a:r>
            <a:endParaRPr lang="zh-CN" altLang="en-US" dirty="0"/>
          </a:p>
        </p:txBody>
      </p:sp>
      <p:pic>
        <p:nvPicPr>
          <p:cNvPr id="6" name="图片 5">
            <a:extLst>
              <a:ext uri="{FF2B5EF4-FFF2-40B4-BE49-F238E27FC236}">
                <a16:creationId xmlns:a16="http://schemas.microsoft.com/office/drawing/2014/main" id="{B09D741F-3588-4132-BFCA-3C7D49415F79}"/>
              </a:ext>
            </a:extLst>
          </p:cNvPr>
          <p:cNvPicPr>
            <a:picLocks noChangeAspect="1"/>
          </p:cNvPicPr>
          <p:nvPr/>
        </p:nvPicPr>
        <p:blipFill>
          <a:blip r:embed="rId3"/>
          <a:stretch>
            <a:fillRect/>
          </a:stretch>
        </p:blipFill>
        <p:spPr>
          <a:xfrm>
            <a:off x="7239000" y="2667000"/>
            <a:ext cx="2971800" cy="3944390"/>
          </a:xfrm>
          <a:prstGeom prst="rect">
            <a:avLst/>
          </a:prstGeom>
        </p:spPr>
      </p:pic>
      <p:sp>
        <p:nvSpPr>
          <p:cNvPr id="7" name="矩形 6">
            <a:extLst>
              <a:ext uri="{FF2B5EF4-FFF2-40B4-BE49-F238E27FC236}">
                <a16:creationId xmlns:a16="http://schemas.microsoft.com/office/drawing/2014/main" id="{5AD00165-EAC0-4DEF-8C8C-4854CB2151CE}"/>
              </a:ext>
            </a:extLst>
          </p:cNvPr>
          <p:cNvSpPr/>
          <p:nvPr/>
        </p:nvSpPr>
        <p:spPr>
          <a:xfrm>
            <a:off x="5943600" y="984050"/>
            <a:ext cx="5562600" cy="923330"/>
          </a:xfrm>
          <a:prstGeom prst="rect">
            <a:avLst/>
          </a:prstGeom>
        </p:spPr>
        <p:txBody>
          <a:bodyPr wrap="square">
            <a:spAutoFit/>
          </a:bodyPr>
          <a:lstStyle/>
          <a:p>
            <a:r>
              <a:rPr lang="en-US" altLang="zh-CN" dirty="0"/>
              <a:t>2025</a:t>
            </a:r>
            <a:r>
              <a:rPr lang="zh-CN" altLang="en-US" dirty="0"/>
              <a:t>年</a:t>
            </a:r>
            <a:r>
              <a:rPr lang="en-US" altLang="zh-CN" dirty="0"/>
              <a:t>9</a:t>
            </a:r>
            <a:r>
              <a:rPr lang="zh-CN" altLang="en-US" dirty="0"/>
              <a:t>月</a:t>
            </a:r>
            <a:r>
              <a:rPr lang="en-US" altLang="zh-CN" dirty="0"/>
              <a:t>18</a:t>
            </a:r>
            <a:r>
              <a:rPr lang="zh-CN" altLang="en-US" dirty="0"/>
              <a:t>日，</a:t>
            </a:r>
            <a:r>
              <a:rPr lang="en-US" altLang="zh-CN" dirty="0" err="1"/>
              <a:t>DeepSeek</a:t>
            </a:r>
            <a:r>
              <a:rPr lang="zh-CN" altLang="en-US" dirty="0"/>
              <a:t>成为了首个登上</a:t>
            </a:r>
            <a:r>
              <a:rPr lang="en-US" altLang="zh-CN" dirty="0"/>
              <a:t>Nature</a:t>
            </a:r>
            <a:r>
              <a:rPr lang="zh-CN" altLang="en-US" dirty="0"/>
              <a:t>封面、经过严格同行审议的大模型研究。封面的</a:t>
            </a:r>
            <a:r>
              <a:rPr lang="en-US" altLang="zh-CN" dirty="0"/>
              <a:t>Self-Help</a:t>
            </a:r>
            <a:r>
              <a:rPr lang="zh-CN" altLang="en-US" dirty="0"/>
              <a:t>（自我帮助）指出了该研究的关键词</a:t>
            </a:r>
            <a:r>
              <a:rPr lang="en-US" altLang="zh-CN" dirty="0"/>
              <a:t>-“</a:t>
            </a:r>
            <a:r>
              <a:rPr lang="zh-CN" altLang="en-US" dirty="0"/>
              <a:t>强化学习”</a:t>
            </a:r>
          </a:p>
        </p:txBody>
      </p:sp>
      <p:sp>
        <p:nvSpPr>
          <p:cNvPr id="11" name="矩形 10">
            <a:extLst>
              <a:ext uri="{FF2B5EF4-FFF2-40B4-BE49-F238E27FC236}">
                <a16:creationId xmlns:a16="http://schemas.microsoft.com/office/drawing/2014/main" id="{6B492AA2-1372-430D-AB3C-245CBADA0EED}"/>
              </a:ext>
            </a:extLst>
          </p:cNvPr>
          <p:cNvSpPr/>
          <p:nvPr/>
        </p:nvSpPr>
        <p:spPr>
          <a:xfrm>
            <a:off x="6019800" y="1950325"/>
            <a:ext cx="5116585" cy="646331"/>
          </a:xfrm>
          <a:prstGeom prst="rect">
            <a:avLst/>
          </a:prstGeom>
        </p:spPr>
        <p:txBody>
          <a:bodyPr wrap="square">
            <a:spAutoFit/>
          </a:bodyPr>
          <a:lstStyle/>
          <a:p>
            <a:r>
              <a:rPr lang="en-US" altLang="zh-CN" dirty="0"/>
              <a:t>DeepSeek-R1</a:t>
            </a:r>
            <a:r>
              <a:rPr lang="zh-CN" altLang="en-US" dirty="0"/>
              <a:t>训练成本仅</a:t>
            </a:r>
            <a:r>
              <a:rPr lang="en-US" altLang="zh-CN" dirty="0"/>
              <a:t>29.4</a:t>
            </a:r>
            <a:r>
              <a:rPr lang="zh-CN" altLang="en-US" dirty="0"/>
              <a:t>万美元，在</a:t>
            </a:r>
            <a:r>
              <a:rPr lang="en-US" altLang="zh-CN" dirty="0"/>
              <a:t>64</a:t>
            </a:r>
            <a:r>
              <a:rPr lang="zh-CN" altLang="en-US" dirty="0"/>
              <a:t>块</a:t>
            </a:r>
            <a:r>
              <a:rPr lang="en-US" altLang="zh-CN" dirty="0"/>
              <a:t>H800</a:t>
            </a:r>
            <a:r>
              <a:rPr lang="zh-CN" altLang="en-US" dirty="0"/>
              <a:t>芯片上训练了大约四天</a:t>
            </a:r>
          </a:p>
        </p:txBody>
      </p:sp>
      <p:pic>
        <p:nvPicPr>
          <p:cNvPr id="12" name="图片 11">
            <a:extLst>
              <a:ext uri="{FF2B5EF4-FFF2-40B4-BE49-F238E27FC236}">
                <a16:creationId xmlns:a16="http://schemas.microsoft.com/office/drawing/2014/main" id="{528789A4-E63D-4D2F-81B1-F590E34EEA59}"/>
              </a:ext>
            </a:extLst>
          </p:cNvPr>
          <p:cNvPicPr>
            <a:picLocks noChangeAspect="1"/>
          </p:cNvPicPr>
          <p:nvPr/>
        </p:nvPicPr>
        <p:blipFill rotWithShape="1">
          <a:blip r:embed="rId4"/>
          <a:srcRect t="39278" b="38047"/>
          <a:stretch/>
        </p:blipFill>
        <p:spPr>
          <a:xfrm>
            <a:off x="386256" y="1218431"/>
            <a:ext cx="4514850" cy="1023737"/>
          </a:xfrm>
          <a:prstGeom prst="rect">
            <a:avLst/>
          </a:prstGeom>
        </p:spPr>
      </p:pic>
      <p:sp>
        <p:nvSpPr>
          <p:cNvPr id="13" name="矩形 12">
            <a:extLst>
              <a:ext uri="{FF2B5EF4-FFF2-40B4-BE49-F238E27FC236}">
                <a16:creationId xmlns:a16="http://schemas.microsoft.com/office/drawing/2014/main" id="{1D0957B6-B1DC-43F7-BF28-2B43CE9CFA05}"/>
              </a:ext>
            </a:extLst>
          </p:cNvPr>
          <p:cNvSpPr/>
          <p:nvPr/>
        </p:nvSpPr>
        <p:spPr>
          <a:xfrm>
            <a:off x="472354" y="3477052"/>
            <a:ext cx="4624984" cy="369332"/>
          </a:xfrm>
          <a:prstGeom prst="rect">
            <a:avLst/>
          </a:prstGeom>
        </p:spPr>
        <p:txBody>
          <a:bodyPr wrap="none">
            <a:spAutoFit/>
          </a:bodyPr>
          <a:lstStyle/>
          <a:p>
            <a:r>
              <a:rPr lang="en-US" altLang="zh-CN" dirty="0"/>
              <a:t>2025</a:t>
            </a:r>
            <a:r>
              <a:rPr lang="zh-CN" altLang="en-US" dirty="0"/>
              <a:t>年</a:t>
            </a:r>
            <a:r>
              <a:rPr lang="en-US" altLang="zh-CN" dirty="0"/>
              <a:t>1</a:t>
            </a:r>
            <a:r>
              <a:rPr lang="zh-CN" altLang="en-US" dirty="0"/>
              <a:t>月</a:t>
            </a:r>
            <a:r>
              <a:rPr lang="en-US" altLang="zh-CN" dirty="0"/>
              <a:t>15</a:t>
            </a:r>
            <a:r>
              <a:rPr lang="zh-CN" altLang="en-US" dirty="0"/>
              <a:t>日，</a:t>
            </a:r>
            <a:r>
              <a:rPr lang="en-US" altLang="zh-CN" dirty="0" err="1"/>
              <a:t>DeepSeek</a:t>
            </a:r>
            <a:r>
              <a:rPr lang="zh-CN" altLang="en-US" dirty="0"/>
              <a:t>官方</a:t>
            </a:r>
            <a:r>
              <a:rPr lang="en-US" altLang="zh-CN" dirty="0"/>
              <a:t>App</a:t>
            </a:r>
            <a:r>
              <a:rPr lang="zh-CN" altLang="en-US" dirty="0"/>
              <a:t>正式发布</a:t>
            </a:r>
          </a:p>
        </p:txBody>
      </p:sp>
      <p:sp>
        <p:nvSpPr>
          <p:cNvPr id="14" name="矩形 13">
            <a:extLst>
              <a:ext uri="{FF2B5EF4-FFF2-40B4-BE49-F238E27FC236}">
                <a16:creationId xmlns:a16="http://schemas.microsoft.com/office/drawing/2014/main" id="{2DFEF0D0-D582-4FB5-898E-55A7551323FF}"/>
              </a:ext>
            </a:extLst>
          </p:cNvPr>
          <p:cNvSpPr/>
          <p:nvPr/>
        </p:nvSpPr>
        <p:spPr>
          <a:xfrm>
            <a:off x="457200" y="2558534"/>
            <a:ext cx="4801314" cy="369332"/>
          </a:xfrm>
          <a:prstGeom prst="rect">
            <a:avLst/>
          </a:prstGeom>
        </p:spPr>
        <p:txBody>
          <a:bodyPr wrap="none">
            <a:spAutoFit/>
          </a:bodyPr>
          <a:lstStyle/>
          <a:p>
            <a:r>
              <a:rPr lang="zh-CN" altLang="en-US" dirty="0"/>
              <a:t>杭州深度求索人工智能基础技术研究有限公司</a:t>
            </a:r>
          </a:p>
        </p:txBody>
      </p:sp>
      <p:sp>
        <p:nvSpPr>
          <p:cNvPr id="16" name="矩形 15">
            <a:extLst>
              <a:ext uri="{FF2B5EF4-FFF2-40B4-BE49-F238E27FC236}">
                <a16:creationId xmlns:a16="http://schemas.microsoft.com/office/drawing/2014/main" id="{8952EDB8-5247-4573-8B96-5AC15B817B99}"/>
              </a:ext>
            </a:extLst>
          </p:cNvPr>
          <p:cNvSpPr/>
          <p:nvPr/>
        </p:nvSpPr>
        <p:spPr>
          <a:xfrm>
            <a:off x="533400" y="4357820"/>
            <a:ext cx="5029200" cy="1200329"/>
          </a:xfrm>
          <a:prstGeom prst="rect">
            <a:avLst/>
          </a:prstGeom>
        </p:spPr>
        <p:txBody>
          <a:bodyPr wrap="square">
            <a:spAutoFit/>
          </a:bodyPr>
          <a:lstStyle/>
          <a:p>
            <a:r>
              <a:rPr lang="zh-CN" altLang="en-US" dirty="0"/>
              <a:t>在推理、自然语言理解与生成、图像与视频分析、语音识别与合成、个性化推荐、大数据处理与分析、跨模态学习以及实时交互与响应等八大领域表现出色</a:t>
            </a:r>
          </a:p>
        </p:txBody>
      </p:sp>
    </p:spTree>
    <p:extLst>
      <p:ext uri="{BB962C8B-B14F-4D97-AF65-F5344CB8AC3E}">
        <p14:creationId xmlns:p14="http://schemas.microsoft.com/office/powerpoint/2010/main" val="21658166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TextBox 1"/>
          <p:cNvSpPr txBox="1"/>
          <p:nvPr/>
        </p:nvSpPr>
        <p:spPr>
          <a:xfrm>
            <a:off x="838200" y="1130282"/>
            <a:ext cx="4272003" cy="473206"/>
          </a:xfrm>
          <a:prstGeom prst="rect">
            <a:avLst/>
          </a:prstGeom>
          <a:noFill/>
        </p:spPr>
        <p:txBody>
          <a:bodyPr wrap="non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当前的大语言模型的特点</a:t>
            </a:r>
          </a:p>
        </p:txBody>
      </p:sp>
      <p:sp>
        <p:nvSpPr>
          <p:cNvPr id="7" name="TextBox 1"/>
          <p:cNvSpPr txBox="1"/>
          <p:nvPr/>
        </p:nvSpPr>
        <p:spPr>
          <a:xfrm>
            <a:off x="1066800" y="1887334"/>
            <a:ext cx="4493218" cy="413575"/>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具备良好的逻辑推理、沟通能力</a:t>
            </a:r>
          </a:p>
        </p:txBody>
      </p:sp>
      <p:sp>
        <p:nvSpPr>
          <p:cNvPr id="8" name="TextBox 1"/>
          <p:cNvSpPr txBox="1"/>
          <p:nvPr/>
        </p:nvSpPr>
        <p:spPr>
          <a:xfrm>
            <a:off x="1066801" y="2344534"/>
            <a:ext cx="5416547" cy="413575"/>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对于复杂文献有较好的理解和处理能力</a:t>
            </a:r>
          </a:p>
        </p:txBody>
      </p:sp>
      <p:sp>
        <p:nvSpPr>
          <p:cNvPr id="9" name="TextBox 1"/>
          <p:cNvSpPr txBox="1"/>
          <p:nvPr/>
        </p:nvSpPr>
        <p:spPr>
          <a:xfrm>
            <a:off x="1066800" y="2827133"/>
            <a:ext cx="7239000" cy="863600"/>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具有简单高效的数据处理能力及一定的代码编写能力</a:t>
            </a:r>
          </a:p>
          <a:p>
            <a:pPr>
              <a:lnSpc>
                <a:spcPts val="37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在扩展为多模态模型后，具有较好的图像生成能力</a:t>
            </a:r>
          </a:p>
        </p:txBody>
      </p:sp>
      <p:sp>
        <p:nvSpPr>
          <p:cNvPr id="10" name="TextBox 1"/>
          <p:cNvSpPr txBox="1"/>
          <p:nvPr/>
        </p:nvSpPr>
        <p:spPr>
          <a:xfrm>
            <a:off x="1066800" y="4211433"/>
            <a:ext cx="9674251" cy="419602"/>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输出的结果依赖提示语（</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prompt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），不同提示语可能导致不同的结果</a:t>
            </a:r>
          </a:p>
        </p:txBody>
      </p:sp>
      <p:sp>
        <p:nvSpPr>
          <p:cNvPr id="12" name="TextBox 1"/>
          <p:cNvSpPr txBox="1"/>
          <p:nvPr/>
        </p:nvSpPr>
        <p:spPr>
          <a:xfrm>
            <a:off x="1066800" y="4876800"/>
            <a:ext cx="7365799" cy="419602"/>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自身会产生</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幻</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觉</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无法保证其输出结果的准确性</a:t>
            </a:r>
          </a:p>
        </p:txBody>
      </p:sp>
      <p:sp>
        <p:nvSpPr>
          <p:cNvPr id="15" name="TextBox 1">
            <a:extLst>
              <a:ext uri="{FF2B5EF4-FFF2-40B4-BE49-F238E27FC236}">
                <a16:creationId xmlns:a16="http://schemas.microsoft.com/office/drawing/2014/main" id="{C3A5FF18-D594-CA4F-AD50-BB70D18AE599}"/>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47</a:t>
            </a:r>
          </a:p>
        </p:txBody>
      </p:sp>
      <p:sp>
        <p:nvSpPr>
          <p:cNvPr id="16" name="Freeform 3">
            <a:extLst>
              <a:ext uri="{FF2B5EF4-FFF2-40B4-BE49-F238E27FC236}">
                <a16:creationId xmlns:a16="http://schemas.microsoft.com/office/drawing/2014/main" id="{57E98BBE-5CB0-6A44-BF16-41C7A6947A5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TextBox 1">
            <a:extLst>
              <a:ext uri="{FF2B5EF4-FFF2-40B4-BE49-F238E27FC236}">
                <a16:creationId xmlns:a16="http://schemas.microsoft.com/office/drawing/2014/main" id="{18FEA30B-A7B2-504B-AA4C-54E81E33DA21}"/>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多模态大语言模型</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1400506" y="1757063"/>
            <a:ext cx="9390988" cy="4369418"/>
          </a:xfrm>
          <a:prstGeom prst="rect">
            <a:avLst/>
          </a:prstGeom>
          <a:noFill/>
        </p:spPr>
      </p:pic>
      <p:sp>
        <p:nvSpPr>
          <p:cNvPr id="2" name="TextBox 1"/>
          <p:cNvSpPr txBox="1"/>
          <p:nvPr/>
        </p:nvSpPr>
        <p:spPr>
          <a:xfrm>
            <a:off x="685800" y="800716"/>
            <a:ext cx="6740500" cy="755913"/>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8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Midjourney</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2022</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由文字生成图像</a:t>
            </a:r>
          </a:p>
        </p:txBody>
      </p:sp>
      <p:sp>
        <p:nvSpPr>
          <p:cNvPr id="9" name="TextBox 1">
            <a:extLst>
              <a:ext uri="{FF2B5EF4-FFF2-40B4-BE49-F238E27FC236}">
                <a16:creationId xmlns:a16="http://schemas.microsoft.com/office/drawing/2014/main" id="{E359B358-FF22-9141-B95E-7D527AF748E0}"/>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48</a:t>
            </a:r>
          </a:p>
        </p:txBody>
      </p:sp>
      <p:sp>
        <p:nvSpPr>
          <p:cNvPr id="10" name="Freeform 3">
            <a:extLst>
              <a:ext uri="{FF2B5EF4-FFF2-40B4-BE49-F238E27FC236}">
                <a16:creationId xmlns:a16="http://schemas.microsoft.com/office/drawing/2014/main" id="{E837E145-8EFA-7E4B-9146-2E23CC2040F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4C7A1A68-6AD9-D143-BDBE-12D1DF01C968}"/>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1752600" y="2133600"/>
            <a:ext cx="8458200" cy="4584700"/>
          </a:xfrm>
          <a:prstGeom prst="rect">
            <a:avLst/>
          </a:prstGeom>
          <a:noFill/>
        </p:spPr>
      </p:pic>
      <p:sp>
        <p:nvSpPr>
          <p:cNvPr id="2" name="TextBox 1"/>
          <p:cNvSpPr txBox="1"/>
          <p:nvPr/>
        </p:nvSpPr>
        <p:spPr>
          <a:xfrm>
            <a:off x="958349" y="694793"/>
            <a:ext cx="5251951" cy="1326902"/>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DALL-E</a:t>
            </a:r>
            <a:r>
              <a:rPr lang="zh-CN" altLang="en-US" sz="2800" b="1" dirty="0">
                <a:solidFill>
                  <a:srgbClr val="000000"/>
                </a:solidFill>
                <a:latin typeface="Calibri" pitchFamily="18" charset="0"/>
                <a:cs typeface="Calibri" pitchFamily="18" charset="0"/>
              </a:rPr>
              <a:t> </a:t>
            </a:r>
            <a:r>
              <a:rPr lang="en-US" altLang="zh-CN" sz="2800" b="1" dirty="0">
                <a:solidFill>
                  <a:srgbClr val="000000"/>
                </a:solidFill>
                <a:latin typeface="Calibri" pitchFamily="18" charset="0"/>
                <a:cs typeface="Calibri" pitchFamily="18" charset="0"/>
              </a:rPr>
              <a:t>2</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2022</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基于</a:t>
            </a:r>
            <a:r>
              <a:rPr lang="en-US" altLang="zh-CN" sz="2400" dirty="0">
                <a:latin typeface="Times New Roman" pitchFamily="18" charset="0"/>
                <a:cs typeface="Times New Roman" pitchFamily="18" charset="0"/>
              </a:rPr>
              <a:t> </a:t>
            </a:r>
            <a:r>
              <a:rPr lang="en-US" altLang="zh-CN" sz="2400" b="1" dirty="0">
                <a:solidFill>
                  <a:srgbClr val="000000"/>
                </a:solidFill>
                <a:latin typeface="Calibri" pitchFamily="18" charset="0"/>
                <a:cs typeface="Calibri" pitchFamily="18" charset="0"/>
              </a:rPr>
              <a:t>GPT-3</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模型：由文字生成图像</a:t>
            </a:r>
          </a:p>
        </p:txBody>
      </p:sp>
      <p:sp>
        <p:nvSpPr>
          <p:cNvPr id="9" name="TextBox 1">
            <a:extLst>
              <a:ext uri="{FF2B5EF4-FFF2-40B4-BE49-F238E27FC236}">
                <a16:creationId xmlns:a16="http://schemas.microsoft.com/office/drawing/2014/main" id="{50829A4C-4116-7548-B1AF-FB30EB9ABB53}"/>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49</a:t>
            </a:r>
          </a:p>
        </p:txBody>
      </p:sp>
      <p:sp>
        <p:nvSpPr>
          <p:cNvPr id="12" name="Freeform 3">
            <a:extLst>
              <a:ext uri="{FF2B5EF4-FFF2-40B4-BE49-F238E27FC236}">
                <a16:creationId xmlns:a16="http://schemas.microsoft.com/office/drawing/2014/main" id="{91361C0A-092E-744A-9D6F-49524A91024B}"/>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BA81B8D1-D473-4945-ADFF-DC97101B4EB4}"/>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095500" y="1549400"/>
            <a:ext cx="2501900" cy="2501900"/>
          </a:xfrm>
          <a:prstGeom prst="rect">
            <a:avLst/>
          </a:prstGeom>
          <a:noFill/>
        </p:spPr>
      </p:pic>
      <p:pic>
        <p:nvPicPr>
          <p:cNvPr id="6" name="Picture 3"/>
          <p:cNvPicPr>
            <a:picLocks noChangeAspect="1" noChangeArrowheads="1"/>
          </p:cNvPicPr>
          <p:nvPr/>
        </p:nvPicPr>
        <p:blipFill>
          <a:blip r:embed="rId4"/>
          <a:srcRect/>
          <a:stretch>
            <a:fillRect/>
          </a:stretch>
        </p:blipFill>
        <p:spPr bwMode="auto">
          <a:xfrm>
            <a:off x="2095500" y="4229100"/>
            <a:ext cx="2501900" cy="2501900"/>
          </a:xfrm>
          <a:prstGeom prst="rect">
            <a:avLst/>
          </a:prstGeom>
          <a:noFill/>
        </p:spPr>
      </p:pic>
      <p:pic>
        <p:nvPicPr>
          <p:cNvPr id="7" name="Picture 3"/>
          <p:cNvPicPr>
            <a:picLocks noChangeAspect="1" noChangeArrowheads="1"/>
          </p:cNvPicPr>
          <p:nvPr/>
        </p:nvPicPr>
        <p:blipFill>
          <a:blip r:embed="rId5"/>
          <a:srcRect/>
          <a:stretch>
            <a:fillRect/>
          </a:stretch>
        </p:blipFill>
        <p:spPr bwMode="auto">
          <a:xfrm>
            <a:off x="4838700" y="1549400"/>
            <a:ext cx="2501900" cy="2501900"/>
          </a:xfrm>
          <a:prstGeom prst="rect">
            <a:avLst/>
          </a:prstGeom>
          <a:noFill/>
        </p:spPr>
      </p:pic>
      <p:pic>
        <p:nvPicPr>
          <p:cNvPr id="8" name="Picture 3"/>
          <p:cNvPicPr>
            <a:picLocks noChangeAspect="1" noChangeArrowheads="1"/>
          </p:cNvPicPr>
          <p:nvPr/>
        </p:nvPicPr>
        <p:blipFill>
          <a:blip r:embed="rId6"/>
          <a:srcRect/>
          <a:stretch>
            <a:fillRect/>
          </a:stretch>
        </p:blipFill>
        <p:spPr bwMode="auto">
          <a:xfrm>
            <a:off x="4838700" y="4229100"/>
            <a:ext cx="2501900" cy="2501900"/>
          </a:xfrm>
          <a:prstGeom prst="rect">
            <a:avLst/>
          </a:prstGeom>
          <a:noFill/>
        </p:spPr>
      </p:pic>
      <p:pic>
        <p:nvPicPr>
          <p:cNvPr id="9" name="Picture 3"/>
          <p:cNvPicPr>
            <a:picLocks noChangeAspect="1" noChangeArrowheads="1"/>
          </p:cNvPicPr>
          <p:nvPr/>
        </p:nvPicPr>
        <p:blipFill>
          <a:blip r:embed="rId7"/>
          <a:srcRect/>
          <a:stretch>
            <a:fillRect/>
          </a:stretch>
        </p:blipFill>
        <p:spPr bwMode="auto">
          <a:xfrm>
            <a:off x="7543800" y="1549400"/>
            <a:ext cx="2501900" cy="2501900"/>
          </a:xfrm>
          <a:prstGeom prst="rect">
            <a:avLst/>
          </a:prstGeom>
          <a:noFill/>
        </p:spPr>
      </p:pic>
      <p:pic>
        <p:nvPicPr>
          <p:cNvPr id="10" name="Picture 3"/>
          <p:cNvPicPr>
            <a:picLocks noChangeAspect="1" noChangeArrowheads="1"/>
          </p:cNvPicPr>
          <p:nvPr/>
        </p:nvPicPr>
        <p:blipFill>
          <a:blip r:embed="rId8"/>
          <a:srcRect/>
          <a:stretch>
            <a:fillRect/>
          </a:stretch>
        </p:blipFill>
        <p:spPr bwMode="auto">
          <a:xfrm>
            <a:off x="7543800" y="4229100"/>
            <a:ext cx="2501900" cy="2501900"/>
          </a:xfrm>
          <a:prstGeom prst="rect">
            <a:avLst/>
          </a:prstGeom>
          <a:noFill/>
        </p:spPr>
      </p:pic>
      <p:sp>
        <p:nvSpPr>
          <p:cNvPr id="2" name="TextBox 1"/>
          <p:cNvSpPr txBox="1"/>
          <p:nvPr/>
        </p:nvSpPr>
        <p:spPr>
          <a:xfrm>
            <a:off x="685800" y="704587"/>
            <a:ext cx="3316229" cy="755913"/>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8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DALL-E</a:t>
            </a:r>
            <a:r>
              <a:rPr lang="zh-CN" altLang="en-US" sz="2800" b="1" dirty="0">
                <a:solidFill>
                  <a:srgbClr val="000000"/>
                </a:solidFill>
                <a:latin typeface="Calibri" pitchFamily="18" charset="0"/>
                <a:cs typeface="Calibri" pitchFamily="18" charset="0"/>
              </a:rPr>
              <a:t> </a:t>
            </a:r>
            <a:r>
              <a:rPr lang="en-US" altLang="zh-CN" sz="2800" b="1" dirty="0">
                <a:solidFill>
                  <a:srgbClr val="000000"/>
                </a:solidFill>
                <a:latin typeface="Calibri" pitchFamily="18" charset="0"/>
                <a:cs typeface="Calibri" pitchFamily="18" charset="0"/>
              </a:rPr>
              <a:t>2</a:t>
            </a:r>
            <a:r>
              <a:rPr lang="en-US" altLang="zh-CN" sz="2800" b="1" dirty="0">
                <a:solidFill>
                  <a:srgbClr val="000000"/>
                </a:solidFill>
                <a:latin typeface="微软雅黑" pitchFamily="18" charset="0"/>
                <a:cs typeface="微软雅黑" pitchFamily="18" charset="0"/>
              </a:rPr>
              <a:t>生成的图片</a:t>
            </a:r>
          </a:p>
        </p:txBody>
      </p:sp>
      <p:sp>
        <p:nvSpPr>
          <p:cNvPr id="14" name="TextBox 1">
            <a:extLst>
              <a:ext uri="{FF2B5EF4-FFF2-40B4-BE49-F238E27FC236}">
                <a16:creationId xmlns:a16="http://schemas.microsoft.com/office/drawing/2014/main" id="{9BC9501C-DF4F-D841-AFA3-7758E9ADAB1B}"/>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50</a:t>
            </a:r>
          </a:p>
        </p:txBody>
      </p:sp>
      <p:sp>
        <p:nvSpPr>
          <p:cNvPr id="15" name="Freeform 3">
            <a:extLst>
              <a:ext uri="{FF2B5EF4-FFF2-40B4-BE49-F238E27FC236}">
                <a16:creationId xmlns:a16="http://schemas.microsoft.com/office/drawing/2014/main" id="{CC2A24FD-F480-4A44-A46E-AFFCD0871CE8}"/>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
            <a:extLst>
              <a:ext uri="{FF2B5EF4-FFF2-40B4-BE49-F238E27FC236}">
                <a16:creationId xmlns:a16="http://schemas.microsoft.com/office/drawing/2014/main" id="{C751CAFC-890D-744A-B9D5-EE5C4A2A61F5}"/>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3"/>
          <a:srcRect l="14133" t="12854" r="9451" b="23832"/>
          <a:stretch/>
        </p:blipFill>
        <p:spPr bwMode="auto">
          <a:xfrm>
            <a:off x="2286000" y="1957031"/>
            <a:ext cx="7686164" cy="4245650"/>
          </a:xfrm>
          <a:prstGeom prst="rect">
            <a:avLst/>
          </a:prstGeom>
          <a:noFill/>
        </p:spPr>
      </p:pic>
      <p:sp>
        <p:nvSpPr>
          <p:cNvPr id="2" name="TextBox 1"/>
          <p:cNvSpPr txBox="1"/>
          <p:nvPr/>
        </p:nvSpPr>
        <p:spPr>
          <a:xfrm>
            <a:off x="838200" y="823576"/>
            <a:ext cx="5118004" cy="755913"/>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8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使用</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DALL-E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补全缺失</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的图</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片</a:t>
            </a:r>
          </a:p>
        </p:txBody>
      </p:sp>
      <p:sp>
        <p:nvSpPr>
          <p:cNvPr id="10" name="TextBox 1">
            <a:extLst>
              <a:ext uri="{FF2B5EF4-FFF2-40B4-BE49-F238E27FC236}">
                <a16:creationId xmlns:a16="http://schemas.microsoft.com/office/drawing/2014/main" id="{82DD781B-E54B-3D4E-AF61-62322F1A3BFC}"/>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51</a:t>
            </a:r>
          </a:p>
        </p:txBody>
      </p:sp>
      <p:sp>
        <p:nvSpPr>
          <p:cNvPr id="11" name="Freeform 3">
            <a:extLst>
              <a:ext uri="{FF2B5EF4-FFF2-40B4-BE49-F238E27FC236}">
                <a16:creationId xmlns:a16="http://schemas.microsoft.com/office/drawing/2014/main" id="{133569F3-2921-E746-9871-6E499BA55B76}"/>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02FAD803-D0F6-E340-A593-B11704993475}"/>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2108200" y="2082800"/>
            <a:ext cx="3924300" cy="3911600"/>
          </a:xfrm>
          <a:prstGeom prst="rect">
            <a:avLst/>
          </a:prstGeom>
          <a:noFill/>
        </p:spPr>
      </p:pic>
      <p:pic>
        <p:nvPicPr>
          <p:cNvPr id="6" name="Picture 3"/>
          <p:cNvPicPr>
            <a:picLocks noChangeAspect="1" noChangeArrowheads="1"/>
          </p:cNvPicPr>
          <p:nvPr/>
        </p:nvPicPr>
        <p:blipFill>
          <a:blip r:embed="rId3"/>
          <a:srcRect/>
          <a:stretch>
            <a:fillRect/>
          </a:stretch>
        </p:blipFill>
        <p:spPr bwMode="auto">
          <a:xfrm>
            <a:off x="6324600" y="2082800"/>
            <a:ext cx="3911600" cy="3911600"/>
          </a:xfrm>
          <a:prstGeom prst="rect">
            <a:avLst/>
          </a:prstGeom>
          <a:noFill/>
        </p:spPr>
      </p:pic>
      <p:sp>
        <p:nvSpPr>
          <p:cNvPr id="2" name="TextBox 1"/>
          <p:cNvSpPr txBox="1"/>
          <p:nvPr/>
        </p:nvSpPr>
        <p:spPr>
          <a:xfrm>
            <a:off x="770462" y="761731"/>
            <a:ext cx="5144293" cy="122110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8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DALL-E</a:t>
            </a:r>
            <a:r>
              <a:rPr lang="zh-CN" altLang="en-US" sz="2800" b="1" dirty="0">
                <a:solidFill>
                  <a:srgbClr val="000000"/>
                </a:solidFill>
                <a:latin typeface="Calibri" pitchFamily="18" charset="0"/>
                <a:cs typeface="Calibri" pitchFamily="18" charset="0"/>
              </a:rPr>
              <a:t> </a:t>
            </a:r>
            <a:r>
              <a:rPr lang="en-US" altLang="zh-CN" sz="2800" b="1" dirty="0">
                <a:solidFill>
                  <a:srgbClr val="000000"/>
                </a:solidFill>
                <a:latin typeface="Calibri" pitchFamily="18" charset="0"/>
                <a:cs typeface="Calibri" pitchFamily="18" charset="0"/>
              </a:rPr>
              <a:t>3</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7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基于</a:t>
            </a:r>
            <a:r>
              <a:rPr lang="en-US" altLang="zh-CN" sz="2400" dirty="0">
                <a:solidFill>
                  <a:srgbClr val="000000"/>
                </a:solidFill>
                <a:latin typeface="Calibri" pitchFamily="18" charset="0"/>
                <a:cs typeface="Calibri" pitchFamily="18" charset="0"/>
              </a:rPr>
              <a:t>GPT-4</a:t>
            </a:r>
            <a:r>
              <a:rPr lang="en-US" altLang="zh-CN" sz="2400" dirty="0">
                <a:solidFill>
                  <a:srgbClr val="000000"/>
                </a:solidFill>
                <a:latin typeface="微软雅黑" pitchFamily="18" charset="0"/>
                <a:cs typeface="微软雅黑" pitchFamily="18" charset="0"/>
              </a:rPr>
              <a:t>模型，由文字生成图像</a:t>
            </a:r>
          </a:p>
        </p:txBody>
      </p:sp>
      <p:sp>
        <p:nvSpPr>
          <p:cNvPr id="10" name="TextBox 1">
            <a:extLst>
              <a:ext uri="{FF2B5EF4-FFF2-40B4-BE49-F238E27FC236}">
                <a16:creationId xmlns:a16="http://schemas.microsoft.com/office/drawing/2014/main" id="{5D0B52DA-3D79-684A-8C0F-C6AE3E191BD0}"/>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52</a:t>
            </a:r>
          </a:p>
        </p:txBody>
      </p:sp>
      <p:sp>
        <p:nvSpPr>
          <p:cNvPr id="11" name="Freeform 3">
            <a:extLst>
              <a:ext uri="{FF2B5EF4-FFF2-40B4-BE49-F238E27FC236}">
                <a16:creationId xmlns:a16="http://schemas.microsoft.com/office/drawing/2014/main" id="{BA1D6241-97B2-4E41-87C0-849E61B6C5BB}"/>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DF7D1348-FC67-9C4C-8AFA-774A98C56841}"/>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rotWithShape="1">
          <a:blip r:embed="rId2"/>
          <a:srcRect l="701" t="5170" r="1059" b="4180"/>
          <a:stretch/>
        </p:blipFill>
        <p:spPr bwMode="auto">
          <a:xfrm>
            <a:off x="2286000" y="2313908"/>
            <a:ext cx="7288718" cy="3824621"/>
          </a:xfrm>
          <a:prstGeom prst="rect">
            <a:avLst/>
          </a:prstGeom>
          <a:noFill/>
        </p:spPr>
      </p:pic>
      <p:sp>
        <p:nvSpPr>
          <p:cNvPr id="2" name="TextBox 1"/>
          <p:cNvSpPr txBox="1"/>
          <p:nvPr/>
        </p:nvSpPr>
        <p:spPr>
          <a:xfrm>
            <a:off x="815603" y="719470"/>
            <a:ext cx="5375126" cy="122110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8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DALL-E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3</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7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基于</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GPT-4</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模型，由文</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字</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生成图像</a:t>
            </a:r>
          </a:p>
        </p:txBody>
      </p:sp>
      <p:sp>
        <p:nvSpPr>
          <p:cNvPr id="9" name="TextBox 1">
            <a:extLst>
              <a:ext uri="{FF2B5EF4-FFF2-40B4-BE49-F238E27FC236}">
                <a16:creationId xmlns:a16="http://schemas.microsoft.com/office/drawing/2014/main" id="{93D67BA4-CE71-8147-AF32-C1505AAA6295}"/>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53</a:t>
            </a:r>
          </a:p>
        </p:txBody>
      </p:sp>
      <p:sp>
        <p:nvSpPr>
          <p:cNvPr id="10" name="Freeform 3">
            <a:extLst>
              <a:ext uri="{FF2B5EF4-FFF2-40B4-BE49-F238E27FC236}">
                <a16:creationId xmlns:a16="http://schemas.microsoft.com/office/drawing/2014/main" id="{58EE7366-BB81-0148-8404-082263F3F449}"/>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E5738DF9-FB90-F245-B605-73250B51C546}"/>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3225800" y="1945167"/>
            <a:ext cx="5740400" cy="4775200"/>
          </a:xfrm>
          <a:prstGeom prst="rect">
            <a:avLst/>
          </a:prstGeom>
          <a:noFill/>
        </p:spPr>
      </p:pic>
      <p:sp>
        <p:nvSpPr>
          <p:cNvPr id="2" name="TextBox 1"/>
          <p:cNvSpPr txBox="1"/>
          <p:nvPr/>
        </p:nvSpPr>
        <p:spPr>
          <a:xfrm>
            <a:off x="815603" y="739709"/>
            <a:ext cx="6416821" cy="1205458"/>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8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Stable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Diffusion</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适应复杂文本条件下多样化图像内容生成</a:t>
            </a:r>
          </a:p>
        </p:txBody>
      </p:sp>
      <p:sp>
        <p:nvSpPr>
          <p:cNvPr id="9" name="TextBox 1">
            <a:extLst>
              <a:ext uri="{FF2B5EF4-FFF2-40B4-BE49-F238E27FC236}">
                <a16:creationId xmlns:a16="http://schemas.microsoft.com/office/drawing/2014/main" id="{B30EDEFC-F10D-C143-B6EE-4F648A77C467}"/>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54</a:t>
            </a:r>
          </a:p>
        </p:txBody>
      </p:sp>
      <p:sp>
        <p:nvSpPr>
          <p:cNvPr id="10" name="Freeform 3">
            <a:extLst>
              <a:ext uri="{FF2B5EF4-FFF2-40B4-BE49-F238E27FC236}">
                <a16:creationId xmlns:a16="http://schemas.microsoft.com/office/drawing/2014/main" id="{553A48D8-A1C9-0441-B986-0D8B31F7F362}"/>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B23CA0D6-6B19-244B-8797-3F33C377320C}"/>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097097" y="2241314"/>
            <a:ext cx="8009650" cy="4004825"/>
          </a:xfrm>
          <a:prstGeom prst="rect">
            <a:avLst/>
          </a:prstGeom>
          <a:noFill/>
        </p:spPr>
      </p:pic>
      <p:sp>
        <p:nvSpPr>
          <p:cNvPr id="2" name="TextBox 1"/>
          <p:cNvSpPr txBox="1"/>
          <p:nvPr/>
        </p:nvSpPr>
        <p:spPr>
          <a:xfrm>
            <a:off x="842184" y="694793"/>
            <a:ext cx="7409080" cy="122110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8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Emu</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Video</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7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生成</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512x512</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分辨率</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四秒长</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每秒</a:t>
            </a:r>
            <a:r>
              <a:rPr lang="en-US" altLang="zh-CN" sz="2400" dirty="0">
                <a:solidFill>
                  <a:srgbClr val="000000"/>
                </a:solidFill>
                <a:latin typeface="Calibri" pitchFamily="18" charset="0"/>
                <a:cs typeface="Calibri" pitchFamily="18" charset="0"/>
              </a:rPr>
              <a:t>16</a:t>
            </a:r>
            <a:r>
              <a:rPr lang="en-US" altLang="zh-CN" sz="2400" dirty="0">
                <a:solidFill>
                  <a:srgbClr val="000000"/>
                </a:solidFill>
                <a:latin typeface="微软雅黑" pitchFamily="18" charset="0"/>
                <a:cs typeface="微软雅黑" pitchFamily="18" charset="0"/>
              </a:rPr>
              <a:t>帧的视频</a:t>
            </a:r>
          </a:p>
        </p:txBody>
      </p:sp>
      <p:sp>
        <p:nvSpPr>
          <p:cNvPr id="9" name="TextBox 1">
            <a:extLst>
              <a:ext uri="{FF2B5EF4-FFF2-40B4-BE49-F238E27FC236}">
                <a16:creationId xmlns:a16="http://schemas.microsoft.com/office/drawing/2014/main" id="{B1AF520E-84FE-5241-A6C2-A884A8A19C14}"/>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55</a:t>
            </a:r>
          </a:p>
        </p:txBody>
      </p:sp>
      <p:sp>
        <p:nvSpPr>
          <p:cNvPr id="10" name="Freeform 3">
            <a:extLst>
              <a:ext uri="{FF2B5EF4-FFF2-40B4-BE49-F238E27FC236}">
                <a16:creationId xmlns:a16="http://schemas.microsoft.com/office/drawing/2014/main" id="{934D8282-14C5-0E4D-A98E-D9A5FA2AD657}"/>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3DBDB425-E70A-664B-9231-A055B0B493D5}"/>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2404962" y="2109026"/>
            <a:ext cx="7382076" cy="4165600"/>
          </a:xfrm>
          <a:prstGeom prst="rect">
            <a:avLst/>
          </a:prstGeom>
          <a:noFill/>
        </p:spPr>
      </p:pic>
      <p:sp>
        <p:nvSpPr>
          <p:cNvPr id="2" name="TextBox 1"/>
          <p:cNvSpPr txBox="1"/>
          <p:nvPr/>
        </p:nvSpPr>
        <p:spPr>
          <a:xfrm>
            <a:off x="688033" y="694793"/>
            <a:ext cx="7570983" cy="1205458"/>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8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Sora</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能够生成高逼真度的长视频</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视觉效果堪比微电影</a:t>
            </a:r>
          </a:p>
        </p:txBody>
      </p:sp>
      <p:sp>
        <p:nvSpPr>
          <p:cNvPr id="9" name="TextBox 1">
            <a:extLst>
              <a:ext uri="{FF2B5EF4-FFF2-40B4-BE49-F238E27FC236}">
                <a16:creationId xmlns:a16="http://schemas.microsoft.com/office/drawing/2014/main" id="{7F2FCAB8-F21F-964E-92D4-C3929F7DD4D3}"/>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56</a:t>
            </a:r>
          </a:p>
        </p:txBody>
      </p:sp>
      <p:sp>
        <p:nvSpPr>
          <p:cNvPr id="10" name="Freeform 3">
            <a:extLst>
              <a:ext uri="{FF2B5EF4-FFF2-40B4-BE49-F238E27FC236}">
                <a16:creationId xmlns:a16="http://schemas.microsoft.com/office/drawing/2014/main" id="{05BEBCB7-E936-9742-B5EA-9B0B5F3E2E0B}"/>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C2E9A47A-0EE4-E441-9F82-15F9268A0915}"/>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688033" y="694793"/>
            <a:ext cx="10208567" cy="1667123"/>
          </a:xfrm>
          <a:prstGeom prst="rect">
            <a:avLst/>
          </a:prstGeom>
          <a:noFill/>
        </p:spPr>
        <p:txBody>
          <a:bodyPr wrap="square" lIns="0" tIns="0" rIns="0" rtlCol="0">
            <a:spAutoFit/>
          </a:bodyPr>
          <a:lstStyle/>
          <a:p>
            <a:pPr>
              <a:lnSpc>
                <a:spcPts val="1000"/>
              </a:lnSpc>
            </a:pPr>
            <a:endParaRPr lang="en-US" altLang="zh-CN" dirty="0"/>
          </a:p>
          <a:p>
            <a:pPr>
              <a:lnSpc>
                <a:spcPts val="1000"/>
              </a:lnSpc>
            </a:pPr>
            <a:endParaRPr lang="en-US" altLang="zh-CN" dirty="0"/>
          </a:p>
          <a:p>
            <a:pPr>
              <a:lnSpc>
                <a:spcPts val="38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Manus</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2025</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zh-CN" altLang="en-US" sz="2400" dirty="0">
                <a:latin typeface="Times New Roman" pitchFamily="18" charset="0"/>
                <a:cs typeface="Times New Roman" pitchFamily="18" charset="0"/>
              </a:rPr>
              <a:t>不仅能够生成高质量图像，还能理解用户意图、规划解决方案，并结合  </a:t>
            </a:r>
            <a:endParaRPr lang="en-US" altLang="zh-CN" sz="2400" dirty="0">
              <a:latin typeface="Times New Roman" pitchFamily="18" charset="0"/>
              <a:cs typeface="Times New Roman" pitchFamily="18" charset="0"/>
            </a:endParaRPr>
          </a:p>
          <a:p>
            <a:pPr>
              <a:lnSpc>
                <a:spcPts val="3600"/>
              </a:lnSpc>
              <a:tabLst>
                <a:tab pos="457200" algn="l"/>
              </a:tabLst>
            </a:pP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多种工具完成复杂任务</a:t>
            </a:r>
            <a:endParaRPr lang="en-US" altLang="zh-CN" sz="2400" dirty="0">
              <a:solidFill>
                <a:srgbClr val="000000"/>
              </a:solidFill>
              <a:latin typeface="微软雅黑" pitchFamily="18" charset="0"/>
              <a:cs typeface="微软雅黑" pitchFamily="18" charset="0"/>
            </a:endParaRPr>
          </a:p>
        </p:txBody>
      </p:sp>
      <p:sp>
        <p:nvSpPr>
          <p:cNvPr id="9" name="TextBox 1">
            <a:extLst>
              <a:ext uri="{FF2B5EF4-FFF2-40B4-BE49-F238E27FC236}">
                <a16:creationId xmlns:a16="http://schemas.microsoft.com/office/drawing/2014/main" id="{7F2FCAB8-F21F-964E-92D4-C3929F7DD4D3}"/>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56</a:t>
            </a:r>
          </a:p>
        </p:txBody>
      </p:sp>
      <p:sp>
        <p:nvSpPr>
          <p:cNvPr id="10" name="Freeform 3">
            <a:extLst>
              <a:ext uri="{FF2B5EF4-FFF2-40B4-BE49-F238E27FC236}">
                <a16:creationId xmlns:a16="http://schemas.microsoft.com/office/drawing/2014/main" id="{05BEBCB7-E936-9742-B5EA-9B0B5F3E2E0B}"/>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C2E9A47A-0EE4-E441-9F82-15F9268A0915}"/>
              </a:ext>
            </a:extLst>
          </p:cNvPr>
          <p:cNvSpPr txBox="1"/>
          <p:nvPr/>
        </p:nvSpPr>
        <p:spPr>
          <a:xfrm>
            <a:off x="472354" y="152400"/>
            <a:ext cx="3295774"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人工智能内容生成</a:t>
            </a:r>
          </a:p>
        </p:txBody>
      </p:sp>
      <p:pic>
        <p:nvPicPr>
          <p:cNvPr id="6" name="6388298908010363555646290">
            <a:hlinkClick r:id="" action="ppaction://media"/>
            <a:extLst>
              <a:ext uri="{FF2B5EF4-FFF2-40B4-BE49-F238E27FC236}">
                <a16:creationId xmlns:a16="http://schemas.microsoft.com/office/drawing/2014/main" id="{0821CD77-870E-43F2-9635-9D09480B2CB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62000" y="2467840"/>
            <a:ext cx="7467600" cy="4200526"/>
          </a:xfrm>
          <a:prstGeom prst="rect">
            <a:avLst/>
          </a:prstGeom>
        </p:spPr>
      </p:pic>
      <p:pic>
        <p:nvPicPr>
          <p:cNvPr id="7" name="图片 6">
            <a:extLst>
              <a:ext uri="{FF2B5EF4-FFF2-40B4-BE49-F238E27FC236}">
                <a16:creationId xmlns:a16="http://schemas.microsoft.com/office/drawing/2014/main" id="{1A7B20C7-C6FC-4E8E-8155-2499F968D3E5}"/>
              </a:ext>
            </a:extLst>
          </p:cNvPr>
          <p:cNvPicPr>
            <a:picLocks noChangeAspect="1"/>
          </p:cNvPicPr>
          <p:nvPr/>
        </p:nvPicPr>
        <p:blipFill rotWithShape="1">
          <a:blip r:embed="rId5"/>
          <a:srcRect l="45402"/>
          <a:stretch/>
        </p:blipFill>
        <p:spPr>
          <a:xfrm>
            <a:off x="9177044" y="2667000"/>
            <a:ext cx="2067512" cy="2141507"/>
          </a:xfrm>
          <a:prstGeom prst="rect">
            <a:avLst/>
          </a:prstGeom>
        </p:spPr>
      </p:pic>
      <p:sp>
        <p:nvSpPr>
          <p:cNvPr id="8" name="矩形 7">
            <a:extLst>
              <a:ext uri="{FF2B5EF4-FFF2-40B4-BE49-F238E27FC236}">
                <a16:creationId xmlns:a16="http://schemas.microsoft.com/office/drawing/2014/main" id="{665ED2FA-0642-43AA-9C1F-47C1CA73055C}"/>
              </a:ext>
            </a:extLst>
          </p:cNvPr>
          <p:cNvSpPr/>
          <p:nvPr/>
        </p:nvSpPr>
        <p:spPr>
          <a:xfrm>
            <a:off x="8305800" y="5029199"/>
            <a:ext cx="3810000" cy="923330"/>
          </a:xfrm>
          <a:prstGeom prst="rect">
            <a:avLst/>
          </a:prstGeom>
        </p:spPr>
        <p:txBody>
          <a:bodyPr wrap="square">
            <a:spAutoFit/>
          </a:bodyPr>
          <a:lstStyle/>
          <a:p>
            <a:r>
              <a:rPr lang="zh-CN" altLang="en-US" dirty="0"/>
              <a:t>肖弘，创始人兼</a:t>
            </a:r>
            <a:r>
              <a:rPr lang="en-US" altLang="zh-CN" dirty="0"/>
              <a:t>CEO</a:t>
            </a:r>
            <a:r>
              <a:rPr lang="zh-CN" altLang="en-US" dirty="0"/>
              <a:t>，出生于</a:t>
            </a:r>
            <a:r>
              <a:rPr lang="en-US" altLang="zh-CN" dirty="0"/>
              <a:t>1992</a:t>
            </a:r>
            <a:r>
              <a:rPr lang="zh-CN" altLang="en-US" dirty="0"/>
              <a:t>年，华中科技大学软件工程专业</a:t>
            </a:r>
            <a:r>
              <a:rPr lang="en-US" altLang="zh-CN" dirty="0"/>
              <a:t>2011</a:t>
            </a:r>
            <a:r>
              <a:rPr lang="zh-CN" altLang="en-US" dirty="0"/>
              <a:t>级本科生，</a:t>
            </a:r>
            <a:r>
              <a:rPr lang="en-US" altLang="zh-CN" dirty="0"/>
              <a:t>2015</a:t>
            </a:r>
            <a:r>
              <a:rPr lang="zh-CN" altLang="en-US" dirty="0"/>
              <a:t>年毕业</a:t>
            </a:r>
          </a:p>
        </p:txBody>
      </p:sp>
    </p:spTree>
    <p:extLst>
      <p:ext uri="{BB962C8B-B14F-4D97-AF65-F5344CB8AC3E}">
        <p14:creationId xmlns:p14="http://schemas.microsoft.com/office/powerpoint/2010/main" val="56033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59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1816275" y="1676400"/>
            <a:ext cx="8509000" cy="4800600"/>
          </a:xfrm>
          <a:prstGeom prst="rect">
            <a:avLst/>
          </a:prstGeom>
          <a:noFill/>
        </p:spPr>
      </p:pic>
      <p:sp>
        <p:nvSpPr>
          <p:cNvPr id="2" name="TextBox 1"/>
          <p:cNvSpPr txBox="1"/>
          <p:nvPr/>
        </p:nvSpPr>
        <p:spPr>
          <a:xfrm>
            <a:off x="815603" y="629532"/>
            <a:ext cx="4677499"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Segment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Anything</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TextBox 1">
            <a:extLst>
              <a:ext uri="{FF2B5EF4-FFF2-40B4-BE49-F238E27FC236}">
                <a16:creationId xmlns:a16="http://schemas.microsoft.com/office/drawing/2014/main" id="{DDC52821-C448-E84D-9BFD-1C8AE6C608D5}"/>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57</a:t>
            </a:r>
          </a:p>
        </p:txBody>
      </p:sp>
      <p:sp>
        <p:nvSpPr>
          <p:cNvPr id="10" name="Freeform 3">
            <a:extLst>
              <a:ext uri="{FF2B5EF4-FFF2-40B4-BE49-F238E27FC236}">
                <a16:creationId xmlns:a16="http://schemas.microsoft.com/office/drawing/2014/main" id="{1F24F851-5DFE-7743-BA82-B8B9C5C8B9AB}"/>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5AC284E6-E0C2-504B-8FD8-4B2B096516EB}"/>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图像分割</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032000" y="1727200"/>
            <a:ext cx="3771900" cy="2120900"/>
          </a:xfrm>
          <a:prstGeom prst="rect">
            <a:avLst/>
          </a:prstGeom>
          <a:noFill/>
        </p:spPr>
      </p:pic>
      <p:pic>
        <p:nvPicPr>
          <p:cNvPr id="6" name="Picture 3"/>
          <p:cNvPicPr>
            <a:picLocks noChangeAspect="1" noChangeArrowheads="1"/>
          </p:cNvPicPr>
          <p:nvPr/>
        </p:nvPicPr>
        <p:blipFill>
          <a:blip r:embed="rId4"/>
          <a:srcRect/>
          <a:stretch>
            <a:fillRect/>
          </a:stretch>
        </p:blipFill>
        <p:spPr bwMode="auto">
          <a:xfrm>
            <a:off x="2006600" y="4330700"/>
            <a:ext cx="3797300" cy="2133600"/>
          </a:xfrm>
          <a:prstGeom prst="rect">
            <a:avLst/>
          </a:prstGeom>
          <a:noFill/>
        </p:spPr>
      </p:pic>
      <p:pic>
        <p:nvPicPr>
          <p:cNvPr id="7" name="Picture 3"/>
          <p:cNvPicPr>
            <a:picLocks noChangeAspect="1" noChangeArrowheads="1"/>
          </p:cNvPicPr>
          <p:nvPr/>
        </p:nvPicPr>
        <p:blipFill>
          <a:blip r:embed="rId5"/>
          <a:srcRect/>
          <a:stretch>
            <a:fillRect/>
          </a:stretch>
        </p:blipFill>
        <p:spPr bwMode="auto">
          <a:xfrm>
            <a:off x="6083300" y="1727200"/>
            <a:ext cx="3683000" cy="2120900"/>
          </a:xfrm>
          <a:prstGeom prst="rect">
            <a:avLst/>
          </a:prstGeom>
          <a:noFill/>
        </p:spPr>
      </p:pic>
      <p:pic>
        <p:nvPicPr>
          <p:cNvPr id="8" name="Picture 3"/>
          <p:cNvPicPr>
            <a:picLocks noChangeAspect="1" noChangeArrowheads="1"/>
          </p:cNvPicPr>
          <p:nvPr/>
        </p:nvPicPr>
        <p:blipFill>
          <a:blip r:embed="rId6"/>
          <a:srcRect/>
          <a:stretch>
            <a:fillRect/>
          </a:stretch>
        </p:blipFill>
        <p:spPr bwMode="auto">
          <a:xfrm>
            <a:off x="6070600" y="4330700"/>
            <a:ext cx="3771900" cy="2133600"/>
          </a:xfrm>
          <a:prstGeom prst="rect">
            <a:avLst/>
          </a:prstGeom>
          <a:noFill/>
        </p:spPr>
      </p:pic>
      <p:sp>
        <p:nvSpPr>
          <p:cNvPr id="2" name="TextBox 1"/>
          <p:cNvSpPr txBox="1"/>
          <p:nvPr/>
        </p:nvSpPr>
        <p:spPr>
          <a:xfrm>
            <a:off x="815603" y="611365"/>
            <a:ext cx="6003246"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波士顿动力机器人（</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2021</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2022</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12" name="TextBox 1">
            <a:extLst>
              <a:ext uri="{FF2B5EF4-FFF2-40B4-BE49-F238E27FC236}">
                <a16:creationId xmlns:a16="http://schemas.microsoft.com/office/drawing/2014/main" id="{FFA9A2B8-FE77-9F40-B9A7-1C6990B36E75}"/>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58</a:t>
            </a:r>
          </a:p>
        </p:txBody>
      </p:sp>
      <p:sp>
        <p:nvSpPr>
          <p:cNvPr id="15" name="Freeform 3">
            <a:extLst>
              <a:ext uri="{FF2B5EF4-FFF2-40B4-BE49-F238E27FC236}">
                <a16:creationId xmlns:a16="http://schemas.microsoft.com/office/drawing/2014/main" id="{0081FBC9-8926-1D4D-A22D-1A7172E4F89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
            <a:extLst>
              <a:ext uri="{FF2B5EF4-FFF2-40B4-BE49-F238E27FC236}">
                <a16:creationId xmlns:a16="http://schemas.microsoft.com/office/drawing/2014/main" id="{75CE93CD-D52D-644E-9799-7D34F4E6E8F8}"/>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815603" y="611365"/>
            <a:ext cx="11668259"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zh-CN" altLang="en-US" sz="2800" b="1" dirty="0">
                <a:solidFill>
                  <a:srgbClr val="000000"/>
                </a:solidFill>
                <a:latin typeface="微软雅黑" pitchFamily="18" charset="0"/>
                <a:cs typeface="微软雅黑" pitchFamily="18" charset="0"/>
              </a:rPr>
              <a:t>宇树</a:t>
            </a:r>
            <a:r>
              <a:rPr lang="en-US" altLang="zh-CN" sz="2800" b="1" dirty="0" err="1">
                <a:solidFill>
                  <a:srgbClr val="000000"/>
                </a:solidFill>
                <a:latin typeface="微软雅黑" pitchFamily="18" charset="0"/>
                <a:cs typeface="微软雅黑" pitchFamily="18" charset="0"/>
              </a:rPr>
              <a:t>机器人</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2016</a:t>
            </a:r>
            <a:r>
              <a:rPr lang="zh-CN" altLang="en-US" sz="2800" b="1" dirty="0">
                <a:solidFill>
                  <a:srgbClr val="000000"/>
                </a:solidFill>
                <a:latin typeface="Calibri" pitchFamily="18" charset="0"/>
                <a:cs typeface="Calibri" pitchFamily="18" charset="0"/>
              </a:rPr>
              <a:t>年成立，早期做四足机器人；</a:t>
            </a:r>
            <a:r>
              <a:rPr lang="en-US" altLang="zh-CN" sz="2800" b="1" dirty="0">
                <a:solidFill>
                  <a:srgbClr val="000000"/>
                </a:solidFill>
                <a:latin typeface="Calibri" pitchFamily="18" charset="0"/>
                <a:cs typeface="Calibri" pitchFamily="18" charset="0"/>
              </a:rPr>
              <a:t>2025/2026</a:t>
            </a:r>
            <a:r>
              <a:rPr lang="zh-CN" altLang="en-US" sz="2800" b="1" dirty="0">
                <a:solidFill>
                  <a:srgbClr val="000000"/>
                </a:solidFill>
                <a:latin typeface="Calibri" pitchFamily="18" charset="0"/>
                <a:cs typeface="Calibri" pitchFamily="18" charset="0"/>
              </a:rPr>
              <a:t>年登上春晚</a:t>
            </a:r>
            <a:r>
              <a:rPr lang="en-US" altLang="zh-CN" sz="2800" b="1" dirty="0">
                <a:solidFill>
                  <a:srgbClr val="000000"/>
                </a:solidFill>
                <a:latin typeface="微软雅黑" pitchFamily="18" charset="0"/>
                <a:cs typeface="微软雅黑" pitchFamily="18" charset="0"/>
              </a:rPr>
              <a:t>）</a:t>
            </a:r>
          </a:p>
        </p:txBody>
      </p:sp>
      <p:sp>
        <p:nvSpPr>
          <p:cNvPr id="12" name="TextBox 1">
            <a:extLst>
              <a:ext uri="{FF2B5EF4-FFF2-40B4-BE49-F238E27FC236}">
                <a16:creationId xmlns:a16="http://schemas.microsoft.com/office/drawing/2014/main" id="{FFA9A2B8-FE77-9F40-B9A7-1C6990B36E75}"/>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58</a:t>
            </a:r>
          </a:p>
        </p:txBody>
      </p:sp>
      <p:sp>
        <p:nvSpPr>
          <p:cNvPr id="15" name="Freeform 3">
            <a:extLst>
              <a:ext uri="{FF2B5EF4-FFF2-40B4-BE49-F238E27FC236}">
                <a16:creationId xmlns:a16="http://schemas.microsoft.com/office/drawing/2014/main" id="{0081FBC9-8926-1D4D-A22D-1A7172E4F89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
            <a:extLst>
              <a:ext uri="{FF2B5EF4-FFF2-40B4-BE49-F238E27FC236}">
                <a16:creationId xmlns:a16="http://schemas.microsoft.com/office/drawing/2014/main" id="{75CE93CD-D52D-644E-9799-7D34F4E6E8F8}"/>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pic>
        <p:nvPicPr>
          <p:cNvPr id="1028" name="Picture 4" descr="500万起投，投资人疯抢，宇树老股火了 | 极目新闻">
            <a:extLst>
              <a:ext uri="{FF2B5EF4-FFF2-40B4-BE49-F238E27FC236}">
                <a16:creationId xmlns:a16="http://schemas.microsoft.com/office/drawing/2014/main" id="{7499F803-E9C6-4264-A9DC-856B8AEBCE2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6880" y="1730852"/>
            <a:ext cx="65405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99821D3E-41B2-41C2-81B6-8BBF4317D9CA}"/>
              </a:ext>
            </a:extLst>
          </p:cNvPr>
          <p:cNvPicPr>
            <a:picLocks noChangeAspect="1"/>
          </p:cNvPicPr>
          <p:nvPr/>
        </p:nvPicPr>
        <p:blipFill>
          <a:blip r:embed="rId4"/>
          <a:stretch>
            <a:fillRect/>
          </a:stretch>
        </p:blipFill>
        <p:spPr>
          <a:xfrm>
            <a:off x="7162800" y="3124200"/>
            <a:ext cx="4819851" cy="2475059"/>
          </a:xfrm>
          <a:prstGeom prst="rect">
            <a:avLst/>
          </a:prstGeom>
        </p:spPr>
      </p:pic>
      <p:sp>
        <p:nvSpPr>
          <p:cNvPr id="17" name="TextBox 1">
            <a:extLst>
              <a:ext uri="{FF2B5EF4-FFF2-40B4-BE49-F238E27FC236}">
                <a16:creationId xmlns:a16="http://schemas.microsoft.com/office/drawing/2014/main" id="{E8927ADA-55AE-40ED-9CFE-B2D74546F12F}"/>
              </a:ext>
            </a:extLst>
          </p:cNvPr>
          <p:cNvSpPr txBox="1"/>
          <p:nvPr/>
        </p:nvSpPr>
        <p:spPr>
          <a:xfrm>
            <a:off x="7232402" y="1741594"/>
            <a:ext cx="4778552" cy="1202252"/>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zh-CN" altLang="en-US" sz="2800" b="1" dirty="0">
                <a:solidFill>
                  <a:srgbClr val="000000"/>
                </a:solidFill>
                <a:latin typeface="微软雅黑" pitchFamily="18" charset="0"/>
                <a:cs typeface="微软雅黑" pitchFamily="18" charset="0"/>
              </a:rPr>
              <a:t>华中科技大学 人形</a:t>
            </a:r>
            <a:r>
              <a:rPr lang="en-US" altLang="zh-CN" sz="2800" b="1" dirty="0" err="1">
                <a:solidFill>
                  <a:srgbClr val="000000"/>
                </a:solidFill>
                <a:latin typeface="微软雅黑" pitchFamily="18" charset="0"/>
                <a:cs typeface="微软雅黑" pitchFamily="18" charset="0"/>
              </a:rPr>
              <a:t>机器人</a:t>
            </a:r>
            <a:endParaRPr lang="en-US" altLang="zh-CN" sz="2800" b="1" dirty="0">
              <a:solidFill>
                <a:srgbClr val="000000"/>
              </a:solidFill>
              <a:latin typeface="微软雅黑" pitchFamily="18" charset="0"/>
              <a:cs typeface="微软雅黑" pitchFamily="18" charset="0"/>
            </a:endParaRPr>
          </a:p>
          <a:p>
            <a:pPr>
              <a:lnSpc>
                <a:spcPts val="3700"/>
              </a:lnSpc>
            </a:pPr>
            <a:r>
              <a:rPr lang="zh-CN" altLang="en-US" sz="2400" b="1" dirty="0">
                <a:solidFill>
                  <a:srgbClr val="000000"/>
                </a:solidFill>
                <a:latin typeface="微软雅黑" pitchFamily="18" charset="0"/>
                <a:cs typeface="微软雅黑" pitchFamily="18" charset="0"/>
              </a:rPr>
              <a:t>（</a:t>
            </a:r>
            <a:r>
              <a:rPr lang="en-US" altLang="zh-CN" sz="2400" b="1" dirty="0">
                <a:solidFill>
                  <a:srgbClr val="000000"/>
                </a:solidFill>
                <a:latin typeface="微软雅黑" pitchFamily="18" charset="0"/>
                <a:cs typeface="微软雅黑" pitchFamily="18" charset="0"/>
              </a:rPr>
              <a:t>2025</a:t>
            </a:r>
            <a:r>
              <a:rPr lang="zh-CN" altLang="en-US" sz="2400" b="1" dirty="0">
                <a:solidFill>
                  <a:srgbClr val="000000"/>
                </a:solidFill>
                <a:latin typeface="微软雅黑" pitchFamily="18" charset="0"/>
                <a:cs typeface="微软雅黑" pitchFamily="18" charset="0"/>
              </a:rPr>
              <a:t>年丁薛祥副总理前来调研）</a:t>
            </a:r>
            <a:endParaRPr lang="en-US" altLang="zh-CN" sz="2400" b="1" dirty="0">
              <a:solidFill>
                <a:srgbClr val="000000"/>
              </a:solidFill>
              <a:latin typeface="微软雅黑" pitchFamily="18" charset="0"/>
              <a:cs typeface="微软雅黑" pitchFamily="18" charset="0"/>
            </a:endParaRPr>
          </a:p>
        </p:txBody>
      </p:sp>
    </p:spTree>
    <p:extLst>
      <p:ext uri="{BB962C8B-B14F-4D97-AF65-F5344CB8AC3E}">
        <p14:creationId xmlns:p14="http://schemas.microsoft.com/office/powerpoint/2010/main" val="3859311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3028950" y="1905000"/>
            <a:ext cx="5943600" cy="1803400"/>
          </a:xfrm>
          <a:prstGeom prst="rect">
            <a:avLst/>
          </a:prstGeom>
          <a:noFill/>
        </p:spPr>
      </p:pic>
      <p:pic>
        <p:nvPicPr>
          <p:cNvPr id="6" name="Picture 3"/>
          <p:cNvPicPr>
            <a:picLocks noChangeAspect="1" noChangeArrowheads="1"/>
          </p:cNvPicPr>
          <p:nvPr/>
        </p:nvPicPr>
        <p:blipFill>
          <a:blip r:embed="rId4"/>
          <a:srcRect/>
          <a:stretch>
            <a:fillRect/>
          </a:stretch>
        </p:blipFill>
        <p:spPr bwMode="auto">
          <a:xfrm>
            <a:off x="1771650" y="4213314"/>
            <a:ext cx="8648700" cy="1930400"/>
          </a:xfrm>
          <a:prstGeom prst="rect">
            <a:avLst/>
          </a:prstGeom>
          <a:noFill/>
        </p:spPr>
      </p:pic>
      <p:sp>
        <p:nvSpPr>
          <p:cNvPr id="2" name="TextBox 1"/>
          <p:cNvSpPr txBox="1"/>
          <p:nvPr/>
        </p:nvSpPr>
        <p:spPr>
          <a:xfrm>
            <a:off x="685800" y="714286"/>
            <a:ext cx="7985006"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微软</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：利用</a:t>
            </a:r>
            <a:r>
              <a:rPr lang="en-US" altLang="zh-CN" sz="2800" b="1" dirty="0">
                <a:solidFill>
                  <a:srgbClr val="000000"/>
                </a:solidFill>
                <a:latin typeface="Calibri" pitchFamily="18" charset="0"/>
                <a:cs typeface="Calibri" pitchFamily="18" charset="0"/>
              </a:rPr>
              <a:t>ChatGPT</a:t>
            </a:r>
            <a:r>
              <a:rPr lang="en-US" altLang="zh-CN" sz="2800" b="1" dirty="0">
                <a:solidFill>
                  <a:srgbClr val="000000"/>
                </a:solidFill>
                <a:latin typeface="微软雅黑" pitchFamily="18" charset="0"/>
                <a:cs typeface="微软雅黑" pitchFamily="18" charset="0"/>
              </a:rPr>
              <a:t>整合底层代码</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，用于机器人</a:t>
            </a:r>
          </a:p>
        </p:txBody>
      </p:sp>
      <p:sp>
        <p:nvSpPr>
          <p:cNvPr id="10" name="TextBox 1">
            <a:extLst>
              <a:ext uri="{FF2B5EF4-FFF2-40B4-BE49-F238E27FC236}">
                <a16:creationId xmlns:a16="http://schemas.microsoft.com/office/drawing/2014/main" id="{5B494CD1-FC32-6F45-809E-F75691680AA8}"/>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59</a:t>
            </a:r>
          </a:p>
        </p:txBody>
      </p:sp>
      <p:sp>
        <p:nvSpPr>
          <p:cNvPr id="11" name="Freeform 3">
            <a:extLst>
              <a:ext uri="{FF2B5EF4-FFF2-40B4-BE49-F238E27FC236}">
                <a16:creationId xmlns:a16="http://schemas.microsoft.com/office/drawing/2014/main" id="{EB306277-56B8-AB44-B89E-CEEA2D628C2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305C6BC7-EB0C-8E4C-9778-240F0FBA0FF3}"/>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2727474" y="2276434"/>
            <a:ext cx="6737052" cy="3793253"/>
          </a:xfrm>
          <a:prstGeom prst="rect">
            <a:avLst/>
          </a:prstGeom>
          <a:noFill/>
        </p:spPr>
      </p:pic>
      <p:sp>
        <p:nvSpPr>
          <p:cNvPr id="2" name="TextBox 1"/>
          <p:cNvSpPr txBox="1"/>
          <p:nvPr/>
        </p:nvSpPr>
        <p:spPr>
          <a:xfrm>
            <a:off x="815603" y="751098"/>
            <a:ext cx="7985006"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微软</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利用</a:t>
            </a:r>
            <a:r>
              <a:rPr lang="en-US" altLang="zh-CN" sz="2800" b="1" dirty="0">
                <a:solidFill>
                  <a:srgbClr val="000000"/>
                </a:solidFill>
                <a:latin typeface="Calibri" pitchFamily="18" charset="0"/>
                <a:cs typeface="Calibri" pitchFamily="18" charset="0"/>
              </a:rPr>
              <a:t>ChatGPT</a:t>
            </a:r>
            <a:r>
              <a:rPr lang="en-US" altLang="zh-CN" sz="2800" b="1" dirty="0">
                <a:solidFill>
                  <a:srgbClr val="000000"/>
                </a:solidFill>
                <a:latin typeface="微软雅黑" pitchFamily="18" charset="0"/>
                <a:cs typeface="微软雅黑" pitchFamily="18" charset="0"/>
              </a:rPr>
              <a:t>整合底层代码</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，用于机器人</a:t>
            </a:r>
          </a:p>
        </p:txBody>
      </p:sp>
      <p:sp>
        <p:nvSpPr>
          <p:cNvPr id="9" name="TextBox 1">
            <a:extLst>
              <a:ext uri="{FF2B5EF4-FFF2-40B4-BE49-F238E27FC236}">
                <a16:creationId xmlns:a16="http://schemas.microsoft.com/office/drawing/2014/main" id="{1CF28E9A-8CCE-584B-8CB9-5D47FCDCFC1E}"/>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60</a:t>
            </a:r>
          </a:p>
        </p:txBody>
      </p:sp>
      <p:sp>
        <p:nvSpPr>
          <p:cNvPr id="10" name="Freeform 3">
            <a:extLst>
              <a:ext uri="{FF2B5EF4-FFF2-40B4-BE49-F238E27FC236}">
                <a16:creationId xmlns:a16="http://schemas.microsoft.com/office/drawing/2014/main" id="{16B5941A-9900-5B4D-8DBB-179EE438681E}"/>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F2B4127A-29FD-C944-B7D6-4769A0F84B74}"/>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3213275" y="1960296"/>
            <a:ext cx="5715000" cy="3213100"/>
          </a:xfrm>
          <a:prstGeom prst="rect">
            <a:avLst/>
          </a:prstGeom>
          <a:noFill/>
        </p:spPr>
      </p:pic>
      <p:sp>
        <p:nvSpPr>
          <p:cNvPr id="2" name="TextBox 1"/>
          <p:cNvSpPr txBox="1"/>
          <p:nvPr/>
        </p:nvSpPr>
        <p:spPr>
          <a:xfrm>
            <a:off x="815603" y="709257"/>
            <a:ext cx="8040663"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谷歌</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&amp;</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柏林工业大学：用大语言模型做任务分解</a:t>
            </a:r>
            <a:endParaRPr lang="en-US" altLang="zh-CN" sz="2800" b="1" dirty="0">
              <a:solidFill>
                <a:srgbClr val="000000"/>
              </a:solidFill>
              <a:latin typeface="微软雅黑" pitchFamily="18" charset="0"/>
              <a:cs typeface="微软雅黑" pitchFamily="18" charset="0"/>
            </a:endParaRPr>
          </a:p>
        </p:txBody>
      </p:sp>
      <p:sp>
        <p:nvSpPr>
          <p:cNvPr id="7" name="TextBox 1"/>
          <p:cNvSpPr txBox="1"/>
          <p:nvPr/>
        </p:nvSpPr>
        <p:spPr>
          <a:xfrm>
            <a:off x="3238501" y="5549901"/>
            <a:ext cx="6158737" cy="788549"/>
          </a:xfrm>
          <a:prstGeom prst="rect">
            <a:avLst/>
          </a:prstGeom>
          <a:noFill/>
        </p:spPr>
        <p:txBody>
          <a:bodyPr wrap="none" lIns="0" tIns="0" rIns="0" rtlCol="0">
            <a:spAutoFit/>
          </a:bodyPr>
          <a:lstStyle/>
          <a:p>
            <a:pPr>
              <a:lnSpc>
                <a:spcPts val="2600"/>
              </a:lnSpc>
              <a:tabLst>
                <a:tab pos="1841500" algn="l"/>
              </a:tabLst>
            </a:pPr>
            <a:r>
              <a:rPr lang="en-US" altLang="zh-CN" dirty="0"/>
              <a:t>	</a:t>
            </a:r>
            <a:r>
              <a:rPr lang="en-US" altLang="zh-CN" sz="2000" b="1" dirty="0">
                <a:solidFill>
                  <a:srgbClr val="000000"/>
                </a:solidFill>
                <a:latin typeface="Calibri" pitchFamily="18" charset="0"/>
                <a:cs typeface="Calibri" pitchFamily="18" charset="0"/>
              </a:rPr>
              <a:t>PaLM-E</a:t>
            </a:r>
            <a:r>
              <a:rPr lang="en-US" altLang="zh-CN" sz="2000" dirty="0">
                <a:latin typeface="Times New Roman" pitchFamily="18" charset="0"/>
                <a:cs typeface="Times New Roman" pitchFamily="18" charset="0"/>
              </a:rPr>
              <a:t> </a:t>
            </a:r>
            <a:r>
              <a:rPr lang="en-US" altLang="zh-CN" sz="2000" b="1" dirty="0">
                <a:solidFill>
                  <a:srgbClr val="000000"/>
                </a:solidFill>
                <a:latin typeface="微软雅黑" pitchFamily="18" charset="0"/>
                <a:cs typeface="微软雅黑" pitchFamily="18" charset="0"/>
              </a:rPr>
              <a:t>机械臂控制</a:t>
            </a:r>
          </a:p>
          <a:p>
            <a:pPr>
              <a:lnSpc>
                <a:spcPts val="3600"/>
              </a:lnSpc>
              <a:tabLst>
                <a:tab pos="1841500" algn="l"/>
              </a:tabLst>
            </a:pPr>
            <a:r>
              <a:rPr lang="en-US" altLang="zh-CN" sz="2000" b="1" dirty="0">
                <a:solidFill>
                  <a:srgbClr val="000000"/>
                </a:solidFill>
                <a:latin typeface="微软雅黑" pitchFamily="18" charset="0"/>
                <a:cs typeface="微软雅黑" pitchFamily="18" charset="0"/>
              </a:rPr>
              <a:t>基于视觉完成</a:t>
            </a:r>
            <a:r>
              <a:rPr lang="en-US" altLang="zh-CN" sz="2000" dirty="0">
                <a:latin typeface="Times New Roman" pitchFamily="18" charset="0"/>
                <a:cs typeface="Times New Roman" pitchFamily="18" charset="0"/>
              </a:rPr>
              <a:t> </a:t>
            </a:r>
            <a:r>
              <a:rPr lang="en-US" altLang="zh-CN" sz="2000" b="1" dirty="0">
                <a:solidFill>
                  <a:srgbClr val="000000"/>
                </a:solidFill>
                <a:latin typeface="Calibri" pitchFamily="18" charset="0"/>
                <a:cs typeface="Calibri" pitchFamily="18" charset="0"/>
              </a:rPr>
              <a:t>“</a:t>
            </a:r>
            <a:r>
              <a:rPr lang="en-US" altLang="zh-CN" sz="2000" dirty="0">
                <a:latin typeface="Times New Roman" pitchFamily="18" charset="0"/>
                <a:cs typeface="Times New Roman" pitchFamily="18" charset="0"/>
              </a:rPr>
              <a:t> </a:t>
            </a:r>
            <a:r>
              <a:rPr lang="en-US" altLang="zh-CN" sz="2000" b="1" dirty="0">
                <a:solidFill>
                  <a:srgbClr val="000000"/>
                </a:solidFill>
                <a:latin typeface="微软雅黑" pitchFamily="18" charset="0"/>
                <a:cs typeface="微软雅黑" pitchFamily="18" charset="0"/>
              </a:rPr>
              <a:t>将积木按颜色分类到不同的角落</a:t>
            </a:r>
            <a:r>
              <a:rPr lang="en-US" altLang="zh-CN" sz="2000" dirty="0">
                <a:latin typeface="Times New Roman" pitchFamily="18" charset="0"/>
                <a:cs typeface="Times New Roman" pitchFamily="18" charset="0"/>
              </a:rPr>
              <a:t> </a:t>
            </a:r>
            <a:r>
              <a:rPr lang="en-US" altLang="zh-CN" sz="2000" b="1" dirty="0">
                <a:solidFill>
                  <a:srgbClr val="000000"/>
                </a:solidFill>
                <a:latin typeface="Calibri" pitchFamily="18" charset="0"/>
                <a:cs typeface="Calibri" pitchFamily="18" charset="0"/>
              </a:rPr>
              <a:t>”</a:t>
            </a:r>
            <a:r>
              <a:rPr lang="en-US" altLang="zh-CN" sz="2000" dirty="0">
                <a:latin typeface="Times New Roman" pitchFamily="18" charset="0"/>
                <a:cs typeface="Times New Roman" pitchFamily="18" charset="0"/>
              </a:rPr>
              <a:t> </a:t>
            </a:r>
            <a:r>
              <a:rPr lang="en-US" altLang="zh-CN" sz="2000" b="1" dirty="0">
                <a:solidFill>
                  <a:srgbClr val="000000"/>
                </a:solidFill>
                <a:latin typeface="微软雅黑" pitchFamily="18" charset="0"/>
                <a:cs typeface="微软雅黑" pitchFamily="18" charset="0"/>
              </a:rPr>
              <a:t>任务</a:t>
            </a:r>
          </a:p>
        </p:txBody>
      </p:sp>
      <p:sp>
        <p:nvSpPr>
          <p:cNvPr id="10" name="TextBox 1">
            <a:extLst>
              <a:ext uri="{FF2B5EF4-FFF2-40B4-BE49-F238E27FC236}">
                <a16:creationId xmlns:a16="http://schemas.microsoft.com/office/drawing/2014/main" id="{A34284F0-0B09-7A46-AC8D-954BAC01D575}"/>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61</a:t>
            </a:r>
          </a:p>
        </p:txBody>
      </p:sp>
      <p:sp>
        <p:nvSpPr>
          <p:cNvPr id="11" name="Freeform 3">
            <a:extLst>
              <a:ext uri="{FF2B5EF4-FFF2-40B4-BE49-F238E27FC236}">
                <a16:creationId xmlns:a16="http://schemas.microsoft.com/office/drawing/2014/main" id="{AE3A34BB-8FD0-FE47-9417-8F948508001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D1B0DF82-04D9-ED41-8D65-632399FDA7F1}"/>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1708270" y="1752600"/>
            <a:ext cx="4736331" cy="4585318"/>
          </a:xfrm>
          <a:prstGeom prst="rect">
            <a:avLst/>
          </a:prstGeom>
          <a:noFill/>
        </p:spPr>
      </p:pic>
      <p:sp>
        <p:nvSpPr>
          <p:cNvPr id="2" name="TextBox 1"/>
          <p:cNvSpPr txBox="1"/>
          <p:nvPr/>
        </p:nvSpPr>
        <p:spPr>
          <a:xfrm>
            <a:off x="815603" y="708247"/>
            <a:ext cx="7498848"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清华</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&amp;</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港大：</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用大语言模型做上层推理决策</a:t>
            </a:r>
          </a:p>
        </p:txBody>
      </p:sp>
      <p:sp>
        <p:nvSpPr>
          <p:cNvPr id="7" name="TextBox 1"/>
          <p:cNvSpPr txBox="1"/>
          <p:nvPr/>
        </p:nvSpPr>
        <p:spPr>
          <a:xfrm>
            <a:off x="6705600" y="3183766"/>
            <a:ext cx="5259453" cy="1336904"/>
          </a:xfrm>
          <a:prstGeom prst="rect">
            <a:avLst/>
          </a:prstGeom>
          <a:noFill/>
        </p:spPr>
        <p:txBody>
          <a:bodyPr wrap="none" lIns="0" tIns="0" rIns="0" rtlCol="0">
            <a:spAutoFit/>
          </a:bodyPr>
          <a:lstStyle/>
          <a:p>
            <a:pPr>
              <a:lnSpc>
                <a:spcPts val="3100"/>
              </a:lnSpc>
            </a:pPr>
            <a:r>
              <a:rPr lang="en-US" altLang="zh-CN" sz="2400" b="1" dirty="0">
                <a:solidFill>
                  <a:srgbClr val="000000"/>
                </a:solidFill>
                <a:latin typeface="Calibri" pitchFamily="18" charset="0"/>
                <a:cs typeface="Calibri" pitchFamily="18" charset="0"/>
              </a:rPr>
              <a:t>LanguageMPC</a:t>
            </a:r>
            <a:r>
              <a:rPr lang="en-US" altLang="zh-CN" sz="2400" dirty="0">
                <a:latin typeface="Times New Roman" pitchFamily="18" charset="0"/>
                <a:cs typeface="Times New Roman" pitchFamily="18" charset="0"/>
              </a:rPr>
              <a:t> </a:t>
            </a:r>
            <a:r>
              <a:rPr lang="en-US" altLang="zh-CN" sz="2400" b="1" dirty="0">
                <a:solidFill>
                  <a:srgbClr val="000000"/>
                </a:solidFill>
                <a:latin typeface="微软雅黑" pitchFamily="18" charset="0"/>
                <a:cs typeface="微软雅黑" pitchFamily="18" charset="0"/>
              </a:rPr>
              <a:t>：</a:t>
            </a:r>
          </a:p>
          <a:p>
            <a:pPr>
              <a:lnSpc>
                <a:spcPts val="1000"/>
              </a:lnSpc>
            </a:pPr>
            <a:endParaRPr lang="en-US" altLang="zh-CN" dirty="0"/>
          </a:p>
          <a:p>
            <a:pPr>
              <a:lnSpc>
                <a:spcPts val="3100"/>
              </a:lnSpc>
            </a:pPr>
            <a:r>
              <a:rPr lang="en-US" altLang="zh-CN" sz="2400" b="1" dirty="0">
                <a:solidFill>
                  <a:srgbClr val="000000"/>
                </a:solidFill>
                <a:latin typeface="微软雅黑" pitchFamily="18" charset="0"/>
                <a:cs typeface="微软雅黑" pitchFamily="18" charset="0"/>
              </a:rPr>
              <a:t>将大语言模型作为自动驾驶决策核心，</a:t>
            </a:r>
          </a:p>
          <a:p>
            <a:pPr>
              <a:lnSpc>
                <a:spcPts val="3100"/>
              </a:lnSpc>
            </a:pPr>
            <a:r>
              <a:rPr lang="en-US" altLang="zh-CN" sz="2400" b="1" dirty="0">
                <a:solidFill>
                  <a:srgbClr val="000000"/>
                </a:solidFill>
                <a:latin typeface="微软雅黑" pitchFamily="18" charset="0"/>
                <a:cs typeface="微软雅黑" pitchFamily="18" charset="0"/>
              </a:rPr>
              <a:t>与底层控制无缝结合</a:t>
            </a:r>
          </a:p>
        </p:txBody>
      </p:sp>
      <p:sp>
        <p:nvSpPr>
          <p:cNvPr id="10" name="TextBox 1">
            <a:extLst>
              <a:ext uri="{FF2B5EF4-FFF2-40B4-BE49-F238E27FC236}">
                <a16:creationId xmlns:a16="http://schemas.microsoft.com/office/drawing/2014/main" id="{AD493494-5263-4E49-8750-0E0703ACF3D9}"/>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62</a:t>
            </a:r>
          </a:p>
        </p:txBody>
      </p:sp>
      <p:sp>
        <p:nvSpPr>
          <p:cNvPr id="11" name="Freeform 3">
            <a:extLst>
              <a:ext uri="{FF2B5EF4-FFF2-40B4-BE49-F238E27FC236}">
                <a16:creationId xmlns:a16="http://schemas.microsoft.com/office/drawing/2014/main" id="{54DCC0B8-450F-944A-BDF0-030187938A2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951F359E-98B6-854A-A305-2B42B3990BEE}"/>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3349255" y="1911566"/>
            <a:ext cx="5529813" cy="3270034"/>
          </a:xfrm>
          <a:prstGeom prst="rect">
            <a:avLst/>
          </a:prstGeom>
          <a:noFill/>
        </p:spPr>
      </p:pic>
      <p:sp>
        <p:nvSpPr>
          <p:cNvPr id="2" name="TextBox 1"/>
          <p:cNvSpPr txBox="1"/>
          <p:nvPr/>
        </p:nvSpPr>
        <p:spPr>
          <a:xfrm>
            <a:off x="792566" y="694793"/>
            <a:ext cx="8273099"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谷歌</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DeepMind</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：用大语言模型做人机交互等工作</a:t>
            </a:r>
          </a:p>
        </p:txBody>
      </p:sp>
      <p:sp>
        <p:nvSpPr>
          <p:cNvPr id="7" name="TextBox 1"/>
          <p:cNvSpPr txBox="1"/>
          <p:nvPr/>
        </p:nvSpPr>
        <p:spPr>
          <a:xfrm>
            <a:off x="4160373" y="5437348"/>
            <a:ext cx="3871253" cy="773930"/>
          </a:xfrm>
          <a:prstGeom prst="rect">
            <a:avLst/>
          </a:prstGeom>
          <a:noFill/>
        </p:spPr>
        <p:txBody>
          <a:bodyPr wrap="none" lIns="0" tIns="0" rIns="0" rtlCol="0">
            <a:spAutoFit/>
          </a:bodyPr>
          <a:lstStyle/>
          <a:p>
            <a:pPr>
              <a:lnSpc>
                <a:spcPts val="2600"/>
              </a:lnSpc>
              <a:tabLst>
                <a:tab pos="1270000" algn="l"/>
              </a:tabLst>
            </a:pPr>
            <a:r>
              <a:rPr lang="en-US" altLang="zh-CN" dirty="0"/>
              <a:t>	</a:t>
            </a:r>
            <a:r>
              <a:rPr lang="en-US" altLang="zh-CN" sz="2000" b="1" dirty="0">
                <a:solidFill>
                  <a:srgbClr val="000000"/>
                </a:solidFill>
                <a:latin typeface="Calibri" pitchFamily="18" charset="0"/>
                <a:cs typeface="Calibri" pitchFamily="18" charset="0"/>
              </a:rPr>
              <a:t>RT-2</a:t>
            </a:r>
            <a:r>
              <a:rPr lang="en-US" altLang="zh-CN" sz="2000" dirty="0">
                <a:latin typeface="Times New Roman" pitchFamily="18" charset="0"/>
                <a:cs typeface="Times New Roman" pitchFamily="18" charset="0"/>
              </a:rPr>
              <a:t> </a:t>
            </a:r>
            <a:r>
              <a:rPr lang="en-US" altLang="zh-CN" sz="2000" b="1" dirty="0">
                <a:solidFill>
                  <a:srgbClr val="000000"/>
                </a:solidFill>
                <a:latin typeface="微软雅黑" pitchFamily="18" charset="0"/>
                <a:cs typeface="微软雅黑" pitchFamily="18" charset="0"/>
              </a:rPr>
              <a:t>模型：</a:t>
            </a:r>
          </a:p>
          <a:p>
            <a:pPr>
              <a:lnSpc>
                <a:spcPts val="3500"/>
              </a:lnSpc>
              <a:tabLst>
                <a:tab pos="1270000" algn="l"/>
              </a:tabLst>
            </a:pPr>
            <a:r>
              <a:rPr lang="en-US" altLang="zh-CN" sz="2000" b="1" dirty="0">
                <a:solidFill>
                  <a:srgbClr val="000000"/>
                </a:solidFill>
                <a:latin typeface="微软雅黑" pitchFamily="18" charset="0"/>
                <a:cs typeface="微软雅黑" pitchFamily="18" charset="0"/>
              </a:rPr>
              <a:t>接受人类语音指令，完成抓取任务</a:t>
            </a:r>
          </a:p>
        </p:txBody>
      </p:sp>
      <p:sp>
        <p:nvSpPr>
          <p:cNvPr id="10" name="TextBox 1">
            <a:extLst>
              <a:ext uri="{FF2B5EF4-FFF2-40B4-BE49-F238E27FC236}">
                <a16:creationId xmlns:a16="http://schemas.microsoft.com/office/drawing/2014/main" id="{F7FB1A66-6168-0F48-B2BD-CC187CBBD6CF}"/>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63</a:t>
            </a:r>
          </a:p>
        </p:txBody>
      </p:sp>
      <p:sp>
        <p:nvSpPr>
          <p:cNvPr id="11" name="Freeform 3">
            <a:extLst>
              <a:ext uri="{FF2B5EF4-FFF2-40B4-BE49-F238E27FC236}">
                <a16:creationId xmlns:a16="http://schemas.microsoft.com/office/drawing/2014/main" id="{4B81C7FF-4D22-0049-B655-0C10A0024483}"/>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
            <a:extLst>
              <a:ext uri="{FF2B5EF4-FFF2-40B4-BE49-F238E27FC236}">
                <a16:creationId xmlns:a16="http://schemas.microsoft.com/office/drawing/2014/main" id="{E75F04C1-FC00-B241-AFD7-B30E499AE583}"/>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603500" y="2247900"/>
            <a:ext cx="6985000" cy="3937000"/>
          </a:xfrm>
          <a:prstGeom prst="rect">
            <a:avLst/>
          </a:prstGeom>
          <a:noFill/>
        </p:spPr>
      </p:pic>
      <p:sp>
        <p:nvSpPr>
          <p:cNvPr id="2" name="TextBox 1"/>
          <p:cNvSpPr txBox="1"/>
          <p:nvPr/>
        </p:nvSpPr>
        <p:spPr>
          <a:xfrm>
            <a:off x="810287" y="655379"/>
            <a:ext cx="5121595" cy="1326902"/>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Figure</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01</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人形机器人</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与</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OpenAI</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合作，完成多</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样</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任</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务</a:t>
            </a:r>
          </a:p>
        </p:txBody>
      </p:sp>
      <p:sp>
        <p:nvSpPr>
          <p:cNvPr id="9" name="TextBox 1">
            <a:extLst>
              <a:ext uri="{FF2B5EF4-FFF2-40B4-BE49-F238E27FC236}">
                <a16:creationId xmlns:a16="http://schemas.microsoft.com/office/drawing/2014/main" id="{C40A6562-694F-104E-B59A-A593FDB72B02}"/>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64</a:t>
            </a:r>
          </a:p>
        </p:txBody>
      </p:sp>
      <p:sp>
        <p:nvSpPr>
          <p:cNvPr id="10" name="Freeform 3">
            <a:extLst>
              <a:ext uri="{FF2B5EF4-FFF2-40B4-BE49-F238E27FC236}">
                <a16:creationId xmlns:a16="http://schemas.microsoft.com/office/drawing/2014/main" id="{57707985-2CDF-DD4A-BB24-1941A1996415}"/>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F9DDA887-ED96-D741-9824-8E9BD71BB06F}"/>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438949" y="1918291"/>
            <a:ext cx="7314101" cy="4114182"/>
          </a:xfrm>
          <a:prstGeom prst="rect">
            <a:avLst/>
          </a:prstGeom>
          <a:noFill/>
        </p:spPr>
      </p:pic>
      <p:sp>
        <p:nvSpPr>
          <p:cNvPr id="2" name="TextBox 1"/>
          <p:cNvSpPr txBox="1"/>
          <p:nvPr/>
        </p:nvSpPr>
        <p:spPr>
          <a:xfrm>
            <a:off x="914400" y="666307"/>
            <a:ext cx="3189976" cy="86754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波士顿动力机器人</a:t>
            </a:r>
          </a:p>
        </p:txBody>
      </p:sp>
      <p:sp>
        <p:nvSpPr>
          <p:cNvPr id="9" name="TextBox 1">
            <a:extLst>
              <a:ext uri="{FF2B5EF4-FFF2-40B4-BE49-F238E27FC236}">
                <a16:creationId xmlns:a16="http://schemas.microsoft.com/office/drawing/2014/main" id="{AA5EAFFE-4162-244A-ACE6-749067C76F38}"/>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65</a:t>
            </a:r>
          </a:p>
        </p:txBody>
      </p:sp>
      <p:sp>
        <p:nvSpPr>
          <p:cNvPr id="10" name="Freeform 3">
            <a:extLst>
              <a:ext uri="{FF2B5EF4-FFF2-40B4-BE49-F238E27FC236}">
                <a16:creationId xmlns:a16="http://schemas.microsoft.com/office/drawing/2014/main" id="{C58C1917-FD20-3C45-ACB9-2F06DE4E2FFF}"/>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57101400-6A63-3243-B844-28FEEB5CE006}"/>
              </a:ext>
            </a:extLst>
          </p:cNvPr>
          <p:cNvSpPr txBox="1"/>
          <p:nvPr/>
        </p:nvSpPr>
        <p:spPr>
          <a:xfrm>
            <a:off x="472354" y="152400"/>
            <a:ext cx="1235916"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机器人</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541341" y="2290369"/>
            <a:ext cx="7109317" cy="3989117"/>
          </a:xfrm>
          <a:prstGeom prst="rect">
            <a:avLst/>
          </a:prstGeom>
          <a:noFill/>
        </p:spPr>
      </p:pic>
      <p:sp>
        <p:nvSpPr>
          <p:cNvPr id="2" name="TextBox 1"/>
          <p:cNvSpPr txBox="1"/>
          <p:nvPr/>
        </p:nvSpPr>
        <p:spPr>
          <a:xfrm>
            <a:off x="914400" y="742212"/>
            <a:ext cx="7109318" cy="132087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小鹏汽车城市辅助驾驶（</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提示：辅助驾驶不是自动驾驶</a:t>
            </a:r>
            <a:r>
              <a:rPr lang="zh-CN" altLang="en-US" sz="2400" dirty="0">
                <a:latin typeface="Times New Roman" pitchFamily="18" charset="0"/>
                <a:cs typeface="Times New Roman" pitchFamily="18" charset="0"/>
              </a:rPr>
              <a:t>，</a:t>
            </a:r>
            <a:r>
              <a:rPr lang="en-US" altLang="zh-CN" sz="2400" dirty="0">
                <a:solidFill>
                  <a:srgbClr val="000000"/>
                </a:solidFill>
                <a:latin typeface="微软雅黑" pitchFamily="18" charset="0"/>
                <a:cs typeface="微软雅黑" pitchFamily="18" charset="0"/>
              </a:rPr>
              <a:t>请务必安全使用</a:t>
            </a:r>
          </a:p>
        </p:txBody>
      </p:sp>
      <p:sp>
        <p:nvSpPr>
          <p:cNvPr id="9" name="TextBox 1">
            <a:extLst>
              <a:ext uri="{FF2B5EF4-FFF2-40B4-BE49-F238E27FC236}">
                <a16:creationId xmlns:a16="http://schemas.microsoft.com/office/drawing/2014/main" id="{516B25F3-CFDD-9D44-8CBE-F470D2C22BAA}"/>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66</a:t>
            </a:r>
          </a:p>
        </p:txBody>
      </p:sp>
      <p:sp>
        <p:nvSpPr>
          <p:cNvPr id="10" name="Freeform 3">
            <a:extLst>
              <a:ext uri="{FF2B5EF4-FFF2-40B4-BE49-F238E27FC236}">
                <a16:creationId xmlns:a16="http://schemas.microsoft.com/office/drawing/2014/main" id="{A165161A-700C-7143-9CB1-8880C712FDDB}"/>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0AD9B680-9DE1-5F4F-86DA-8CC69156329A}"/>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自动驾驶</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743199" y="2609920"/>
            <a:ext cx="6800725" cy="3867079"/>
          </a:xfrm>
          <a:prstGeom prst="rect">
            <a:avLst/>
          </a:prstGeom>
          <a:noFill/>
        </p:spPr>
      </p:pic>
      <p:sp>
        <p:nvSpPr>
          <p:cNvPr id="2" name="TextBox 1"/>
          <p:cNvSpPr txBox="1"/>
          <p:nvPr/>
        </p:nvSpPr>
        <p:spPr>
          <a:xfrm>
            <a:off x="762000" y="685800"/>
            <a:ext cx="11339258" cy="1823513"/>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特斯拉</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：马斯克亲自上线开启了一</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场</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FSD(Full</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Self-Driving)</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Beta</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V12</a:t>
            </a:r>
          </a:p>
          <a:p>
            <a:pPr>
              <a:lnSpc>
                <a:spcPts val="3700"/>
              </a:lnSpc>
              <a:tabLst>
                <a:tab pos="2286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试驾直播</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b="1" dirty="0">
                <a:solidFill>
                  <a:srgbClr val="000000"/>
                </a:solidFill>
                <a:latin typeface="Calibri" pitchFamily="18" charset="0"/>
                <a:cs typeface="Calibri" pitchFamily="18" charset="0"/>
              </a:rPr>
              <a:t>FSD</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V12</a:t>
            </a:r>
            <a:r>
              <a:rPr lang="en-US" altLang="zh-CN" sz="2800" b="1" dirty="0">
                <a:solidFill>
                  <a:srgbClr val="000000"/>
                </a:solidFill>
                <a:latin typeface="微软雅黑" pitchFamily="18" charset="0"/>
                <a:cs typeface="微软雅黑" pitchFamily="18" charset="0"/>
              </a:rPr>
              <a:t>的神经网络的高度集成，</a:t>
            </a:r>
            <a:r>
              <a:rPr lang="en-US" altLang="zh-CN" sz="2800" b="1" dirty="0">
                <a:solidFill>
                  <a:srgbClr val="000000"/>
                </a:solidFill>
                <a:latin typeface="Calibri" pitchFamily="18" charset="0"/>
                <a:cs typeface="Calibri" pitchFamily="18" charset="0"/>
              </a:rPr>
              <a:t>C++</a:t>
            </a:r>
            <a:r>
              <a:rPr lang="en-US" altLang="zh-CN" sz="2800" b="1" dirty="0">
                <a:solidFill>
                  <a:srgbClr val="000000"/>
                </a:solidFill>
                <a:latin typeface="微软雅黑" pitchFamily="18" charset="0"/>
                <a:cs typeface="微软雅黑" pitchFamily="18" charset="0"/>
              </a:rPr>
              <a:t>代码控制减少了</a:t>
            </a:r>
            <a:r>
              <a:rPr lang="en-US" altLang="zh-CN" sz="2800" b="1" dirty="0">
                <a:solidFill>
                  <a:srgbClr val="000000"/>
                </a:solidFill>
                <a:latin typeface="Calibri" pitchFamily="18" charset="0"/>
                <a:cs typeface="Calibri" pitchFamily="18" charset="0"/>
              </a:rPr>
              <a:t>10</a:t>
            </a:r>
            <a:r>
              <a:rPr lang="en-US" altLang="zh-CN" sz="2800" b="1" dirty="0">
                <a:solidFill>
                  <a:srgbClr val="000000"/>
                </a:solidFill>
                <a:latin typeface="微软雅黑" pitchFamily="18" charset="0"/>
                <a:cs typeface="微软雅黑" pitchFamily="18" charset="0"/>
              </a:rPr>
              <a:t>倍</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endParaRPr lang="en-US" altLang="zh-CN" sz="2800" b="1" dirty="0">
              <a:solidFill>
                <a:srgbClr val="000000"/>
              </a:solidFill>
              <a:latin typeface="Times New Roman" pitchFamily="18" charset="0"/>
              <a:cs typeface="Times New Roman" pitchFamily="18" charset="0"/>
            </a:endParaRPr>
          </a:p>
          <a:p>
            <a:pPr>
              <a:lnSpc>
                <a:spcPts val="3700"/>
              </a:lnSpc>
              <a:tabLst>
                <a:tab pos="2286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从</a:t>
            </a:r>
            <a:r>
              <a:rPr lang="en-US" altLang="zh-CN" sz="2800" b="1" dirty="0">
                <a:solidFill>
                  <a:srgbClr val="000000"/>
                </a:solidFill>
                <a:latin typeface="Calibri" pitchFamily="18" charset="0"/>
                <a:cs typeface="Calibri" pitchFamily="18" charset="0"/>
              </a:rPr>
              <a:t>2</a:t>
            </a:r>
            <a:r>
              <a:rPr lang="en-US" altLang="zh-CN" sz="2800" b="1" dirty="0">
                <a:solidFill>
                  <a:srgbClr val="000000"/>
                </a:solidFill>
                <a:latin typeface="微软雅黑" pitchFamily="18" charset="0"/>
                <a:cs typeface="微软雅黑" pitchFamily="18" charset="0"/>
              </a:rPr>
              <a:t>万多行减少到</a:t>
            </a:r>
            <a:r>
              <a:rPr lang="en-US" altLang="zh-CN" sz="2800" b="1" dirty="0">
                <a:solidFill>
                  <a:srgbClr val="000000"/>
                </a:solidFill>
                <a:latin typeface="Calibri" pitchFamily="18" charset="0"/>
                <a:cs typeface="Calibri" pitchFamily="18" charset="0"/>
              </a:rPr>
              <a:t>2</a:t>
            </a:r>
            <a:r>
              <a:rPr lang="en-US" altLang="zh-CN" sz="2800" b="1" dirty="0">
                <a:solidFill>
                  <a:srgbClr val="000000"/>
                </a:solidFill>
                <a:latin typeface="微软雅黑" pitchFamily="18" charset="0"/>
                <a:cs typeface="微软雅黑" pitchFamily="18" charset="0"/>
              </a:rPr>
              <a:t>千行（</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TextBox 1">
            <a:extLst>
              <a:ext uri="{FF2B5EF4-FFF2-40B4-BE49-F238E27FC236}">
                <a16:creationId xmlns:a16="http://schemas.microsoft.com/office/drawing/2014/main" id="{876EA513-6BAB-2B45-8BE9-9A4972EC6473}"/>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67</a:t>
            </a:r>
          </a:p>
        </p:txBody>
      </p:sp>
      <p:sp>
        <p:nvSpPr>
          <p:cNvPr id="10" name="Freeform 3">
            <a:extLst>
              <a:ext uri="{FF2B5EF4-FFF2-40B4-BE49-F238E27FC236}">
                <a16:creationId xmlns:a16="http://schemas.microsoft.com/office/drawing/2014/main" id="{BE13B486-5DF8-9740-9F13-2CD4229B486C}"/>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C646B749-4066-B748-8752-D629D6DE0786}"/>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自动驾驶</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2730500" y="2322651"/>
            <a:ext cx="6731000" cy="4267200"/>
          </a:xfrm>
          <a:prstGeom prst="rect">
            <a:avLst/>
          </a:prstGeom>
          <a:noFill/>
        </p:spPr>
      </p:pic>
      <p:sp>
        <p:nvSpPr>
          <p:cNvPr id="2" name="TextBox 1"/>
          <p:cNvSpPr txBox="1"/>
          <p:nvPr/>
        </p:nvSpPr>
        <p:spPr>
          <a:xfrm>
            <a:off x="762000" y="819006"/>
            <a:ext cx="10953320" cy="134902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萝卜快跑</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：百度公司的无人出租车</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，在武汉的运营区域达</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3000</a:t>
            </a:r>
            <a:r>
              <a:rPr lang="en-US" altLang="zh-CN" sz="2800" b="1" dirty="0">
                <a:solidFill>
                  <a:srgbClr val="000000"/>
                </a:solidFill>
                <a:latin typeface="微软雅黑" pitchFamily="18" charset="0"/>
                <a:cs typeface="微软雅黑" pitchFamily="18" charset="0"/>
              </a:rPr>
              <a:t>平方</a:t>
            </a:r>
            <a:endParaRPr lang="en-US" altLang="zh-CN" sz="2800" b="1" dirty="0">
              <a:solidFill>
                <a:srgbClr val="000000"/>
              </a:solidFill>
              <a:latin typeface="Times New Roman" pitchFamily="18" charset="0"/>
              <a:cs typeface="Times New Roman" pitchFamily="18" charset="0"/>
            </a:endParaRPr>
          </a:p>
          <a:p>
            <a:pPr>
              <a:lnSpc>
                <a:spcPts val="3700"/>
              </a:lnSpc>
              <a:tabLst>
                <a:tab pos="228600" algn="l"/>
              </a:tabLst>
            </a:pPr>
            <a:r>
              <a:rPr lang="en-US" altLang="zh-CN" sz="2800" b="1" dirty="0">
                <a:solidFill>
                  <a:srgbClr val="000000"/>
                </a:solidFill>
                <a:latin typeface="微软雅黑" pitchFamily="18" charset="0"/>
                <a:cs typeface="微软雅黑" pitchFamily="18" charset="0"/>
              </a:rPr>
              <a:t>公里</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，串</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联</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b="1" dirty="0">
                <a:solidFill>
                  <a:srgbClr val="000000"/>
                </a:solidFill>
                <a:latin typeface="微软雅黑" pitchFamily="18" charset="0"/>
                <a:cs typeface="微软雅黑" pitchFamily="18" charset="0"/>
              </a:rPr>
              <a:t>车谷</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和</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b="1" dirty="0">
                <a:solidFill>
                  <a:srgbClr val="000000"/>
                </a:solidFill>
                <a:latin typeface="微软雅黑" pitchFamily="18" charset="0"/>
                <a:cs typeface="微软雅黑" pitchFamily="18" charset="0"/>
              </a:rPr>
              <a:t>光谷</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2024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9" name="TextBox 1">
            <a:extLst>
              <a:ext uri="{FF2B5EF4-FFF2-40B4-BE49-F238E27FC236}">
                <a16:creationId xmlns:a16="http://schemas.microsoft.com/office/drawing/2014/main" id="{40E612CE-E985-A64B-9743-4046B2919DE8}"/>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68</a:t>
            </a:r>
          </a:p>
        </p:txBody>
      </p:sp>
      <p:sp>
        <p:nvSpPr>
          <p:cNvPr id="10" name="Freeform 3">
            <a:extLst>
              <a:ext uri="{FF2B5EF4-FFF2-40B4-BE49-F238E27FC236}">
                <a16:creationId xmlns:a16="http://schemas.microsoft.com/office/drawing/2014/main" id="{6ECD7EE7-9566-3D4C-8A11-4F4084BC8D7D}"/>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BE91D1DD-41D1-C347-9F44-FCF458DDB432}"/>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自动驾驶</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
            <a:extLst>
              <a:ext uri="{FF2B5EF4-FFF2-40B4-BE49-F238E27FC236}">
                <a16:creationId xmlns:a16="http://schemas.microsoft.com/office/drawing/2014/main" id="{40E612CE-E985-A64B-9743-4046B2919DE8}"/>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68</a:t>
            </a:r>
          </a:p>
        </p:txBody>
      </p:sp>
      <p:sp>
        <p:nvSpPr>
          <p:cNvPr id="10" name="Freeform 3">
            <a:extLst>
              <a:ext uri="{FF2B5EF4-FFF2-40B4-BE49-F238E27FC236}">
                <a16:creationId xmlns:a16="http://schemas.microsoft.com/office/drawing/2014/main" id="{6ECD7EE7-9566-3D4C-8A11-4F4084BC8D7D}"/>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BE91D1DD-41D1-C347-9F44-FCF458DDB432}"/>
              </a:ext>
            </a:extLst>
          </p:cNvPr>
          <p:cNvSpPr txBox="1"/>
          <p:nvPr/>
        </p:nvSpPr>
        <p:spPr>
          <a:xfrm>
            <a:off x="472354" y="152400"/>
            <a:ext cx="8651407" cy="542393"/>
          </a:xfrm>
          <a:prstGeom prst="rect">
            <a:avLst/>
          </a:prstGeom>
          <a:noFill/>
        </p:spPr>
        <p:txBody>
          <a:bodyPr wrap="none" lIns="0" tIns="0" rIns="0" rtlCol="0">
            <a:spAutoFit/>
          </a:bodyPr>
          <a:lstStyle/>
          <a:p>
            <a:pPr>
              <a:lnSpc>
                <a:spcPts val="4200"/>
              </a:lnSpc>
              <a:tabLst>
                <a:tab pos="457200" algn="l"/>
              </a:tabLst>
            </a:pPr>
            <a:r>
              <a:rPr lang="zh-CN" altLang="en-US" sz="3199" b="1" dirty="0">
                <a:solidFill>
                  <a:srgbClr val="000000"/>
                </a:solidFill>
                <a:latin typeface="微软雅黑" pitchFamily="18" charset="0"/>
                <a:cs typeface="微软雅黑" pitchFamily="18" charset="0"/>
              </a:rPr>
              <a:t>印刷显示喷印制造中的人工智能（本团队工作）</a:t>
            </a:r>
            <a:endParaRPr lang="en-US" altLang="zh-CN" sz="3199" b="1" dirty="0">
              <a:solidFill>
                <a:srgbClr val="000000"/>
              </a:solidFill>
              <a:latin typeface="微软雅黑" pitchFamily="18" charset="0"/>
              <a:cs typeface="微软雅黑" pitchFamily="18" charset="0"/>
            </a:endParaRPr>
          </a:p>
        </p:txBody>
      </p:sp>
      <p:sp>
        <p:nvSpPr>
          <p:cNvPr id="3" name="矩形 2">
            <a:extLst>
              <a:ext uri="{FF2B5EF4-FFF2-40B4-BE49-F238E27FC236}">
                <a16:creationId xmlns:a16="http://schemas.microsoft.com/office/drawing/2014/main" id="{C025B067-A3B9-4AA7-8B98-6DA43D42A2FC}"/>
              </a:ext>
            </a:extLst>
          </p:cNvPr>
          <p:cNvSpPr/>
          <p:nvPr/>
        </p:nvSpPr>
        <p:spPr>
          <a:xfrm>
            <a:off x="473515" y="948690"/>
            <a:ext cx="11244969" cy="5909310"/>
          </a:xfrm>
          <a:prstGeom prst="rect">
            <a:avLst/>
          </a:prstGeom>
        </p:spPr>
        <p:txBody>
          <a:bodyPr wrap="square">
            <a:spAutoFit/>
          </a:bodyPr>
          <a:lstStyle/>
          <a:p>
            <a:r>
              <a:rPr lang="en-US" altLang="zh-CN" dirty="0"/>
              <a:t>[1] Z Zhao, W Chen*, Y Zhao, J </a:t>
            </a:r>
            <a:r>
              <a:rPr lang="en-US" altLang="zh-CN" dirty="0" err="1"/>
              <a:t>Xiong</a:t>
            </a:r>
            <a:r>
              <a:rPr lang="en-US" altLang="zh-CN" dirty="0"/>
              <a:t>, X Li, P Yu, J Chen*,</a:t>
            </a:r>
            <a:r>
              <a:rPr lang="zh-CN" altLang="en-US" dirty="0"/>
              <a:t> </a:t>
            </a:r>
            <a:r>
              <a:rPr lang="en-US" altLang="zh-CN" dirty="0"/>
              <a:t>Physics-Guided reinforcement learning for micron-scale precision manufacturing in electrohydrodynamic jet processes, Journal of Intelligent Manufacturing, 2026: 1-12. </a:t>
            </a:r>
          </a:p>
          <a:p>
            <a:r>
              <a:rPr lang="en-US" altLang="zh-CN" dirty="0">
                <a:solidFill>
                  <a:srgbClr val="FF0000"/>
                </a:solidFill>
              </a:rPr>
              <a:t>(IF 7.4, JCR Q1)</a:t>
            </a:r>
          </a:p>
          <a:p>
            <a:r>
              <a:rPr lang="en-US" altLang="zh-CN" dirty="0"/>
              <a:t>[2] J </a:t>
            </a:r>
            <a:r>
              <a:rPr lang="en-US" altLang="zh-CN" dirty="0" err="1"/>
              <a:t>Xiong</a:t>
            </a:r>
            <a:r>
              <a:rPr lang="en-US" altLang="zh-CN" dirty="0"/>
              <a:t>, J Chen*, W Chen*, Y Hou, Z Zhao, X Li, Z Yin, Online intelligent closed-loop correction of drop-offset defects in OLED printing algorithm using visual graph attention and reinforcement learning, Journal of Manufacturing Processes, 2026, 157: 515-530. </a:t>
            </a:r>
            <a:r>
              <a:rPr lang="en-US" altLang="zh-CN" dirty="0">
                <a:solidFill>
                  <a:srgbClr val="FF0000"/>
                </a:solidFill>
              </a:rPr>
              <a:t>(IF 6.8,</a:t>
            </a:r>
            <a:r>
              <a:rPr lang="zh-CN" altLang="en-US" dirty="0">
                <a:solidFill>
                  <a:srgbClr val="FF0000"/>
                </a:solidFill>
              </a:rPr>
              <a:t> 中科院</a:t>
            </a:r>
            <a:r>
              <a:rPr lang="en-US" altLang="zh-CN" dirty="0">
                <a:solidFill>
                  <a:srgbClr val="FF0000"/>
                </a:solidFill>
              </a:rPr>
              <a:t>1</a:t>
            </a:r>
            <a:r>
              <a:rPr lang="zh-CN" altLang="en-US" dirty="0">
                <a:solidFill>
                  <a:srgbClr val="FF0000"/>
                </a:solidFill>
              </a:rPr>
              <a:t>区，</a:t>
            </a:r>
            <a:r>
              <a:rPr lang="en-US" altLang="zh-CN" dirty="0">
                <a:solidFill>
                  <a:srgbClr val="FF0000"/>
                </a:solidFill>
              </a:rPr>
              <a:t>TOP)</a:t>
            </a:r>
          </a:p>
          <a:p>
            <a:r>
              <a:rPr lang="en-US" altLang="zh-CN" dirty="0"/>
              <a:t>[3] Z Zhao, Y Zhao, W Chen*, Y Tang, D Wang, J Chen*,</a:t>
            </a:r>
            <a:r>
              <a:rPr lang="zh-CN" altLang="en-US" dirty="0"/>
              <a:t> </a:t>
            </a:r>
            <a:r>
              <a:rPr lang="en-US" altLang="zh-CN" dirty="0"/>
              <a:t>Intelligent algorithms enable electrohydrodynamic jet printing for micro-LEDs defect repair, Virtual and Physical Prototyping, 2025, 20 (1): e2579680.</a:t>
            </a:r>
            <a:r>
              <a:rPr lang="en-US" altLang="zh-CN" dirty="0">
                <a:solidFill>
                  <a:srgbClr val="FF0000"/>
                </a:solidFill>
              </a:rPr>
              <a:t> (IF 8.8,</a:t>
            </a:r>
            <a:r>
              <a:rPr lang="zh-CN" altLang="en-US" dirty="0">
                <a:solidFill>
                  <a:srgbClr val="FF0000"/>
                </a:solidFill>
              </a:rPr>
              <a:t> 中科院</a:t>
            </a:r>
            <a:r>
              <a:rPr lang="en-US" altLang="zh-CN" dirty="0">
                <a:solidFill>
                  <a:srgbClr val="FF0000"/>
                </a:solidFill>
              </a:rPr>
              <a:t>1</a:t>
            </a:r>
            <a:r>
              <a:rPr lang="zh-CN" altLang="en-US" dirty="0">
                <a:solidFill>
                  <a:srgbClr val="FF0000"/>
                </a:solidFill>
              </a:rPr>
              <a:t>区，</a:t>
            </a:r>
            <a:r>
              <a:rPr lang="en-US" altLang="zh-CN" dirty="0">
                <a:solidFill>
                  <a:srgbClr val="FF0000"/>
                </a:solidFill>
              </a:rPr>
              <a:t>TOP)</a:t>
            </a:r>
            <a:endParaRPr lang="en-US" altLang="zh-CN" dirty="0"/>
          </a:p>
          <a:p>
            <a:r>
              <a:rPr lang="en-US" altLang="zh-CN" dirty="0"/>
              <a:t>[4] Z Zhao, W Chen*, W Wu, Y Zhao, G Wang, Y Tang, W Tang, J Chen*, Z Yin, Electrohydrodynamic jet printing enables Micro-OLEDs multilayer structure preparation, Journal of Manufacturing Processes, 2025, 150: 924-932.</a:t>
            </a:r>
          </a:p>
          <a:p>
            <a:r>
              <a:rPr lang="en-US" altLang="zh-CN" dirty="0">
                <a:solidFill>
                  <a:srgbClr val="FF0000"/>
                </a:solidFill>
              </a:rPr>
              <a:t>(IF 6.8,</a:t>
            </a:r>
            <a:r>
              <a:rPr lang="zh-CN" altLang="en-US" dirty="0">
                <a:solidFill>
                  <a:srgbClr val="FF0000"/>
                </a:solidFill>
              </a:rPr>
              <a:t> 中科院</a:t>
            </a:r>
            <a:r>
              <a:rPr lang="en-US" altLang="zh-CN" dirty="0">
                <a:solidFill>
                  <a:srgbClr val="FF0000"/>
                </a:solidFill>
              </a:rPr>
              <a:t>1</a:t>
            </a:r>
            <a:r>
              <a:rPr lang="zh-CN" altLang="en-US" dirty="0">
                <a:solidFill>
                  <a:srgbClr val="FF0000"/>
                </a:solidFill>
              </a:rPr>
              <a:t>区，</a:t>
            </a:r>
            <a:r>
              <a:rPr lang="en-US" altLang="zh-CN" dirty="0">
                <a:solidFill>
                  <a:srgbClr val="FF0000"/>
                </a:solidFill>
              </a:rPr>
              <a:t>TOP)</a:t>
            </a:r>
          </a:p>
          <a:p>
            <a:r>
              <a:rPr lang="en-US" altLang="zh-CN" dirty="0"/>
              <a:t>[5] X Yue, X Li, J Chen*, W Chen*, H Yang, J Gao, Z Yin, Multi-pulse superposition for droplet volume control in inkjet printing based on model and data fusion, Engineering Applications of Artificial Intelligence, 2025, 156: 110884.</a:t>
            </a:r>
          </a:p>
          <a:p>
            <a:r>
              <a:rPr lang="en-US" altLang="zh-CN" dirty="0">
                <a:solidFill>
                  <a:srgbClr val="FF0000"/>
                </a:solidFill>
              </a:rPr>
              <a:t>(IF 8,</a:t>
            </a:r>
            <a:r>
              <a:rPr lang="zh-CN" altLang="en-US" dirty="0">
                <a:solidFill>
                  <a:srgbClr val="FF0000"/>
                </a:solidFill>
              </a:rPr>
              <a:t> 中科院</a:t>
            </a:r>
            <a:r>
              <a:rPr lang="en-US" altLang="zh-CN" dirty="0">
                <a:solidFill>
                  <a:srgbClr val="FF0000"/>
                </a:solidFill>
              </a:rPr>
              <a:t>1</a:t>
            </a:r>
            <a:r>
              <a:rPr lang="zh-CN" altLang="en-US" dirty="0">
                <a:solidFill>
                  <a:srgbClr val="FF0000"/>
                </a:solidFill>
              </a:rPr>
              <a:t>区，</a:t>
            </a:r>
            <a:r>
              <a:rPr lang="en-US" altLang="zh-CN" dirty="0">
                <a:solidFill>
                  <a:srgbClr val="FF0000"/>
                </a:solidFill>
              </a:rPr>
              <a:t>TOP)</a:t>
            </a:r>
            <a:endParaRPr lang="en-US" altLang="zh-CN" dirty="0"/>
          </a:p>
          <a:p>
            <a:r>
              <a:rPr lang="en-US" altLang="zh-CN" dirty="0"/>
              <a:t>[6] J </a:t>
            </a:r>
            <a:r>
              <a:rPr lang="en-US" altLang="zh-CN" dirty="0" err="1"/>
              <a:t>Xiong</a:t>
            </a:r>
            <a:r>
              <a:rPr lang="en-US" altLang="zh-CN" dirty="0"/>
              <a:t>, J Chen*, W Chen*, X Yue, Z Zhao, Z Yin, Intelligent path planning algorithm system for printed display manufacturing using graph convolutional neural network and reinforcement learning, Journal of Manufacturing Systems, 2025, 79: 73-85. </a:t>
            </a:r>
            <a:r>
              <a:rPr lang="en-US" altLang="zh-CN" dirty="0">
                <a:solidFill>
                  <a:srgbClr val="FF0000"/>
                </a:solidFill>
              </a:rPr>
              <a:t>(IF 14.2,</a:t>
            </a:r>
            <a:r>
              <a:rPr lang="zh-CN" altLang="en-US" dirty="0">
                <a:solidFill>
                  <a:srgbClr val="FF0000"/>
                </a:solidFill>
              </a:rPr>
              <a:t> 中科院</a:t>
            </a:r>
            <a:r>
              <a:rPr lang="en-US" altLang="zh-CN" dirty="0">
                <a:solidFill>
                  <a:srgbClr val="FF0000"/>
                </a:solidFill>
              </a:rPr>
              <a:t>1</a:t>
            </a:r>
            <a:r>
              <a:rPr lang="zh-CN" altLang="en-US" dirty="0">
                <a:solidFill>
                  <a:srgbClr val="FF0000"/>
                </a:solidFill>
              </a:rPr>
              <a:t>区，</a:t>
            </a:r>
            <a:r>
              <a:rPr lang="en-US" altLang="zh-CN" dirty="0">
                <a:solidFill>
                  <a:srgbClr val="FF0000"/>
                </a:solidFill>
              </a:rPr>
              <a:t>TOP)</a:t>
            </a:r>
            <a:endParaRPr lang="en-US" altLang="zh-CN" dirty="0"/>
          </a:p>
          <a:p>
            <a:r>
              <a:rPr lang="en-US" altLang="zh-CN" dirty="0"/>
              <a:t>[7] Z Zhao, J Chen*, W Chen*, X Yue, X Li, W Tang, Z Yin, Droplet volume prediction methods in electrohydrodynamic jet printing based on multi-source data fusion, Journal of Manufacturing Processes, 2024, 129: 1-10.</a:t>
            </a:r>
          </a:p>
          <a:p>
            <a:r>
              <a:rPr lang="en-US" altLang="zh-CN" dirty="0">
                <a:solidFill>
                  <a:srgbClr val="FF0000"/>
                </a:solidFill>
              </a:rPr>
              <a:t>(IF 6.8,</a:t>
            </a:r>
            <a:r>
              <a:rPr lang="zh-CN" altLang="en-US" dirty="0">
                <a:solidFill>
                  <a:srgbClr val="FF0000"/>
                </a:solidFill>
              </a:rPr>
              <a:t> 中科院</a:t>
            </a:r>
            <a:r>
              <a:rPr lang="en-US" altLang="zh-CN" dirty="0">
                <a:solidFill>
                  <a:srgbClr val="FF0000"/>
                </a:solidFill>
              </a:rPr>
              <a:t>1</a:t>
            </a:r>
            <a:r>
              <a:rPr lang="zh-CN" altLang="en-US" dirty="0">
                <a:solidFill>
                  <a:srgbClr val="FF0000"/>
                </a:solidFill>
              </a:rPr>
              <a:t>区，</a:t>
            </a:r>
            <a:r>
              <a:rPr lang="en-US" altLang="zh-CN" dirty="0">
                <a:solidFill>
                  <a:srgbClr val="FF0000"/>
                </a:solidFill>
              </a:rPr>
              <a:t>TOP)</a:t>
            </a:r>
          </a:p>
          <a:p>
            <a:r>
              <a:rPr lang="en-US" altLang="zh-CN" dirty="0"/>
              <a:t>……</a:t>
            </a:r>
            <a:endParaRPr lang="zh-CN" altLang="en-US" dirty="0"/>
          </a:p>
        </p:txBody>
      </p:sp>
    </p:spTree>
    <p:extLst>
      <p:ext uri="{BB962C8B-B14F-4D97-AF65-F5344CB8AC3E}">
        <p14:creationId xmlns:p14="http://schemas.microsoft.com/office/powerpoint/2010/main" val="19028579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071" y="193278"/>
            <a:ext cx="11345829" cy="544513"/>
          </a:xfrm>
        </p:spPr>
        <p:txBody>
          <a:bodyPr>
            <a:normAutofit/>
          </a:bodyPr>
          <a:lstStyle/>
          <a:p>
            <a:r>
              <a:rPr lang="zh-CN" altLang="en-US">
                <a:solidFill>
                  <a:srgbClr val="0000FF"/>
                </a:solidFill>
              </a:rPr>
              <a:t>深度强化学习模型</a:t>
            </a:r>
            <a:r>
              <a:rPr lang="en-US" altLang="zh-CN">
                <a:solidFill>
                  <a:srgbClr val="0000FF"/>
                </a:solidFill>
              </a:rPr>
              <a:t>+</a:t>
            </a:r>
            <a:r>
              <a:rPr lang="zh-CN" altLang="en-US">
                <a:solidFill>
                  <a:srgbClr val="0000FF"/>
                </a:solidFill>
              </a:rPr>
              <a:t>喷印机理实现体积高效控制</a:t>
            </a:r>
            <a:endParaRPr lang="en-US" dirty="0"/>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4673D6C-392A-46A2-A751-B42838D7A247}" type="slidenum">
              <a:rPr kumimoji="0" lang="en-US" sz="1200" b="0" i="0" u="none" strike="noStrike" kern="1200" cap="none" spc="0" normalizeH="0" baseline="0" noProof="0" smtClean="0">
                <a:ln>
                  <a:noFill/>
                </a:ln>
                <a:solidFill>
                  <a:prstClr val="black">
                    <a:tint val="75000"/>
                  </a:prstClr>
                </a:solidFill>
                <a:effectLst/>
                <a:uLnTx/>
                <a:uFillTx/>
                <a:latin typeface="Calibri"/>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dirty="0">
              <a:ln>
                <a:noFill/>
              </a:ln>
              <a:solidFill>
                <a:prstClr val="black">
                  <a:tint val="75000"/>
                </a:prstClr>
              </a:solidFill>
              <a:effectLst/>
              <a:uLnTx/>
              <a:uFillTx/>
              <a:latin typeface="Calibri"/>
              <a:cs typeface="+mn-cs"/>
            </a:endParaRPr>
          </a:p>
        </p:txBody>
      </p:sp>
      <p:sp>
        <p:nvSpPr>
          <p:cNvPr id="6" name="文本框 5">
            <a:extLst>
              <a:ext uri="{FF2B5EF4-FFF2-40B4-BE49-F238E27FC236}">
                <a16:creationId xmlns:a16="http://schemas.microsoft.com/office/drawing/2014/main" id="{89D6CAC8-0E68-4BCF-A4F9-E32A49F03678}"/>
              </a:ext>
            </a:extLst>
          </p:cNvPr>
          <p:cNvSpPr txBox="1"/>
          <p:nvPr/>
        </p:nvSpPr>
        <p:spPr>
          <a:xfrm>
            <a:off x="531136" y="923944"/>
            <a:ext cx="10939781" cy="1029705"/>
          </a:xfrm>
          <a:prstGeom prst="rect">
            <a:avLst/>
          </a:prstGeom>
          <a:noFill/>
        </p:spPr>
        <p:txBody>
          <a:bodyPr wrap="square" rtlCol="0">
            <a:spAutoFit/>
          </a:bodyPr>
          <a:lstStyle/>
          <a:p>
            <a:pPr marL="360000" marR="0" lvl="0" indent="-360000" algn="l" defTabSz="4572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针对于电流体液滴体积控制模型拟合慢、决策慢的问题，提出基于强化学习</a:t>
            </a:r>
            <a:r>
              <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(SAC</a:t>
            </a: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）融合</a:t>
            </a:r>
            <a:r>
              <a:rPr kumimoji="0" lang="zh-CN" altLang="en-US"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机理</a:t>
            </a:r>
            <a:r>
              <a:rPr kumimoji="0" lang="en-US" altLang="zh-CN"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等效方程</a:t>
            </a:r>
            <a:r>
              <a:rPr kumimoji="0" lang="en-US" altLang="zh-CN"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的控制方法，</a:t>
            </a: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相较于传统方法在效率和精度方面得到提升</a:t>
            </a:r>
          </a:p>
        </p:txBody>
      </p:sp>
      <p:sp>
        <p:nvSpPr>
          <p:cNvPr id="12" name="文本框 11">
            <a:extLst>
              <a:ext uri="{FF2B5EF4-FFF2-40B4-BE49-F238E27FC236}">
                <a16:creationId xmlns:a16="http://schemas.microsoft.com/office/drawing/2014/main" id="{7FEABC51-6D18-4762-B037-0716BE99F933}"/>
              </a:ext>
            </a:extLst>
          </p:cNvPr>
          <p:cNvSpPr txBox="1"/>
          <p:nvPr/>
        </p:nvSpPr>
        <p:spPr>
          <a:xfrm>
            <a:off x="630118" y="5812413"/>
            <a:ext cx="6126934"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机理</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流场、电场、物性</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数据</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(SAC</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网络</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融合的闭环控制方法</a:t>
            </a:r>
          </a:p>
        </p:txBody>
      </p:sp>
      <p:pic>
        <p:nvPicPr>
          <p:cNvPr id="3" name="图片 2">
            <a:extLst>
              <a:ext uri="{FF2B5EF4-FFF2-40B4-BE49-F238E27FC236}">
                <a16:creationId xmlns:a16="http://schemas.microsoft.com/office/drawing/2014/main" id="{7E0DAB28-2315-490B-AD13-E0D1D16BB1CA}"/>
              </a:ext>
            </a:extLst>
          </p:cNvPr>
          <p:cNvPicPr>
            <a:picLocks noChangeAspect="1"/>
          </p:cNvPicPr>
          <p:nvPr/>
        </p:nvPicPr>
        <p:blipFill>
          <a:blip r:embed="rId3"/>
          <a:stretch>
            <a:fillRect/>
          </a:stretch>
        </p:blipFill>
        <p:spPr>
          <a:xfrm>
            <a:off x="681071" y="2139802"/>
            <a:ext cx="5952517" cy="2996027"/>
          </a:xfrm>
          <a:prstGeom prst="rect">
            <a:avLst/>
          </a:prstGeom>
        </p:spPr>
      </p:pic>
      <p:grpSp>
        <p:nvGrpSpPr>
          <p:cNvPr id="5" name="组合 4">
            <a:extLst>
              <a:ext uri="{FF2B5EF4-FFF2-40B4-BE49-F238E27FC236}">
                <a16:creationId xmlns:a16="http://schemas.microsoft.com/office/drawing/2014/main" id="{E78257EB-D42F-4DEC-92E9-C5607F972BBF}"/>
              </a:ext>
            </a:extLst>
          </p:cNvPr>
          <p:cNvGrpSpPr/>
          <p:nvPr/>
        </p:nvGrpSpPr>
        <p:grpSpPr>
          <a:xfrm>
            <a:off x="984427" y="5123103"/>
            <a:ext cx="5146293" cy="570615"/>
            <a:chOff x="681071" y="5123103"/>
            <a:chExt cx="5146293" cy="570615"/>
          </a:xfrm>
        </p:grpSpPr>
        <p:pic>
          <p:nvPicPr>
            <p:cNvPr id="21" name="图片 20">
              <a:extLst>
                <a:ext uri="{FF2B5EF4-FFF2-40B4-BE49-F238E27FC236}">
                  <a16:creationId xmlns:a16="http://schemas.microsoft.com/office/drawing/2014/main" id="{EA273E95-6B4F-4FFC-89D8-87D1FDFAE41C}"/>
                </a:ext>
              </a:extLst>
            </p:cNvPr>
            <p:cNvPicPr>
              <a:picLocks noChangeAspect="1"/>
            </p:cNvPicPr>
            <p:nvPr/>
          </p:nvPicPr>
          <p:blipFill>
            <a:blip r:embed="rId4"/>
            <a:stretch>
              <a:fillRect/>
            </a:stretch>
          </p:blipFill>
          <p:spPr>
            <a:xfrm>
              <a:off x="2198891" y="5179156"/>
              <a:ext cx="2243982" cy="458511"/>
            </a:xfrm>
            <a:prstGeom prst="rect">
              <a:avLst/>
            </a:prstGeom>
          </p:spPr>
        </p:pic>
        <p:pic>
          <p:nvPicPr>
            <p:cNvPr id="22" name="图片 21">
              <a:extLst>
                <a:ext uri="{FF2B5EF4-FFF2-40B4-BE49-F238E27FC236}">
                  <a16:creationId xmlns:a16="http://schemas.microsoft.com/office/drawing/2014/main" id="{B1671A48-5190-4FA4-B22F-4D593A37A718}"/>
                </a:ext>
              </a:extLst>
            </p:cNvPr>
            <p:cNvPicPr>
              <a:picLocks noChangeAspect="1"/>
            </p:cNvPicPr>
            <p:nvPr/>
          </p:nvPicPr>
          <p:blipFill>
            <a:blip r:embed="rId5"/>
            <a:stretch>
              <a:fillRect/>
            </a:stretch>
          </p:blipFill>
          <p:spPr>
            <a:xfrm>
              <a:off x="681071" y="5179157"/>
              <a:ext cx="1451948" cy="458511"/>
            </a:xfrm>
            <a:prstGeom prst="rect">
              <a:avLst/>
            </a:prstGeom>
          </p:spPr>
        </p:pic>
        <p:pic>
          <p:nvPicPr>
            <p:cNvPr id="23" name="图片 22">
              <a:extLst>
                <a:ext uri="{FF2B5EF4-FFF2-40B4-BE49-F238E27FC236}">
                  <a16:creationId xmlns:a16="http://schemas.microsoft.com/office/drawing/2014/main" id="{417F5901-7BB3-45FB-AF77-ACAD349C7988}"/>
                </a:ext>
              </a:extLst>
            </p:cNvPr>
            <p:cNvPicPr>
              <a:picLocks noChangeAspect="1"/>
            </p:cNvPicPr>
            <p:nvPr/>
          </p:nvPicPr>
          <p:blipFill>
            <a:blip r:embed="rId6"/>
            <a:stretch>
              <a:fillRect/>
            </a:stretch>
          </p:blipFill>
          <p:spPr>
            <a:xfrm>
              <a:off x="4601042" y="5123103"/>
              <a:ext cx="1226322" cy="570615"/>
            </a:xfrm>
            <a:prstGeom prst="rect">
              <a:avLst/>
            </a:prstGeom>
          </p:spPr>
        </p:pic>
      </p:grpSp>
      <p:cxnSp>
        <p:nvCxnSpPr>
          <p:cNvPr id="27" name="直接箭头连接符 26">
            <a:extLst>
              <a:ext uri="{FF2B5EF4-FFF2-40B4-BE49-F238E27FC236}">
                <a16:creationId xmlns:a16="http://schemas.microsoft.com/office/drawing/2014/main" id="{BE2A41FA-591C-4E3A-AE55-E708BD9E1CDD}"/>
              </a:ext>
            </a:extLst>
          </p:cNvPr>
          <p:cNvCxnSpPr>
            <a:cxnSpLocks/>
          </p:cNvCxnSpPr>
          <p:nvPr/>
        </p:nvCxnSpPr>
        <p:spPr>
          <a:xfrm flipH="1">
            <a:off x="1917290" y="3029769"/>
            <a:ext cx="556717" cy="2093334"/>
          </a:xfrm>
          <a:prstGeom prst="straightConnector1">
            <a:avLst/>
          </a:prstGeom>
          <a:ln w="1270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6C1395C3-50E6-486E-8254-9F4410B6EC39}"/>
              </a:ext>
            </a:extLst>
          </p:cNvPr>
          <p:cNvCxnSpPr>
            <a:cxnSpLocks/>
          </p:cNvCxnSpPr>
          <p:nvPr/>
        </p:nvCxnSpPr>
        <p:spPr>
          <a:xfrm>
            <a:off x="2474007" y="3856948"/>
            <a:ext cx="906239" cy="1331114"/>
          </a:xfrm>
          <a:prstGeom prst="straightConnector1">
            <a:avLst/>
          </a:prstGeom>
          <a:ln w="1270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0A225149-07AB-4C78-82E3-099D2E870FED}"/>
              </a:ext>
            </a:extLst>
          </p:cNvPr>
          <p:cNvCxnSpPr>
            <a:cxnSpLocks/>
          </p:cNvCxnSpPr>
          <p:nvPr/>
        </p:nvCxnSpPr>
        <p:spPr>
          <a:xfrm>
            <a:off x="2482773" y="4718198"/>
            <a:ext cx="2421625" cy="555042"/>
          </a:xfrm>
          <a:prstGeom prst="straightConnector1">
            <a:avLst/>
          </a:prstGeom>
          <a:ln w="1270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35" name="图片 34">
            <a:extLst>
              <a:ext uri="{FF2B5EF4-FFF2-40B4-BE49-F238E27FC236}">
                <a16:creationId xmlns:a16="http://schemas.microsoft.com/office/drawing/2014/main" id="{8BCC9470-CFBB-4E7F-9BD5-24A94A57AF42}"/>
              </a:ext>
            </a:extLst>
          </p:cNvPr>
          <p:cNvPicPr>
            <a:picLocks noChangeAspect="1"/>
          </p:cNvPicPr>
          <p:nvPr/>
        </p:nvPicPr>
        <p:blipFill rotWithShape="1">
          <a:blip r:embed="rId7"/>
          <a:srcRect t="25123"/>
          <a:stretch/>
        </p:blipFill>
        <p:spPr>
          <a:xfrm>
            <a:off x="6903720" y="3783509"/>
            <a:ext cx="4567198" cy="1910209"/>
          </a:xfrm>
          <a:prstGeom prst="rect">
            <a:avLst/>
          </a:prstGeom>
        </p:spPr>
      </p:pic>
      <p:pic>
        <p:nvPicPr>
          <p:cNvPr id="37" name="图片 36">
            <a:extLst>
              <a:ext uri="{FF2B5EF4-FFF2-40B4-BE49-F238E27FC236}">
                <a16:creationId xmlns:a16="http://schemas.microsoft.com/office/drawing/2014/main" id="{1F53A360-AD8D-4B22-BC04-6E59CA04A973}"/>
              </a:ext>
            </a:extLst>
          </p:cNvPr>
          <p:cNvPicPr>
            <a:picLocks noChangeAspect="1"/>
          </p:cNvPicPr>
          <p:nvPr/>
        </p:nvPicPr>
        <p:blipFill>
          <a:blip r:embed="rId8"/>
          <a:stretch>
            <a:fillRect/>
          </a:stretch>
        </p:blipFill>
        <p:spPr>
          <a:xfrm>
            <a:off x="6903718" y="2139802"/>
            <a:ext cx="4571982" cy="1329838"/>
          </a:xfrm>
          <a:prstGeom prst="rect">
            <a:avLst/>
          </a:prstGeom>
        </p:spPr>
      </p:pic>
      <p:sp>
        <p:nvSpPr>
          <p:cNvPr id="38" name="矩形 37">
            <a:extLst>
              <a:ext uri="{FF2B5EF4-FFF2-40B4-BE49-F238E27FC236}">
                <a16:creationId xmlns:a16="http://schemas.microsoft.com/office/drawing/2014/main" id="{6A8FA488-B99C-40C3-8B8A-319112C7D5AD}"/>
              </a:ext>
            </a:extLst>
          </p:cNvPr>
          <p:cNvSpPr/>
          <p:nvPr/>
        </p:nvSpPr>
        <p:spPr>
          <a:xfrm>
            <a:off x="6964681" y="3429000"/>
            <a:ext cx="4546248" cy="33855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可实现</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1-2</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个周期完成调控，效率提升</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倍</a:t>
            </a:r>
          </a:p>
        </p:txBody>
      </p:sp>
      <p:sp>
        <p:nvSpPr>
          <p:cNvPr id="39" name="文本框 38">
            <a:extLst>
              <a:ext uri="{FF2B5EF4-FFF2-40B4-BE49-F238E27FC236}">
                <a16:creationId xmlns:a16="http://schemas.microsoft.com/office/drawing/2014/main" id="{5FD94847-5769-4B43-911E-B9DE9C5DA152}"/>
              </a:ext>
            </a:extLst>
          </p:cNvPr>
          <p:cNvSpPr txBox="1"/>
          <p:nvPr/>
        </p:nvSpPr>
        <p:spPr>
          <a:xfrm>
            <a:off x="7515155" y="5812413"/>
            <a:ext cx="3869970"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针对于</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1200ppi</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结构调控精度</a:t>
            </a:r>
            <a:r>
              <a:rPr kumimoji="0" lang="zh-CN" altLang="en-US" sz="16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可达</a:t>
            </a:r>
            <a:r>
              <a:rPr kumimoji="0" lang="en-US" altLang="zh-CN" sz="16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96.8%</a:t>
            </a:r>
            <a:endParaRPr kumimoji="0" lang="zh-CN" altLang="en-US" sz="16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endParaRPr>
          </a:p>
        </p:txBody>
      </p:sp>
      <p:sp>
        <p:nvSpPr>
          <p:cNvPr id="19" name="Line 18">
            <a:extLst>
              <a:ext uri="{FF2B5EF4-FFF2-40B4-BE49-F238E27FC236}">
                <a16:creationId xmlns:a16="http://schemas.microsoft.com/office/drawing/2014/main" id="{02607FF8-B8AD-7C49-AA2A-45DEE375DB94}"/>
              </a:ext>
            </a:extLst>
          </p:cNvPr>
          <p:cNvSpPr>
            <a:spLocks noChangeShapeType="1"/>
          </p:cNvSpPr>
          <p:nvPr/>
        </p:nvSpPr>
        <p:spPr bwMode="auto">
          <a:xfrm>
            <a:off x="0" y="6381328"/>
            <a:ext cx="1835696" cy="0"/>
          </a:xfrm>
          <a:prstGeom prst="line">
            <a:avLst/>
          </a:prstGeom>
          <a:noFill/>
          <a:ln w="9525">
            <a:solidFill>
              <a:srgbClr val="FF0000"/>
            </a:solidFill>
            <a:round/>
          </a:ln>
          <a:effectLst>
            <a:outerShdw algn="ctr" rotWithShape="0">
              <a:schemeClr val="bg2">
                <a:alpha val="50000"/>
              </a:schemeClr>
            </a:outerShdw>
          </a:effectLst>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cs typeface="+mn-cs"/>
            </a:endParaRPr>
          </a:p>
        </p:txBody>
      </p:sp>
      <p:sp>
        <p:nvSpPr>
          <p:cNvPr id="20" name="TextBox 72">
            <a:extLst>
              <a:ext uri="{FF2B5EF4-FFF2-40B4-BE49-F238E27FC236}">
                <a16:creationId xmlns:a16="http://schemas.microsoft.com/office/drawing/2014/main" id="{B8EE5688-69AE-A84A-82D8-5E36B3DC05A4}"/>
              </a:ext>
            </a:extLst>
          </p:cNvPr>
          <p:cNvSpPr txBox="1"/>
          <p:nvPr/>
        </p:nvSpPr>
        <p:spPr>
          <a:xfrm>
            <a:off x="75160" y="6433591"/>
            <a:ext cx="9365974"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Journal of Intelligent Manufacturing, 2026, 1-12</a:t>
            </a:r>
          </a:p>
        </p:txBody>
      </p:sp>
    </p:spTree>
    <p:extLst>
      <p:ext uri="{BB962C8B-B14F-4D97-AF65-F5344CB8AC3E}">
        <p14:creationId xmlns:p14="http://schemas.microsoft.com/office/powerpoint/2010/main" val="1676881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19F88-BCB3-A348-479B-6773DD925A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96A7A1-AA99-655C-E393-1A3B0F26F73E}"/>
              </a:ext>
            </a:extLst>
          </p:cNvPr>
          <p:cNvSpPr>
            <a:spLocks noGrp="1"/>
          </p:cNvSpPr>
          <p:nvPr>
            <p:ph type="title"/>
          </p:nvPr>
        </p:nvSpPr>
        <p:spPr/>
        <p:txBody>
          <a:bodyPr>
            <a:noAutofit/>
          </a:bodyPr>
          <a:lstStyle/>
          <a:p>
            <a:r>
              <a:rPr lang="zh-CN" altLang="en-US" dirty="0">
                <a:solidFill>
                  <a:srgbClr val="0000FF"/>
                </a:solidFill>
              </a:rPr>
              <a:t>提出大面积</a:t>
            </a:r>
            <a:r>
              <a:rPr lang="en-US" altLang="zh-CN" dirty="0">
                <a:solidFill>
                  <a:srgbClr val="0000FF"/>
                </a:solidFill>
              </a:rPr>
              <a:t>TFE</a:t>
            </a:r>
            <a:r>
              <a:rPr lang="zh-CN" altLang="en-US" dirty="0">
                <a:solidFill>
                  <a:srgbClr val="0000FF"/>
                </a:solidFill>
              </a:rPr>
              <a:t>喷印图注意缺陷溯源算法</a:t>
            </a:r>
          </a:p>
        </p:txBody>
      </p:sp>
      <p:grpSp>
        <p:nvGrpSpPr>
          <p:cNvPr id="242" name="组合 241">
            <a:extLst>
              <a:ext uri="{FF2B5EF4-FFF2-40B4-BE49-F238E27FC236}">
                <a16:creationId xmlns:a16="http://schemas.microsoft.com/office/drawing/2014/main" id="{A748C9EE-FF2B-7343-C347-23BF6425E0E0}"/>
              </a:ext>
            </a:extLst>
          </p:cNvPr>
          <p:cNvGrpSpPr/>
          <p:nvPr/>
        </p:nvGrpSpPr>
        <p:grpSpPr>
          <a:xfrm>
            <a:off x="6712280" y="1383055"/>
            <a:ext cx="4702153" cy="2045945"/>
            <a:chOff x="6590436" y="1446929"/>
            <a:chExt cx="5134502" cy="1916010"/>
          </a:xfrm>
        </p:grpSpPr>
        <p:pic>
          <p:nvPicPr>
            <p:cNvPr id="243" name="图片 242">
              <a:extLst>
                <a:ext uri="{FF2B5EF4-FFF2-40B4-BE49-F238E27FC236}">
                  <a16:creationId xmlns:a16="http://schemas.microsoft.com/office/drawing/2014/main" id="{EE2BC069-6708-501D-0313-72CADC15A297}"/>
                </a:ext>
              </a:extLst>
            </p:cNvPr>
            <p:cNvPicPr>
              <a:picLocks noChangeAspect="1"/>
            </p:cNvPicPr>
            <p:nvPr/>
          </p:nvPicPr>
          <p:blipFill>
            <a:blip r:embed="rId3"/>
            <a:stretch>
              <a:fillRect/>
            </a:stretch>
          </p:blipFill>
          <p:spPr>
            <a:xfrm>
              <a:off x="8728992" y="1451732"/>
              <a:ext cx="2995946" cy="1911207"/>
            </a:xfrm>
            <a:prstGeom prst="rect">
              <a:avLst/>
            </a:prstGeom>
          </p:spPr>
        </p:pic>
        <p:pic>
          <p:nvPicPr>
            <p:cNvPr id="244" name="图片 243">
              <a:extLst>
                <a:ext uri="{FF2B5EF4-FFF2-40B4-BE49-F238E27FC236}">
                  <a16:creationId xmlns:a16="http://schemas.microsoft.com/office/drawing/2014/main" id="{43965871-C434-085D-9AF5-AB497B83A757}"/>
                </a:ext>
              </a:extLst>
            </p:cNvPr>
            <p:cNvPicPr>
              <a:picLocks noChangeAspect="1"/>
            </p:cNvPicPr>
            <p:nvPr/>
          </p:nvPicPr>
          <p:blipFill>
            <a:blip r:embed="rId4"/>
            <a:stretch>
              <a:fillRect/>
            </a:stretch>
          </p:blipFill>
          <p:spPr>
            <a:xfrm>
              <a:off x="6590436" y="1446929"/>
              <a:ext cx="2073065" cy="1903436"/>
            </a:xfrm>
            <a:prstGeom prst="rect">
              <a:avLst/>
            </a:prstGeom>
          </p:spPr>
        </p:pic>
      </p:grpSp>
      <p:sp>
        <p:nvSpPr>
          <p:cNvPr id="245" name="矩形 244">
            <a:extLst>
              <a:ext uri="{FF2B5EF4-FFF2-40B4-BE49-F238E27FC236}">
                <a16:creationId xmlns:a16="http://schemas.microsoft.com/office/drawing/2014/main" id="{FBA81AFE-E0FD-F84E-5834-B25B14B05CFC}"/>
              </a:ext>
            </a:extLst>
          </p:cNvPr>
          <p:cNvSpPr/>
          <p:nvPr/>
        </p:nvSpPr>
        <p:spPr>
          <a:xfrm>
            <a:off x="8036607" y="1269859"/>
            <a:ext cx="2053500" cy="396583"/>
          </a:xfrm>
          <a:prstGeom prst="rect">
            <a:avLst/>
          </a:prstGeom>
          <a:solidFill>
            <a:schemeClr val="bg1">
              <a:alpha val="80000"/>
            </a:schemeClr>
          </a:solidFill>
          <a:ln>
            <a:noFill/>
          </a:ln>
        </p:spPr>
        <p:txBody>
          <a:bodyPr wrap="square">
            <a:spAutoFit/>
          </a:bodyPr>
          <a:lstStyle/>
          <a:p>
            <a:pPr marL="0" marR="0" lvl="0" indent="0" algn="ctr" defTabSz="457200" rtl="0" eaLnBrk="1" fontAlgn="auto" latinLnBrk="0" hangingPunct="1">
              <a:lnSpc>
                <a:spcPct val="120000"/>
              </a:lnSpc>
              <a:spcBef>
                <a:spcPts val="600"/>
              </a:spcBef>
              <a:spcAft>
                <a:spcPts val="0"/>
              </a:spcAft>
              <a:buClrTx/>
              <a:buSzTx/>
              <a:buFontTx/>
              <a:buNone/>
              <a:tabLst/>
              <a:defRPr/>
            </a:pP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智能算法优化规划</a:t>
            </a:r>
            <a:endPar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6" name="矩形 245">
            <a:extLst>
              <a:ext uri="{FF2B5EF4-FFF2-40B4-BE49-F238E27FC236}">
                <a16:creationId xmlns:a16="http://schemas.microsoft.com/office/drawing/2014/main" id="{BB736259-BF61-F520-EF73-0A2447865E08}"/>
              </a:ext>
            </a:extLst>
          </p:cNvPr>
          <p:cNvSpPr/>
          <p:nvPr/>
        </p:nvSpPr>
        <p:spPr>
          <a:xfrm>
            <a:off x="655721" y="1217601"/>
            <a:ext cx="5551841" cy="4482556"/>
          </a:xfrm>
          <a:prstGeom prst="rect">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47" name="矩形 246">
            <a:extLst>
              <a:ext uri="{FF2B5EF4-FFF2-40B4-BE49-F238E27FC236}">
                <a16:creationId xmlns:a16="http://schemas.microsoft.com/office/drawing/2014/main" id="{74FFC7E7-4D96-9FF9-FCFC-C915A2CF7AFA}"/>
              </a:ext>
            </a:extLst>
          </p:cNvPr>
          <p:cNvSpPr/>
          <p:nvPr/>
        </p:nvSpPr>
        <p:spPr>
          <a:xfrm>
            <a:off x="6590436" y="1217601"/>
            <a:ext cx="4945843" cy="4482556"/>
          </a:xfrm>
          <a:prstGeom prst="rect">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48" name="矩形 34">
            <a:extLst>
              <a:ext uri="{FF2B5EF4-FFF2-40B4-BE49-F238E27FC236}">
                <a16:creationId xmlns:a16="http://schemas.microsoft.com/office/drawing/2014/main" id="{D046F018-0899-2961-2A6A-30F45B6A7C4D}"/>
              </a:ext>
            </a:extLst>
          </p:cNvPr>
          <p:cNvSpPr/>
          <p:nvPr/>
        </p:nvSpPr>
        <p:spPr>
          <a:xfrm>
            <a:off x="0" y="5805264"/>
            <a:ext cx="12192000"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实现了</a:t>
            </a:r>
            <a:r>
              <a:rPr kumimoji="0" lang="en-US" altLang="zh-CN" sz="2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TFE</a:t>
            </a:r>
            <a:r>
              <a:rPr kumimoji="0" lang="zh-CN" altLang="en-US" sz="2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喷印缺陷识别率</a:t>
            </a:r>
            <a:r>
              <a:rPr kumimoji="0" lang="zh-CN" altLang="en-US" sz="28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rPr>
              <a:t>＞</a:t>
            </a:r>
            <a:r>
              <a:rPr kumimoji="0" lang="en-US" altLang="zh-CN" sz="28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rPr>
              <a:t>99%</a:t>
            </a:r>
            <a:r>
              <a:rPr kumimoji="0" lang="zh-CN" altLang="en-US" sz="2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，厚度均匀性优于</a:t>
            </a:r>
            <a:r>
              <a:rPr kumimoji="0" lang="en-US" altLang="zh-CN" sz="28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rPr>
              <a:t>±5%</a:t>
            </a:r>
            <a:endParaRPr kumimoji="0" lang="zh-CN" altLang="en-US" sz="2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249" name="Line 18">
            <a:extLst>
              <a:ext uri="{FF2B5EF4-FFF2-40B4-BE49-F238E27FC236}">
                <a16:creationId xmlns:a16="http://schemas.microsoft.com/office/drawing/2014/main" id="{BFD7C32F-E203-BB1B-DAF7-E0AB2BB9108B}"/>
              </a:ext>
            </a:extLst>
          </p:cNvPr>
          <p:cNvSpPr>
            <a:spLocks noChangeShapeType="1"/>
          </p:cNvSpPr>
          <p:nvPr/>
        </p:nvSpPr>
        <p:spPr bwMode="auto">
          <a:xfrm>
            <a:off x="0" y="6381328"/>
            <a:ext cx="1835696" cy="0"/>
          </a:xfrm>
          <a:prstGeom prst="line">
            <a:avLst/>
          </a:prstGeom>
          <a:noFill/>
          <a:ln w="9525">
            <a:solidFill>
              <a:srgbClr val="FF0000"/>
            </a:solidFill>
            <a:round/>
          </a:ln>
          <a:effectLst>
            <a:outerShdw algn="ctr" rotWithShape="0">
              <a:schemeClr val="bg2">
                <a:alpha val="50000"/>
              </a:schemeClr>
            </a:outerShdw>
          </a:effectLst>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cs typeface="+mn-cs"/>
            </a:endParaRPr>
          </a:p>
        </p:txBody>
      </p:sp>
      <p:sp>
        <p:nvSpPr>
          <p:cNvPr id="250" name="TextBox 72">
            <a:extLst>
              <a:ext uri="{FF2B5EF4-FFF2-40B4-BE49-F238E27FC236}">
                <a16:creationId xmlns:a16="http://schemas.microsoft.com/office/drawing/2014/main" id="{A138BA9E-0D39-A42A-6B27-1E2052829383}"/>
              </a:ext>
            </a:extLst>
          </p:cNvPr>
          <p:cNvSpPr txBox="1"/>
          <p:nvPr/>
        </p:nvSpPr>
        <p:spPr>
          <a:xfrm>
            <a:off x="75160" y="6433591"/>
            <a:ext cx="9365974"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Journal of Manufacturing Processes, 2026,157: 515–530 </a:t>
            </a:r>
          </a:p>
        </p:txBody>
      </p:sp>
      <p:sp>
        <p:nvSpPr>
          <p:cNvPr id="251" name="文本框 250">
            <a:extLst>
              <a:ext uri="{FF2B5EF4-FFF2-40B4-BE49-F238E27FC236}">
                <a16:creationId xmlns:a16="http://schemas.microsoft.com/office/drawing/2014/main" id="{3328BD90-3030-949F-3336-E4E2B2D31E64}"/>
              </a:ext>
            </a:extLst>
          </p:cNvPr>
          <p:cNvSpPr txBox="1"/>
          <p:nvPr/>
        </p:nvSpPr>
        <p:spPr>
          <a:xfrm>
            <a:off x="819427" y="5397212"/>
            <a:ext cx="5224428" cy="307777"/>
          </a:xfrm>
          <a:prstGeom prst="rect">
            <a:avLst/>
          </a:prstGeom>
          <a:noFill/>
          <a:ln>
            <a:noFill/>
            <a:prstDash val="lgDashDot"/>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基于视觉多头图注意力网络和强化学习</a:t>
            </a:r>
            <a:r>
              <a:rPr kumimoji="1" lang="zh-CN" altLang="en-US" sz="14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的在线落点调控</a:t>
            </a:r>
            <a:r>
              <a:rPr kumimoji="1" lang="zh-CN" altLang="en-US"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系统</a:t>
            </a:r>
            <a:endParaRPr kumimoji="1" lang="en-US" altLang="zh-CN"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nvGrpSpPr>
          <p:cNvPr id="252" name="组合 251">
            <a:extLst>
              <a:ext uri="{FF2B5EF4-FFF2-40B4-BE49-F238E27FC236}">
                <a16:creationId xmlns:a16="http://schemas.microsoft.com/office/drawing/2014/main" id="{3F8A46D3-CE5C-390A-E081-79EE8798F4AE}"/>
              </a:ext>
            </a:extLst>
          </p:cNvPr>
          <p:cNvGrpSpPr/>
          <p:nvPr/>
        </p:nvGrpSpPr>
        <p:grpSpPr>
          <a:xfrm>
            <a:off x="6789833" y="3520680"/>
            <a:ext cx="4534985" cy="2089983"/>
            <a:chOff x="6789833" y="3722420"/>
            <a:chExt cx="4534985" cy="1888243"/>
          </a:xfrm>
        </p:grpSpPr>
        <p:pic>
          <p:nvPicPr>
            <p:cNvPr id="253" name="图片 252">
              <a:extLst>
                <a:ext uri="{FF2B5EF4-FFF2-40B4-BE49-F238E27FC236}">
                  <a16:creationId xmlns:a16="http://schemas.microsoft.com/office/drawing/2014/main" id="{F8CFDB15-F411-36AD-4577-7F065EF4C12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789833" y="3723540"/>
              <a:ext cx="2547598" cy="1887123"/>
            </a:xfrm>
            <a:prstGeom prst="rect">
              <a:avLst/>
            </a:prstGeom>
            <a:ln>
              <a:solidFill>
                <a:schemeClr val="tx1"/>
              </a:solidFill>
            </a:ln>
          </p:spPr>
        </p:pic>
        <p:pic>
          <p:nvPicPr>
            <p:cNvPr id="254" name="图片 253">
              <a:extLst>
                <a:ext uri="{FF2B5EF4-FFF2-40B4-BE49-F238E27FC236}">
                  <a16:creationId xmlns:a16="http://schemas.microsoft.com/office/drawing/2014/main" id="{83BA6372-2C6E-E867-391D-1BD27957110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442938" y="3722420"/>
              <a:ext cx="1881880" cy="1887123"/>
            </a:xfrm>
            <a:prstGeom prst="rect">
              <a:avLst/>
            </a:prstGeom>
            <a:ln>
              <a:solidFill>
                <a:schemeClr val="tx1"/>
              </a:solidFill>
            </a:ln>
          </p:spPr>
        </p:pic>
      </p:grpSp>
      <p:pic>
        <p:nvPicPr>
          <p:cNvPr id="255" name="图片 254">
            <a:extLst>
              <a:ext uri="{FF2B5EF4-FFF2-40B4-BE49-F238E27FC236}">
                <a16:creationId xmlns:a16="http://schemas.microsoft.com/office/drawing/2014/main" id="{247FB663-E915-AAB3-10F1-359F3E7D730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93354" y="1747952"/>
            <a:ext cx="5276573" cy="3623314"/>
          </a:xfrm>
          <a:prstGeom prst="rect">
            <a:avLst/>
          </a:prstGeom>
        </p:spPr>
      </p:pic>
      <p:sp>
        <p:nvSpPr>
          <p:cNvPr id="256" name="矩形 255">
            <a:extLst>
              <a:ext uri="{FF2B5EF4-FFF2-40B4-BE49-F238E27FC236}">
                <a16:creationId xmlns:a16="http://schemas.microsoft.com/office/drawing/2014/main" id="{E138A195-7EAB-86B1-81D2-F8078F615C27}"/>
              </a:ext>
            </a:extLst>
          </p:cNvPr>
          <p:cNvSpPr/>
          <p:nvPr/>
        </p:nvSpPr>
        <p:spPr>
          <a:xfrm>
            <a:off x="7765159" y="5212840"/>
            <a:ext cx="2932636" cy="396583"/>
          </a:xfrm>
          <a:prstGeom prst="rect">
            <a:avLst/>
          </a:prstGeom>
          <a:solidFill>
            <a:schemeClr val="bg1">
              <a:alpha val="80000"/>
            </a:schemeClr>
          </a:solidFill>
          <a:ln>
            <a:noFill/>
          </a:ln>
        </p:spPr>
        <p:txBody>
          <a:bodyPr wrap="square">
            <a:spAutoFit/>
          </a:bodyPr>
          <a:lstStyle/>
          <a:p>
            <a:pPr marL="0" marR="0" lvl="0" indent="0" algn="ctr" defTabSz="457200" rtl="0" eaLnBrk="1" fontAlgn="auto" latinLnBrk="0" hangingPunct="1">
              <a:lnSpc>
                <a:spcPct val="120000"/>
              </a:lnSpc>
              <a:spcBef>
                <a:spcPts val="600"/>
              </a:spcBef>
              <a:spcAft>
                <a:spcPts val="0"/>
              </a:spcAft>
              <a:buClrTx/>
              <a:buSzTx/>
              <a:buFontTx/>
              <a:buNone/>
              <a:tabLst/>
              <a:defRPr/>
            </a:pP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G6</a:t>
            </a:r>
            <a:r>
              <a:rPr kumimoji="0" lang="zh-CN" altLang="en-US" sz="1800" b="0" i="0" u="none" strike="noStrike" kern="1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全尺寸</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TFE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喷</a:t>
            </a:r>
            <a:r>
              <a:rPr kumimoji="0" lang="zh-CN" altLang="en-US" sz="1800" b="0" i="0" u="none" strike="noStrike" kern="1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印基板</a:t>
            </a:r>
            <a:endPar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57" name="直接箭头连接符 256">
            <a:extLst>
              <a:ext uri="{FF2B5EF4-FFF2-40B4-BE49-F238E27FC236}">
                <a16:creationId xmlns:a16="http://schemas.microsoft.com/office/drawing/2014/main" id="{3CF54B25-85C2-2F43-8638-E0C260C2CCC6}"/>
              </a:ext>
            </a:extLst>
          </p:cNvPr>
          <p:cNvCxnSpPr>
            <a:cxnSpLocks/>
          </p:cNvCxnSpPr>
          <p:nvPr/>
        </p:nvCxnSpPr>
        <p:spPr>
          <a:xfrm>
            <a:off x="8950662" y="4710112"/>
            <a:ext cx="490472" cy="0"/>
          </a:xfrm>
          <a:prstGeom prst="straightConnector1">
            <a:avLst/>
          </a:prstGeom>
          <a:ln w="12700">
            <a:solidFill>
              <a:srgbClr val="FF0000"/>
            </a:solidFill>
            <a:tailEnd type="stealth"/>
          </a:ln>
        </p:spPr>
        <p:style>
          <a:lnRef idx="1">
            <a:schemeClr val="accent1"/>
          </a:lnRef>
          <a:fillRef idx="0">
            <a:schemeClr val="accent1"/>
          </a:fillRef>
          <a:effectRef idx="0">
            <a:schemeClr val="accent1"/>
          </a:effectRef>
          <a:fontRef idx="minor">
            <a:schemeClr val="tx1"/>
          </a:fontRef>
        </p:style>
      </p:cxnSp>
      <p:sp>
        <p:nvSpPr>
          <p:cNvPr id="258" name="矩形 257">
            <a:extLst>
              <a:ext uri="{FF2B5EF4-FFF2-40B4-BE49-F238E27FC236}">
                <a16:creationId xmlns:a16="http://schemas.microsoft.com/office/drawing/2014/main" id="{9BA3368E-EDBD-81D3-3DA0-81763912BCBC}"/>
              </a:ext>
            </a:extLst>
          </p:cNvPr>
          <p:cNvSpPr/>
          <p:nvPr/>
        </p:nvSpPr>
        <p:spPr>
          <a:xfrm>
            <a:off x="742120" y="1267403"/>
            <a:ext cx="5434697" cy="400110"/>
          </a:xfrm>
          <a:prstGeom prst="rect">
            <a:avLst/>
          </a:prstGeom>
          <a:solidFill>
            <a:srgbClr val="DAE3F3"/>
          </a:solidFill>
        </p:spPr>
        <p:txBody>
          <a:bodyPr wrap="square">
            <a:spAutoFit/>
          </a:bodyPr>
          <a:lstStyle/>
          <a:p>
            <a:pPr marL="0" marR="0" lvl="0" indent="0" algn="ctr" defTabSz="457200" rtl="0" eaLnBrk="1" fontAlgn="auto" latinLnBrk="0" hangingPunct="1">
              <a:lnSpc>
                <a:spcPct val="100000"/>
              </a:lnSpc>
              <a:spcBef>
                <a:spcPct val="3000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“图注意强化学习”</a:t>
            </a:r>
            <a:r>
              <a:rPr kumimoji="0" lang="zh-CN" altLang="en-US" sz="20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在线智能调控</a:t>
            </a:r>
            <a:endParaRPr kumimoji="0" lang="zh-CN" altLang="en-US" sz="20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688865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071" y="193278"/>
            <a:ext cx="10762593" cy="544513"/>
          </a:xfrm>
        </p:spPr>
        <p:txBody>
          <a:bodyPr>
            <a:normAutofit/>
          </a:bodyPr>
          <a:lstStyle/>
          <a:p>
            <a:r>
              <a:rPr lang="zh-CN" altLang="en-US">
                <a:solidFill>
                  <a:srgbClr val="0000FF"/>
                </a:solidFill>
              </a:rPr>
              <a:t>融合液滴体积偏差的监督学习算法实现液滴体积控制</a:t>
            </a:r>
            <a:endParaRPr lang="en-US" dirty="0">
              <a:solidFill>
                <a:srgbClr val="0000FF"/>
              </a:solidFill>
            </a:endParaRPr>
          </a:p>
        </p:txBody>
      </p:sp>
      <p:sp>
        <p:nvSpPr>
          <p:cNvPr id="4" name="灯片编号占位符 3"/>
          <p:cNvSpPr>
            <a:spLocks noGrp="1"/>
          </p:cNvSpPr>
          <p:nvPr>
            <p:ph type="sldNum" sz="quarter" idx="12"/>
          </p:nvPr>
        </p:nvSpPr>
        <p:spPr>
          <a:xfrm>
            <a:off x="8610600" y="6356351"/>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4673D6C-392A-46A2-A751-B42838D7A247}" type="slidenum">
              <a:rPr kumimoji="0" lang="en-US" sz="1200" b="0" i="0" u="none" strike="noStrike" kern="1200" cap="none" spc="0" normalizeH="0" baseline="0" noProof="0" smtClean="0">
                <a:ln>
                  <a:noFill/>
                </a:ln>
                <a:solidFill>
                  <a:prstClr val="black">
                    <a:tint val="75000"/>
                  </a:prstClr>
                </a:solidFill>
                <a:effectLst/>
                <a:uLnTx/>
                <a:uFillTx/>
                <a:latin typeface="Calibri"/>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dirty="0">
              <a:ln>
                <a:noFill/>
              </a:ln>
              <a:solidFill>
                <a:prstClr val="black">
                  <a:tint val="75000"/>
                </a:prstClr>
              </a:solidFill>
              <a:effectLst/>
              <a:uLnTx/>
              <a:uFillTx/>
              <a:latin typeface="Calibri"/>
              <a:cs typeface="+mn-cs"/>
            </a:endParaRPr>
          </a:p>
        </p:txBody>
      </p:sp>
      <p:sp>
        <p:nvSpPr>
          <p:cNvPr id="5" name="文本框 4">
            <a:extLst>
              <a:ext uri="{FF2B5EF4-FFF2-40B4-BE49-F238E27FC236}">
                <a16:creationId xmlns:a16="http://schemas.microsoft.com/office/drawing/2014/main" id="{6BE39006-9A7D-4F38-AB84-FB4EF08C1439}"/>
              </a:ext>
            </a:extLst>
          </p:cNvPr>
          <p:cNvSpPr txBox="1"/>
          <p:nvPr/>
        </p:nvSpPr>
        <p:spPr>
          <a:xfrm>
            <a:off x="531136" y="923944"/>
            <a:ext cx="10939781" cy="1029705"/>
          </a:xfrm>
          <a:prstGeom prst="rect">
            <a:avLst/>
          </a:prstGeom>
          <a:noFill/>
        </p:spPr>
        <p:txBody>
          <a:bodyPr wrap="square" rtlCol="0">
            <a:spAutoFit/>
          </a:bodyPr>
          <a:lstStyle/>
          <a:p>
            <a:pPr marL="360000" marR="0" lvl="0" indent="-360000" algn="l" defTabSz="4572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面向</a:t>
            </a:r>
            <a:r>
              <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Micro-leds</a:t>
            </a: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修复需求，设计</a:t>
            </a:r>
            <a:r>
              <a:rPr kumimoji="0" lang="zh-CN" altLang="en-US"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轻量化液滴体积深度学习控制框架</a:t>
            </a: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，可实现快速、高效的液滴体积控制，体积调控精度优于</a:t>
            </a:r>
            <a:r>
              <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10%</a:t>
            </a: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，可在线反馈</a:t>
            </a:r>
            <a:endPar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A84B41BB-9414-4578-8124-39C06F2D15F9}"/>
              </a:ext>
            </a:extLst>
          </p:cNvPr>
          <p:cNvPicPr>
            <a:picLocks noChangeAspect="1"/>
          </p:cNvPicPr>
          <p:nvPr/>
        </p:nvPicPr>
        <p:blipFill>
          <a:blip r:embed="rId3"/>
          <a:stretch>
            <a:fillRect/>
          </a:stretch>
        </p:blipFill>
        <p:spPr>
          <a:xfrm>
            <a:off x="847212" y="2123958"/>
            <a:ext cx="5271035" cy="1709927"/>
          </a:xfrm>
          <a:prstGeom prst="rect">
            <a:avLst/>
          </a:prstGeom>
        </p:spPr>
      </p:pic>
      <p:pic>
        <p:nvPicPr>
          <p:cNvPr id="72" name="图片 71">
            <a:extLst>
              <a:ext uri="{FF2B5EF4-FFF2-40B4-BE49-F238E27FC236}">
                <a16:creationId xmlns:a16="http://schemas.microsoft.com/office/drawing/2014/main" id="{B8451A0C-7C60-40C2-B8B9-10A9D766D7A8}"/>
              </a:ext>
            </a:extLst>
          </p:cNvPr>
          <p:cNvPicPr>
            <a:picLocks noChangeAspect="1"/>
          </p:cNvPicPr>
          <p:nvPr/>
        </p:nvPicPr>
        <p:blipFill>
          <a:blip r:embed="rId4"/>
          <a:stretch>
            <a:fillRect/>
          </a:stretch>
        </p:blipFill>
        <p:spPr>
          <a:xfrm>
            <a:off x="1524987" y="3934257"/>
            <a:ext cx="3719531" cy="1677819"/>
          </a:xfrm>
          <a:prstGeom prst="rect">
            <a:avLst/>
          </a:prstGeom>
        </p:spPr>
      </p:pic>
      <p:cxnSp>
        <p:nvCxnSpPr>
          <p:cNvPr id="74" name="直接箭头连接符 73">
            <a:extLst>
              <a:ext uri="{FF2B5EF4-FFF2-40B4-BE49-F238E27FC236}">
                <a16:creationId xmlns:a16="http://schemas.microsoft.com/office/drawing/2014/main" id="{A5CEC1B1-7C1F-4CE7-9FBF-677E2779F7CB}"/>
              </a:ext>
            </a:extLst>
          </p:cNvPr>
          <p:cNvCxnSpPr>
            <a:cxnSpLocks/>
          </p:cNvCxnSpPr>
          <p:nvPr/>
        </p:nvCxnSpPr>
        <p:spPr>
          <a:xfrm>
            <a:off x="3795819" y="3429000"/>
            <a:ext cx="1404103" cy="5751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7062B73C-938D-4F89-A2BC-1A9F9FC8659F}"/>
              </a:ext>
            </a:extLst>
          </p:cNvPr>
          <p:cNvCxnSpPr>
            <a:cxnSpLocks/>
          </p:cNvCxnSpPr>
          <p:nvPr/>
        </p:nvCxnSpPr>
        <p:spPr>
          <a:xfrm flipH="1">
            <a:off x="1568324" y="3429000"/>
            <a:ext cx="1336590" cy="5751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A5324F3A-E56B-4467-A40D-1F6CA28B189B}"/>
              </a:ext>
            </a:extLst>
          </p:cNvPr>
          <p:cNvSpPr txBox="1"/>
          <p:nvPr/>
        </p:nvSpPr>
        <p:spPr>
          <a:xfrm>
            <a:off x="1002571" y="5878221"/>
            <a:ext cx="549381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设计新策略样本，</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提出融合体积偏差的</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监督学习算法</a:t>
            </a:r>
          </a:p>
        </p:txBody>
      </p:sp>
      <p:sp>
        <p:nvSpPr>
          <p:cNvPr id="81" name="左大括号 80">
            <a:extLst>
              <a:ext uri="{FF2B5EF4-FFF2-40B4-BE49-F238E27FC236}">
                <a16:creationId xmlns:a16="http://schemas.microsoft.com/office/drawing/2014/main" id="{D1532448-9FA4-49BC-8470-7323B76EBD76}"/>
              </a:ext>
            </a:extLst>
          </p:cNvPr>
          <p:cNvSpPr/>
          <p:nvPr/>
        </p:nvSpPr>
        <p:spPr>
          <a:xfrm>
            <a:off x="1398260" y="4021657"/>
            <a:ext cx="126727" cy="1538086"/>
          </a:xfrm>
          <a:prstGeom prst="leftBrace">
            <a:avLst>
              <a:gd name="adj1" fmla="val 10903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cs typeface="+mn-cs"/>
            </a:endParaRPr>
          </a:p>
        </p:txBody>
      </p:sp>
      <p:sp>
        <p:nvSpPr>
          <p:cNvPr id="83" name="文本框 82">
            <a:extLst>
              <a:ext uri="{FF2B5EF4-FFF2-40B4-BE49-F238E27FC236}">
                <a16:creationId xmlns:a16="http://schemas.microsoft.com/office/drawing/2014/main" id="{D1552666-8657-4937-85AC-1190DF7DAF0A}"/>
              </a:ext>
            </a:extLst>
          </p:cNvPr>
          <p:cNvSpPr txBox="1"/>
          <p:nvPr/>
        </p:nvSpPr>
        <p:spPr>
          <a:xfrm>
            <a:off x="847212" y="4130651"/>
            <a:ext cx="617649" cy="138499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融合液滴体积偏差的策略样本</a:t>
            </a:r>
          </a:p>
        </p:txBody>
      </p:sp>
      <p:sp>
        <p:nvSpPr>
          <p:cNvPr id="85" name="文本框 84">
            <a:extLst>
              <a:ext uri="{FF2B5EF4-FFF2-40B4-BE49-F238E27FC236}">
                <a16:creationId xmlns:a16="http://schemas.microsoft.com/office/drawing/2014/main" id="{58FED8A8-91E3-4AF5-9AF7-E138B933F17D}"/>
              </a:ext>
            </a:extLst>
          </p:cNvPr>
          <p:cNvSpPr txBox="1"/>
          <p:nvPr/>
        </p:nvSpPr>
        <p:spPr>
          <a:xfrm>
            <a:off x="5155152" y="4908094"/>
            <a:ext cx="61764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MLP</a:t>
            </a:r>
            <a:r>
              <a:rPr kumimoji="0" lang="zh-CN" altLang="en-US" sz="1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网络</a:t>
            </a:r>
          </a:p>
        </p:txBody>
      </p:sp>
      <p:pic>
        <p:nvPicPr>
          <p:cNvPr id="84" name="图片 83">
            <a:extLst>
              <a:ext uri="{FF2B5EF4-FFF2-40B4-BE49-F238E27FC236}">
                <a16:creationId xmlns:a16="http://schemas.microsoft.com/office/drawing/2014/main" id="{43D78AF1-DAA1-4148-9103-0AC669CE5B26}"/>
              </a:ext>
            </a:extLst>
          </p:cNvPr>
          <p:cNvPicPr>
            <a:picLocks noChangeAspect="1"/>
          </p:cNvPicPr>
          <p:nvPr/>
        </p:nvPicPr>
        <p:blipFill rotWithShape="1">
          <a:blip r:embed="rId5"/>
          <a:srcRect b="6803"/>
          <a:stretch/>
        </p:blipFill>
        <p:spPr>
          <a:xfrm>
            <a:off x="6820239" y="3746658"/>
            <a:ext cx="4304962" cy="2092854"/>
          </a:xfrm>
          <a:prstGeom prst="rect">
            <a:avLst/>
          </a:prstGeom>
        </p:spPr>
      </p:pic>
      <p:sp>
        <p:nvSpPr>
          <p:cNvPr id="87" name="文本框 86">
            <a:extLst>
              <a:ext uri="{FF2B5EF4-FFF2-40B4-BE49-F238E27FC236}">
                <a16:creationId xmlns:a16="http://schemas.microsoft.com/office/drawing/2014/main" id="{027CD3FC-7AB3-40D1-8C0C-9EC5245318AF}"/>
              </a:ext>
            </a:extLst>
          </p:cNvPr>
          <p:cNvSpPr txBox="1"/>
          <p:nvPr/>
        </p:nvSpPr>
        <p:spPr>
          <a:xfrm>
            <a:off x="6965946" y="5875058"/>
            <a:ext cx="4074450"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面向缺陷修复需求，</a:t>
            </a:r>
            <a:r>
              <a:rPr kumimoji="0" lang="zh-CN" altLang="en-US" sz="16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单个周期即可实现调控</a:t>
            </a:r>
          </a:p>
        </p:txBody>
      </p:sp>
      <p:pic>
        <p:nvPicPr>
          <p:cNvPr id="86" name="图片 85">
            <a:extLst>
              <a:ext uri="{FF2B5EF4-FFF2-40B4-BE49-F238E27FC236}">
                <a16:creationId xmlns:a16="http://schemas.microsoft.com/office/drawing/2014/main" id="{CD49E4D0-BF29-48AD-BAD3-579C1B8E496E}"/>
              </a:ext>
            </a:extLst>
          </p:cNvPr>
          <p:cNvPicPr>
            <a:picLocks noChangeAspect="1"/>
          </p:cNvPicPr>
          <p:nvPr/>
        </p:nvPicPr>
        <p:blipFill>
          <a:blip r:embed="rId6"/>
          <a:stretch>
            <a:fillRect/>
          </a:stretch>
        </p:blipFill>
        <p:spPr>
          <a:xfrm>
            <a:off x="9139665" y="2172753"/>
            <a:ext cx="1985536" cy="1198569"/>
          </a:xfrm>
          <a:prstGeom prst="rect">
            <a:avLst/>
          </a:prstGeom>
        </p:spPr>
      </p:pic>
      <p:pic>
        <p:nvPicPr>
          <p:cNvPr id="88" name="图片 87">
            <a:extLst>
              <a:ext uri="{FF2B5EF4-FFF2-40B4-BE49-F238E27FC236}">
                <a16:creationId xmlns:a16="http://schemas.microsoft.com/office/drawing/2014/main" id="{3834246A-8D93-476E-B790-B804AEE6D124}"/>
              </a:ext>
            </a:extLst>
          </p:cNvPr>
          <p:cNvPicPr>
            <a:picLocks noChangeAspect="1"/>
          </p:cNvPicPr>
          <p:nvPr/>
        </p:nvPicPr>
        <p:blipFill>
          <a:blip r:embed="rId7"/>
          <a:stretch>
            <a:fillRect/>
          </a:stretch>
        </p:blipFill>
        <p:spPr>
          <a:xfrm>
            <a:off x="6558280" y="2164978"/>
            <a:ext cx="2581385" cy="1206344"/>
          </a:xfrm>
          <a:prstGeom prst="rect">
            <a:avLst/>
          </a:prstGeom>
        </p:spPr>
      </p:pic>
      <p:sp>
        <p:nvSpPr>
          <p:cNvPr id="90" name="矩形 89">
            <a:extLst>
              <a:ext uri="{FF2B5EF4-FFF2-40B4-BE49-F238E27FC236}">
                <a16:creationId xmlns:a16="http://schemas.microsoft.com/office/drawing/2014/main" id="{26AA8C19-A1DD-4253-B38B-823457DDA86C}"/>
              </a:ext>
            </a:extLst>
          </p:cNvPr>
          <p:cNvSpPr/>
          <p:nvPr/>
        </p:nvSpPr>
        <p:spPr>
          <a:xfrm>
            <a:off x="6756401" y="3408104"/>
            <a:ext cx="4368800" cy="33855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训练耗时和成本远低于其余策略</a:t>
            </a:r>
          </a:p>
        </p:txBody>
      </p:sp>
      <p:sp>
        <p:nvSpPr>
          <p:cNvPr id="19" name="Line 18">
            <a:extLst>
              <a:ext uri="{FF2B5EF4-FFF2-40B4-BE49-F238E27FC236}">
                <a16:creationId xmlns:a16="http://schemas.microsoft.com/office/drawing/2014/main" id="{B41A7913-CD3A-BA4A-AE64-620FA238414B}"/>
              </a:ext>
            </a:extLst>
          </p:cNvPr>
          <p:cNvSpPr>
            <a:spLocks noChangeShapeType="1"/>
          </p:cNvSpPr>
          <p:nvPr/>
        </p:nvSpPr>
        <p:spPr bwMode="auto">
          <a:xfrm>
            <a:off x="0" y="6381328"/>
            <a:ext cx="1835696" cy="0"/>
          </a:xfrm>
          <a:prstGeom prst="line">
            <a:avLst/>
          </a:prstGeom>
          <a:noFill/>
          <a:ln w="9525">
            <a:solidFill>
              <a:srgbClr val="FF0000"/>
            </a:solidFill>
            <a:round/>
          </a:ln>
          <a:effectLst>
            <a:outerShdw algn="ctr" rotWithShape="0">
              <a:schemeClr val="bg2">
                <a:alpha val="50000"/>
              </a:schemeClr>
            </a:outerShdw>
          </a:effectLst>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cs typeface="+mn-cs"/>
            </a:endParaRPr>
          </a:p>
        </p:txBody>
      </p:sp>
      <p:sp>
        <p:nvSpPr>
          <p:cNvPr id="20" name="TextBox 72">
            <a:extLst>
              <a:ext uri="{FF2B5EF4-FFF2-40B4-BE49-F238E27FC236}">
                <a16:creationId xmlns:a16="http://schemas.microsoft.com/office/drawing/2014/main" id="{B3873596-F11E-3F47-B057-C4E46EB26E84}"/>
              </a:ext>
            </a:extLst>
          </p:cNvPr>
          <p:cNvSpPr txBox="1"/>
          <p:nvPr/>
        </p:nvSpPr>
        <p:spPr>
          <a:xfrm>
            <a:off x="75160" y="6433591"/>
            <a:ext cx="9365974"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Virtual and Physical Prototyping , 2025, 20(1), e2579680</a:t>
            </a:r>
          </a:p>
        </p:txBody>
      </p:sp>
    </p:spTree>
    <p:extLst>
      <p:ext uri="{BB962C8B-B14F-4D97-AF65-F5344CB8AC3E}">
        <p14:creationId xmlns:p14="http://schemas.microsoft.com/office/powerpoint/2010/main" val="8848944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071" y="193278"/>
            <a:ext cx="10762593" cy="544513"/>
          </a:xfrm>
        </p:spPr>
        <p:txBody>
          <a:bodyPr>
            <a:normAutofit/>
          </a:bodyPr>
          <a:lstStyle/>
          <a:p>
            <a:r>
              <a:rPr lang="zh-CN" altLang="en-US">
                <a:solidFill>
                  <a:srgbClr val="0000FF"/>
                </a:solidFill>
              </a:rPr>
              <a:t>深度强化学习模型实现微米级液滴体积控制</a:t>
            </a:r>
            <a:endParaRPr lang="en-US" dirty="0"/>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4673D6C-392A-46A2-A751-B42838D7A247}" type="slidenum">
              <a:rPr kumimoji="0" lang="en-US" sz="1200" b="0" i="0" u="none" strike="noStrike" kern="1200" cap="none" spc="0" normalizeH="0" baseline="0" noProof="0" smtClean="0">
                <a:ln>
                  <a:noFill/>
                </a:ln>
                <a:solidFill>
                  <a:prstClr val="black">
                    <a:tint val="75000"/>
                  </a:prstClr>
                </a:solidFill>
                <a:effectLst/>
                <a:uLnTx/>
                <a:uFillTx/>
                <a:latin typeface="Calibri"/>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dirty="0">
              <a:ln>
                <a:noFill/>
              </a:ln>
              <a:solidFill>
                <a:prstClr val="black">
                  <a:tint val="75000"/>
                </a:prstClr>
              </a:solidFill>
              <a:effectLst/>
              <a:uLnTx/>
              <a:uFillTx/>
              <a:latin typeface="Calibri"/>
              <a:cs typeface="+mn-cs"/>
            </a:endParaRPr>
          </a:p>
        </p:txBody>
      </p:sp>
      <p:sp>
        <p:nvSpPr>
          <p:cNvPr id="6" name="文本框 5">
            <a:extLst>
              <a:ext uri="{FF2B5EF4-FFF2-40B4-BE49-F238E27FC236}">
                <a16:creationId xmlns:a16="http://schemas.microsoft.com/office/drawing/2014/main" id="{89D6CAC8-0E68-4BCF-A4F9-E32A49F03678}"/>
              </a:ext>
            </a:extLst>
          </p:cNvPr>
          <p:cNvSpPr txBox="1"/>
          <p:nvPr/>
        </p:nvSpPr>
        <p:spPr>
          <a:xfrm>
            <a:off x="531136" y="923944"/>
            <a:ext cx="10939781" cy="1029705"/>
          </a:xfrm>
          <a:prstGeom prst="rect">
            <a:avLst/>
          </a:prstGeom>
          <a:noFill/>
        </p:spPr>
        <p:txBody>
          <a:bodyPr wrap="square" rtlCol="0">
            <a:spAutoFit/>
          </a:bodyPr>
          <a:lstStyle/>
          <a:p>
            <a:pPr marL="360000" marR="0" lvl="0" indent="-360000" algn="l" defTabSz="4572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电流体喷射过程缺乏闭环反馈控制策略，提出一种基于</a:t>
            </a:r>
            <a:r>
              <a:rPr kumimoji="0" lang="zh-CN" altLang="en-US"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深度强化学习算法（</a:t>
            </a:r>
            <a:r>
              <a:rPr kumimoji="0" lang="en-US" altLang="zh-CN"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SAC</a:t>
            </a:r>
            <a:r>
              <a:rPr kumimoji="0" lang="zh-CN" altLang="en-US"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和</a:t>
            </a:r>
            <a:r>
              <a:rPr kumimoji="0" lang="en-US" altLang="zh-CN"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Run to run</a:t>
            </a: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（多次运行对比）的控制策略，实现液滴体积闭环控制</a:t>
            </a:r>
          </a:p>
        </p:txBody>
      </p:sp>
      <p:pic>
        <p:nvPicPr>
          <p:cNvPr id="7" name="图片 6">
            <a:extLst>
              <a:ext uri="{FF2B5EF4-FFF2-40B4-BE49-F238E27FC236}">
                <a16:creationId xmlns:a16="http://schemas.microsoft.com/office/drawing/2014/main" id="{3C3CE6D1-BC1C-4D58-9762-412E0175A1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51" y="2139802"/>
            <a:ext cx="5681529" cy="3641238"/>
          </a:xfrm>
          <a:prstGeom prst="rect">
            <a:avLst/>
          </a:prstGeom>
        </p:spPr>
      </p:pic>
      <p:sp>
        <p:nvSpPr>
          <p:cNvPr id="8" name="文本框 7">
            <a:extLst>
              <a:ext uri="{FF2B5EF4-FFF2-40B4-BE49-F238E27FC236}">
                <a16:creationId xmlns:a16="http://schemas.microsoft.com/office/drawing/2014/main" id="{7440BC55-0EA1-4208-8100-541628913286}"/>
              </a:ext>
            </a:extLst>
          </p:cNvPr>
          <p:cNvSpPr txBox="1"/>
          <p:nvPr/>
        </p:nvSpPr>
        <p:spPr>
          <a:xfrm>
            <a:off x="1392889" y="5396929"/>
            <a:ext cx="3029886" cy="292388"/>
          </a:xfrm>
          <a:prstGeom prst="rect">
            <a:avLst/>
          </a:prstGeom>
          <a:solidFill>
            <a:schemeClr val="bg1">
              <a:alpha val="80000"/>
            </a:schemeClr>
          </a:solidFill>
          <a:ln>
            <a:solidFill>
              <a:schemeClr val="bg1">
                <a:lumMod val="50000"/>
              </a:schemeClr>
            </a:solidFill>
          </a:ln>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3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闭环调控架构</a:t>
            </a:r>
            <a:endParaRPr kumimoji="0" lang="en-US" altLang="zh-CN" sz="13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pic>
        <p:nvPicPr>
          <p:cNvPr id="9" name="图片 8">
            <a:extLst>
              <a:ext uri="{FF2B5EF4-FFF2-40B4-BE49-F238E27FC236}">
                <a16:creationId xmlns:a16="http://schemas.microsoft.com/office/drawing/2014/main" id="{542F1ED9-239C-47CD-90D8-CEB86B1458D5}"/>
              </a:ext>
            </a:extLst>
          </p:cNvPr>
          <p:cNvPicPr>
            <a:picLocks noChangeAspect="1"/>
          </p:cNvPicPr>
          <p:nvPr/>
        </p:nvPicPr>
        <p:blipFill>
          <a:blip r:embed="rId4"/>
          <a:stretch>
            <a:fillRect/>
          </a:stretch>
        </p:blipFill>
        <p:spPr>
          <a:xfrm>
            <a:off x="5426711" y="3150692"/>
            <a:ext cx="1691100" cy="2586514"/>
          </a:xfrm>
          <a:prstGeom prst="rect">
            <a:avLst/>
          </a:prstGeom>
          <a:solidFill>
            <a:schemeClr val="bg1"/>
          </a:solidFill>
          <a:ln w="12700">
            <a:solidFill>
              <a:schemeClr val="bg1">
                <a:lumMod val="50000"/>
              </a:schemeClr>
            </a:solidFill>
          </a:ln>
          <a:effectLst>
            <a:glow rad="63500">
              <a:schemeClr val="bg1">
                <a:lumMod val="50000"/>
                <a:alpha val="40000"/>
              </a:schemeClr>
            </a:glow>
          </a:effectLst>
        </p:spPr>
      </p:pic>
      <p:sp>
        <p:nvSpPr>
          <p:cNvPr id="10" name="文本框 9">
            <a:extLst>
              <a:ext uri="{FF2B5EF4-FFF2-40B4-BE49-F238E27FC236}">
                <a16:creationId xmlns:a16="http://schemas.microsoft.com/office/drawing/2014/main" id="{978AF3DF-DE66-454E-9032-E85FB9ADD4EF}"/>
              </a:ext>
            </a:extLst>
          </p:cNvPr>
          <p:cNvSpPr txBox="1"/>
          <p:nvPr/>
        </p:nvSpPr>
        <p:spPr>
          <a:xfrm>
            <a:off x="5500362" y="5396929"/>
            <a:ext cx="1558180" cy="292388"/>
          </a:xfrm>
          <a:prstGeom prst="rect">
            <a:avLst/>
          </a:prstGeom>
          <a:solidFill>
            <a:schemeClr val="bg1">
              <a:alpha val="80000"/>
            </a:schemeClr>
          </a:solidFill>
          <a:ln>
            <a:solidFill>
              <a:schemeClr val="bg1">
                <a:lumMod val="50000"/>
              </a:schemeClr>
            </a:solidFill>
          </a:ln>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3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SAC</a:t>
            </a:r>
            <a:r>
              <a:rPr kumimoji="0" lang="zh-CN" altLang="en-US" sz="13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控制模型</a:t>
            </a:r>
            <a:endParaRPr kumimoji="0" lang="en-US" altLang="zh-CN" sz="13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7FEABC51-6D18-4762-B037-0716BE99F933}"/>
              </a:ext>
            </a:extLst>
          </p:cNvPr>
          <p:cNvSpPr txBox="1"/>
          <p:nvPr/>
        </p:nvSpPr>
        <p:spPr>
          <a:xfrm>
            <a:off x="1091363" y="5934056"/>
            <a:ext cx="5496505"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液滴体积控制</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闭环控制策略</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与</a:t>
            </a:r>
            <a:r>
              <a:rPr kumimoji="0" lang="en-US" altLang="zh-CN"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SAC</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深度强化学习方法</a:t>
            </a:r>
          </a:p>
        </p:txBody>
      </p:sp>
      <p:pic>
        <p:nvPicPr>
          <p:cNvPr id="15" name="图片 14">
            <a:extLst>
              <a:ext uri="{FF2B5EF4-FFF2-40B4-BE49-F238E27FC236}">
                <a16:creationId xmlns:a16="http://schemas.microsoft.com/office/drawing/2014/main" id="{E251D395-3224-4163-8A09-EBB039829D18}"/>
              </a:ext>
            </a:extLst>
          </p:cNvPr>
          <p:cNvPicPr>
            <a:picLocks noChangeAspect="1"/>
          </p:cNvPicPr>
          <p:nvPr/>
        </p:nvPicPr>
        <p:blipFill>
          <a:blip r:embed="rId5"/>
          <a:stretch>
            <a:fillRect/>
          </a:stretch>
        </p:blipFill>
        <p:spPr>
          <a:xfrm>
            <a:off x="7333616" y="2178135"/>
            <a:ext cx="4110048" cy="1932432"/>
          </a:xfrm>
          <a:prstGeom prst="rect">
            <a:avLst/>
          </a:prstGeom>
        </p:spPr>
      </p:pic>
      <p:sp>
        <p:nvSpPr>
          <p:cNvPr id="16" name="矩形 15">
            <a:extLst>
              <a:ext uri="{FF2B5EF4-FFF2-40B4-BE49-F238E27FC236}">
                <a16:creationId xmlns:a16="http://schemas.microsoft.com/office/drawing/2014/main" id="{FACD7CF3-4AB0-41AA-8DFF-E07453E1D25A}"/>
              </a:ext>
            </a:extLst>
          </p:cNvPr>
          <p:cNvSpPr/>
          <p:nvPr/>
        </p:nvSpPr>
        <p:spPr>
          <a:xfrm>
            <a:off x="7903633" y="4110567"/>
            <a:ext cx="3361267" cy="33855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调控过程中打印体积逼近目标体积</a:t>
            </a:r>
          </a:p>
        </p:txBody>
      </p:sp>
      <p:pic>
        <p:nvPicPr>
          <p:cNvPr id="17" name="图片 16">
            <a:extLst>
              <a:ext uri="{FF2B5EF4-FFF2-40B4-BE49-F238E27FC236}">
                <a16:creationId xmlns:a16="http://schemas.microsoft.com/office/drawing/2014/main" id="{847BBB0C-B087-480D-8D5C-26E25BA148B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8658" t="26500" r="19318" b="49167"/>
          <a:stretch/>
        </p:blipFill>
        <p:spPr>
          <a:xfrm>
            <a:off x="7412733" y="4567158"/>
            <a:ext cx="4058184" cy="1172655"/>
          </a:xfrm>
          <a:prstGeom prst="rect">
            <a:avLst/>
          </a:prstGeom>
        </p:spPr>
      </p:pic>
      <p:pic>
        <p:nvPicPr>
          <p:cNvPr id="18" name="图片 17">
            <a:extLst>
              <a:ext uri="{FF2B5EF4-FFF2-40B4-BE49-F238E27FC236}">
                <a16:creationId xmlns:a16="http://schemas.microsoft.com/office/drawing/2014/main" id="{43450BDF-133A-4797-A62C-8E41940B0342}"/>
              </a:ext>
            </a:extLst>
          </p:cNvPr>
          <p:cNvPicPr>
            <a:picLocks noChangeAspect="1"/>
          </p:cNvPicPr>
          <p:nvPr/>
        </p:nvPicPr>
        <p:blipFill rotWithShape="1">
          <a:blip r:embed="rId7">
            <a:extLst>
              <a:ext uri="{28A0092B-C50C-407E-A947-70E740481C1C}">
                <a14:useLocalDpi xmlns:a14="http://schemas.microsoft.com/office/drawing/2010/main" val="0"/>
              </a:ext>
            </a:extLst>
          </a:blip>
          <a:srcRect l="67057" t="33477" r="15217" b="50000"/>
          <a:stretch/>
        </p:blipFill>
        <p:spPr>
          <a:xfrm>
            <a:off x="9742725" y="4881412"/>
            <a:ext cx="1728192" cy="849670"/>
          </a:xfrm>
          <a:prstGeom prst="rect">
            <a:avLst/>
          </a:prstGeom>
        </p:spPr>
      </p:pic>
      <p:sp>
        <p:nvSpPr>
          <p:cNvPr id="19" name="文本框 18">
            <a:extLst>
              <a:ext uri="{FF2B5EF4-FFF2-40B4-BE49-F238E27FC236}">
                <a16:creationId xmlns:a16="http://schemas.microsoft.com/office/drawing/2014/main" id="{ABA11FEE-1208-4481-89A2-00C2E67A2299}"/>
              </a:ext>
            </a:extLst>
          </p:cNvPr>
          <p:cNvSpPr txBox="1"/>
          <p:nvPr/>
        </p:nvSpPr>
        <p:spPr>
          <a:xfrm>
            <a:off x="7412734" y="4559393"/>
            <a:ext cx="4058184" cy="338554"/>
          </a:xfrm>
          <a:prstGeom prst="rect">
            <a:avLst/>
          </a:prstGeom>
          <a:solidFill>
            <a:schemeClr val="accent1">
              <a:lumMod val="60000"/>
              <a:lumOff val="40000"/>
              <a:alpha val="50000"/>
            </a:schemeClr>
          </a:solid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000000"/>
              </a:buClr>
              <a:buSzTx/>
              <a:buFontTx/>
              <a:buNone/>
              <a:tabLst/>
              <a:defRPr/>
            </a:pPr>
            <a:r>
              <a:rPr kumimoji="0" lang="en-US" altLang="zh-CN" sz="1600" b="1"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mn-cs"/>
              </a:rPr>
              <a:t>1200ppi Micro-OLED</a:t>
            </a:r>
            <a:r>
              <a:rPr kumimoji="0" lang="zh-CN" altLang="en-US" sz="1600" b="1"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mn-cs"/>
              </a:rPr>
              <a:t>结构</a:t>
            </a:r>
            <a:endParaRPr kumimoji="0" lang="en-US" altLang="zh-CN" sz="1600" b="1" i="0" u="none" strike="noStrike" kern="0" cap="none" spc="0" normalizeH="0" baseline="0" noProof="0" dirty="0">
              <a:ln>
                <a:noFill/>
              </a:ln>
              <a:solidFill>
                <a:srgbClr val="FFFF00"/>
              </a:solidFill>
              <a:effectLst/>
              <a:uLnTx/>
              <a:uFillTx/>
              <a:latin typeface="微软雅黑" panose="020B0503020204020204" charset="-122"/>
              <a:ea typeface="微软雅黑" panose="020B0503020204020204" charset="-122"/>
              <a:cs typeface="+mn-cs"/>
            </a:endParaRPr>
          </a:p>
        </p:txBody>
      </p:sp>
      <p:sp>
        <p:nvSpPr>
          <p:cNvPr id="20" name="文本框 19">
            <a:extLst>
              <a:ext uri="{FF2B5EF4-FFF2-40B4-BE49-F238E27FC236}">
                <a16:creationId xmlns:a16="http://schemas.microsoft.com/office/drawing/2014/main" id="{495B0A57-074D-457B-B526-C0AC3F5A9535}"/>
              </a:ext>
            </a:extLst>
          </p:cNvPr>
          <p:cNvSpPr txBox="1"/>
          <p:nvPr/>
        </p:nvSpPr>
        <p:spPr>
          <a:xfrm>
            <a:off x="7276007" y="5934056"/>
            <a:ext cx="4331635"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可实现</a:t>
            </a:r>
            <a:r>
              <a:rPr kumimoji="0" lang="en-US" altLang="zh-CN"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1200ppi</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a:t>
            </a:r>
            <a:r>
              <a:rPr kumimoji="0" lang="en-US" altLang="zh-CN"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20um</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结构稳定打印</a:t>
            </a:r>
          </a:p>
        </p:txBody>
      </p:sp>
      <p:sp>
        <p:nvSpPr>
          <p:cNvPr id="22" name="Line 18">
            <a:extLst>
              <a:ext uri="{FF2B5EF4-FFF2-40B4-BE49-F238E27FC236}">
                <a16:creationId xmlns:a16="http://schemas.microsoft.com/office/drawing/2014/main" id="{911B5A6D-89A1-8C41-9DDF-1F893423258A}"/>
              </a:ext>
            </a:extLst>
          </p:cNvPr>
          <p:cNvSpPr>
            <a:spLocks noChangeShapeType="1"/>
          </p:cNvSpPr>
          <p:nvPr/>
        </p:nvSpPr>
        <p:spPr bwMode="auto">
          <a:xfrm>
            <a:off x="0" y="6381328"/>
            <a:ext cx="1835696" cy="0"/>
          </a:xfrm>
          <a:prstGeom prst="line">
            <a:avLst/>
          </a:prstGeom>
          <a:noFill/>
          <a:ln w="9525">
            <a:solidFill>
              <a:srgbClr val="FF0000"/>
            </a:solidFill>
            <a:round/>
          </a:ln>
          <a:effectLst>
            <a:outerShdw algn="ctr" rotWithShape="0">
              <a:schemeClr val="bg2">
                <a:alpha val="50000"/>
              </a:schemeClr>
            </a:outerShdw>
          </a:effectLst>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cs typeface="+mn-cs"/>
            </a:endParaRPr>
          </a:p>
        </p:txBody>
      </p:sp>
      <p:sp>
        <p:nvSpPr>
          <p:cNvPr id="23" name="TextBox 72">
            <a:extLst>
              <a:ext uri="{FF2B5EF4-FFF2-40B4-BE49-F238E27FC236}">
                <a16:creationId xmlns:a16="http://schemas.microsoft.com/office/drawing/2014/main" id="{1103A056-EF01-1544-B8CB-20EB4324533C}"/>
              </a:ext>
            </a:extLst>
          </p:cNvPr>
          <p:cNvSpPr txBox="1"/>
          <p:nvPr/>
        </p:nvSpPr>
        <p:spPr>
          <a:xfrm>
            <a:off x="75160" y="6433591"/>
            <a:ext cx="9365974"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Journal of Manufacturing Processes, 2025, 150, 924-932</a:t>
            </a:r>
          </a:p>
        </p:txBody>
      </p:sp>
    </p:spTree>
    <p:extLst>
      <p:ext uri="{BB962C8B-B14F-4D97-AF65-F5344CB8AC3E}">
        <p14:creationId xmlns:p14="http://schemas.microsoft.com/office/powerpoint/2010/main" val="16465486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rgbClr val="0000FF"/>
                </a:solidFill>
              </a:rPr>
              <a:t>机理模型与深度强化学习融合驱动的多脉冲液滴体积控制</a:t>
            </a:r>
            <a:endParaRPr lang="en-US" dirty="0">
              <a:solidFill>
                <a:srgbClr val="0000FF"/>
              </a:solidFill>
            </a:endParaRPr>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4673D6C-392A-46A2-A751-B42838D7A247}" type="slidenum">
              <a:rPr kumimoji="0" lang="en-US" sz="1200" b="0" i="0" u="none" strike="noStrike" kern="1200" cap="none" spc="0" normalizeH="0" baseline="0" noProof="0" smtClean="0">
                <a:ln>
                  <a:noFill/>
                </a:ln>
                <a:solidFill>
                  <a:prstClr val="black">
                    <a:tint val="75000"/>
                  </a:prstClr>
                </a:solidFill>
                <a:effectLst/>
                <a:uLnTx/>
                <a:uFillTx/>
                <a:latin typeface="Calibri"/>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dirty="0">
              <a:ln>
                <a:noFill/>
              </a:ln>
              <a:solidFill>
                <a:prstClr val="black">
                  <a:tint val="75000"/>
                </a:prstClr>
              </a:solidFill>
              <a:effectLst/>
              <a:uLnTx/>
              <a:uFillTx/>
              <a:latin typeface="Calibri"/>
              <a:cs typeface="+mn-cs"/>
            </a:endParaRPr>
          </a:p>
        </p:txBody>
      </p:sp>
      <p:sp>
        <p:nvSpPr>
          <p:cNvPr id="8" name="Line 18">
            <a:extLst>
              <a:ext uri="{FF2B5EF4-FFF2-40B4-BE49-F238E27FC236}">
                <a16:creationId xmlns:a16="http://schemas.microsoft.com/office/drawing/2014/main" id="{065E9BDC-7684-6045-A252-1A778328C7EC}"/>
              </a:ext>
            </a:extLst>
          </p:cNvPr>
          <p:cNvSpPr>
            <a:spLocks noChangeShapeType="1"/>
          </p:cNvSpPr>
          <p:nvPr/>
        </p:nvSpPr>
        <p:spPr bwMode="auto">
          <a:xfrm>
            <a:off x="0" y="6381328"/>
            <a:ext cx="1835696" cy="0"/>
          </a:xfrm>
          <a:prstGeom prst="line">
            <a:avLst/>
          </a:prstGeom>
          <a:noFill/>
          <a:ln w="9525">
            <a:solidFill>
              <a:srgbClr val="FF0000"/>
            </a:solidFill>
            <a:round/>
          </a:ln>
          <a:effectLst>
            <a:outerShdw algn="ctr" rotWithShape="0">
              <a:schemeClr val="bg2">
                <a:alpha val="50000"/>
              </a:schemeClr>
            </a:outerShdw>
          </a:effectLst>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cs typeface="+mn-cs"/>
            </a:endParaRPr>
          </a:p>
        </p:txBody>
      </p:sp>
      <p:sp>
        <p:nvSpPr>
          <p:cNvPr id="9" name="TextBox 72">
            <a:extLst>
              <a:ext uri="{FF2B5EF4-FFF2-40B4-BE49-F238E27FC236}">
                <a16:creationId xmlns:a16="http://schemas.microsoft.com/office/drawing/2014/main" id="{576648E8-F5B3-4441-A592-E7E570E0B8EB}"/>
              </a:ext>
            </a:extLst>
          </p:cNvPr>
          <p:cNvSpPr txBox="1"/>
          <p:nvPr/>
        </p:nvSpPr>
        <p:spPr>
          <a:xfrm>
            <a:off x="75160" y="6433591"/>
            <a:ext cx="9365974"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Engineering Applications of Artificial Intelligence, 2025, 156: 110884</a:t>
            </a:r>
          </a:p>
        </p:txBody>
      </p:sp>
      <p:sp>
        <p:nvSpPr>
          <p:cNvPr id="10" name="矩形 34">
            <a:extLst>
              <a:ext uri="{FF2B5EF4-FFF2-40B4-BE49-F238E27FC236}">
                <a16:creationId xmlns:a16="http://schemas.microsoft.com/office/drawing/2014/main" id="{4A518CE0-F2B6-1B42-BDF6-70A8F4AA067F}"/>
              </a:ext>
            </a:extLst>
          </p:cNvPr>
          <p:cNvSpPr/>
          <p:nvPr/>
        </p:nvSpPr>
        <p:spPr>
          <a:xfrm>
            <a:off x="0" y="5805264"/>
            <a:ext cx="12192000"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实现</a:t>
            </a:r>
            <a:r>
              <a:rPr kumimoji="0" lang="en-US" altLang="zh-CN" sz="2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rPr>
              <a:t>2~8pL</a:t>
            </a: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多尺寸液滴的智能闭环控制，误差优于</a:t>
            </a:r>
            <a:r>
              <a:rPr kumimoji="0" lang="en-US" altLang="zh-CN" sz="2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rPr>
              <a:t>±4%</a:t>
            </a:r>
            <a:endParaRPr kumimoji="0" lang="zh-CN" altLang="en-US" sz="2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12" name="文本框 11">
            <a:extLst>
              <a:ext uri="{FF2B5EF4-FFF2-40B4-BE49-F238E27FC236}">
                <a16:creationId xmlns:a16="http://schemas.microsoft.com/office/drawing/2014/main" id="{FAD41E3B-952A-6748-BE24-44416F46C224}"/>
              </a:ext>
            </a:extLst>
          </p:cNvPr>
          <p:cNvSpPr txBox="1"/>
          <p:nvPr/>
        </p:nvSpPr>
        <p:spPr>
          <a:xfrm>
            <a:off x="531136" y="923944"/>
            <a:ext cx="10939781" cy="1029705"/>
          </a:xfrm>
          <a:prstGeom prst="rect">
            <a:avLst/>
          </a:prstGeom>
          <a:noFill/>
        </p:spPr>
        <p:txBody>
          <a:bodyPr wrap="square" rtlCol="0">
            <a:spAutoFit/>
          </a:bodyPr>
          <a:lstStyle/>
          <a:p>
            <a:pPr marL="360000" marR="0" lvl="0" indent="-360000" algn="l" defTabSz="4572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针对单脉冲液滴体积调控范围窄、多脉冲波形参数多难自动调节问题，提出融合弯月面振动模型与历史数据的深度强化学习控制策略，实现参数自动实时调节。</a:t>
            </a:r>
          </a:p>
        </p:txBody>
      </p:sp>
      <p:pic>
        <p:nvPicPr>
          <p:cNvPr id="13" name="图片 12">
            <a:extLst>
              <a:ext uri="{FF2B5EF4-FFF2-40B4-BE49-F238E27FC236}">
                <a16:creationId xmlns:a16="http://schemas.microsoft.com/office/drawing/2014/main" id="{AAF96D2E-B0A5-5B4D-ACE2-23F92732B66A}"/>
              </a:ext>
            </a:extLst>
          </p:cNvPr>
          <p:cNvPicPr>
            <a:picLocks noChangeAspect="1"/>
          </p:cNvPicPr>
          <p:nvPr/>
        </p:nvPicPr>
        <p:blipFill>
          <a:blip r:embed="rId3"/>
          <a:stretch>
            <a:fillRect/>
          </a:stretch>
        </p:blipFill>
        <p:spPr>
          <a:xfrm>
            <a:off x="6062367" y="1980145"/>
            <a:ext cx="4687695" cy="3505989"/>
          </a:xfrm>
          <a:prstGeom prst="rect">
            <a:avLst/>
          </a:prstGeom>
        </p:spPr>
      </p:pic>
      <p:pic>
        <p:nvPicPr>
          <p:cNvPr id="15" name="图片 14">
            <a:extLst>
              <a:ext uri="{FF2B5EF4-FFF2-40B4-BE49-F238E27FC236}">
                <a16:creationId xmlns:a16="http://schemas.microsoft.com/office/drawing/2014/main" id="{D34AF12A-B54D-434D-8756-5ACB8BA04AD6}"/>
              </a:ext>
            </a:extLst>
          </p:cNvPr>
          <p:cNvPicPr>
            <a:picLocks noChangeAspect="1"/>
          </p:cNvPicPr>
          <p:nvPr/>
        </p:nvPicPr>
        <p:blipFill>
          <a:blip r:embed="rId4"/>
          <a:stretch>
            <a:fillRect/>
          </a:stretch>
        </p:blipFill>
        <p:spPr>
          <a:xfrm>
            <a:off x="917848" y="1953649"/>
            <a:ext cx="4591227" cy="3486832"/>
          </a:xfrm>
          <a:prstGeom prst="rect">
            <a:avLst/>
          </a:prstGeom>
        </p:spPr>
      </p:pic>
      <p:sp>
        <p:nvSpPr>
          <p:cNvPr id="16" name="文本框 15">
            <a:extLst>
              <a:ext uri="{FF2B5EF4-FFF2-40B4-BE49-F238E27FC236}">
                <a16:creationId xmlns:a16="http://schemas.microsoft.com/office/drawing/2014/main" id="{87E7BDD6-92F5-5742-9473-C05DCCF2AC87}"/>
              </a:ext>
            </a:extLst>
          </p:cNvPr>
          <p:cNvSpPr txBox="1"/>
          <p:nvPr/>
        </p:nvSpPr>
        <p:spPr>
          <a:xfrm>
            <a:off x="657625" y="5440481"/>
            <a:ext cx="5224428" cy="307777"/>
          </a:xfrm>
          <a:prstGeom prst="rect">
            <a:avLst/>
          </a:prstGeom>
          <a:noFill/>
          <a:ln>
            <a:noFill/>
            <a:prstDash val="lgDashDot"/>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多脉冲波形液滴体积控制系统结构</a:t>
            </a:r>
            <a:endParaRPr kumimoji="1" lang="en-US" altLang="zh-CN"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a:extLst>
              <a:ext uri="{FF2B5EF4-FFF2-40B4-BE49-F238E27FC236}">
                <a16:creationId xmlns:a16="http://schemas.microsoft.com/office/drawing/2014/main" id="{4B847C90-04B7-9B44-977F-2F688E18862B}"/>
              </a:ext>
            </a:extLst>
          </p:cNvPr>
          <p:cNvSpPr txBox="1"/>
          <p:nvPr/>
        </p:nvSpPr>
        <p:spPr>
          <a:xfrm>
            <a:off x="6718657" y="5437352"/>
            <a:ext cx="3375113" cy="307777"/>
          </a:xfrm>
          <a:prstGeom prst="rect">
            <a:avLst/>
          </a:prstGeom>
          <a:noFill/>
          <a:ln>
            <a:noFill/>
            <a:prstDash val="lgDashDot"/>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多脉冲波形调控液滴体积实验结果</a:t>
            </a:r>
            <a:endParaRPr kumimoji="1" lang="en-US" altLang="zh-CN"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CFBB0-685B-B395-89CC-29D2EAB2668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EBF2DFD-1701-5E5A-F366-EBD53A443B8B}"/>
              </a:ext>
            </a:extLst>
          </p:cNvPr>
          <p:cNvSpPr>
            <a:spLocks noGrp="1"/>
          </p:cNvSpPr>
          <p:nvPr>
            <p:ph type="title"/>
          </p:nvPr>
        </p:nvSpPr>
        <p:spPr/>
        <p:txBody>
          <a:bodyPr>
            <a:normAutofit/>
          </a:bodyPr>
          <a:lstStyle/>
          <a:p>
            <a:r>
              <a:rPr lang="zh-CN" altLang="en-US" dirty="0">
                <a:solidFill>
                  <a:srgbClr val="0000FF"/>
                </a:solidFill>
              </a:rPr>
              <a:t>提出大尺寸</a:t>
            </a:r>
            <a:r>
              <a:rPr lang="en-US" altLang="zh-CN" dirty="0">
                <a:solidFill>
                  <a:srgbClr val="0000FF"/>
                </a:solidFill>
              </a:rPr>
              <a:t>RGB</a:t>
            </a:r>
            <a:r>
              <a:rPr lang="zh-CN" altLang="en-US" dirty="0">
                <a:solidFill>
                  <a:srgbClr val="0000FF"/>
                </a:solidFill>
              </a:rPr>
              <a:t>喷印分区模仿学习规划算法</a:t>
            </a:r>
          </a:p>
        </p:txBody>
      </p:sp>
      <p:sp>
        <p:nvSpPr>
          <p:cNvPr id="242" name="矩形 34">
            <a:extLst>
              <a:ext uri="{FF2B5EF4-FFF2-40B4-BE49-F238E27FC236}">
                <a16:creationId xmlns:a16="http://schemas.microsoft.com/office/drawing/2014/main" id="{2CDC9CDB-4411-F5C7-8778-072F29B932EA}"/>
              </a:ext>
            </a:extLst>
          </p:cNvPr>
          <p:cNvSpPr/>
          <p:nvPr/>
        </p:nvSpPr>
        <p:spPr>
          <a:xfrm>
            <a:off x="0" y="5805264"/>
            <a:ext cx="12192000"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实现</a:t>
            </a: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RGB</a:t>
            </a: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打印节拍</a:t>
            </a:r>
            <a:r>
              <a:rPr kumimoji="0" lang="zh-CN" altLang="en-US" sz="2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rPr>
              <a:t>＜</a:t>
            </a:r>
            <a:r>
              <a:rPr kumimoji="0" lang="en-US" altLang="zh-CN" sz="2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rPr>
              <a:t>60s</a:t>
            </a: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itchFamily="18" charset="0"/>
              </a:rPr>
              <a:t>，体积误差优于</a:t>
            </a:r>
            <a:r>
              <a:rPr kumimoji="0" lang="en-US" altLang="zh-CN" sz="2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rPr>
              <a:t>±5%</a:t>
            </a:r>
            <a:endParaRPr kumimoji="0" lang="zh-CN" altLang="en-US" sz="2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243" name="Line 18">
            <a:extLst>
              <a:ext uri="{FF2B5EF4-FFF2-40B4-BE49-F238E27FC236}">
                <a16:creationId xmlns:a16="http://schemas.microsoft.com/office/drawing/2014/main" id="{491AB096-2074-87C8-31DA-8B7A4CC52D1B}"/>
              </a:ext>
            </a:extLst>
          </p:cNvPr>
          <p:cNvSpPr>
            <a:spLocks noChangeShapeType="1"/>
          </p:cNvSpPr>
          <p:nvPr/>
        </p:nvSpPr>
        <p:spPr bwMode="auto">
          <a:xfrm>
            <a:off x="0" y="6381328"/>
            <a:ext cx="1835696" cy="0"/>
          </a:xfrm>
          <a:prstGeom prst="line">
            <a:avLst/>
          </a:prstGeom>
          <a:noFill/>
          <a:ln w="9525">
            <a:solidFill>
              <a:srgbClr val="FF0000"/>
            </a:solidFill>
            <a:round/>
          </a:ln>
          <a:effectLst>
            <a:outerShdw algn="ctr" rotWithShape="0">
              <a:schemeClr val="bg2">
                <a:alpha val="50000"/>
              </a:schemeClr>
            </a:outerShdw>
          </a:effectLst>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cs typeface="+mn-cs"/>
            </a:endParaRPr>
          </a:p>
        </p:txBody>
      </p:sp>
      <p:sp>
        <p:nvSpPr>
          <p:cNvPr id="244" name="TextBox 72">
            <a:extLst>
              <a:ext uri="{FF2B5EF4-FFF2-40B4-BE49-F238E27FC236}">
                <a16:creationId xmlns:a16="http://schemas.microsoft.com/office/drawing/2014/main" id="{B11CA89D-DB74-0CBE-06B1-D2E8E970FD28}"/>
              </a:ext>
            </a:extLst>
          </p:cNvPr>
          <p:cNvSpPr txBox="1"/>
          <p:nvPr/>
        </p:nvSpPr>
        <p:spPr>
          <a:xfrm>
            <a:off x="75159" y="6433591"/>
            <a:ext cx="11281815"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Journal of Manufacturing Systems, 2024, 76: 627-643; Scientific Reports , 2025, (2025) 15:21771</a:t>
            </a:r>
          </a:p>
        </p:txBody>
      </p:sp>
      <p:sp>
        <p:nvSpPr>
          <p:cNvPr id="245" name="矩形 244">
            <a:extLst>
              <a:ext uri="{FF2B5EF4-FFF2-40B4-BE49-F238E27FC236}">
                <a16:creationId xmlns:a16="http://schemas.microsoft.com/office/drawing/2014/main" id="{8F09EB2C-68DA-2F16-174D-BCF94F8244AC}"/>
              </a:ext>
            </a:extLst>
          </p:cNvPr>
          <p:cNvSpPr/>
          <p:nvPr/>
        </p:nvSpPr>
        <p:spPr>
          <a:xfrm>
            <a:off x="391516" y="1216143"/>
            <a:ext cx="6684491" cy="417913"/>
          </a:xfrm>
          <a:prstGeom prst="rect">
            <a:avLst/>
          </a:prstGeom>
          <a:solidFill>
            <a:srgbClr val="DAE3F3"/>
          </a:solidFill>
        </p:spPr>
        <p:txBody>
          <a:bodyPr wrap="square">
            <a:spAutoFit/>
          </a:bodyPr>
          <a:lstStyle/>
          <a:p>
            <a:pPr marL="0" marR="0" lvl="0" indent="0" algn="ctr" defTabSz="457200" rtl="0" eaLnBrk="1" fontAlgn="auto" latinLnBrk="0" hangingPunct="1">
              <a:lnSpc>
                <a:spcPct val="100000"/>
              </a:lnSpc>
              <a:spcBef>
                <a:spcPct val="3000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“分区图注意模仿学习”</a:t>
            </a:r>
            <a:r>
              <a:rPr kumimoji="0"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智能喷印规划</a:t>
            </a:r>
            <a:endParaRPr kumimoji="0" lang="zh-CN" altLang="en-US" sz="20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46" name="矩形 245">
            <a:extLst>
              <a:ext uri="{FF2B5EF4-FFF2-40B4-BE49-F238E27FC236}">
                <a16:creationId xmlns:a16="http://schemas.microsoft.com/office/drawing/2014/main" id="{D013E2D3-BDB0-A433-E662-99E2E965794A}"/>
              </a:ext>
            </a:extLst>
          </p:cNvPr>
          <p:cNvSpPr/>
          <p:nvPr/>
        </p:nvSpPr>
        <p:spPr>
          <a:xfrm>
            <a:off x="391516" y="1218247"/>
            <a:ext cx="6684491" cy="4395153"/>
          </a:xfrm>
          <a:prstGeom prst="rect">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47" name="矩形 246">
            <a:extLst>
              <a:ext uri="{FF2B5EF4-FFF2-40B4-BE49-F238E27FC236}">
                <a16:creationId xmlns:a16="http://schemas.microsoft.com/office/drawing/2014/main" id="{2E03856C-11F0-F1DC-50A4-088BD73072AE}"/>
              </a:ext>
            </a:extLst>
          </p:cNvPr>
          <p:cNvSpPr/>
          <p:nvPr/>
        </p:nvSpPr>
        <p:spPr>
          <a:xfrm>
            <a:off x="7343434" y="1218247"/>
            <a:ext cx="4292754" cy="4395153"/>
          </a:xfrm>
          <a:prstGeom prst="rect">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48" name="文本框 247">
            <a:extLst>
              <a:ext uri="{FF2B5EF4-FFF2-40B4-BE49-F238E27FC236}">
                <a16:creationId xmlns:a16="http://schemas.microsoft.com/office/drawing/2014/main" id="{F58E4BF5-266A-94C7-98FD-24FD14130A46}"/>
              </a:ext>
            </a:extLst>
          </p:cNvPr>
          <p:cNvSpPr txBox="1"/>
          <p:nvPr/>
        </p:nvSpPr>
        <p:spPr>
          <a:xfrm>
            <a:off x="782455" y="5290544"/>
            <a:ext cx="2773543" cy="321472"/>
          </a:xfrm>
          <a:prstGeom prst="rect">
            <a:avLst/>
          </a:prstGeom>
          <a:noFill/>
          <a:ln>
            <a:noFill/>
            <a:prstDash val="lgDashDot"/>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基板分区混合整数规划并行建模</a:t>
            </a:r>
            <a:endParaRPr kumimoji="1" lang="en-US" altLang="zh-CN"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pic>
        <p:nvPicPr>
          <p:cNvPr id="249" name="图片 248">
            <a:extLst>
              <a:ext uri="{FF2B5EF4-FFF2-40B4-BE49-F238E27FC236}">
                <a16:creationId xmlns:a16="http://schemas.microsoft.com/office/drawing/2014/main" id="{CCB482A2-A9E8-5E6D-8EAB-1A1B904D2E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419798" y="1600161"/>
            <a:ext cx="4169846" cy="1364846"/>
          </a:xfrm>
          <a:prstGeom prst="rect">
            <a:avLst/>
          </a:prstGeom>
        </p:spPr>
      </p:pic>
      <p:pic>
        <p:nvPicPr>
          <p:cNvPr id="250" name="图片 249">
            <a:extLst>
              <a:ext uri="{FF2B5EF4-FFF2-40B4-BE49-F238E27FC236}">
                <a16:creationId xmlns:a16="http://schemas.microsoft.com/office/drawing/2014/main" id="{475EFDB6-CF1E-2827-E445-CBE34C9595B0}"/>
              </a:ext>
            </a:extLst>
          </p:cNvPr>
          <p:cNvPicPr>
            <a:picLocks noChangeAspect="1"/>
          </p:cNvPicPr>
          <p:nvPr/>
        </p:nvPicPr>
        <p:blipFill>
          <a:blip r:embed="rId4"/>
          <a:stretch>
            <a:fillRect/>
          </a:stretch>
        </p:blipFill>
        <p:spPr>
          <a:xfrm>
            <a:off x="7410833" y="3334222"/>
            <a:ext cx="4169846" cy="2279178"/>
          </a:xfrm>
          <a:prstGeom prst="rect">
            <a:avLst/>
          </a:prstGeom>
        </p:spPr>
      </p:pic>
      <p:sp>
        <p:nvSpPr>
          <p:cNvPr id="251" name="文本框 250">
            <a:extLst>
              <a:ext uri="{FF2B5EF4-FFF2-40B4-BE49-F238E27FC236}">
                <a16:creationId xmlns:a16="http://schemas.microsoft.com/office/drawing/2014/main" id="{A27858DD-879A-EB35-A2B0-5DC5E3807109}"/>
              </a:ext>
            </a:extLst>
          </p:cNvPr>
          <p:cNvSpPr txBox="1"/>
          <p:nvPr/>
        </p:nvSpPr>
        <p:spPr>
          <a:xfrm>
            <a:off x="4159716" y="5290544"/>
            <a:ext cx="2759503" cy="321472"/>
          </a:xfrm>
          <a:prstGeom prst="rect">
            <a:avLst/>
          </a:prstGeom>
          <a:noFill/>
          <a:ln>
            <a:noFill/>
            <a:prstDash val="lgDashDot"/>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基于图神经网络的整数规划求解</a:t>
            </a:r>
            <a:endParaRPr kumimoji="1" lang="en-US" altLang="zh-CN" sz="14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nvGrpSpPr>
          <p:cNvPr id="252" name="组合 251">
            <a:extLst>
              <a:ext uri="{FF2B5EF4-FFF2-40B4-BE49-F238E27FC236}">
                <a16:creationId xmlns:a16="http://schemas.microsoft.com/office/drawing/2014/main" id="{B8D22041-AE64-EB3C-966A-E019CC691EDD}"/>
              </a:ext>
            </a:extLst>
          </p:cNvPr>
          <p:cNvGrpSpPr/>
          <p:nvPr/>
        </p:nvGrpSpPr>
        <p:grpSpPr>
          <a:xfrm>
            <a:off x="477257" y="1688642"/>
            <a:ext cx="6548681" cy="3600409"/>
            <a:chOff x="477257" y="1858358"/>
            <a:chExt cx="6548681" cy="3141284"/>
          </a:xfrm>
        </p:grpSpPr>
        <p:pic>
          <p:nvPicPr>
            <p:cNvPr id="253" name="图片 252">
              <a:extLst>
                <a:ext uri="{FF2B5EF4-FFF2-40B4-BE49-F238E27FC236}">
                  <a16:creationId xmlns:a16="http://schemas.microsoft.com/office/drawing/2014/main" id="{1456CB46-34CA-7FC8-1534-9AB9922F3A2D}"/>
                </a:ext>
              </a:extLst>
            </p:cNvPr>
            <p:cNvPicPr>
              <a:picLocks noChangeAspect="1"/>
            </p:cNvPicPr>
            <p:nvPr/>
          </p:nvPicPr>
          <p:blipFill>
            <a:blip r:embed="rId5" cstate="print">
              <a:extLst>
                <a:ext uri="{28A0092B-C50C-407E-A947-70E740481C1C}">
                  <a14:useLocalDpi xmlns:a14="http://schemas.microsoft.com/office/drawing/2010/main" val="0"/>
                </a:ext>
              </a:extLst>
            </a:blip>
            <a:srcRect l="2361" t="3193" r="1157" b="7383"/>
            <a:stretch/>
          </p:blipFill>
          <p:spPr>
            <a:xfrm>
              <a:off x="477257" y="1858358"/>
              <a:ext cx="3389236" cy="3141284"/>
            </a:xfrm>
            <a:prstGeom prst="rect">
              <a:avLst/>
            </a:prstGeom>
          </p:spPr>
        </p:pic>
        <p:pic>
          <p:nvPicPr>
            <p:cNvPr id="254" name="图片 253">
              <a:extLst>
                <a:ext uri="{FF2B5EF4-FFF2-40B4-BE49-F238E27FC236}">
                  <a16:creationId xmlns:a16="http://schemas.microsoft.com/office/drawing/2014/main" id="{4283B98D-7F8A-A110-2067-31B8A4824455}"/>
                </a:ext>
              </a:extLst>
            </p:cNvPr>
            <p:cNvPicPr>
              <a:picLocks noChangeAspect="1"/>
            </p:cNvPicPr>
            <p:nvPr/>
          </p:nvPicPr>
          <p:blipFill>
            <a:blip r:embed="rId6"/>
            <a:stretch>
              <a:fillRect/>
            </a:stretch>
          </p:blipFill>
          <p:spPr>
            <a:xfrm>
              <a:off x="3934650" y="2521186"/>
              <a:ext cx="3073704" cy="2443288"/>
            </a:xfrm>
            <a:prstGeom prst="rect">
              <a:avLst/>
            </a:prstGeom>
          </p:spPr>
        </p:pic>
        <p:cxnSp>
          <p:nvCxnSpPr>
            <p:cNvPr id="255" name="连接符: 肘形 254">
              <a:extLst>
                <a:ext uri="{FF2B5EF4-FFF2-40B4-BE49-F238E27FC236}">
                  <a16:creationId xmlns:a16="http://schemas.microsoft.com/office/drawing/2014/main" id="{247A8348-CF39-264E-83E6-E803EF411EFD}"/>
                </a:ext>
              </a:extLst>
            </p:cNvPr>
            <p:cNvCxnSpPr>
              <a:cxnSpLocks/>
              <a:endCxn id="256" idx="0"/>
            </p:cNvCxnSpPr>
            <p:nvPr/>
          </p:nvCxnSpPr>
          <p:spPr>
            <a:xfrm>
              <a:off x="3161093" y="2176607"/>
              <a:ext cx="2291069" cy="283545"/>
            </a:xfrm>
            <a:prstGeom prst="bentConnector2">
              <a:avLst/>
            </a:prstGeom>
            <a:ln w="190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6" name="矩形 255">
              <a:extLst>
                <a:ext uri="{FF2B5EF4-FFF2-40B4-BE49-F238E27FC236}">
                  <a16:creationId xmlns:a16="http://schemas.microsoft.com/office/drawing/2014/main" id="{40A77ECB-3D7B-26BC-1342-FDB3FC76B7B3}"/>
                </a:ext>
              </a:extLst>
            </p:cNvPr>
            <p:cNvSpPr/>
            <p:nvPr/>
          </p:nvSpPr>
          <p:spPr>
            <a:xfrm>
              <a:off x="3878386" y="2460152"/>
              <a:ext cx="3147552" cy="253949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cs typeface="+mn-cs"/>
              </a:endParaRPr>
            </a:p>
          </p:txBody>
        </p:sp>
      </p:grpSp>
      <p:sp>
        <p:nvSpPr>
          <p:cNvPr id="257" name="文本框 256">
            <a:extLst>
              <a:ext uri="{FF2B5EF4-FFF2-40B4-BE49-F238E27FC236}">
                <a16:creationId xmlns:a16="http://schemas.microsoft.com/office/drawing/2014/main" id="{E04A1088-A84E-A975-E59D-9F9FA49D53D6}"/>
              </a:ext>
            </a:extLst>
          </p:cNvPr>
          <p:cNvSpPr txBox="1"/>
          <p:nvPr/>
        </p:nvSpPr>
        <p:spPr>
          <a:xfrm>
            <a:off x="8243170" y="1203078"/>
            <a:ext cx="2570844" cy="421262"/>
          </a:xfrm>
          <a:prstGeom prst="rect">
            <a:avLst/>
          </a:prstGeom>
          <a:noFill/>
        </p:spPr>
        <p:txBody>
          <a:bodyPr wrap="square">
            <a:spAutoFit/>
          </a:bodyPr>
          <a:lstStyle/>
          <a:p>
            <a:pPr marL="0" marR="0" lvl="0" indent="0" algn="ctr" defTabSz="457200" rtl="0" eaLnBrk="1" fontAlgn="auto" latinLnBrk="0" hangingPunct="1">
              <a:lnSpc>
                <a:spcPct val="120000"/>
              </a:lnSpc>
              <a:spcBef>
                <a:spcPts val="600"/>
              </a:spcBef>
              <a:spcAft>
                <a:spcPts val="0"/>
              </a:spcAft>
              <a:buClrTx/>
              <a:buSzTx/>
              <a:buFontTx/>
              <a:buNone/>
              <a:tabLst/>
              <a:defRPr/>
            </a:pP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规模分解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并行求解</a:t>
            </a:r>
          </a:p>
        </p:txBody>
      </p:sp>
      <p:sp>
        <p:nvSpPr>
          <p:cNvPr id="258" name="文本框 257">
            <a:extLst>
              <a:ext uri="{FF2B5EF4-FFF2-40B4-BE49-F238E27FC236}">
                <a16:creationId xmlns:a16="http://schemas.microsoft.com/office/drawing/2014/main" id="{93AABA1B-97D6-4A3D-7B1E-3B70F035BFFF}"/>
              </a:ext>
            </a:extLst>
          </p:cNvPr>
          <p:cNvSpPr txBox="1"/>
          <p:nvPr/>
        </p:nvSpPr>
        <p:spPr>
          <a:xfrm>
            <a:off x="7954816" y="2957468"/>
            <a:ext cx="3147552" cy="421262"/>
          </a:xfrm>
          <a:prstGeom prst="rect">
            <a:avLst/>
          </a:prstGeom>
          <a:noFill/>
        </p:spPr>
        <p:txBody>
          <a:bodyPr wrap="square">
            <a:spAutoFit/>
          </a:bodyPr>
          <a:lstStyle/>
          <a:p>
            <a:pPr marL="0" marR="0" lvl="0" indent="0" algn="ctr" defTabSz="457200" rtl="0" eaLnBrk="1" fontAlgn="auto" latinLnBrk="0" hangingPunct="1">
              <a:lnSpc>
                <a:spcPct val="120000"/>
              </a:lnSpc>
              <a:spcBef>
                <a:spcPts val="600"/>
              </a:spcBef>
              <a:spcAft>
                <a:spcPts val="0"/>
              </a:spcAft>
              <a:buClrTx/>
              <a:buSzTx/>
              <a:buFontTx/>
              <a:buNone/>
              <a:tabLst/>
              <a:defRPr/>
            </a:pP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高效路径规划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快速求解</a:t>
            </a:r>
          </a:p>
        </p:txBody>
      </p:sp>
    </p:spTree>
    <p:extLst>
      <p:ext uri="{BB962C8B-B14F-4D97-AF65-F5344CB8AC3E}">
        <p14:creationId xmlns:p14="http://schemas.microsoft.com/office/powerpoint/2010/main" val="1532745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071" y="193278"/>
            <a:ext cx="10762593" cy="544513"/>
          </a:xfrm>
        </p:spPr>
        <p:txBody>
          <a:bodyPr>
            <a:normAutofit/>
          </a:bodyPr>
          <a:lstStyle/>
          <a:p>
            <a:r>
              <a:rPr lang="zh-CN" altLang="en-US">
                <a:solidFill>
                  <a:srgbClr val="0000FF"/>
                </a:solidFill>
              </a:rPr>
              <a:t>多源数据融合方法实现微米级液滴体积预测</a:t>
            </a:r>
            <a:endParaRPr lang="en-US" dirty="0"/>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4673D6C-392A-46A2-A751-B42838D7A247}" type="slidenum">
              <a:rPr kumimoji="0" lang="en-US" sz="1200" b="0" i="0" u="none" strike="noStrike" kern="1200" cap="none" spc="0" normalizeH="0" baseline="0" noProof="0" smtClean="0">
                <a:ln>
                  <a:noFill/>
                </a:ln>
                <a:solidFill>
                  <a:prstClr val="black">
                    <a:tint val="75000"/>
                  </a:prstClr>
                </a:solidFill>
                <a:effectLst/>
                <a:uLnTx/>
                <a:uFillTx/>
                <a:latin typeface="Calibri"/>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dirty="0">
              <a:ln>
                <a:noFill/>
              </a:ln>
              <a:solidFill>
                <a:prstClr val="black">
                  <a:tint val="75000"/>
                </a:prstClr>
              </a:solidFill>
              <a:effectLst/>
              <a:uLnTx/>
              <a:uFillTx/>
              <a:latin typeface="Calibri"/>
              <a:cs typeface="+mn-cs"/>
            </a:endParaRPr>
          </a:p>
        </p:txBody>
      </p:sp>
      <p:sp>
        <p:nvSpPr>
          <p:cNvPr id="5" name="文本框 4">
            <a:extLst>
              <a:ext uri="{FF2B5EF4-FFF2-40B4-BE49-F238E27FC236}">
                <a16:creationId xmlns:a16="http://schemas.microsoft.com/office/drawing/2014/main" id="{6BE39006-9A7D-4F38-AB84-FB4EF08C1439}"/>
              </a:ext>
            </a:extLst>
          </p:cNvPr>
          <p:cNvSpPr txBox="1"/>
          <p:nvPr/>
        </p:nvSpPr>
        <p:spPr>
          <a:xfrm>
            <a:off x="531136" y="923944"/>
            <a:ext cx="10939781" cy="1029705"/>
          </a:xfrm>
          <a:prstGeom prst="rect">
            <a:avLst/>
          </a:prstGeom>
          <a:noFill/>
        </p:spPr>
        <p:txBody>
          <a:bodyPr wrap="square" rtlCol="0">
            <a:spAutoFit/>
          </a:bodyPr>
          <a:lstStyle/>
          <a:p>
            <a:pPr marL="360000" marR="0" lvl="0" indent="-360000" algn="l" defTabSz="4572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电流体喷射过程易受环境串扰影响，仅靠工艺参数难以实现体积预测，</a:t>
            </a:r>
            <a:r>
              <a:rPr kumimoji="0" lang="zh-CN" altLang="en-US" sz="23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本文在工艺参数的基础上融合泰勒锥图像，</a:t>
            </a: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将液滴体积的预测精度提高到</a:t>
            </a:r>
            <a:r>
              <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92%</a:t>
            </a:r>
            <a:endPar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C682CAAB-CBF5-4259-B251-3DC7EE6AF476}"/>
              </a:ext>
            </a:extLst>
          </p:cNvPr>
          <p:cNvPicPr>
            <a:picLocks noChangeAspect="1"/>
          </p:cNvPicPr>
          <p:nvPr/>
        </p:nvPicPr>
        <p:blipFill rotWithShape="1">
          <a:blip r:embed="rId3"/>
          <a:srcRect l="658" t="1142" r="933" b="876"/>
          <a:stretch/>
        </p:blipFill>
        <p:spPr>
          <a:xfrm>
            <a:off x="884555" y="2235199"/>
            <a:ext cx="5841365" cy="3477013"/>
          </a:xfrm>
          <a:prstGeom prst="rect">
            <a:avLst/>
          </a:prstGeom>
          <a:ln w="9525">
            <a:solidFill>
              <a:schemeClr val="bg1">
                <a:lumMod val="50000"/>
              </a:schemeClr>
            </a:solidFill>
          </a:ln>
        </p:spPr>
      </p:pic>
      <p:sp>
        <p:nvSpPr>
          <p:cNvPr id="7" name="文本框 6">
            <a:extLst>
              <a:ext uri="{FF2B5EF4-FFF2-40B4-BE49-F238E27FC236}">
                <a16:creationId xmlns:a16="http://schemas.microsoft.com/office/drawing/2014/main" id="{FE028519-1E05-442B-A727-BC587449A89F}"/>
              </a:ext>
            </a:extLst>
          </p:cNvPr>
          <p:cNvSpPr txBox="1"/>
          <p:nvPr/>
        </p:nvSpPr>
        <p:spPr>
          <a:xfrm>
            <a:off x="1163698" y="5869653"/>
            <a:ext cx="536223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VGG16</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网络</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提取图像特征</a:t>
            </a:r>
            <a:r>
              <a:rPr kumimoji="0" lang="en-US" altLang="zh-CN"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+MLP</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网络</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匹配液滴体积</a:t>
            </a:r>
          </a:p>
        </p:txBody>
      </p:sp>
      <p:grpSp>
        <p:nvGrpSpPr>
          <p:cNvPr id="11" name="组合 10">
            <a:extLst>
              <a:ext uri="{FF2B5EF4-FFF2-40B4-BE49-F238E27FC236}">
                <a16:creationId xmlns:a16="http://schemas.microsoft.com/office/drawing/2014/main" id="{D48A3B1E-0F77-464D-893C-8FDEE1A00DCA}"/>
              </a:ext>
            </a:extLst>
          </p:cNvPr>
          <p:cNvGrpSpPr/>
          <p:nvPr/>
        </p:nvGrpSpPr>
        <p:grpSpPr>
          <a:xfrm>
            <a:off x="6828578" y="2174806"/>
            <a:ext cx="4525221" cy="1765369"/>
            <a:chOff x="6874934" y="2174806"/>
            <a:chExt cx="4318102" cy="1561111"/>
          </a:xfrm>
        </p:grpSpPr>
        <p:pic>
          <p:nvPicPr>
            <p:cNvPr id="9" name="图片 8">
              <a:extLst>
                <a:ext uri="{FF2B5EF4-FFF2-40B4-BE49-F238E27FC236}">
                  <a16:creationId xmlns:a16="http://schemas.microsoft.com/office/drawing/2014/main" id="{FA8BA40A-576D-4EF1-8596-DAC2D83B5F83}"/>
                </a:ext>
              </a:extLst>
            </p:cNvPr>
            <p:cNvPicPr>
              <a:picLocks noChangeAspect="1"/>
            </p:cNvPicPr>
            <p:nvPr/>
          </p:nvPicPr>
          <p:blipFill rotWithShape="1">
            <a:blip r:embed="rId4"/>
            <a:srcRect b="5461"/>
            <a:stretch/>
          </p:blipFill>
          <p:spPr>
            <a:xfrm>
              <a:off x="6874934" y="2174806"/>
              <a:ext cx="2171700" cy="1561111"/>
            </a:xfrm>
            <a:prstGeom prst="rect">
              <a:avLst/>
            </a:prstGeom>
          </p:spPr>
        </p:pic>
        <p:pic>
          <p:nvPicPr>
            <p:cNvPr id="10" name="图片 9">
              <a:extLst>
                <a:ext uri="{FF2B5EF4-FFF2-40B4-BE49-F238E27FC236}">
                  <a16:creationId xmlns:a16="http://schemas.microsoft.com/office/drawing/2014/main" id="{E089DC6E-EE5C-4201-8B2E-A896DF49D6DB}"/>
                </a:ext>
              </a:extLst>
            </p:cNvPr>
            <p:cNvPicPr>
              <a:picLocks noChangeAspect="1"/>
            </p:cNvPicPr>
            <p:nvPr/>
          </p:nvPicPr>
          <p:blipFill>
            <a:blip r:embed="rId5"/>
            <a:stretch>
              <a:fillRect/>
            </a:stretch>
          </p:blipFill>
          <p:spPr>
            <a:xfrm>
              <a:off x="9041786" y="2206993"/>
              <a:ext cx="2151250" cy="1528924"/>
            </a:xfrm>
            <a:prstGeom prst="rect">
              <a:avLst/>
            </a:prstGeom>
          </p:spPr>
        </p:pic>
      </p:grpSp>
      <p:pic>
        <p:nvPicPr>
          <p:cNvPr id="8" name="图片 7">
            <a:extLst>
              <a:ext uri="{FF2B5EF4-FFF2-40B4-BE49-F238E27FC236}">
                <a16:creationId xmlns:a16="http://schemas.microsoft.com/office/drawing/2014/main" id="{4CFBF6C0-2DA0-4286-88F9-855CAC1663DA}"/>
              </a:ext>
            </a:extLst>
          </p:cNvPr>
          <p:cNvPicPr>
            <a:picLocks noChangeAspect="1"/>
          </p:cNvPicPr>
          <p:nvPr/>
        </p:nvPicPr>
        <p:blipFill rotWithShape="1">
          <a:blip r:embed="rId6"/>
          <a:srcRect l="1022" t="571" r="541" b="70978"/>
          <a:stretch/>
        </p:blipFill>
        <p:spPr>
          <a:xfrm>
            <a:off x="6934410" y="4587349"/>
            <a:ext cx="4313556" cy="1121828"/>
          </a:xfrm>
          <a:prstGeom prst="rect">
            <a:avLst/>
          </a:prstGeom>
          <a:ln w="12700">
            <a:noFill/>
          </a:ln>
        </p:spPr>
      </p:pic>
      <p:sp>
        <p:nvSpPr>
          <p:cNvPr id="15" name="文本框 14">
            <a:extLst>
              <a:ext uri="{FF2B5EF4-FFF2-40B4-BE49-F238E27FC236}">
                <a16:creationId xmlns:a16="http://schemas.microsoft.com/office/drawing/2014/main" id="{FF218526-7D3E-41A8-BFFA-8C73BB4E5D2F}"/>
              </a:ext>
            </a:extLst>
          </p:cNvPr>
          <p:cNvSpPr txBox="1"/>
          <p:nvPr/>
        </p:nvSpPr>
        <p:spPr>
          <a:xfrm>
            <a:off x="6828578" y="4002574"/>
            <a:ext cx="452522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相较于单模态，预测准度分别提升</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15%</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（仅</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VGG</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10%</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（仅</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MLP</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6" name="文本框 15">
            <a:extLst>
              <a:ext uri="{FF2B5EF4-FFF2-40B4-BE49-F238E27FC236}">
                <a16:creationId xmlns:a16="http://schemas.microsoft.com/office/drawing/2014/main" id="{2E1D2987-E8C4-4AA3-B8B2-D185BAAFA931}"/>
              </a:ext>
            </a:extLst>
          </p:cNvPr>
          <p:cNvSpPr txBox="1"/>
          <p:nvPr/>
        </p:nvSpPr>
        <p:spPr>
          <a:xfrm>
            <a:off x="7051418" y="5869653"/>
            <a:ext cx="391645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微米级的液滴体积预测精度</a:t>
            </a:r>
            <a:r>
              <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可达</a:t>
            </a:r>
            <a:r>
              <a:rPr kumimoji="0" lang="en-US" altLang="zh-CN"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92%</a:t>
            </a:r>
            <a:endParaRPr kumimoji="0" lang="zh-CN" altLang="en-US" sz="1800" b="1"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endParaRPr>
          </a:p>
        </p:txBody>
      </p:sp>
      <p:sp>
        <p:nvSpPr>
          <p:cNvPr id="19" name="Line 18">
            <a:extLst>
              <a:ext uri="{FF2B5EF4-FFF2-40B4-BE49-F238E27FC236}">
                <a16:creationId xmlns:a16="http://schemas.microsoft.com/office/drawing/2014/main" id="{EAECD6C9-F91E-A342-89A6-ABEF7E5C4153}"/>
              </a:ext>
            </a:extLst>
          </p:cNvPr>
          <p:cNvSpPr>
            <a:spLocks noChangeShapeType="1"/>
          </p:cNvSpPr>
          <p:nvPr/>
        </p:nvSpPr>
        <p:spPr bwMode="auto">
          <a:xfrm>
            <a:off x="0" y="6381328"/>
            <a:ext cx="1835696" cy="0"/>
          </a:xfrm>
          <a:prstGeom prst="line">
            <a:avLst/>
          </a:prstGeom>
          <a:noFill/>
          <a:ln w="9525">
            <a:solidFill>
              <a:srgbClr val="FF0000"/>
            </a:solidFill>
            <a:round/>
          </a:ln>
          <a:effectLst>
            <a:outerShdw algn="ctr" rotWithShape="0">
              <a:schemeClr val="bg2">
                <a:alpha val="50000"/>
              </a:schemeClr>
            </a:outerShdw>
          </a:effectLst>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cs typeface="+mn-cs"/>
            </a:endParaRPr>
          </a:p>
        </p:txBody>
      </p:sp>
      <p:sp>
        <p:nvSpPr>
          <p:cNvPr id="20" name="TextBox 72">
            <a:extLst>
              <a:ext uri="{FF2B5EF4-FFF2-40B4-BE49-F238E27FC236}">
                <a16:creationId xmlns:a16="http://schemas.microsoft.com/office/drawing/2014/main" id="{1C1ED6BF-1CF1-274B-BE09-9E7E05D1B2DA}"/>
              </a:ext>
            </a:extLst>
          </p:cNvPr>
          <p:cNvSpPr txBox="1"/>
          <p:nvPr/>
        </p:nvSpPr>
        <p:spPr>
          <a:xfrm>
            <a:off x="75160" y="6433591"/>
            <a:ext cx="9365974"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Journal of Manufacturing Processes , 2024, 129, 1-10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5029200" y="2280755"/>
            <a:ext cx="7047006" cy="3920348"/>
          </a:xfrm>
          <a:prstGeom prst="rect">
            <a:avLst/>
          </a:prstGeom>
          <a:noFill/>
        </p:spPr>
      </p:pic>
      <p:sp>
        <p:nvSpPr>
          <p:cNvPr id="2" name="TextBox 1"/>
          <p:cNvSpPr txBox="1"/>
          <p:nvPr/>
        </p:nvSpPr>
        <p:spPr>
          <a:xfrm>
            <a:off x="793275" y="952813"/>
            <a:ext cx="9106788"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单项任务</a:t>
            </a:r>
            <a:r>
              <a:rPr lang="en-US" altLang="zh-CN" sz="2800" b="1" dirty="0">
                <a:solidFill>
                  <a:srgbClr val="000000"/>
                </a:solidFill>
                <a:latin typeface="Calibri" pitchFamily="18" charset="0"/>
                <a:cs typeface="Calibri" pitchFamily="18" charset="0"/>
              </a:rPr>
              <a:t>SoTA</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：https://paperswithcode.com/sota</a:t>
            </a:r>
            <a:endParaRPr lang="en-US" altLang="zh-CN" sz="2800" b="1" dirty="0">
              <a:solidFill>
                <a:srgbClr val="0563C1"/>
              </a:solidFill>
              <a:latin typeface="Calibri" pitchFamily="18" charset="0"/>
              <a:cs typeface="Calibri" pitchFamily="18" charset="0"/>
              <a:hlinkClick r:id="rId4"/>
            </a:endParaRPr>
          </a:p>
        </p:txBody>
      </p:sp>
      <p:sp>
        <p:nvSpPr>
          <p:cNvPr id="11" name="TextBox 1">
            <a:extLst>
              <a:ext uri="{FF2B5EF4-FFF2-40B4-BE49-F238E27FC236}">
                <a16:creationId xmlns:a16="http://schemas.microsoft.com/office/drawing/2014/main" id="{79EDC012-740E-DF4D-9378-BE364DAA50A0}"/>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69</a:t>
            </a:r>
          </a:p>
        </p:txBody>
      </p:sp>
      <p:sp>
        <p:nvSpPr>
          <p:cNvPr id="12" name="Freeform 3">
            <a:extLst>
              <a:ext uri="{FF2B5EF4-FFF2-40B4-BE49-F238E27FC236}">
                <a16:creationId xmlns:a16="http://schemas.microsoft.com/office/drawing/2014/main" id="{C203FB88-A98B-F345-BC47-443679A428B2}"/>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2885A4DD-C20F-E240-94DB-B901A719CBC9}"/>
              </a:ext>
            </a:extLst>
          </p:cNvPr>
          <p:cNvSpPr txBox="1"/>
          <p:nvPr/>
        </p:nvSpPr>
        <p:spPr>
          <a:xfrm>
            <a:off x="472354" y="152400"/>
            <a:ext cx="6676828" cy="550535"/>
          </a:xfrm>
          <a:prstGeom prst="rect">
            <a:avLst/>
          </a:prstGeom>
          <a:noFill/>
        </p:spPr>
        <p:txBody>
          <a:bodyPr wrap="none" lIns="0" tIns="0" rIns="0" rtlCol="0">
            <a:spAutoFit/>
          </a:bodyPr>
          <a:lstStyle/>
          <a:p>
            <a:pPr>
              <a:lnSpc>
                <a:spcPts val="4200"/>
              </a:lnSpc>
              <a:tabLst>
                <a:tab pos="228600" algn="l"/>
              </a:tabLst>
            </a:pPr>
            <a:r>
              <a:rPr lang="en-US" altLang="zh-CN" sz="3200" b="1" dirty="0">
                <a:solidFill>
                  <a:srgbClr val="000000"/>
                </a:solidFill>
                <a:latin typeface="微软雅黑" pitchFamily="18" charset="0"/>
                <a:cs typeface="微软雅黑" pitchFamily="18" charset="0"/>
              </a:rPr>
              <a:t>当前的人工智能</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State</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of</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the</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Art</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(SoTA)</a:t>
            </a:r>
          </a:p>
        </p:txBody>
      </p:sp>
      <p:sp>
        <p:nvSpPr>
          <p:cNvPr id="4" name="下箭头 3">
            <a:extLst>
              <a:ext uri="{FF2B5EF4-FFF2-40B4-BE49-F238E27FC236}">
                <a16:creationId xmlns:a16="http://schemas.microsoft.com/office/drawing/2014/main" id="{EE340F08-2E2A-9648-A5B9-86546DF0B688}"/>
              </a:ext>
            </a:extLst>
          </p:cNvPr>
          <p:cNvSpPr/>
          <p:nvPr/>
        </p:nvSpPr>
        <p:spPr>
          <a:xfrm>
            <a:off x="2590800" y="1860234"/>
            <a:ext cx="533400" cy="144780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91AF4ED2-94A8-8848-84E1-D7811DF13C6C}"/>
              </a:ext>
            </a:extLst>
          </p:cNvPr>
          <p:cNvSpPr txBox="1"/>
          <p:nvPr/>
        </p:nvSpPr>
        <p:spPr>
          <a:xfrm>
            <a:off x="472354" y="3458001"/>
            <a:ext cx="4674476" cy="369332"/>
          </a:xfrm>
          <a:prstGeom prst="rect">
            <a:avLst/>
          </a:prstGeom>
          <a:noFill/>
        </p:spPr>
        <p:txBody>
          <a:bodyPr wrap="square">
            <a:spAutoFit/>
          </a:bodyPr>
          <a:lstStyle/>
          <a:p>
            <a:r>
              <a:rPr lang="zh-CN" altLang="en-US" b="1" i="0">
                <a:solidFill>
                  <a:srgbClr val="FF0000"/>
                </a:solidFill>
                <a:effectLst/>
                <a:latin typeface="Microsoft YaHei" panose="020B0503020204020204" pitchFamily="34" charset="-122"/>
                <a:ea typeface="Microsoft YaHei" panose="020B0503020204020204" pitchFamily="34" charset="-122"/>
              </a:rPr>
              <a:t>某一领域做的</a:t>
            </a:r>
            <a:r>
              <a:rPr lang="en-GB" altLang="zh-CN" b="1" i="0">
                <a:solidFill>
                  <a:srgbClr val="FF0000"/>
                </a:solidFill>
                <a:effectLst/>
                <a:latin typeface="Microsoft YaHei" panose="020B0503020204020204" pitchFamily="34" charset="-122"/>
                <a:ea typeface="Microsoft YaHei" panose="020B0503020204020204" pitchFamily="34" charset="-122"/>
              </a:rPr>
              <a:t>Performance</a:t>
            </a:r>
            <a:r>
              <a:rPr lang="zh-CN" altLang="en-US" b="1" i="0">
                <a:solidFill>
                  <a:srgbClr val="FF0000"/>
                </a:solidFill>
                <a:effectLst/>
                <a:latin typeface="Microsoft YaHei" panose="020B0503020204020204" pitchFamily="34" charset="-122"/>
                <a:ea typeface="Microsoft YaHei" panose="020B0503020204020204" pitchFamily="34" charset="-122"/>
              </a:rPr>
              <a:t>最好的</a:t>
            </a:r>
            <a:r>
              <a:rPr lang="en-GB" altLang="zh-CN" b="1" i="0">
                <a:solidFill>
                  <a:srgbClr val="FF0000"/>
                </a:solidFill>
                <a:effectLst/>
                <a:latin typeface="Microsoft YaHei" panose="020B0503020204020204" pitchFamily="34" charset="-122"/>
                <a:ea typeface="Microsoft YaHei" panose="020B0503020204020204" pitchFamily="34" charset="-122"/>
              </a:rPr>
              <a:t>model</a:t>
            </a:r>
            <a:endParaRPr lang="zh-CN" altLang="en-US" b="1">
              <a:solidFill>
                <a:srgbClr val="FF0000"/>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793275" y="952813"/>
            <a:ext cx="9106788" cy="87453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单项任务</a:t>
            </a:r>
            <a:r>
              <a:rPr lang="en-US" altLang="zh-CN" sz="2800" b="1" dirty="0">
                <a:solidFill>
                  <a:srgbClr val="000000"/>
                </a:solidFill>
                <a:latin typeface="Calibri" pitchFamily="18" charset="0"/>
                <a:cs typeface="Calibri" pitchFamily="18" charset="0"/>
              </a:rPr>
              <a:t>SoTA</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：https://paperswithcode.com/sota</a:t>
            </a:r>
            <a:endParaRPr lang="en-US" altLang="zh-CN" sz="2800" b="1" dirty="0">
              <a:solidFill>
                <a:srgbClr val="0563C1"/>
              </a:solidFill>
              <a:latin typeface="Calibri" pitchFamily="18" charset="0"/>
              <a:cs typeface="Calibri" pitchFamily="18" charset="0"/>
              <a:hlinkClick r:id="rId2"/>
            </a:endParaRPr>
          </a:p>
        </p:txBody>
      </p:sp>
      <p:sp>
        <p:nvSpPr>
          <p:cNvPr id="11" name="TextBox 1">
            <a:extLst>
              <a:ext uri="{FF2B5EF4-FFF2-40B4-BE49-F238E27FC236}">
                <a16:creationId xmlns:a16="http://schemas.microsoft.com/office/drawing/2014/main" id="{79EDC012-740E-DF4D-9378-BE364DAA50A0}"/>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69</a:t>
            </a:r>
          </a:p>
        </p:txBody>
      </p:sp>
      <p:sp>
        <p:nvSpPr>
          <p:cNvPr id="12" name="Freeform 3">
            <a:extLst>
              <a:ext uri="{FF2B5EF4-FFF2-40B4-BE49-F238E27FC236}">
                <a16:creationId xmlns:a16="http://schemas.microsoft.com/office/drawing/2014/main" id="{C203FB88-A98B-F345-BC47-443679A428B2}"/>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2885A4DD-C20F-E240-94DB-B901A719CBC9}"/>
              </a:ext>
            </a:extLst>
          </p:cNvPr>
          <p:cNvSpPr txBox="1"/>
          <p:nvPr/>
        </p:nvSpPr>
        <p:spPr>
          <a:xfrm>
            <a:off x="472354" y="152400"/>
            <a:ext cx="6676828" cy="550535"/>
          </a:xfrm>
          <a:prstGeom prst="rect">
            <a:avLst/>
          </a:prstGeom>
          <a:noFill/>
        </p:spPr>
        <p:txBody>
          <a:bodyPr wrap="none" lIns="0" tIns="0" rIns="0" rtlCol="0">
            <a:spAutoFit/>
          </a:bodyPr>
          <a:lstStyle/>
          <a:p>
            <a:pPr>
              <a:lnSpc>
                <a:spcPts val="4200"/>
              </a:lnSpc>
              <a:tabLst>
                <a:tab pos="228600" algn="l"/>
              </a:tabLst>
            </a:pPr>
            <a:r>
              <a:rPr lang="en-US" altLang="zh-CN" sz="3200" b="1" dirty="0">
                <a:solidFill>
                  <a:srgbClr val="000000"/>
                </a:solidFill>
                <a:latin typeface="微软雅黑" pitchFamily="18" charset="0"/>
                <a:cs typeface="微软雅黑" pitchFamily="18" charset="0"/>
              </a:rPr>
              <a:t>当前的人工智能</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State</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of</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the</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Art</a:t>
            </a:r>
            <a:r>
              <a:rPr lang="en-US" altLang="zh-CN" sz="3200" dirty="0">
                <a:latin typeface="Times New Roman" pitchFamily="18" charset="0"/>
                <a:cs typeface="Times New Roman" pitchFamily="18" charset="0"/>
              </a:rPr>
              <a:t> </a:t>
            </a:r>
            <a:r>
              <a:rPr lang="en-US" altLang="zh-CN" sz="3200" b="1" dirty="0">
                <a:solidFill>
                  <a:srgbClr val="000000"/>
                </a:solidFill>
                <a:latin typeface="Calibri Light" pitchFamily="18" charset="0"/>
                <a:cs typeface="Calibri Light" pitchFamily="18" charset="0"/>
              </a:rPr>
              <a:t>(SoTA)</a:t>
            </a:r>
          </a:p>
        </p:txBody>
      </p:sp>
      <p:sp>
        <p:nvSpPr>
          <p:cNvPr id="4" name="下箭头 3">
            <a:extLst>
              <a:ext uri="{FF2B5EF4-FFF2-40B4-BE49-F238E27FC236}">
                <a16:creationId xmlns:a16="http://schemas.microsoft.com/office/drawing/2014/main" id="{EE340F08-2E2A-9648-A5B9-86546DF0B688}"/>
              </a:ext>
            </a:extLst>
          </p:cNvPr>
          <p:cNvSpPr/>
          <p:nvPr/>
        </p:nvSpPr>
        <p:spPr>
          <a:xfrm>
            <a:off x="2590800" y="1860234"/>
            <a:ext cx="533400" cy="144780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91AF4ED2-94A8-8848-84E1-D7811DF13C6C}"/>
              </a:ext>
            </a:extLst>
          </p:cNvPr>
          <p:cNvSpPr txBox="1"/>
          <p:nvPr/>
        </p:nvSpPr>
        <p:spPr>
          <a:xfrm>
            <a:off x="472354" y="3458001"/>
            <a:ext cx="4674476" cy="369332"/>
          </a:xfrm>
          <a:prstGeom prst="rect">
            <a:avLst/>
          </a:prstGeom>
          <a:noFill/>
        </p:spPr>
        <p:txBody>
          <a:bodyPr wrap="square">
            <a:spAutoFit/>
          </a:bodyPr>
          <a:lstStyle/>
          <a:p>
            <a:r>
              <a:rPr lang="zh-CN" altLang="en-US" b="1" i="0">
                <a:solidFill>
                  <a:srgbClr val="FF0000"/>
                </a:solidFill>
                <a:effectLst/>
                <a:latin typeface="Microsoft YaHei" panose="020B0503020204020204" pitchFamily="34" charset="-122"/>
                <a:ea typeface="Microsoft YaHei" panose="020B0503020204020204" pitchFamily="34" charset="-122"/>
              </a:rPr>
              <a:t>某一领域做的</a:t>
            </a:r>
            <a:r>
              <a:rPr lang="en-GB" altLang="zh-CN" b="1" i="0">
                <a:solidFill>
                  <a:srgbClr val="FF0000"/>
                </a:solidFill>
                <a:effectLst/>
                <a:latin typeface="Microsoft YaHei" panose="020B0503020204020204" pitchFamily="34" charset="-122"/>
                <a:ea typeface="Microsoft YaHei" panose="020B0503020204020204" pitchFamily="34" charset="-122"/>
              </a:rPr>
              <a:t>Performance</a:t>
            </a:r>
            <a:r>
              <a:rPr lang="zh-CN" altLang="en-US" b="1" i="0">
                <a:solidFill>
                  <a:srgbClr val="FF0000"/>
                </a:solidFill>
                <a:effectLst/>
                <a:latin typeface="Microsoft YaHei" panose="020B0503020204020204" pitchFamily="34" charset="-122"/>
                <a:ea typeface="Microsoft YaHei" panose="020B0503020204020204" pitchFamily="34" charset="-122"/>
              </a:rPr>
              <a:t>最好的</a:t>
            </a:r>
            <a:r>
              <a:rPr lang="en-GB" altLang="zh-CN" b="1" i="0">
                <a:solidFill>
                  <a:srgbClr val="FF0000"/>
                </a:solidFill>
                <a:effectLst/>
                <a:latin typeface="Microsoft YaHei" panose="020B0503020204020204" pitchFamily="34" charset="-122"/>
                <a:ea typeface="Microsoft YaHei" panose="020B0503020204020204" pitchFamily="34" charset="-122"/>
              </a:rPr>
              <a:t>model</a:t>
            </a:r>
            <a:endParaRPr lang="zh-CN" altLang="en-US" b="1">
              <a:solidFill>
                <a:srgbClr val="FF0000"/>
              </a:solidFill>
              <a:latin typeface="Microsoft YaHei" panose="020B0503020204020204" pitchFamily="34" charset="-122"/>
              <a:ea typeface="Microsoft YaHei" panose="020B0503020204020204" pitchFamily="34" charset="-122"/>
            </a:endParaRPr>
          </a:p>
        </p:txBody>
      </p:sp>
      <p:pic>
        <p:nvPicPr>
          <p:cNvPr id="10" name="Picture 3">
            <a:extLst>
              <a:ext uri="{FF2B5EF4-FFF2-40B4-BE49-F238E27FC236}">
                <a16:creationId xmlns:a16="http://schemas.microsoft.com/office/drawing/2014/main" id="{16767314-CF31-A248-BD13-630FDFC0C9FC}"/>
              </a:ext>
            </a:extLst>
          </p:cNvPr>
          <p:cNvPicPr>
            <a:picLocks noChangeAspect="1" noChangeArrowheads="1"/>
          </p:cNvPicPr>
          <p:nvPr/>
        </p:nvPicPr>
        <p:blipFill>
          <a:blip r:embed="rId3"/>
          <a:srcRect/>
          <a:stretch>
            <a:fillRect/>
          </a:stretch>
        </p:blipFill>
        <p:spPr bwMode="auto">
          <a:xfrm>
            <a:off x="4979016" y="2338990"/>
            <a:ext cx="7027552" cy="3833210"/>
          </a:xfrm>
          <a:prstGeom prst="rect">
            <a:avLst/>
          </a:prstGeom>
          <a:noFill/>
        </p:spPr>
      </p:pic>
    </p:spTree>
    <p:extLst>
      <p:ext uri="{BB962C8B-B14F-4D97-AF65-F5344CB8AC3E}">
        <p14:creationId xmlns:p14="http://schemas.microsoft.com/office/powerpoint/2010/main" val="40179712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3"/>
          <p:cNvSpPr/>
          <p:nvPr/>
        </p:nvSpPr>
        <p:spPr>
          <a:xfrm>
            <a:off x="1687626" y="1770560"/>
            <a:ext cx="444500" cy="320040"/>
          </a:xfrm>
          <a:custGeom>
            <a:avLst/>
            <a:gdLst>
              <a:gd name="connsiteX0" fmla="*/ 138010 w 444500"/>
              <a:gd name="connsiteY0" fmla="*/ 320040 h 320040"/>
              <a:gd name="connsiteX1" fmla="*/ 444500 w 444500"/>
              <a:gd name="connsiteY1" fmla="*/ 0 h 320040"/>
              <a:gd name="connsiteX2" fmla="*/ 154141 w 444500"/>
              <a:gd name="connsiteY2" fmla="*/ 208915 h 320040"/>
              <a:gd name="connsiteX3" fmla="*/ 0 w 444500"/>
              <a:gd name="connsiteY3" fmla="*/ 113347 h 320040"/>
              <a:gd name="connsiteX4" fmla="*/ 138010 w 4445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44500" h="320040">
                <a:moveTo>
                  <a:pt x="138010" y="320040"/>
                </a:moveTo>
                <a:lnTo>
                  <a:pt x="444500" y="0"/>
                </a:lnTo>
                <a:lnTo>
                  <a:pt x="154141" y="208915"/>
                </a:lnTo>
                <a:lnTo>
                  <a:pt x="0" y="113347"/>
                </a:lnTo>
                <a:lnTo>
                  <a:pt x="138010" y="320040"/>
                </a:lnTo>
              </a:path>
            </a:pathLst>
          </a:custGeom>
          <a:solidFill>
            <a:srgbClr val="00800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57962800" y="-58959752"/>
            <a:ext cx="121412000" cy="121287544"/>
          </a:xfrm>
          <a:custGeom>
            <a:avLst/>
            <a:gdLst>
              <a:gd name="connsiteX0" fmla="*/ 60621756 w 121412000"/>
              <a:gd name="connsiteY0" fmla="*/ 60803792 h 121287544"/>
              <a:gd name="connsiteX1" fmla="*/ 60928248 w 121412000"/>
              <a:gd name="connsiteY1" fmla="*/ 60483752 h 121287544"/>
              <a:gd name="connsiteX2" fmla="*/ 60637892 w 121412000"/>
              <a:gd name="connsiteY2" fmla="*/ 60692668 h 121287544"/>
              <a:gd name="connsiteX3" fmla="*/ 60483752 w 121412000"/>
              <a:gd name="connsiteY3" fmla="*/ 60597096 h 121287544"/>
              <a:gd name="connsiteX4" fmla="*/ 60621756 w 121412000"/>
              <a:gd name="connsiteY4" fmla="*/ 60803792 h 12128754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412000" h="121287544">
                <a:moveTo>
                  <a:pt x="60621756" y="60803792"/>
                </a:moveTo>
                <a:lnTo>
                  <a:pt x="60928248" y="60483752"/>
                </a:lnTo>
                <a:lnTo>
                  <a:pt x="60637892" y="60692668"/>
                </a:lnTo>
                <a:lnTo>
                  <a:pt x="60483752" y="60597096"/>
                </a:lnTo>
                <a:lnTo>
                  <a:pt x="60621756" y="6080379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1705406" y="4818836"/>
            <a:ext cx="366395" cy="249381"/>
          </a:xfrm>
          <a:custGeom>
            <a:avLst/>
            <a:gdLst>
              <a:gd name="connsiteX0" fmla="*/ 0 w 366395"/>
              <a:gd name="connsiteY0" fmla="*/ 76733 h 249381"/>
              <a:gd name="connsiteX1" fmla="*/ 81421 w 366395"/>
              <a:gd name="connsiteY1" fmla="*/ 0 h 249381"/>
              <a:gd name="connsiteX2" fmla="*/ 284975 w 366395"/>
              <a:gd name="connsiteY2" fmla="*/ 0 h 249381"/>
              <a:gd name="connsiteX3" fmla="*/ 366395 w 366395"/>
              <a:gd name="connsiteY3" fmla="*/ 76733 h 249381"/>
              <a:gd name="connsiteX4" fmla="*/ 284975 w 366395"/>
              <a:gd name="connsiteY4" fmla="*/ 153465 h 249381"/>
              <a:gd name="connsiteX5" fmla="*/ 203553 w 366395"/>
              <a:gd name="connsiteY5" fmla="*/ 172648 h 249381"/>
              <a:gd name="connsiteX6" fmla="*/ 203553 w 366395"/>
              <a:gd name="connsiteY6" fmla="*/ 249381 h 249381"/>
              <a:gd name="connsiteX7" fmla="*/ 122132 w 366395"/>
              <a:gd name="connsiteY7" fmla="*/ 249381 h 249381"/>
              <a:gd name="connsiteX8" fmla="*/ 122132 w 366395"/>
              <a:gd name="connsiteY8" fmla="*/ 153465 h 249381"/>
              <a:gd name="connsiteX9" fmla="*/ 244263 w 366395"/>
              <a:gd name="connsiteY9" fmla="*/ 115098 h 249381"/>
              <a:gd name="connsiteX10" fmla="*/ 284975 w 366395"/>
              <a:gd name="connsiteY10" fmla="*/ 76733 h 249381"/>
              <a:gd name="connsiteX11" fmla="*/ 244263 w 366395"/>
              <a:gd name="connsiteY11" fmla="*/ 38366 h 249381"/>
              <a:gd name="connsiteX12" fmla="*/ 122132 w 366395"/>
              <a:gd name="connsiteY12" fmla="*/ 38366 h 249381"/>
              <a:gd name="connsiteX13" fmla="*/ 81421 w 366395"/>
              <a:gd name="connsiteY13" fmla="*/ 95917 h 249381"/>
              <a:gd name="connsiteX14" fmla="*/ 0 w 366395"/>
              <a:gd name="connsiteY14" fmla="*/ 76733 h 24938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366395" h="249381">
                <a:moveTo>
                  <a:pt x="0" y="76733"/>
                </a:moveTo>
                <a:lnTo>
                  <a:pt x="81421" y="0"/>
                </a:lnTo>
                <a:lnTo>
                  <a:pt x="284975" y="0"/>
                </a:lnTo>
                <a:lnTo>
                  <a:pt x="366395" y="76733"/>
                </a:lnTo>
                <a:lnTo>
                  <a:pt x="284975" y="153465"/>
                </a:lnTo>
                <a:lnTo>
                  <a:pt x="203553" y="172648"/>
                </a:lnTo>
                <a:lnTo>
                  <a:pt x="203553" y="249381"/>
                </a:lnTo>
                <a:lnTo>
                  <a:pt x="122132" y="249381"/>
                </a:lnTo>
                <a:lnTo>
                  <a:pt x="122132" y="153465"/>
                </a:lnTo>
                <a:lnTo>
                  <a:pt x="244263" y="115098"/>
                </a:lnTo>
                <a:lnTo>
                  <a:pt x="284975" y="76733"/>
                </a:lnTo>
                <a:lnTo>
                  <a:pt x="244263" y="38366"/>
                </a:lnTo>
                <a:lnTo>
                  <a:pt x="122132" y="38366"/>
                </a:lnTo>
                <a:lnTo>
                  <a:pt x="81421" y="95917"/>
                </a:lnTo>
                <a:lnTo>
                  <a:pt x="0" y="76733"/>
                </a:lnTo>
              </a:path>
            </a:pathLst>
          </a:custGeom>
          <a:solidFill>
            <a:srgbClr val="ED7D31">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57945020" y="-55911476"/>
            <a:ext cx="121333888" cy="121216888"/>
          </a:xfrm>
          <a:custGeom>
            <a:avLst/>
            <a:gdLst>
              <a:gd name="connsiteX0" fmla="*/ 60483752 w 121333888"/>
              <a:gd name="connsiteY0" fmla="*/ 60560484 h 121216888"/>
              <a:gd name="connsiteX1" fmla="*/ 60565172 w 121333888"/>
              <a:gd name="connsiteY1" fmla="*/ 60483752 h 121216888"/>
              <a:gd name="connsiteX2" fmla="*/ 60768724 w 121333888"/>
              <a:gd name="connsiteY2" fmla="*/ 60483752 h 121216888"/>
              <a:gd name="connsiteX3" fmla="*/ 60850148 w 121333888"/>
              <a:gd name="connsiteY3" fmla="*/ 60560484 h 121216888"/>
              <a:gd name="connsiteX4" fmla="*/ 60768724 w 121333888"/>
              <a:gd name="connsiteY4" fmla="*/ 60637216 h 121216888"/>
              <a:gd name="connsiteX5" fmla="*/ 60687304 w 121333888"/>
              <a:gd name="connsiteY5" fmla="*/ 60656404 h 121216888"/>
              <a:gd name="connsiteX6" fmla="*/ 60687304 w 121333888"/>
              <a:gd name="connsiteY6" fmla="*/ 60733136 h 121216888"/>
              <a:gd name="connsiteX7" fmla="*/ 60605884 w 121333888"/>
              <a:gd name="connsiteY7" fmla="*/ 60733136 h 121216888"/>
              <a:gd name="connsiteX8" fmla="*/ 60605884 w 121333888"/>
              <a:gd name="connsiteY8" fmla="*/ 60637216 h 121216888"/>
              <a:gd name="connsiteX9" fmla="*/ 60728016 w 121333888"/>
              <a:gd name="connsiteY9" fmla="*/ 60598848 h 121216888"/>
              <a:gd name="connsiteX10" fmla="*/ 60768724 w 121333888"/>
              <a:gd name="connsiteY10" fmla="*/ 60560484 h 121216888"/>
              <a:gd name="connsiteX11" fmla="*/ 60728016 w 121333888"/>
              <a:gd name="connsiteY11" fmla="*/ 60522116 h 121216888"/>
              <a:gd name="connsiteX12" fmla="*/ 60605884 w 121333888"/>
              <a:gd name="connsiteY12" fmla="*/ 60522116 h 121216888"/>
              <a:gd name="connsiteX13" fmla="*/ 60565172 w 121333888"/>
              <a:gd name="connsiteY13" fmla="*/ 60579668 h 121216888"/>
              <a:gd name="connsiteX14" fmla="*/ 60483752 w 121333888"/>
              <a:gd name="connsiteY14" fmla="*/ 60560484 h 12121688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121333888" h="121216888">
                <a:moveTo>
                  <a:pt x="60483752" y="60560484"/>
                </a:moveTo>
                <a:lnTo>
                  <a:pt x="60565172" y="60483752"/>
                </a:lnTo>
                <a:lnTo>
                  <a:pt x="60768724" y="60483752"/>
                </a:lnTo>
                <a:lnTo>
                  <a:pt x="60850148" y="60560484"/>
                </a:lnTo>
                <a:lnTo>
                  <a:pt x="60768724" y="60637216"/>
                </a:lnTo>
                <a:lnTo>
                  <a:pt x="60687304" y="60656404"/>
                </a:lnTo>
                <a:lnTo>
                  <a:pt x="60687304" y="60733136"/>
                </a:lnTo>
                <a:lnTo>
                  <a:pt x="60605884" y="60733136"/>
                </a:lnTo>
                <a:lnTo>
                  <a:pt x="60605884" y="60637216"/>
                </a:lnTo>
                <a:lnTo>
                  <a:pt x="60728016" y="60598848"/>
                </a:lnTo>
                <a:lnTo>
                  <a:pt x="60768724" y="60560484"/>
                </a:lnTo>
                <a:lnTo>
                  <a:pt x="60728016" y="60522116"/>
                </a:lnTo>
                <a:lnTo>
                  <a:pt x="60605884" y="60522116"/>
                </a:lnTo>
                <a:lnTo>
                  <a:pt x="60565172" y="60579668"/>
                </a:lnTo>
                <a:lnTo>
                  <a:pt x="60483752" y="60560484"/>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1827537" y="5106584"/>
            <a:ext cx="81421" cy="38366"/>
          </a:xfrm>
          <a:custGeom>
            <a:avLst/>
            <a:gdLst>
              <a:gd name="connsiteX0" fmla="*/ 0 w 81421"/>
              <a:gd name="connsiteY0" fmla="*/ 19182 h 38366"/>
              <a:gd name="connsiteX1" fmla="*/ 81421 w 81421"/>
              <a:gd name="connsiteY1" fmla="*/ 19182 h 38366"/>
            </a:gdLst>
            <a:ahLst/>
            <a:cxnLst>
              <a:cxn ang="0">
                <a:pos x="connsiteX0" y="connsiteY0"/>
              </a:cxn>
              <a:cxn ang="1">
                <a:pos x="connsiteX1" y="connsiteY1"/>
              </a:cxn>
            </a:cxnLst>
            <a:rect l="l" t="t" r="r" b="b"/>
            <a:pathLst>
              <a:path w="81421" h="38366">
                <a:moveTo>
                  <a:pt x="0" y="19182"/>
                </a:moveTo>
                <a:lnTo>
                  <a:pt x="81421" y="19182"/>
                </a:lnTo>
              </a:path>
            </a:pathLst>
          </a:custGeom>
          <a:ln w="50800">
            <a:solidFill>
              <a:srgbClr val="ED7D31">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Freeform 3"/>
          <p:cNvSpPr/>
          <p:nvPr/>
        </p:nvSpPr>
        <p:spPr>
          <a:xfrm>
            <a:off x="-57822888" y="-55623724"/>
            <a:ext cx="121048920" cy="121005864"/>
          </a:xfrm>
          <a:custGeom>
            <a:avLst/>
            <a:gdLst>
              <a:gd name="connsiteX0" fmla="*/ 60483752 w 121048920"/>
              <a:gd name="connsiteY0" fmla="*/ 60483752 h 121005864"/>
              <a:gd name="connsiteX1" fmla="*/ 60565172 w 121048920"/>
              <a:gd name="connsiteY1" fmla="*/ 60483752 h 121005864"/>
              <a:gd name="connsiteX2" fmla="*/ 60565172 w 121048920"/>
              <a:gd name="connsiteY2" fmla="*/ 60522116 h 121005864"/>
              <a:gd name="connsiteX3" fmla="*/ 60483752 w 121048920"/>
              <a:gd name="connsiteY3" fmla="*/ 60522116 h 121005864"/>
              <a:gd name="connsiteX4" fmla="*/ 60483752 w 121048920"/>
              <a:gd name="connsiteY4" fmla="*/ 60483752 h 12100586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048920" h="121005864">
                <a:moveTo>
                  <a:pt x="60483752" y="60483752"/>
                </a:moveTo>
                <a:lnTo>
                  <a:pt x="60565172" y="60483752"/>
                </a:lnTo>
                <a:lnTo>
                  <a:pt x="60565172" y="60522116"/>
                </a:lnTo>
                <a:lnTo>
                  <a:pt x="60483752" y="60522116"/>
                </a:lnTo>
                <a:lnTo>
                  <a:pt x="60483752" y="6048375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1685048" y="5255930"/>
            <a:ext cx="366396" cy="249380"/>
          </a:xfrm>
          <a:custGeom>
            <a:avLst/>
            <a:gdLst>
              <a:gd name="connsiteX0" fmla="*/ 0 w 366396"/>
              <a:gd name="connsiteY0" fmla="*/ 76733 h 249380"/>
              <a:gd name="connsiteX1" fmla="*/ 81421 w 366396"/>
              <a:gd name="connsiteY1" fmla="*/ 0 h 249380"/>
              <a:gd name="connsiteX2" fmla="*/ 284974 w 366396"/>
              <a:gd name="connsiteY2" fmla="*/ 0 h 249380"/>
              <a:gd name="connsiteX3" fmla="*/ 366396 w 366396"/>
              <a:gd name="connsiteY3" fmla="*/ 76733 h 249380"/>
              <a:gd name="connsiteX4" fmla="*/ 284974 w 366396"/>
              <a:gd name="connsiteY4" fmla="*/ 153465 h 249380"/>
              <a:gd name="connsiteX5" fmla="*/ 203553 w 366396"/>
              <a:gd name="connsiteY5" fmla="*/ 172649 h 249380"/>
              <a:gd name="connsiteX6" fmla="*/ 203553 w 366396"/>
              <a:gd name="connsiteY6" fmla="*/ 249380 h 249380"/>
              <a:gd name="connsiteX7" fmla="*/ 122132 w 366396"/>
              <a:gd name="connsiteY7" fmla="*/ 249380 h 249380"/>
              <a:gd name="connsiteX8" fmla="*/ 122132 w 366396"/>
              <a:gd name="connsiteY8" fmla="*/ 153465 h 249380"/>
              <a:gd name="connsiteX9" fmla="*/ 244264 w 366396"/>
              <a:gd name="connsiteY9" fmla="*/ 115100 h 249380"/>
              <a:gd name="connsiteX10" fmla="*/ 284974 w 366396"/>
              <a:gd name="connsiteY10" fmla="*/ 76733 h 249380"/>
              <a:gd name="connsiteX11" fmla="*/ 244264 w 366396"/>
              <a:gd name="connsiteY11" fmla="*/ 38366 h 249380"/>
              <a:gd name="connsiteX12" fmla="*/ 122132 w 366396"/>
              <a:gd name="connsiteY12" fmla="*/ 38366 h 249380"/>
              <a:gd name="connsiteX13" fmla="*/ 81421 w 366396"/>
              <a:gd name="connsiteY13" fmla="*/ 95916 h 249380"/>
              <a:gd name="connsiteX14" fmla="*/ 0 w 366396"/>
              <a:gd name="connsiteY14" fmla="*/ 76733 h 24938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366396" h="249380">
                <a:moveTo>
                  <a:pt x="0" y="76733"/>
                </a:moveTo>
                <a:lnTo>
                  <a:pt x="81421" y="0"/>
                </a:lnTo>
                <a:lnTo>
                  <a:pt x="284974" y="0"/>
                </a:lnTo>
                <a:lnTo>
                  <a:pt x="366396" y="76733"/>
                </a:lnTo>
                <a:lnTo>
                  <a:pt x="284974" y="153465"/>
                </a:lnTo>
                <a:lnTo>
                  <a:pt x="203553" y="172649"/>
                </a:lnTo>
                <a:lnTo>
                  <a:pt x="203553" y="249380"/>
                </a:lnTo>
                <a:lnTo>
                  <a:pt x="122132" y="249380"/>
                </a:lnTo>
                <a:lnTo>
                  <a:pt x="122132" y="153465"/>
                </a:lnTo>
                <a:lnTo>
                  <a:pt x="244264" y="115100"/>
                </a:lnTo>
                <a:lnTo>
                  <a:pt x="284974" y="76733"/>
                </a:lnTo>
                <a:lnTo>
                  <a:pt x="244264" y="38366"/>
                </a:lnTo>
                <a:lnTo>
                  <a:pt x="122132" y="38366"/>
                </a:lnTo>
                <a:lnTo>
                  <a:pt x="81421" y="95916"/>
                </a:lnTo>
                <a:lnTo>
                  <a:pt x="0" y="76733"/>
                </a:lnTo>
              </a:path>
            </a:pathLst>
          </a:custGeom>
          <a:solidFill>
            <a:srgbClr val="ED7D31">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57965380" y="-55474380"/>
            <a:ext cx="121333888" cy="121216888"/>
          </a:xfrm>
          <a:custGeom>
            <a:avLst/>
            <a:gdLst>
              <a:gd name="connsiteX0" fmla="*/ 60483752 w 121333888"/>
              <a:gd name="connsiteY0" fmla="*/ 60560484 h 121216888"/>
              <a:gd name="connsiteX1" fmla="*/ 60565172 w 121333888"/>
              <a:gd name="connsiteY1" fmla="*/ 60483752 h 121216888"/>
              <a:gd name="connsiteX2" fmla="*/ 60768724 w 121333888"/>
              <a:gd name="connsiteY2" fmla="*/ 60483752 h 121216888"/>
              <a:gd name="connsiteX3" fmla="*/ 60850148 w 121333888"/>
              <a:gd name="connsiteY3" fmla="*/ 60560484 h 121216888"/>
              <a:gd name="connsiteX4" fmla="*/ 60768724 w 121333888"/>
              <a:gd name="connsiteY4" fmla="*/ 60637216 h 121216888"/>
              <a:gd name="connsiteX5" fmla="*/ 60687304 w 121333888"/>
              <a:gd name="connsiteY5" fmla="*/ 60656404 h 121216888"/>
              <a:gd name="connsiteX6" fmla="*/ 60687304 w 121333888"/>
              <a:gd name="connsiteY6" fmla="*/ 60733132 h 121216888"/>
              <a:gd name="connsiteX7" fmla="*/ 60605884 w 121333888"/>
              <a:gd name="connsiteY7" fmla="*/ 60733132 h 121216888"/>
              <a:gd name="connsiteX8" fmla="*/ 60605884 w 121333888"/>
              <a:gd name="connsiteY8" fmla="*/ 60637216 h 121216888"/>
              <a:gd name="connsiteX9" fmla="*/ 60728016 w 121333888"/>
              <a:gd name="connsiteY9" fmla="*/ 60598848 h 121216888"/>
              <a:gd name="connsiteX10" fmla="*/ 60768724 w 121333888"/>
              <a:gd name="connsiteY10" fmla="*/ 60560484 h 121216888"/>
              <a:gd name="connsiteX11" fmla="*/ 60728016 w 121333888"/>
              <a:gd name="connsiteY11" fmla="*/ 60522116 h 121216888"/>
              <a:gd name="connsiteX12" fmla="*/ 60605884 w 121333888"/>
              <a:gd name="connsiteY12" fmla="*/ 60522116 h 121216888"/>
              <a:gd name="connsiteX13" fmla="*/ 60565172 w 121333888"/>
              <a:gd name="connsiteY13" fmla="*/ 60579668 h 121216888"/>
              <a:gd name="connsiteX14" fmla="*/ 60483752 w 121333888"/>
              <a:gd name="connsiteY14" fmla="*/ 60560484 h 12121688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121333888" h="121216888">
                <a:moveTo>
                  <a:pt x="60483752" y="60560484"/>
                </a:moveTo>
                <a:lnTo>
                  <a:pt x="60565172" y="60483752"/>
                </a:lnTo>
                <a:lnTo>
                  <a:pt x="60768724" y="60483752"/>
                </a:lnTo>
                <a:lnTo>
                  <a:pt x="60850148" y="60560484"/>
                </a:lnTo>
                <a:lnTo>
                  <a:pt x="60768724" y="60637216"/>
                </a:lnTo>
                <a:lnTo>
                  <a:pt x="60687304" y="60656404"/>
                </a:lnTo>
                <a:lnTo>
                  <a:pt x="60687304" y="60733132"/>
                </a:lnTo>
                <a:lnTo>
                  <a:pt x="60605884" y="60733132"/>
                </a:lnTo>
                <a:lnTo>
                  <a:pt x="60605884" y="60637216"/>
                </a:lnTo>
                <a:lnTo>
                  <a:pt x="60728016" y="60598848"/>
                </a:lnTo>
                <a:lnTo>
                  <a:pt x="60768724" y="60560484"/>
                </a:lnTo>
                <a:lnTo>
                  <a:pt x="60728016" y="60522116"/>
                </a:lnTo>
                <a:lnTo>
                  <a:pt x="60605884" y="60522116"/>
                </a:lnTo>
                <a:lnTo>
                  <a:pt x="60565172" y="60579668"/>
                </a:lnTo>
                <a:lnTo>
                  <a:pt x="60483752" y="60560484"/>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3"/>
          <p:cNvSpPr/>
          <p:nvPr/>
        </p:nvSpPr>
        <p:spPr>
          <a:xfrm>
            <a:off x="1807181" y="5543679"/>
            <a:ext cx="81421" cy="38365"/>
          </a:xfrm>
          <a:custGeom>
            <a:avLst/>
            <a:gdLst>
              <a:gd name="connsiteX0" fmla="*/ 0 w 81421"/>
              <a:gd name="connsiteY0" fmla="*/ 19182 h 38365"/>
              <a:gd name="connsiteX1" fmla="*/ 81421 w 81421"/>
              <a:gd name="connsiteY1" fmla="*/ 19182 h 38365"/>
            </a:gdLst>
            <a:ahLst/>
            <a:cxnLst>
              <a:cxn ang="0">
                <a:pos x="connsiteX0" y="connsiteY0"/>
              </a:cxn>
              <a:cxn ang="1">
                <a:pos x="connsiteX1" y="connsiteY1"/>
              </a:cxn>
            </a:cxnLst>
            <a:rect l="l" t="t" r="r" b="b"/>
            <a:pathLst>
              <a:path w="81421" h="38365">
                <a:moveTo>
                  <a:pt x="0" y="19182"/>
                </a:moveTo>
                <a:lnTo>
                  <a:pt x="81421" y="19182"/>
                </a:lnTo>
              </a:path>
            </a:pathLst>
          </a:custGeom>
          <a:ln w="50800">
            <a:solidFill>
              <a:srgbClr val="ED7D31">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Freeform 3"/>
          <p:cNvSpPr/>
          <p:nvPr/>
        </p:nvSpPr>
        <p:spPr>
          <a:xfrm>
            <a:off x="-57843248" y="-55186628"/>
            <a:ext cx="121048920" cy="121005864"/>
          </a:xfrm>
          <a:custGeom>
            <a:avLst/>
            <a:gdLst>
              <a:gd name="connsiteX0" fmla="*/ 60483752 w 121048920"/>
              <a:gd name="connsiteY0" fmla="*/ 60483752 h 121005864"/>
              <a:gd name="connsiteX1" fmla="*/ 60565172 w 121048920"/>
              <a:gd name="connsiteY1" fmla="*/ 60483752 h 121005864"/>
              <a:gd name="connsiteX2" fmla="*/ 60565172 w 121048920"/>
              <a:gd name="connsiteY2" fmla="*/ 60522112 h 121005864"/>
              <a:gd name="connsiteX3" fmla="*/ 60483752 w 121048920"/>
              <a:gd name="connsiteY3" fmla="*/ 60522112 h 121005864"/>
              <a:gd name="connsiteX4" fmla="*/ 60483752 w 121048920"/>
              <a:gd name="connsiteY4" fmla="*/ 60483752 h 12100586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048920" h="121005864">
                <a:moveTo>
                  <a:pt x="60483752" y="60483752"/>
                </a:moveTo>
                <a:lnTo>
                  <a:pt x="60565172" y="60483752"/>
                </a:lnTo>
                <a:lnTo>
                  <a:pt x="60565172" y="60522112"/>
                </a:lnTo>
                <a:lnTo>
                  <a:pt x="60483752" y="60522112"/>
                </a:lnTo>
                <a:lnTo>
                  <a:pt x="60483752" y="6048375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1685048" y="5667144"/>
            <a:ext cx="366396" cy="249380"/>
          </a:xfrm>
          <a:custGeom>
            <a:avLst/>
            <a:gdLst>
              <a:gd name="connsiteX0" fmla="*/ 0 w 366396"/>
              <a:gd name="connsiteY0" fmla="*/ 76732 h 249380"/>
              <a:gd name="connsiteX1" fmla="*/ 81421 w 366396"/>
              <a:gd name="connsiteY1" fmla="*/ 0 h 249380"/>
              <a:gd name="connsiteX2" fmla="*/ 284974 w 366396"/>
              <a:gd name="connsiteY2" fmla="*/ 0 h 249380"/>
              <a:gd name="connsiteX3" fmla="*/ 366396 w 366396"/>
              <a:gd name="connsiteY3" fmla="*/ 76732 h 249380"/>
              <a:gd name="connsiteX4" fmla="*/ 284974 w 366396"/>
              <a:gd name="connsiteY4" fmla="*/ 153465 h 249380"/>
              <a:gd name="connsiteX5" fmla="*/ 203553 w 366396"/>
              <a:gd name="connsiteY5" fmla="*/ 172648 h 249380"/>
              <a:gd name="connsiteX6" fmla="*/ 203553 w 366396"/>
              <a:gd name="connsiteY6" fmla="*/ 249380 h 249380"/>
              <a:gd name="connsiteX7" fmla="*/ 122132 w 366396"/>
              <a:gd name="connsiteY7" fmla="*/ 249380 h 249380"/>
              <a:gd name="connsiteX8" fmla="*/ 122132 w 366396"/>
              <a:gd name="connsiteY8" fmla="*/ 153465 h 249380"/>
              <a:gd name="connsiteX9" fmla="*/ 244264 w 366396"/>
              <a:gd name="connsiteY9" fmla="*/ 115099 h 249380"/>
              <a:gd name="connsiteX10" fmla="*/ 284974 w 366396"/>
              <a:gd name="connsiteY10" fmla="*/ 76732 h 249380"/>
              <a:gd name="connsiteX11" fmla="*/ 244264 w 366396"/>
              <a:gd name="connsiteY11" fmla="*/ 38367 h 249380"/>
              <a:gd name="connsiteX12" fmla="*/ 122132 w 366396"/>
              <a:gd name="connsiteY12" fmla="*/ 38367 h 249380"/>
              <a:gd name="connsiteX13" fmla="*/ 81421 w 366396"/>
              <a:gd name="connsiteY13" fmla="*/ 95915 h 249380"/>
              <a:gd name="connsiteX14" fmla="*/ 0 w 366396"/>
              <a:gd name="connsiteY14" fmla="*/ 76732 h 24938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366396" h="249380">
                <a:moveTo>
                  <a:pt x="0" y="76732"/>
                </a:moveTo>
                <a:lnTo>
                  <a:pt x="81421" y="0"/>
                </a:lnTo>
                <a:lnTo>
                  <a:pt x="284974" y="0"/>
                </a:lnTo>
                <a:lnTo>
                  <a:pt x="366396" y="76732"/>
                </a:lnTo>
                <a:lnTo>
                  <a:pt x="284974" y="153465"/>
                </a:lnTo>
                <a:lnTo>
                  <a:pt x="203553" y="172648"/>
                </a:lnTo>
                <a:lnTo>
                  <a:pt x="203553" y="249380"/>
                </a:lnTo>
                <a:lnTo>
                  <a:pt x="122132" y="249380"/>
                </a:lnTo>
                <a:lnTo>
                  <a:pt x="122132" y="153465"/>
                </a:lnTo>
                <a:lnTo>
                  <a:pt x="244264" y="115099"/>
                </a:lnTo>
                <a:lnTo>
                  <a:pt x="284974" y="76732"/>
                </a:lnTo>
                <a:lnTo>
                  <a:pt x="244264" y="38367"/>
                </a:lnTo>
                <a:lnTo>
                  <a:pt x="122132" y="38367"/>
                </a:lnTo>
                <a:lnTo>
                  <a:pt x="81421" y="95915"/>
                </a:lnTo>
                <a:lnTo>
                  <a:pt x="0" y="76732"/>
                </a:lnTo>
              </a:path>
            </a:pathLst>
          </a:custGeom>
          <a:solidFill>
            <a:srgbClr val="ED7D31">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reeform 3"/>
          <p:cNvSpPr/>
          <p:nvPr/>
        </p:nvSpPr>
        <p:spPr>
          <a:xfrm>
            <a:off x="-57965380" y="-55063164"/>
            <a:ext cx="121333888" cy="121216888"/>
          </a:xfrm>
          <a:custGeom>
            <a:avLst/>
            <a:gdLst>
              <a:gd name="connsiteX0" fmla="*/ 60483752 w 121333888"/>
              <a:gd name="connsiteY0" fmla="*/ 60560484 h 121216888"/>
              <a:gd name="connsiteX1" fmla="*/ 60565172 w 121333888"/>
              <a:gd name="connsiteY1" fmla="*/ 60483752 h 121216888"/>
              <a:gd name="connsiteX2" fmla="*/ 60768724 w 121333888"/>
              <a:gd name="connsiteY2" fmla="*/ 60483752 h 121216888"/>
              <a:gd name="connsiteX3" fmla="*/ 60850148 w 121333888"/>
              <a:gd name="connsiteY3" fmla="*/ 60560484 h 121216888"/>
              <a:gd name="connsiteX4" fmla="*/ 60768724 w 121333888"/>
              <a:gd name="connsiteY4" fmla="*/ 60637212 h 121216888"/>
              <a:gd name="connsiteX5" fmla="*/ 60687304 w 121333888"/>
              <a:gd name="connsiteY5" fmla="*/ 60656396 h 121216888"/>
              <a:gd name="connsiteX6" fmla="*/ 60687304 w 121333888"/>
              <a:gd name="connsiteY6" fmla="*/ 60733132 h 121216888"/>
              <a:gd name="connsiteX7" fmla="*/ 60605884 w 121333888"/>
              <a:gd name="connsiteY7" fmla="*/ 60733132 h 121216888"/>
              <a:gd name="connsiteX8" fmla="*/ 60605884 w 121333888"/>
              <a:gd name="connsiteY8" fmla="*/ 60637212 h 121216888"/>
              <a:gd name="connsiteX9" fmla="*/ 60728016 w 121333888"/>
              <a:gd name="connsiteY9" fmla="*/ 60598844 h 121216888"/>
              <a:gd name="connsiteX10" fmla="*/ 60768724 w 121333888"/>
              <a:gd name="connsiteY10" fmla="*/ 60560484 h 121216888"/>
              <a:gd name="connsiteX11" fmla="*/ 60728016 w 121333888"/>
              <a:gd name="connsiteY11" fmla="*/ 60522116 h 121216888"/>
              <a:gd name="connsiteX12" fmla="*/ 60605884 w 121333888"/>
              <a:gd name="connsiteY12" fmla="*/ 60522116 h 121216888"/>
              <a:gd name="connsiteX13" fmla="*/ 60565172 w 121333888"/>
              <a:gd name="connsiteY13" fmla="*/ 60579664 h 121216888"/>
              <a:gd name="connsiteX14" fmla="*/ 60483752 w 121333888"/>
              <a:gd name="connsiteY14" fmla="*/ 60560484 h 12121688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121333888" h="121216888">
                <a:moveTo>
                  <a:pt x="60483752" y="60560484"/>
                </a:moveTo>
                <a:lnTo>
                  <a:pt x="60565172" y="60483752"/>
                </a:lnTo>
                <a:lnTo>
                  <a:pt x="60768724" y="60483752"/>
                </a:lnTo>
                <a:lnTo>
                  <a:pt x="60850148" y="60560484"/>
                </a:lnTo>
                <a:lnTo>
                  <a:pt x="60768724" y="60637212"/>
                </a:lnTo>
                <a:lnTo>
                  <a:pt x="60687304" y="60656396"/>
                </a:lnTo>
                <a:lnTo>
                  <a:pt x="60687304" y="60733132"/>
                </a:lnTo>
                <a:lnTo>
                  <a:pt x="60605884" y="60733132"/>
                </a:lnTo>
                <a:lnTo>
                  <a:pt x="60605884" y="60637212"/>
                </a:lnTo>
                <a:lnTo>
                  <a:pt x="60728016" y="60598844"/>
                </a:lnTo>
                <a:lnTo>
                  <a:pt x="60768724" y="60560484"/>
                </a:lnTo>
                <a:lnTo>
                  <a:pt x="60728016" y="60522116"/>
                </a:lnTo>
                <a:lnTo>
                  <a:pt x="60605884" y="60522116"/>
                </a:lnTo>
                <a:lnTo>
                  <a:pt x="60565172" y="60579664"/>
                </a:lnTo>
                <a:lnTo>
                  <a:pt x="60483752" y="60560484"/>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3"/>
          <p:cNvSpPr/>
          <p:nvPr/>
        </p:nvSpPr>
        <p:spPr>
          <a:xfrm>
            <a:off x="1807181" y="5954894"/>
            <a:ext cx="81421" cy="38365"/>
          </a:xfrm>
          <a:custGeom>
            <a:avLst/>
            <a:gdLst>
              <a:gd name="connsiteX0" fmla="*/ 0 w 81421"/>
              <a:gd name="connsiteY0" fmla="*/ 19182 h 38365"/>
              <a:gd name="connsiteX1" fmla="*/ 81421 w 81421"/>
              <a:gd name="connsiteY1" fmla="*/ 19182 h 38365"/>
            </a:gdLst>
            <a:ahLst/>
            <a:cxnLst>
              <a:cxn ang="0">
                <a:pos x="connsiteX0" y="connsiteY0"/>
              </a:cxn>
              <a:cxn ang="1">
                <a:pos x="connsiteX1" y="connsiteY1"/>
              </a:cxn>
            </a:cxnLst>
            <a:rect l="l" t="t" r="r" b="b"/>
            <a:pathLst>
              <a:path w="81421" h="38365">
                <a:moveTo>
                  <a:pt x="0" y="19182"/>
                </a:moveTo>
                <a:lnTo>
                  <a:pt x="81421" y="19182"/>
                </a:lnTo>
              </a:path>
            </a:pathLst>
          </a:custGeom>
          <a:ln w="50800">
            <a:solidFill>
              <a:srgbClr val="ED7D31">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Freeform 3"/>
          <p:cNvSpPr/>
          <p:nvPr/>
        </p:nvSpPr>
        <p:spPr>
          <a:xfrm>
            <a:off x="-57843248" y="-54775416"/>
            <a:ext cx="121048920" cy="121005864"/>
          </a:xfrm>
          <a:custGeom>
            <a:avLst/>
            <a:gdLst>
              <a:gd name="connsiteX0" fmla="*/ 60483752 w 121048920"/>
              <a:gd name="connsiteY0" fmla="*/ 60483752 h 121005864"/>
              <a:gd name="connsiteX1" fmla="*/ 60565172 w 121048920"/>
              <a:gd name="connsiteY1" fmla="*/ 60483752 h 121005864"/>
              <a:gd name="connsiteX2" fmla="*/ 60565172 w 121048920"/>
              <a:gd name="connsiteY2" fmla="*/ 60522116 h 121005864"/>
              <a:gd name="connsiteX3" fmla="*/ 60483752 w 121048920"/>
              <a:gd name="connsiteY3" fmla="*/ 60522116 h 121005864"/>
              <a:gd name="connsiteX4" fmla="*/ 60483752 w 121048920"/>
              <a:gd name="connsiteY4" fmla="*/ 60483752 h 12100586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048920" h="121005864">
                <a:moveTo>
                  <a:pt x="60483752" y="60483752"/>
                </a:moveTo>
                <a:lnTo>
                  <a:pt x="60565172" y="60483752"/>
                </a:lnTo>
                <a:lnTo>
                  <a:pt x="60565172" y="60522116"/>
                </a:lnTo>
                <a:lnTo>
                  <a:pt x="60483752" y="60522116"/>
                </a:lnTo>
                <a:lnTo>
                  <a:pt x="60483752" y="6048375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3"/>
          <p:cNvSpPr/>
          <p:nvPr/>
        </p:nvSpPr>
        <p:spPr>
          <a:xfrm>
            <a:off x="1687626" y="2232697"/>
            <a:ext cx="444500" cy="320040"/>
          </a:xfrm>
          <a:custGeom>
            <a:avLst/>
            <a:gdLst>
              <a:gd name="connsiteX0" fmla="*/ 138010 w 444500"/>
              <a:gd name="connsiteY0" fmla="*/ 320040 h 320040"/>
              <a:gd name="connsiteX1" fmla="*/ 444500 w 444500"/>
              <a:gd name="connsiteY1" fmla="*/ 0 h 320040"/>
              <a:gd name="connsiteX2" fmla="*/ 154141 w 444500"/>
              <a:gd name="connsiteY2" fmla="*/ 208915 h 320040"/>
              <a:gd name="connsiteX3" fmla="*/ 0 w 444500"/>
              <a:gd name="connsiteY3" fmla="*/ 113347 h 320040"/>
              <a:gd name="connsiteX4" fmla="*/ 138010 w 4445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44500" h="320040">
                <a:moveTo>
                  <a:pt x="138010" y="320040"/>
                </a:moveTo>
                <a:lnTo>
                  <a:pt x="444500" y="0"/>
                </a:lnTo>
                <a:lnTo>
                  <a:pt x="154141" y="208915"/>
                </a:lnTo>
                <a:lnTo>
                  <a:pt x="0" y="113347"/>
                </a:lnTo>
                <a:lnTo>
                  <a:pt x="138010" y="320040"/>
                </a:lnTo>
              </a:path>
            </a:pathLst>
          </a:custGeom>
          <a:solidFill>
            <a:srgbClr val="00800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Freeform 3"/>
          <p:cNvSpPr/>
          <p:nvPr/>
        </p:nvSpPr>
        <p:spPr>
          <a:xfrm>
            <a:off x="-57962800" y="-58497612"/>
            <a:ext cx="121412000" cy="121287544"/>
          </a:xfrm>
          <a:custGeom>
            <a:avLst/>
            <a:gdLst>
              <a:gd name="connsiteX0" fmla="*/ 60621756 w 121412000"/>
              <a:gd name="connsiteY0" fmla="*/ 60803792 h 121287544"/>
              <a:gd name="connsiteX1" fmla="*/ 60928248 w 121412000"/>
              <a:gd name="connsiteY1" fmla="*/ 60483752 h 121287544"/>
              <a:gd name="connsiteX2" fmla="*/ 60637892 w 121412000"/>
              <a:gd name="connsiteY2" fmla="*/ 60692668 h 121287544"/>
              <a:gd name="connsiteX3" fmla="*/ 60483752 w 121412000"/>
              <a:gd name="connsiteY3" fmla="*/ 60597100 h 121287544"/>
              <a:gd name="connsiteX4" fmla="*/ 60621756 w 121412000"/>
              <a:gd name="connsiteY4" fmla="*/ 60803792 h 12128754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412000" h="121287544">
                <a:moveTo>
                  <a:pt x="60621756" y="60803792"/>
                </a:moveTo>
                <a:lnTo>
                  <a:pt x="60928248" y="60483752"/>
                </a:lnTo>
                <a:lnTo>
                  <a:pt x="60637892" y="60692668"/>
                </a:lnTo>
                <a:lnTo>
                  <a:pt x="60483752" y="60597100"/>
                </a:lnTo>
                <a:lnTo>
                  <a:pt x="60621756" y="6080379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Freeform 3"/>
          <p:cNvSpPr/>
          <p:nvPr/>
        </p:nvSpPr>
        <p:spPr>
          <a:xfrm>
            <a:off x="1666351" y="3138701"/>
            <a:ext cx="444500" cy="320040"/>
          </a:xfrm>
          <a:custGeom>
            <a:avLst/>
            <a:gdLst>
              <a:gd name="connsiteX0" fmla="*/ 138009 w 444500"/>
              <a:gd name="connsiteY0" fmla="*/ 320040 h 320040"/>
              <a:gd name="connsiteX1" fmla="*/ 444500 w 444500"/>
              <a:gd name="connsiteY1" fmla="*/ 0 h 320040"/>
              <a:gd name="connsiteX2" fmla="*/ 154141 w 444500"/>
              <a:gd name="connsiteY2" fmla="*/ 208915 h 320040"/>
              <a:gd name="connsiteX3" fmla="*/ 0 w 444500"/>
              <a:gd name="connsiteY3" fmla="*/ 113348 h 320040"/>
              <a:gd name="connsiteX4" fmla="*/ 138009 w 444500"/>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44500" h="320040">
                <a:moveTo>
                  <a:pt x="138009" y="320040"/>
                </a:moveTo>
                <a:lnTo>
                  <a:pt x="444500" y="0"/>
                </a:lnTo>
                <a:lnTo>
                  <a:pt x="154141" y="208915"/>
                </a:lnTo>
                <a:lnTo>
                  <a:pt x="0" y="113348"/>
                </a:lnTo>
                <a:lnTo>
                  <a:pt x="138009" y="320040"/>
                </a:lnTo>
              </a:path>
            </a:pathLst>
          </a:custGeom>
          <a:solidFill>
            <a:srgbClr val="00800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Freeform 3"/>
          <p:cNvSpPr/>
          <p:nvPr/>
        </p:nvSpPr>
        <p:spPr>
          <a:xfrm>
            <a:off x="-57984076" y="-57591612"/>
            <a:ext cx="121412000" cy="121287544"/>
          </a:xfrm>
          <a:custGeom>
            <a:avLst/>
            <a:gdLst>
              <a:gd name="connsiteX0" fmla="*/ 60621764 w 121412000"/>
              <a:gd name="connsiteY0" fmla="*/ 60803792 h 121287544"/>
              <a:gd name="connsiteX1" fmla="*/ 60928248 w 121412000"/>
              <a:gd name="connsiteY1" fmla="*/ 60483752 h 121287544"/>
              <a:gd name="connsiteX2" fmla="*/ 60637892 w 121412000"/>
              <a:gd name="connsiteY2" fmla="*/ 60692668 h 121287544"/>
              <a:gd name="connsiteX3" fmla="*/ 60483752 w 121412000"/>
              <a:gd name="connsiteY3" fmla="*/ 60597100 h 121287544"/>
              <a:gd name="connsiteX4" fmla="*/ 60621764 w 121412000"/>
              <a:gd name="connsiteY4" fmla="*/ 60803792 h 12128754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412000" h="121287544">
                <a:moveTo>
                  <a:pt x="60621764" y="60803792"/>
                </a:moveTo>
                <a:lnTo>
                  <a:pt x="60928248" y="60483752"/>
                </a:lnTo>
                <a:lnTo>
                  <a:pt x="60637892" y="60692668"/>
                </a:lnTo>
                <a:lnTo>
                  <a:pt x="60483752" y="60597100"/>
                </a:lnTo>
                <a:lnTo>
                  <a:pt x="60621764" y="6080379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Freeform 3"/>
          <p:cNvSpPr/>
          <p:nvPr/>
        </p:nvSpPr>
        <p:spPr>
          <a:xfrm>
            <a:off x="1661872" y="4001825"/>
            <a:ext cx="444499" cy="320040"/>
          </a:xfrm>
          <a:custGeom>
            <a:avLst/>
            <a:gdLst>
              <a:gd name="connsiteX0" fmla="*/ 138009 w 444499"/>
              <a:gd name="connsiteY0" fmla="*/ 320040 h 320040"/>
              <a:gd name="connsiteX1" fmla="*/ 444499 w 444499"/>
              <a:gd name="connsiteY1" fmla="*/ 0 h 320040"/>
              <a:gd name="connsiteX2" fmla="*/ 154141 w 444499"/>
              <a:gd name="connsiteY2" fmla="*/ 208915 h 320040"/>
              <a:gd name="connsiteX3" fmla="*/ 0 w 444499"/>
              <a:gd name="connsiteY3" fmla="*/ 113347 h 320040"/>
              <a:gd name="connsiteX4" fmla="*/ 138009 w 444499"/>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44499" h="320040">
                <a:moveTo>
                  <a:pt x="138009" y="320040"/>
                </a:moveTo>
                <a:lnTo>
                  <a:pt x="444499" y="0"/>
                </a:lnTo>
                <a:lnTo>
                  <a:pt x="154141" y="208915"/>
                </a:lnTo>
                <a:lnTo>
                  <a:pt x="0" y="113347"/>
                </a:lnTo>
                <a:lnTo>
                  <a:pt x="138009" y="320040"/>
                </a:lnTo>
              </a:path>
            </a:pathLst>
          </a:custGeom>
          <a:solidFill>
            <a:srgbClr val="00800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3"/>
          <p:cNvSpPr/>
          <p:nvPr/>
        </p:nvSpPr>
        <p:spPr>
          <a:xfrm>
            <a:off x="-57988552" y="-56728480"/>
            <a:ext cx="121412000" cy="121287544"/>
          </a:xfrm>
          <a:custGeom>
            <a:avLst/>
            <a:gdLst>
              <a:gd name="connsiteX0" fmla="*/ 60621756 w 121412000"/>
              <a:gd name="connsiteY0" fmla="*/ 60803788 h 121287544"/>
              <a:gd name="connsiteX1" fmla="*/ 60928248 w 121412000"/>
              <a:gd name="connsiteY1" fmla="*/ 60483752 h 121287544"/>
              <a:gd name="connsiteX2" fmla="*/ 60637892 w 121412000"/>
              <a:gd name="connsiteY2" fmla="*/ 60692660 h 121287544"/>
              <a:gd name="connsiteX3" fmla="*/ 60483752 w 121412000"/>
              <a:gd name="connsiteY3" fmla="*/ 60597096 h 121287544"/>
              <a:gd name="connsiteX4" fmla="*/ 60621756 w 121412000"/>
              <a:gd name="connsiteY4" fmla="*/ 60803788 h 12128754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412000" h="121287544">
                <a:moveTo>
                  <a:pt x="60621756" y="60803788"/>
                </a:moveTo>
                <a:lnTo>
                  <a:pt x="60928248" y="60483752"/>
                </a:lnTo>
                <a:lnTo>
                  <a:pt x="60637892" y="60692660"/>
                </a:lnTo>
                <a:lnTo>
                  <a:pt x="60483752" y="60597096"/>
                </a:lnTo>
                <a:lnTo>
                  <a:pt x="60621756" y="60803788"/>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Freeform 3"/>
          <p:cNvSpPr/>
          <p:nvPr/>
        </p:nvSpPr>
        <p:spPr>
          <a:xfrm>
            <a:off x="1661872" y="4402275"/>
            <a:ext cx="444499" cy="320040"/>
          </a:xfrm>
          <a:custGeom>
            <a:avLst/>
            <a:gdLst>
              <a:gd name="connsiteX0" fmla="*/ 138009 w 444499"/>
              <a:gd name="connsiteY0" fmla="*/ 320040 h 320040"/>
              <a:gd name="connsiteX1" fmla="*/ 444499 w 444499"/>
              <a:gd name="connsiteY1" fmla="*/ 0 h 320040"/>
              <a:gd name="connsiteX2" fmla="*/ 154141 w 444499"/>
              <a:gd name="connsiteY2" fmla="*/ 208915 h 320040"/>
              <a:gd name="connsiteX3" fmla="*/ 0 w 444499"/>
              <a:gd name="connsiteY3" fmla="*/ 113347 h 320040"/>
              <a:gd name="connsiteX4" fmla="*/ 138009 w 444499"/>
              <a:gd name="connsiteY4" fmla="*/ 320040 h 320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44499" h="320040">
                <a:moveTo>
                  <a:pt x="138009" y="320040"/>
                </a:moveTo>
                <a:lnTo>
                  <a:pt x="444499" y="0"/>
                </a:lnTo>
                <a:lnTo>
                  <a:pt x="154141" y="208915"/>
                </a:lnTo>
                <a:lnTo>
                  <a:pt x="0" y="113347"/>
                </a:lnTo>
                <a:lnTo>
                  <a:pt x="138009" y="320040"/>
                </a:lnTo>
              </a:path>
            </a:pathLst>
          </a:custGeom>
          <a:solidFill>
            <a:srgbClr val="00800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Freeform 3"/>
          <p:cNvSpPr/>
          <p:nvPr/>
        </p:nvSpPr>
        <p:spPr>
          <a:xfrm>
            <a:off x="-57988552" y="-56328036"/>
            <a:ext cx="121412000" cy="121287544"/>
          </a:xfrm>
          <a:custGeom>
            <a:avLst/>
            <a:gdLst>
              <a:gd name="connsiteX0" fmla="*/ 60621756 w 121412000"/>
              <a:gd name="connsiteY0" fmla="*/ 60803792 h 121287544"/>
              <a:gd name="connsiteX1" fmla="*/ 60928248 w 121412000"/>
              <a:gd name="connsiteY1" fmla="*/ 60483752 h 121287544"/>
              <a:gd name="connsiteX2" fmla="*/ 60637892 w 121412000"/>
              <a:gd name="connsiteY2" fmla="*/ 60692668 h 121287544"/>
              <a:gd name="connsiteX3" fmla="*/ 60483752 w 121412000"/>
              <a:gd name="connsiteY3" fmla="*/ 60597096 h 121287544"/>
              <a:gd name="connsiteX4" fmla="*/ 60621756 w 121412000"/>
              <a:gd name="connsiteY4" fmla="*/ 60803792 h 12128754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412000" h="121287544">
                <a:moveTo>
                  <a:pt x="60621756" y="60803792"/>
                </a:moveTo>
                <a:lnTo>
                  <a:pt x="60928248" y="60483752"/>
                </a:lnTo>
                <a:lnTo>
                  <a:pt x="60637892" y="60692668"/>
                </a:lnTo>
                <a:lnTo>
                  <a:pt x="60483752" y="60597096"/>
                </a:lnTo>
                <a:lnTo>
                  <a:pt x="60621756" y="6080379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Freeform 3"/>
          <p:cNvSpPr/>
          <p:nvPr/>
        </p:nvSpPr>
        <p:spPr>
          <a:xfrm>
            <a:off x="1685048" y="3588213"/>
            <a:ext cx="366396" cy="249380"/>
          </a:xfrm>
          <a:custGeom>
            <a:avLst/>
            <a:gdLst>
              <a:gd name="connsiteX0" fmla="*/ 0 w 366396"/>
              <a:gd name="connsiteY0" fmla="*/ 76733 h 249380"/>
              <a:gd name="connsiteX1" fmla="*/ 81421 w 366396"/>
              <a:gd name="connsiteY1" fmla="*/ 0 h 249380"/>
              <a:gd name="connsiteX2" fmla="*/ 284974 w 366396"/>
              <a:gd name="connsiteY2" fmla="*/ 0 h 249380"/>
              <a:gd name="connsiteX3" fmla="*/ 366396 w 366396"/>
              <a:gd name="connsiteY3" fmla="*/ 76733 h 249380"/>
              <a:gd name="connsiteX4" fmla="*/ 284974 w 366396"/>
              <a:gd name="connsiteY4" fmla="*/ 153465 h 249380"/>
              <a:gd name="connsiteX5" fmla="*/ 203553 w 366396"/>
              <a:gd name="connsiteY5" fmla="*/ 172648 h 249380"/>
              <a:gd name="connsiteX6" fmla="*/ 203553 w 366396"/>
              <a:gd name="connsiteY6" fmla="*/ 249380 h 249380"/>
              <a:gd name="connsiteX7" fmla="*/ 122132 w 366396"/>
              <a:gd name="connsiteY7" fmla="*/ 249380 h 249380"/>
              <a:gd name="connsiteX8" fmla="*/ 122132 w 366396"/>
              <a:gd name="connsiteY8" fmla="*/ 153465 h 249380"/>
              <a:gd name="connsiteX9" fmla="*/ 244264 w 366396"/>
              <a:gd name="connsiteY9" fmla="*/ 115099 h 249380"/>
              <a:gd name="connsiteX10" fmla="*/ 284974 w 366396"/>
              <a:gd name="connsiteY10" fmla="*/ 76733 h 249380"/>
              <a:gd name="connsiteX11" fmla="*/ 244264 w 366396"/>
              <a:gd name="connsiteY11" fmla="*/ 38366 h 249380"/>
              <a:gd name="connsiteX12" fmla="*/ 122132 w 366396"/>
              <a:gd name="connsiteY12" fmla="*/ 38366 h 249380"/>
              <a:gd name="connsiteX13" fmla="*/ 81421 w 366396"/>
              <a:gd name="connsiteY13" fmla="*/ 95916 h 249380"/>
              <a:gd name="connsiteX14" fmla="*/ 0 w 366396"/>
              <a:gd name="connsiteY14" fmla="*/ 76733 h 24938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366396" h="249380">
                <a:moveTo>
                  <a:pt x="0" y="76733"/>
                </a:moveTo>
                <a:lnTo>
                  <a:pt x="81421" y="0"/>
                </a:lnTo>
                <a:lnTo>
                  <a:pt x="284974" y="0"/>
                </a:lnTo>
                <a:lnTo>
                  <a:pt x="366396" y="76733"/>
                </a:lnTo>
                <a:lnTo>
                  <a:pt x="284974" y="153465"/>
                </a:lnTo>
                <a:lnTo>
                  <a:pt x="203553" y="172648"/>
                </a:lnTo>
                <a:lnTo>
                  <a:pt x="203553" y="249380"/>
                </a:lnTo>
                <a:lnTo>
                  <a:pt x="122132" y="249380"/>
                </a:lnTo>
                <a:lnTo>
                  <a:pt x="122132" y="153465"/>
                </a:lnTo>
                <a:lnTo>
                  <a:pt x="244264" y="115099"/>
                </a:lnTo>
                <a:lnTo>
                  <a:pt x="284974" y="76733"/>
                </a:lnTo>
                <a:lnTo>
                  <a:pt x="244264" y="38366"/>
                </a:lnTo>
                <a:lnTo>
                  <a:pt x="122132" y="38366"/>
                </a:lnTo>
                <a:lnTo>
                  <a:pt x="81421" y="95916"/>
                </a:lnTo>
                <a:lnTo>
                  <a:pt x="0" y="76733"/>
                </a:lnTo>
              </a:path>
            </a:pathLst>
          </a:custGeom>
          <a:solidFill>
            <a:srgbClr val="ED7D31">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3"/>
          <p:cNvSpPr/>
          <p:nvPr/>
        </p:nvSpPr>
        <p:spPr>
          <a:xfrm>
            <a:off x="-57965380" y="-57142100"/>
            <a:ext cx="121333888" cy="121216888"/>
          </a:xfrm>
          <a:custGeom>
            <a:avLst/>
            <a:gdLst>
              <a:gd name="connsiteX0" fmla="*/ 60483752 w 121333888"/>
              <a:gd name="connsiteY0" fmla="*/ 60560484 h 121216888"/>
              <a:gd name="connsiteX1" fmla="*/ 60565172 w 121333888"/>
              <a:gd name="connsiteY1" fmla="*/ 60483752 h 121216888"/>
              <a:gd name="connsiteX2" fmla="*/ 60768724 w 121333888"/>
              <a:gd name="connsiteY2" fmla="*/ 60483752 h 121216888"/>
              <a:gd name="connsiteX3" fmla="*/ 60850148 w 121333888"/>
              <a:gd name="connsiteY3" fmla="*/ 60560484 h 121216888"/>
              <a:gd name="connsiteX4" fmla="*/ 60768724 w 121333888"/>
              <a:gd name="connsiteY4" fmla="*/ 60637216 h 121216888"/>
              <a:gd name="connsiteX5" fmla="*/ 60687304 w 121333888"/>
              <a:gd name="connsiteY5" fmla="*/ 60656404 h 121216888"/>
              <a:gd name="connsiteX6" fmla="*/ 60687304 w 121333888"/>
              <a:gd name="connsiteY6" fmla="*/ 60733136 h 121216888"/>
              <a:gd name="connsiteX7" fmla="*/ 60605884 w 121333888"/>
              <a:gd name="connsiteY7" fmla="*/ 60733136 h 121216888"/>
              <a:gd name="connsiteX8" fmla="*/ 60605884 w 121333888"/>
              <a:gd name="connsiteY8" fmla="*/ 60637216 h 121216888"/>
              <a:gd name="connsiteX9" fmla="*/ 60728016 w 121333888"/>
              <a:gd name="connsiteY9" fmla="*/ 60598848 h 121216888"/>
              <a:gd name="connsiteX10" fmla="*/ 60768724 w 121333888"/>
              <a:gd name="connsiteY10" fmla="*/ 60560484 h 121216888"/>
              <a:gd name="connsiteX11" fmla="*/ 60728016 w 121333888"/>
              <a:gd name="connsiteY11" fmla="*/ 60522116 h 121216888"/>
              <a:gd name="connsiteX12" fmla="*/ 60605884 w 121333888"/>
              <a:gd name="connsiteY12" fmla="*/ 60522116 h 121216888"/>
              <a:gd name="connsiteX13" fmla="*/ 60565172 w 121333888"/>
              <a:gd name="connsiteY13" fmla="*/ 60579668 h 121216888"/>
              <a:gd name="connsiteX14" fmla="*/ 60483752 w 121333888"/>
              <a:gd name="connsiteY14" fmla="*/ 60560484 h 12121688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121333888" h="121216888">
                <a:moveTo>
                  <a:pt x="60483752" y="60560484"/>
                </a:moveTo>
                <a:lnTo>
                  <a:pt x="60565172" y="60483752"/>
                </a:lnTo>
                <a:lnTo>
                  <a:pt x="60768724" y="60483752"/>
                </a:lnTo>
                <a:lnTo>
                  <a:pt x="60850148" y="60560484"/>
                </a:lnTo>
                <a:lnTo>
                  <a:pt x="60768724" y="60637216"/>
                </a:lnTo>
                <a:lnTo>
                  <a:pt x="60687304" y="60656404"/>
                </a:lnTo>
                <a:lnTo>
                  <a:pt x="60687304" y="60733136"/>
                </a:lnTo>
                <a:lnTo>
                  <a:pt x="60605884" y="60733136"/>
                </a:lnTo>
                <a:lnTo>
                  <a:pt x="60605884" y="60637216"/>
                </a:lnTo>
                <a:lnTo>
                  <a:pt x="60728016" y="60598848"/>
                </a:lnTo>
                <a:lnTo>
                  <a:pt x="60768724" y="60560484"/>
                </a:lnTo>
                <a:lnTo>
                  <a:pt x="60728016" y="60522116"/>
                </a:lnTo>
                <a:lnTo>
                  <a:pt x="60605884" y="60522116"/>
                </a:lnTo>
                <a:lnTo>
                  <a:pt x="60565172" y="60579668"/>
                </a:lnTo>
                <a:lnTo>
                  <a:pt x="60483752" y="60560484"/>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3"/>
          <p:cNvSpPr/>
          <p:nvPr/>
        </p:nvSpPr>
        <p:spPr>
          <a:xfrm>
            <a:off x="1807181" y="3875962"/>
            <a:ext cx="81421" cy="38365"/>
          </a:xfrm>
          <a:custGeom>
            <a:avLst/>
            <a:gdLst>
              <a:gd name="connsiteX0" fmla="*/ 0 w 81421"/>
              <a:gd name="connsiteY0" fmla="*/ 19182 h 38365"/>
              <a:gd name="connsiteX1" fmla="*/ 81421 w 81421"/>
              <a:gd name="connsiteY1" fmla="*/ 19182 h 38365"/>
            </a:gdLst>
            <a:ahLst/>
            <a:cxnLst>
              <a:cxn ang="0">
                <a:pos x="connsiteX0" y="connsiteY0"/>
              </a:cxn>
              <a:cxn ang="1">
                <a:pos x="connsiteX1" y="connsiteY1"/>
              </a:cxn>
            </a:cxnLst>
            <a:rect l="l" t="t" r="r" b="b"/>
            <a:pathLst>
              <a:path w="81421" h="38365">
                <a:moveTo>
                  <a:pt x="0" y="19182"/>
                </a:moveTo>
                <a:lnTo>
                  <a:pt x="81421" y="19182"/>
                </a:lnTo>
              </a:path>
            </a:pathLst>
          </a:custGeom>
          <a:ln w="50800">
            <a:solidFill>
              <a:srgbClr val="ED7D31">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Freeform 3"/>
          <p:cNvSpPr/>
          <p:nvPr/>
        </p:nvSpPr>
        <p:spPr>
          <a:xfrm>
            <a:off x="-57843248" y="-56854348"/>
            <a:ext cx="121048920" cy="121005864"/>
          </a:xfrm>
          <a:custGeom>
            <a:avLst/>
            <a:gdLst>
              <a:gd name="connsiteX0" fmla="*/ 60483752 w 121048920"/>
              <a:gd name="connsiteY0" fmla="*/ 60483752 h 121005864"/>
              <a:gd name="connsiteX1" fmla="*/ 60565172 w 121048920"/>
              <a:gd name="connsiteY1" fmla="*/ 60483752 h 121005864"/>
              <a:gd name="connsiteX2" fmla="*/ 60565172 w 121048920"/>
              <a:gd name="connsiteY2" fmla="*/ 60522116 h 121005864"/>
              <a:gd name="connsiteX3" fmla="*/ 60483752 w 121048920"/>
              <a:gd name="connsiteY3" fmla="*/ 60522116 h 121005864"/>
              <a:gd name="connsiteX4" fmla="*/ 60483752 w 121048920"/>
              <a:gd name="connsiteY4" fmla="*/ 60483752 h 12100586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048920" h="121005864">
                <a:moveTo>
                  <a:pt x="60483752" y="60483752"/>
                </a:moveTo>
                <a:lnTo>
                  <a:pt x="60565172" y="60483752"/>
                </a:lnTo>
                <a:lnTo>
                  <a:pt x="60565172" y="60522116"/>
                </a:lnTo>
                <a:lnTo>
                  <a:pt x="60483752" y="60522116"/>
                </a:lnTo>
                <a:lnTo>
                  <a:pt x="60483752" y="6048375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3"/>
          <p:cNvSpPr/>
          <p:nvPr/>
        </p:nvSpPr>
        <p:spPr>
          <a:xfrm>
            <a:off x="1700923" y="2698392"/>
            <a:ext cx="366396" cy="249381"/>
          </a:xfrm>
          <a:custGeom>
            <a:avLst/>
            <a:gdLst>
              <a:gd name="connsiteX0" fmla="*/ 0 w 366396"/>
              <a:gd name="connsiteY0" fmla="*/ 76732 h 249381"/>
              <a:gd name="connsiteX1" fmla="*/ 81421 w 366396"/>
              <a:gd name="connsiteY1" fmla="*/ 0 h 249381"/>
              <a:gd name="connsiteX2" fmla="*/ 284975 w 366396"/>
              <a:gd name="connsiteY2" fmla="*/ 0 h 249381"/>
              <a:gd name="connsiteX3" fmla="*/ 366396 w 366396"/>
              <a:gd name="connsiteY3" fmla="*/ 76732 h 249381"/>
              <a:gd name="connsiteX4" fmla="*/ 284975 w 366396"/>
              <a:gd name="connsiteY4" fmla="*/ 153464 h 249381"/>
              <a:gd name="connsiteX5" fmla="*/ 203553 w 366396"/>
              <a:gd name="connsiteY5" fmla="*/ 172647 h 249381"/>
              <a:gd name="connsiteX6" fmla="*/ 203553 w 366396"/>
              <a:gd name="connsiteY6" fmla="*/ 249381 h 249381"/>
              <a:gd name="connsiteX7" fmla="*/ 122131 w 366396"/>
              <a:gd name="connsiteY7" fmla="*/ 249381 h 249381"/>
              <a:gd name="connsiteX8" fmla="*/ 122131 w 366396"/>
              <a:gd name="connsiteY8" fmla="*/ 153464 h 249381"/>
              <a:gd name="connsiteX9" fmla="*/ 244263 w 366396"/>
              <a:gd name="connsiteY9" fmla="*/ 115099 h 249381"/>
              <a:gd name="connsiteX10" fmla="*/ 284975 w 366396"/>
              <a:gd name="connsiteY10" fmla="*/ 76732 h 249381"/>
              <a:gd name="connsiteX11" fmla="*/ 244263 w 366396"/>
              <a:gd name="connsiteY11" fmla="*/ 38365 h 249381"/>
              <a:gd name="connsiteX12" fmla="*/ 122131 w 366396"/>
              <a:gd name="connsiteY12" fmla="*/ 38365 h 249381"/>
              <a:gd name="connsiteX13" fmla="*/ 81421 w 366396"/>
              <a:gd name="connsiteY13" fmla="*/ 95915 h 249381"/>
              <a:gd name="connsiteX14" fmla="*/ 0 w 366396"/>
              <a:gd name="connsiteY14" fmla="*/ 76732 h 24938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366396" h="249381">
                <a:moveTo>
                  <a:pt x="0" y="76732"/>
                </a:moveTo>
                <a:lnTo>
                  <a:pt x="81421" y="0"/>
                </a:lnTo>
                <a:lnTo>
                  <a:pt x="284975" y="0"/>
                </a:lnTo>
                <a:lnTo>
                  <a:pt x="366396" y="76732"/>
                </a:lnTo>
                <a:lnTo>
                  <a:pt x="284975" y="153464"/>
                </a:lnTo>
                <a:lnTo>
                  <a:pt x="203553" y="172647"/>
                </a:lnTo>
                <a:lnTo>
                  <a:pt x="203553" y="249381"/>
                </a:lnTo>
                <a:lnTo>
                  <a:pt x="122131" y="249381"/>
                </a:lnTo>
                <a:lnTo>
                  <a:pt x="122131" y="153464"/>
                </a:lnTo>
                <a:lnTo>
                  <a:pt x="244263" y="115099"/>
                </a:lnTo>
                <a:lnTo>
                  <a:pt x="284975" y="76732"/>
                </a:lnTo>
                <a:lnTo>
                  <a:pt x="244263" y="38365"/>
                </a:lnTo>
                <a:lnTo>
                  <a:pt x="122131" y="38365"/>
                </a:lnTo>
                <a:lnTo>
                  <a:pt x="81421" y="95915"/>
                </a:lnTo>
                <a:lnTo>
                  <a:pt x="0" y="76732"/>
                </a:lnTo>
              </a:path>
            </a:pathLst>
          </a:custGeom>
          <a:solidFill>
            <a:srgbClr val="ED7D31">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3"/>
          <p:cNvSpPr/>
          <p:nvPr/>
        </p:nvSpPr>
        <p:spPr>
          <a:xfrm>
            <a:off x="-57949504" y="-58031920"/>
            <a:ext cx="121333888" cy="121216888"/>
          </a:xfrm>
          <a:custGeom>
            <a:avLst/>
            <a:gdLst>
              <a:gd name="connsiteX0" fmla="*/ 60483752 w 121333888"/>
              <a:gd name="connsiteY0" fmla="*/ 60560484 h 121216888"/>
              <a:gd name="connsiteX1" fmla="*/ 60565172 w 121333888"/>
              <a:gd name="connsiteY1" fmla="*/ 60483752 h 121216888"/>
              <a:gd name="connsiteX2" fmla="*/ 60768724 w 121333888"/>
              <a:gd name="connsiteY2" fmla="*/ 60483752 h 121216888"/>
              <a:gd name="connsiteX3" fmla="*/ 60850148 w 121333888"/>
              <a:gd name="connsiteY3" fmla="*/ 60560484 h 121216888"/>
              <a:gd name="connsiteX4" fmla="*/ 60768724 w 121333888"/>
              <a:gd name="connsiteY4" fmla="*/ 60637216 h 121216888"/>
              <a:gd name="connsiteX5" fmla="*/ 60687304 w 121333888"/>
              <a:gd name="connsiteY5" fmla="*/ 60656396 h 121216888"/>
              <a:gd name="connsiteX6" fmla="*/ 60687304 w 121333888"/>
              <a:gd name="connsiteY6" fmla="*/ 60733132 h 121216888"/>
              <a:gd name="connsiteX7" fmla="*/ 60605884 w 121333888"/>
              <a:gd name="connsiteY7" fmla="*/ 60733132 h 121216888"/>
              <a:gd name="connsiteX8" fmla="*/ 60605884 w 121333888"/>
              <a:gd name="connsiteY8" fmla="*/ 60637216 h 121216888"/>
              <a:gd name="connsiteX9" fmla="*/ 60728016 w 121333888"/>
              <a:gd name="connsiteY9" fmla="*/ 60598848 h 121216888"/>
              <a:gd name="connsiteX10" fmla="*/ 60768724 w 121333888"/>
              <a:gd name="connsiteY10" fmla="*/ 60560484 h 121216888"/>
              <a:gd name="connsiteX11" fmla="*/ 60728016 w 121333888"/>
              <a:gd name="connsiteY11" fmla="*/ 60522116 h 121216888"/>
              <a:gd name="connsiteX12" fmla="*/ 60605884 w 121333888"/>
              <a:gd name="connsiteY12" fmla="*/ 60522116 h 121216888"/>
              <a:gd name="connsiteX13" fmla="*/ 60565172 w 121333888"/>
              <a:gd name="connsiteY13" fmla="*/ 60579664 h 121216888"/>
              <a:gd name="connsiteX14" fmla="*/ 60483752 w 121333888"/>
              <a:gd name="connsiteY14" fmla="*/ 60560484 h 12121688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Lst>
            <a:rect l="l" t="t" r="r" b="b"/>
            <a:pathLst>
              <a:path w="121333888" h="121216888">
                <a:moveTo>
                  <a:pt x="60483752" y="60560484"/>
                </a:moveTo>
                <a:lnTo>
                  <a:pt x="60565172" y="60483752"/>
                </a:lnTo>
                <a:lnTo>
                  <a:pt x="60768724" y="60483752"/>
                </a:lnTo>
                <a:lnTo>
                  <a:pt x="60850148" y="60560484"/>
                </a:lnTo>
                <a:lnTo>
                  <a:pt x="60768724" y="60637216"/>
                </a:lnTo>
                <a:lnTo>
                  <a:pt x="60687304" y="60656396"/>
                </a:lnTo>
                <a:lnTo>
                  <a:pt x="60687304" y="60733132"/>
                </a:lnTo>
                <a:lnTo>
                  <a:pt x="60605884" y="60733132"/>
                </a:lnTo>
                <a:lnTo>
                  <a:pt x="60605884" y="60637216"/>
                </a:lnTo>
                <a:lnTo>
                  <a:pt x="60728016" y="60598848"/>
                </a:lnTo>
                <a:lnTo>
                  <a:pt x="60768724" y="60560484"/>
                </a:lnTo>
                <a:lnTo>
                  <a:pt x="60728016" y="60522116"/>
                </a:lnTo>
                <a:lnTo>
                  <a:pt x="60605884" y="60522116"/>
                </a:lnTo>
                <a:lnTo>
                  <a:pt x="60565172" y="60579664"/>
                </a:lnTo>
                <a:lnTo>
                  <a:pt x="60483752" y="60560484"/>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Freeform 3"/>
          <p:cNvSpPr/>
          <p:nvPr/>
        </p:nvSpPr>
        <p:spPr>
          <a:xfrm>
            <a:off x="1823056" y="2986139"/>
            <a:ext cx="81421" cy="38365"/>
          </a:xfrm>
          <a:custGeom>
            <a:avLst/>
            <a:gdLst>
              <a:gd name="connsiteX0" fmla="*/ 0 w 81421"/>
              <a:gd name="connsiteY0" fmla="*/ 19182 h 38365"/>
              <a:gd name="connsiteX1" fmla="*/ 81421 w 81421"/>
              <a:gd name="connsiteY1" fmla="*/ 19182 h 38365"/>
            </a:gdLst>
            <a:ahLst/>
            <a:cxnLst>
              <a:cxn ang="0">
                <a:pos x="connsiteX0" y="connsiteY0"/>
              </a:cxn>
              <a:cxn ang="1">
                <a:pos x="connsiteX1" y="connsiteY1"/>
              </a:cxn>
            </a:cxnLst>
            <a:rect l="l" t="t" r="r" b="b"/>
            <a:pathLst>
              <a:path w="81421" h="38365">
                <a:moveTo>
                  <a:pt x="0" y="19182"/>
                </a:moveTo>
                <a:lnTo>
                  <a:pt x="81421" y="19182"/>
                </a:lnTo>
              </a:path>
            </a:pathLst>
          </a:custGeom>
          <a:ln w="50800">
            <a:solidFill>
              <a:srgbClr val="ED7D31">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Freeform 3"/>
          <p:cNvSpPr/>
          <p:nvPr/>
        </p:nvSpPr>
        <p:spPr>
          <a:xfrm>
            <a:off x="-57827372" y="-57744172"/>
            <a:ext cx="121048920" cy="121005864"/>
          </a:xfrm>
          <a:custGeom>
            <a:avLst/>
            <a:gdLst>
              <a:gd name="connsiteX0" fmla="*/ 60483752 w 121048920"/>
              <a:gd name="connsiteY0" fmla="*/ 60483752 h 121005864"/>
              <a:gd name="connsiteX1" fmla="*/ 60565172 w 121048920"/>
              <a:gd name="connsiteY1" fmla="*/ 60483752 h 121005864"/>
              <a:gd name="connsiteX2" fmla="*/ 60565172 w 121048920"/>
              <a:gd name="connsiteY2" fmla="*/ 60522116 h 121005864"/>
              <a:gd name="connsiteX3" fmla="*/ 60483752 w 121048920"/>
              <a:gd name="connsiteY3" fmla="*/ 60522116 h 121005864"/>
              <a:gd name="connsiteX4" fmla="*/ 60483752 w 121048920"/>
              <a:gd name="connsiteY4" fmla="*/ 60483752 h 12100586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048920" h="121005864">
                <a:moveTo>
                  <a:pt x="60483752" y="60483752"/>
                </a:moveTo>
                <a:lnTo>
                  <a:pt x="60565172" y="60483752"/>
                </a:lnTo>
                <a:lnTo>
                  <a:pt x="60565172" y="60522116"/>
                </a:lnTo>
                <a:lnTo>
                  <a:pt x="60483752" y="60522116"/>
                </a:lnTo>
                <a:lnTo>
                  <a:pt x="60483752" y="60483752"/>
                </a:lnTo>
              </a:path>
            </a:pathLst>
          </a:custGeom>
          <a:solidFill>
            <a:srgbClr val="000000">
              <a:alpha val="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219200" y="699277"/>
            <a:ext cx="4127733" cy="823239"/>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45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可以</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不可以</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或许可以</a:t>
            </a:r>
          </a:p>
        </p:txBody>
      </p:sp>
      <p:sp>
        <p:nvSpPr>
          <p:cNvPr id="36" name="TextBox 1"/>
          <p:cNvSpPr txBox="1"/>
          <p:nvPr/>
        </p:nvSpPr>
        <p:spPr>
          <a:xfrm>
            <a:off x="2201976" y="1973761"/>
            <a:ext cx="107402" cy="4194225"/>
          </a:xfrm>
          <a:prstGeom prst="rect">
            <a:avLst/>
          </a:prstGeom>
          <a:noFill/>
        </p:spPr>
        <p:txBody>
          <a:bodyPr wrap="none" lIns="0" tIns="0" rIns="0" rtlCol="0">
            <a:spAutoFit/>
          </a:bodyPr>
          <a:lstStyle/>
          <a:p>
            <a:pPr>
              <a:lnSpc>
                <a:spcPts val="2600"/>
              </a:lnSpc>
            </a:pPr>
            <a:r>
              <a:rPr lang="en-US" altLang="zh-CN" sz="2400" dirty="0">
                <a:solidFill>
                  <a:srgbClr val="000000"/>
                </a:solidFill>
                <a:latin typeface="Arial" pitchFamily="18" charset="0"/>
                <a:cs typeface="Arial" pitchFamily="18" charset="0"/>
              </a:rPr>
              <a:t>•</a:t>
            </a:r>
          </a:p>
          <a:p>
            <a:pPr>
              <a:lnSpc>
                <a:spcPts val="3300"/>
              </a:lnSpc>
            </a:pPr>
            <a:r>
              <a:rPr lang="en-US" altLang="zh-CN" sz="2400" dirty="0">
                <a:solidFill>
                  <a:srgbClr val="000000"/>
                </a:solidFill>
                <a:latin typeface="Arial" pitchFamily="18" charset="0"/>
                <a:cs typeface="Arial" pitchFamily="18" charset="0"/>
              </a:rPr>
              <a:t>•</a:t>
            </a:r>
          </a:p>
          <a:p>
            <a:pPr>
              <a:lnSpc>
                <a:spcPts val="3400"/>
              </a:lnSpc>
            </a:pPr>
            <a:r>
              <a:rPr lang="en-US" altLang="zh-CN" sz="2400" dirty="0">
                <a:solidFill>
                  <a:srgbClr val="000000"/>
                </a:solidFill>
                <a:latin typeface="Arial" pitchFamily="18" charset="0"/>
                <a:cs typeface="Arial" pitchFamily="18" charset="0"/>
              </a:rPr>
              <a:t>•</a:t>
            </a:r>
          </a:p>
          <a:p>
            <a:pPr>
              <a:lnSpc>
                <a:spcPts val="3400"/>
              </a:lnSpc>
            </a:pPr>
            <a:r>
              <a:rPr lang="en-US" altLang="zh-CN" sz="2400" dirty="0">
                <a:solidFill>
                  <a:srgbClr val="000000"/>
                </a:solidFill>
                <a:latin typeface="Arial" pitchFamily="18" charset="0"/>
                <a:cs typeface="Arial" pitchFamily="18" charset="0"/>
              </a:rPr>
              <a:t>•</a:t>
            </a:r>
          </a:p>
          <a:p>
            <a:pPr>
              <a:lnSpc>
                <a:spcPts val="3200"/>
              </a:lnSpc>
            </a:pPr>
            <a:r>
              <a:rPr lang="en-US" altLang="zh-CN" sz="2400" dirty="0">
                <a:solidFill>
                  <a:srgbClr val="000000"/>
                </a:solidFill>
                <a:latin typeface="Arial" pitchFamily="18" charset="0"/>
                <a:cs typeface="Arial" pitchFamily="18" charset="0"/>
              </a:rPr>
              <a:t>•</a:t>
            </a:r>
          </a:p>
          <a:p>
            <a:pPr>
              <a:lnSpc>
                <a:spcPts val="3400"/>
              </a:lnSpc>
            </a:pPr>
            <a:r>
              <a:rPr lang="en-US" altLang="zh-CN" sz="2400" dirty="0">
                <a:solidFill>
                  <a:srgbClr val="000000"/>
                </a:solidFill>
                <a:latin typeface="Arial" pitchFamily="18" charset="0"/>
                <a:cs typeface="Arial" pitchFamily="18" charset="0"/>
              </a:rPr>
              <a:t>•</a:t>
            </a:r>
          </a:p>
          <a:p>
            <a:pPr>
              <a:lnSpc>
                <a:spcPts val="3300"/>
              </a:lnSpc>
            </a:pPr>
            <a:r>
              <a:rPr lang="en-US" altLang="zh-CN" sz="2400" dirty="0">
                <a:solidFill>
                  <a:srgbClr val="000000"/>
                </a:solidFill>
                <a:latin typeface="Arial" pitchFamily="18" charset="0"/>
                <a:cs typeface="Arial" pitchFamily="18" charset="0"/>
              </a:rPr>
              <a:t>•</a:t>
            </a:r>
          </a:p>
          <a:p>
            <a:pPr>
              <a:lnSpc>
                <a:spcPts val="3400"/>
              </a:lnSpc>
            </a:pPr>
            <a:r>
              <a:rPr lang="en-US" altLang="zh-CN" sz="2400" dirty="0">
                <a:solidFill>
                  <a:srgbClr val="000000"/>
                </a:solidFill>
                <a:latin typeface="Arial" pitchFamily="18" charset="0"/>
                <a:cs typeface="Arial" pitchFamily="18" charset="0"/>
              </a:rPr>
              <a:t>•</a:t>
            </a:r>
          </a:p>
          <a:p>
            <a:pPr>
              <a:lnSpc>
                <a:spcPts val="3400"/>
              </a:lnSpc>
            </a:pPr>
            <a:r>
              <a:rPr lang="en-US" altLang="zh-CN" sz="2400" dirty="0">
                <a:solidFill>
                  <a:srgbClr val="000000"/>
                </a:solidFill>
                <a:latin typeface="Arial" pitchFamily="18" charset="0"/>
                <a:cs typeface="Arial" pitchFamily="18" charset="0"/>
              </a:rPr>
              <a:t>•</a:t>
            </a:r>
          </a:p>
          <a:p>
            <a:pPr>
              <a:lnSpc>
                <a:spcPts val="3200"/>
              </a:lnSpc>
            </a:pPr>
            <a:r>
              <a:rPr lang="en-US" altLang="zh-CN" sz="2400" dirty="0">
                <a:solidFill>
                  <a:srgbClr val="000000"/>
                </a:solidFill>
                <a:latin typeface="Arial" pitchFamily="18" charset="0"/>
                <a:cs typeface="Arial" pitchFamily="18" charset="0"/>
              </a:rPr>
              <a:t>•</a:t>
            </a:r>
          </a:p>
        </p:txBody>
      </p:sp>
      <p:sp>
        <p:nvSpPr>
          <p:cNvPr id="37" name="TextBox 1"/>
          <p:cNvSpPr txBox="1"/>
          <p:nvPr/>
        </p:nvSpPr>
        <p:spPr>
          <a:xfrm>
            <a:off x="2430576" y="1922960"/>
            <a:ext cx="6200415" cy="4244752"/>
          </a:xfrm>
          <a:prstGeom prst="rect">
            <a:avLst/>
          </a:prstGeom>
          <a:noFill/>
        </p:spPr>
        <p:txBody>
          <a:bodyPr wrap="none" lIns="0" tIns="0" rIns="0" rtlCol="0">
            <a:spAutoFit/>
          </a:bodyPr>
          <a:lstStyle/>
          <a:p>
            <a:pPr>
              <a:lnSpc>
                <a:spcPts val="3100"/>
              </a:lnSpc>
            </a:pPr>
            <a:r>
              <a:rPr lang="en-US" altLang="zh-CN" sz="2400" dirty="0">
                <a:solidFill>
                  <a:srgbClr val="000000"/>
                </a:solidFill>
                <a:latin typeface="微软雅黑" pitchFamily="18" charset="0"/>
                <a:cs typeface="微软雅黑" pitchFamily="18" charset="0"/>
              </a:rPr>
              <a:t>根据足球比赛数据撰写新闻稿</a:t>
            </a:r>
          </a:p>
          <a:p>
            <a:pPr>
              <a:lnSpc>
                <a:spcPts val="3300"/>
              </a:lnSpc>
            </a:pPr>
            <a:r>
              <a:rPr lang="en-US" altLang="zh-CN" sz="2400" dirty="0">
                <a:solidFill>
                  <a:srgbClr val="000000"/>
                </a:solidFill>
                <a:latin typeface="微软雅黑" pitchFamily="18" charset="0"/>
                <a:cs typeface="微软雅黑" pitchFamily="18" charset="0"/>
              </a:rPr>
              <a:t>实时翻译，同声传译</a:t>
            </a:r>
          </a:p>
          <a:p>
            <a:pPr>
              <a:lnSpc>
                <a:spcPts val="3400"/>
              </a:lnSpc>
            </a:pPr>
            <a:r>
              <a:rPr lang="en-US" altLang="zh-CN" sz="2400" dirty="0">
                <a:solidFill>
                  <a:srgbClr val="000000"/>
                </a:solidFill>
                <a:latin typeface="微软雅黑" pitchFamily="18" charset="0"/>
                <a:cs typeface="微软雅黑" pitchFamily="18" charset="0"/>
              </a:rPr>
              <a:t>（有目的</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地</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、有</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意</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识</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地</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）写幽默的段子</a:t>
            </a:r>
          </a:p>
          <a:p>
            <a:pPr>
              <a:lnSpc>
                <a:spcPts val="3400"/>
              </a:lnSpc>
            </a:pPr>
            <a:r>
              <a:rPr lang="en-US" altLang="zh-CN" sz="2400" dirty="0">
                <a:solidFill>
                  <a:srgbClr val="000000"/>
                </a:solidFill>
                <a:latin typeface="微软雅黑" pitchFamily="18" charset="0"/>
                <a:cs typeface="微软雅黑" pitchFamily="18" charset="0"/>
              </a:rPr>
              <a:t>回答人的简单问题</a:t>
            </a:r>
          </a:p>
          <a:p>
            <a:pPr>
              <a:lnSpc>
                <a:spcPts val="3200"/>
              </a:lnSpc>
            </a:pPr>
            <a:r>
              <a:rPr lang="en-US" altLang="zh-CN" sz="2400" dirty="0" err="1">
                <a:solidFill>
                  <a:srgbClr val="000000"/>
                </a:solidFill>
                <a:latin typeface="微软雅黑" pitchFamily="18" charset="0"/>
                <a:cs typeface="微软雅黑" pitchFamily="18" charset="0"/>
              </a:rPr>
              <a:t>与人正常聊天一小时</a:t>
            </a:r>
            <a:endParaRPr lang="en-US" altLang="zh-CN" sz="2400" dirty="0">
              <a:solidFill>
                <a:srgbClr val="000000"/>
              </a:solidFill>
              <a:latin typeface="微软雅黑" pitchFamily="18" charset="0"/>
              <a:cs typeface="微软雅黑" pitchFamily="18" charset="0"/>
            </a:endParaRPr>
          </a:p>
          <a:p>
            <a:pPr>
              <a:lnSpc>
                <a:spcPts val="3400"/>
              </a:lnSpc>
            </a:pPr>
            <a:r>
              <a:rPr lang="en-US" altLang="zh-CN" sz="2400" dirty="0">
                <a:solidFill>
                  <a:srgbClr val="000000"/>
                </a:solidFill>
                <a:latin typeface="微软雅黑" pitchFamily="18" charset="0"/>
                <a:cs typeface="微软雅黑" pitchFamily="18" charset="0"/>
              </a:rPr>
              <a:t>创作风景画</a:t>
            </a:r>
          </a:p>
          <a:p>
            <a:pPr>
              <a:lnSpc>
                <a:spcPts val="3300"/>
              </a:lnSpc>
            </a:pPr>
            <a:r>
              <a:rPr lang="en-US" altLang="zh-CN" sz="2400" dirty="0">
                <a:solidFill>
                  <a:srgbClr val="000000"/>
                </a:solidFill>
                <a:latin typeface="微软雅黑" pitchFamily="18" charset="0"/>
                <a:cs typeface="微软雅黑" pitchFamily="18" charset="0"/>
              </a:rPr>
              <a:t>高速公路上自动驾驶</a:t>
            </a:r>
          </a:p>
          <a:p>
            <a:pPr>
              <a:lnSpc>
                <a:spcPts val="3400"/>
              </a:lnSpc>
            </a:pPr>
            <a:r>
              <a:rPr lang="en-US" altLang="zh-CN" sz="2400" dirty="0" err="1">
                <a:solidFill>
                  <a:srgbClr val="000000"/>
                </a:solidFill>
                <a:latin typeface="微软雅黑" pitchFamily="18" charset="0"/>
                <a:cs typeface="微软雅黑" pitchFamily="18" charset="0"/>
              </a:rPr>
              <a:t>在华科校园里以</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30</a:t>
            </a:r>
            <a:r>
              <a:rPr lang="en-US" altLang="zh-CN" sz="2400" dirty="0">
                <a:latin typeface="Times New Roman" pitchFamily="18" charset="0"/>
                <a:cs typeface="Times New Roman" pitchFamily="18" charset="0"/>
              </a:rPr>
              <a:t> </a:t>
            </a:r>
            <a:r>
              <a:rPr lang="en-US" altLang="zh-CN" sz="2400" dirty="0" err="1">
                <a:solidFill>
                  <a:srgbClr val="000000"/>
                </a:solidFill>
                <a:latin typeface="微软雅黑" pitchFamily="18" charset="0"/>
                <a:cs typeface="微软雅黑" pitchFamily="18" charset="0"/>
              </a:rPr>
              <a:t>公里</a:t>
            </a:r>
            <a:r>
              <a:rPr lang="en-US" altLang="zh-CN" sz="2400" dirty="0">
                <a:solidFill>
                  <a:srgbClr val="000000"/>
                </a:solidFill>
                <a:latin typeface="Calibri" pitchFamily="18" charset="0"/>
                <a:cs typeface="Calibri" pitchFamily="18" charset="0"/>
              </a:rPr>
              <a:t>/</a:t>
            </a:r>
            <a:r>
              <a:rPr lang="en-US" altLang="zh-CN" sz="2400" dirty="0" err="1">
                <a:solidFill>
                  <a:srgbClr val="000000"/>
                </a:solidFill>
                <a:latin typeface="微软雅黑" pitchFamily="18" charset="0"/>
                <a:cs typeface="微软雅黑" pitchFamily="18" charset="0"/>
              </a:rPr>
              <a:t>小时的速度自动驾驶</a:t>
            </a:r>
            <a:endParaRPr lang="en-US" altLang="zh-CN" sz="2400" dirty="0">
              <a:solidFill>
                <a:srgbClr val="000000"/>
              </a:solidFill>
              <a:latin typeface="微软雅黑" pitchFamily="18" charset="0"/>
              <a:cs typeface="微软雅黑" pitchFamily="18" charset="0"/>
            </a:endParaRPr>
          </a:p>
          <a:p>
            <a:pPr>
              <a:lnSpc>
                <a:spcPts val="3300"/>
              </a:lnSpc>
            </a:pPr>
            <a:r>
              <a:rPr lang="en-US" altLang="zh-CN" sz="2400" dirty="0">
                <a:solidFill>
                  <a:srgbClr val="000000"/>
                </a:solidFill>
                <a:latin typeface="微软雅黑" pitchFamily="18" charset="0"/>
                <a:cs typeface="微软雅黑" pitchFamily="18" charset="0"/>
              </a:rPr>
              <a:t>完成外科手术</a:t>
            </a:r>
          </a:p>
          <a:p>
            <a:pPr>
              <a:lnSpc>
                <a:spcPts val="3200"/>
              </a:lnSpc>
            </a:pPr>
            <a:r>
              <a:rPr lang="en-US" altLang="zh-CN" sz="2400" dirty="0">
                <a:solidFill>
                  <a:srgbClr val="000000"/>
                </a:solidFill>
                <a:latin typeface="微软雅黑" pitchFamily="18" charset="0"/>
                <a:cs typeface="微软雅黑" pitchFamily="18" charset="0"/>
              </a:rPr>
              <a:t>发现并证明全新的数学定理</a:t>
            </a:r>
          </a:p>
        </p:txBody>
      </p:sp>
      <p:sp>
        <p:nvSpPr>
          <p:cNvPr id="40" name="TextBox 1">
            <a:extLst>
              <a:ext uri="{FF2B5EF4-FFF2-40B4-BE49-F238E27FC236}">
                <a16:creationId xmlns:a16="http://schemas.microsoft.com/office/drawing/2014/main" id="{1F935960-778B-E24D-8AC4-5C60BC99B8E1}"/>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71</a:t>
            </a:r>
          </a:p>
        </p:txBody>
      </p:sp>
      <p:sp>
        <p:nvSpPr>
          <p:cNvPr id="41" name="Freeform 3">
            <a:extLst>
              <a:ext uri="{FF2B5EF4-FFF2-40B4-BE49-F238E27FC236}">
                <a16:creationId xmlns:a16="http://schemas.microsoft.com/office/drawing/2014/main" id="{D0716124-B7D7-4142-B0B7-E7A4428555C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TextBox 1">
            <a:extLst>
              <a:ext uri="{FF2B5EF4-FFF2-40B4-BE49-F238E27FC236}">
                <a16:creationId xmlns:a16="http://schemas.microsoft.com/office/drawing/2014/main" id="{E61AF945-F655-5940-B301-897EFA6B197D}"/>
              </a:ext>
            </a:extLst>
          </p:cNvPr>
          <p:cNvSpPr txBox="1"/>
          <p:nvPr/>
        </p:nvSpPr>
        <p:spPr>
          <a:xfrm>
            <a:off x="472354" y="152400"/>
            <a:ext cx="7609455" cy="548868"/>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当前（</a:t>
            </a:r>
            <a:r>
              <a:rPr lang="en-US" altLang="zh-CN" sz="3137" dirty="0">
                <a:latin typeface="Times New Roman" pitchFamily="18" charset="0"/>
                <a:cs typeface="Times New Roman" pitchFamily="18" charset="0"/>
              </a:rPr>
              <a:t> </a:t>
            </a:r>
            <a:r>
              <a:rPr lang="en-US" altLang="zh-CN" sz="3137" b="1" dirty="0">
                <a:solidFill>
                  <a:srgbClr val="000000"/>
                </a:solidFill>
                <a:latin typeface="Calibri Light" pitchFamily="18" charset="0"/>
                <a:cs typeface="Calibri Light" pitchFamily="18" charset="0"/>
              </a:rPr>
              <a:t>2026</a:t>
            </a:r>
            <a:r>
              <a:rPr lang="en-US" altLang="zh-CN" sz="3199" b="1" dirty="0">
                <a:solidFill>
                  <a:srgbClr val="000000"/>
                </a:solidFill>
                <a:latin typeface="微软雅黑" pitchFamily="18" charset="0"/>
                <a:cs typeface="微软雅黑" pitchFamily="18" charset="0"/>
              </a:rPr>
              <a:t>年）的人工智能可以做什么？</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2730500" y="2654301"/>
            <a:ext cx="6806350" cy="790601"/>
          </a:xfrm>
          <a:prstGeom prst="rect">
            <a:avLst/>
          </a:prstGeom>
          <a:noFill/>
        </p:spPr>
        <p:txBody>
          <a:bodyPr wrap="none" lIns="0" tIns="0" rIns="0" rtlCol="0">
            <a:spAutoFit/>
          </a:bodyPr>
          <a:lstStyle/>
          <a:p>
            <a:pPr>
              <a:lnSpc>
                <a:spcPts val="6300"/>
              </a:lnSpc>
            </a:pPr>
            <a:r>
              <a:rPr lang="en-US" altLang="zh-CN" sz="4800" b="1" dirty="0">
                <a:solidFill>
                  <a:srgbClr val="000000"/>
                </a:solidFill>
                <a:latin typeface="微软雅黑" pitchFamily="18" charset="0"/>
                <a:cs typeface="微软雅黑" pitchFamily="18" charset="0"/>
              </a:rPr>
              <a:t>发展人工智能技术的意义</a:t>
            </a:r>
          </a:p>
        </p:txBody>
      </p:sp>
      <p:sp>
        <p:nvSpPr>
          <p:cNvPr id="7" name="TextBox 1">
            <a:extLst>
              <a:ext uri="{FF2B5EF4-FFF2-40B4-BE49-F238E27FC236}">
                <a16:creationId xmlns:a16="http://schemas.microsoft.com/office/drawing/2014/main" id="{3F2E8E64-8843-514F-AF54-0754240EC64D}"/>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72</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p:cNvSpPr txBox="1"/>
          <p:nvPr/>
        </p:nvSpPr>
        <p:spPr>
          <a:xfrm>
            <a:off x="914400" y="1289552"/>
            <a:ext cx="5354030" cy="473206"/>
          </a:xfrm>
          <a:prstGeom prst="rect">
            <a:avLst/>
          </a:prstGeom>
          <a:noFill/>
        </p:spPr>
        <p:txBody>
          <a:bodyPr wrap="non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人工智能成为</a:t>
            </a:r>
            <a:r>
              <a:rPr lang="en-US" altLang="zh-CN" sz="2800" b="1" dirty="0">
                <a:solidFill>
                  <a:srgbClr val="C00000"/>
                </a:solidFill>
                <a:latin typeface="微软雅黑" pitchFamily="18" charset="0"/>
                <a:cs typeface="微软雅黑" pitchFamily="18" charset="0"/>
              </a:rPr>
              <a:t>国际竞争的新焦点</a:t>
            </a:r>
          </a:p>
        </p:txBody>
      </p:sp>
      <p:sp>
        <p:nvSpPr>
          <p:cNvPr id="7" name="TextBox 1"/>
          <p:cNvSpPr txBox="1"/>
          <p:nvPr/>
        </p:nvSpPr>
        <p:spPr>
          <a:xfrm>
            <a:off x="1371600" y="1822953"/>
            <a:ext cx="3339056" cy="413575"/>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err="1">
                <a:solidFill>
                  <a:srgbClr val="000000"/>
                </a:solidFill>
                <a:latin typeface="微软雅黑" pitchFamily="18" charset="0"/>
                <a:cs typeface="微软雅黑" pitchFamily="18" charset="0"/>
              </a:rPr>
              <a:t>引领未来的战略性技术</a:t>
            </a:r>
            <a:endParaRPr lang="en-US" altLang="zh-CN" sz="2400" dirty="0">
              <a:solidFill>
                <a:srgbClr val="000000"/>
              </a:solidFill>
              <a:latin typeface="微软雅黑" pitchFamily="18" charset="0"/>
              <a:cs typeface="微软雅黑" pitchFamily="18" charset="0"/>
            </a:endParaRPr>
          </a:p>
        </p:txBody>
      </p:sp>
      <p:sp>
        <p:nvSpPr>
          <p:cNvPr id="8" name="TextBox 1"/>
          <p:cNvSpPr txBox="1"/>
          <p:nvPr/>
        </p:nvSpPr>
        <p:spPr>
          <a:xfrm>
            <a:off x="914400" y="2940552"/>
            <a:ext cx="5443798" cy="473206"/>
          </a:xfrm>
          <a:prstGeom prst="rect">
            <a:avLst/>
          </a:prstGeom>
          <a:noFill/>
        </p:spPr>
        <p:txBody>
          <a:bodyPr wrap="non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人工智能成为</a:t>
            </a:r>
            <a:r>
              <a:rPr lang="en-US" altLang="zh-CN" sz="2800" b="1" dirty="0">
                <a:solidFill>
                  <a:srgbClr val="C00000"/>
                </a:solidFill>
                <a:latin typeface="微软雅黑" pitchFamily="18" charset="0"/>
                <a:cs typeface="微软雅黑" pitchFamily="18" charset="0"/>
              </a:rPr>
              <a:t>经济发展的新引擎</a:t>
            </a:r>
          </a:p>
        </p:txBody>
      </p:sp>
      <p:sp>
        <p:nvSpPr>
          <p:cNvPr id="9" name="TextBox 1"/>
          <p:cNvSpPr txBox="1"/>
          <p:nvPr/>
        </p:nvSpPr>
        <p:spPr>
          <a:xfrm>
            <a:off x="1371600" y="3473953"/>
            <a:ext cx="4262385" cy="413575"/>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新一轮产业变革的核心驱动力</a:t>
            </a:r>
          </a:p>
        </p:txBody>
      </p:sp>
      <p:sp>
        <p:nvSpPr>
          <p:cNvPr id="10" name="TextBox 1"/>
          <p:cNvSpPr txBox="1"/>
          <p:nvPr/>
        </p:nvSpPr>
        <p:spPr>
          <a:xfrm>
            <a:off x="914401" y="4477252"/>
            <a:ext cx="5354030" cy="473206"/>
          </a:xfrm>
          <a:prstGeom prst="rect">
            <a:avLst/>
          </a:prstGeom>
          <a:noFill/>
        </p:spPr>
        <p:txBody>
          <a:bodyPr wrap="non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人工智能带来</a:t>
            </a:r>
            <a:r>
              <a:rPr lang="en-US" altLang="zh-CN" sz="2800" b="1" dirty="0">
                <a:solidFill>
                  <a:srgbClr val="C00000"/>
                </a:solidFill>
                <a:latin typeface="微软雅黑" pitchFamily="18" charset="0"/>
                <a:cs typeface="微软雅黑" pitchFamily="18" charset="0"/>
              </a:rPr>
              <a:t>社会建设的新机遇</a:t>
            </a:r>
          </a:p>
        </p:txBody>
      </p:sp>
      <p:sp>
        <p:nvSpPr>
          <p:cNvPr id="11" name="TextBox 1"/>
          <p:cNvSpPr txBox="1"/>
          <p:nvPr/>
        </p:nvSpPr>
        <p:spPr>
          <a:xfrm>
            <a:off x="1371601" y="5036052"/>
            <a:ext cx="9156353" cy="801501"/>
          </a:xfrm>
          <a:prstGeom prst="rect">
            <a:avLst/>
          </a:prstGeom>
          <a:noFill/>
        </p:spPr>
        <p:txBody>
          <a:bodyPr wrap="none" lIns="0" tIns="0" rIns="0" rtlCol="0">
            <a:spAutoFit/>
          </a:bodyPr>
          <a:lstStyle/>
          <a:p>
            <a:pPr>
              <a:lnSpc>
                <a:spcPts val="3100"/>
              </a:lnSpc>
              <a:tabLst>
                <a:tab pos="228600" algn="l"/>
              </a:tabLst>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提高公共服务精准化水平</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，全面提升人民生活品质</a:t>
            </a:r>
          </a:p>
          <a:p>
            <a:pPr>
              <a:lnSpc>
                <a:spcPts val="3000"/>
              </a:lnSpc>
              <a:tabLst>
                <a:tab pos="228600" algn="l"/>
              </a:tabLst>
            </a:pPr>
            <a:r>
              <a:rPr lang="en-US" altLang="zh-CN" dirty="0"/>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教育</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医疗</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养老</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环境保护</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城市运行、</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司法服务等</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p>
        </p:txBody>
      </p:sp>
      <p:sp>
        <p:nvSpPr>
          <p:cNvPr id="14" name="TextBox 1">
            <a:extLst>
              <a:ext uri="{FF2B5EF4-FFF2-40B4-BE49-F238E27FC236}">
                <a16:creationId xmlns:a16="http://schemas.microsoft.com/office/drawing/2014/main" id="{720F9EE0-DF94-F545-BF0B-CDF90E70CC0E}"/>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73</a:t>
            </a:r>
          </a:p>
        </p:txBody>
      </p:sp>
      <p:sp>
        <p:nvSpPr>
          <p:cNvPr id="15" name="Freeform 3">
            <a:extLst>
              <a:ext uri="{FF2B5EF4-FFF2-40B4-BE49-F238E27FC236}">
                <a16:creationId xmlns:a16="http://schemas.microsoft.com/office/drawing/2014/main" id="{68E9C4FF-56AB-0B43-9E04-C02F0321A875}"/>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
            <a:extLst>
              <a:ext uri="{FF2B5EF4-FFF2-40B4-BE49-F238E27FC236}">
                <a16:creationId xmlns:a16="http://schemas.microsoft.com/office/drawing/2014/main" id="{160B9898-0F53-FC4C-8D12-BD6F61F64D22}"/>
              </a:ext>
            </a:extLst>
          </p:cNvPr>
          <p:cNvSpPr txBox="1"/>
          <p:nvPr/>
        </p:nvSpPr>
        <p:spPr>
          <a:xfrm>
            <a:off x="472354" y="152400"/>
            <a:ext cx="4531690"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发展人工智能技术的意义</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p:cNvSpPr txBox="1"/>
          <p:nvPr/>
        </p:nvSpPr>
        <p:spPr>
          <a:xfrm>
            <a:off x="1266752" y="1164318"/>
            <a:ext cx="8662628" cy="1526508"/>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2017</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年</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7</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月，国务院印发《新一代人工智能发展规划》</a:t>
            </a:r>
          </a:p>
          <a:p>
            <a:pPr>
              <a:lnSpc>
                <a:spcPts val="43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2018</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年</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4</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月，教育部《高等学校人工智能创新行动计划》</a:t>
            </a:r>
          </a:p>
          <a:p>
            <a:pPr>
              <a:lnSpc>
                <a:spcPts val="4300"/>
              </a:lnSpc>
            </a:pPr>
            <a:endParaRPr lang="en-US" altLang="zh-CN" sz="2599" b="1" dirty="0">
              <a:solidFill>
                <a:srgbClr val="000000"/>
              </a:solidFill>
              <a:latin typeface="微软雅黑" pitchFamily="18" charset="0"/>
              <a:cs typeface="微软雅黑" pitchFamily="18" charset="0"/>
            </a:endParaRPr>
          </a:p>
        </p:txBody>
      </p:sp>
      <p:sp>
        <p:nvSpPr>
          <p:cNvPr id="10" name="TextBox 1"/>
          <p:cNvSpPr txBox="1"/>
          <p:nvPr/>
        </p:nvSpPr>
        <p:spPr>
          <a:xfrm>
            <a:off x="1266751" y="2209800"/>
            <a:ext cx="7657546" cy="1028551"/>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2019</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年</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6</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月，科技部《新一代人工智能治理原则》</a:t>
            </a:r>
          </a:p>
          <a:p>
            <a:pPr>
              <a:lnSpc>
                <a:spcPts val="1000"/>
              </a:lnSpc>
            </a:pPr>
            <a:endParaRPr lang="en-US" altLang="zh-CN" dirty="0"/>
          </a:p>
          <a:p>
            <a:pPr>
              <a:lnSpc>
                <a:spcPts val="35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2020</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年</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7</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月，网信办、发改委、科技部、工信部等</a:t>
            </a:r>
          </a:p>
        </p:txBody>
      </p:sp>
      <p:sp>
        <p:nvSpPr>
          <p:cNvPr id="11" name="TextBox 1"/>
          <p:cNvSpPr txBox="1"/>
          <p:nvPr/>
        </p:nvSpPr>
        <p:spPr>
          <a:xfrm>
            <a:off x="1495352" y="3200399"/>
            <a:ext cx="6365525" cy="448200"/>
          </a:xfrm>
          <a:prstGeom prst="rect">
            <a:avLst/>
          </a:prstGeom>
          <a:noFill/>
        </p:spPr>
        <p:txBody>
          <a:bodyPr wrap="none" lIns="0" tIns="0" rIns="0" rtlCol="0">
            <a:spAutoFit/>
          </a:bodyPr>
          <a:lstStyle/>
          <a:p>
            <a:pPr>
              <a:lnSpc>
                <a:spcPts val="3400"/>
              </a:lnSpc>
            </a:pPr>
            <a:r>
              <a:rPr lang="en-US" altLang="zh-CN" sz="2599" b="1" dirty="0">
                <a:solidFill>
                  <a:srgbClr val="000000"/>
                </a:solidFill>
                <a:latin typeface="微软雅黑" pitchFamily="18" charset="0"/>
                <a:cs typeface="微软雅黑" pitchFamily="18" charset="0"/>
              </a:rPr>
              <a:t>《国家新一代人工智能标准体系建设指南》</a:t>
            </a:r>
          </a:p>
        </p:txBody>
      </p:sp>
      <p:sp>
        <p:nvSpPr>
          <p:cNvPr id="12" name="TextBox 1"/>
          <p:cNvSpPr txBox="1"/>
          <p:nvPr/>
        </p:nvSpPr>
        <p:spPr>
          <a:xfrm>
            <a:off x="1266751" y="3759199"/>
            <a:ext cx="7657546" cy="454676"/>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2021</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年</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9</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月，国家新一代人工智能治理专业委员会</a:t>
            </a:r>
          </a:p>
        </p:txBody>
      </p:sp>
      <p:sp>
        <p:nvSpPr>
          <p:cNvPr id="13" name="TextBox 1"/>
          <p:cNvSpPr txBox="1"/>
          <p:nvPr/>
        </p:nvSpPr>
        <p:spPr>
          <a:xfrm>
            <a:off x="1495352" y="4203699"/>
            <a:ext cx="4355359" cy="448200"/>
          </a:xfrm>
          <a:prstGeom prst="rect">
            <a:avLst/>
          </a:prstGeom>
          <a:noFill/>
        </p:spPr>
        <p:txBody>
          <a:bodyPr wrap="none" lIns="0" tIns="0" rIns="0" rtlCol="0">
            <a:spAutoFit/>
          </a:bodyPr>
          <a:lstStyle/>
          <a:p>
            <a:pPr>
              <a:lnSpc>
                <a:spcPts val="3400"/>
              </a:lnSpc>
            </a:pPr>
            <a:r>
              <a:rPr lang="en-US" altLang="zh-CN" sz="2599" b="1" dirty="0">
                <a:solidFill>
                  <a:srgbClr val="000000"/>
                </a:solidFill>
                <a:latin typeface="微软雅黑" pitchFamily="18" charset="0"/>
                <a:cs typeface="微软雅黑" pitchFamily="18" charset="0"/>
              </a:rPr>
              <a:t>《新一代人工智能伦理规范》</a:t>
            </a:r>
          </a:p>
        </p:txBody>
      </p:sp>
      <p:sp>
        <p:nvSpPr>
          <p:cNvPr id="16" name="TextBox 1">
            <a:extLst>
              <a:ext uri="{FF2B5EF4-FFF2-40B4-BE49-F238E27FC236}">
                <a16:creationId xmlns:a16="http://schemas.microsoft.com/office/drawing/2014/main" id="{B4134FC7-0C0F-324D-B4C7-F2362698E0FD}"/>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74</a:t>
            </a:r>
          </a:p>
        </p:txBody>
      </p:sp>
      <p:sp>
        <p:nvSpPr>
          <p:cNvPr id="17" name="Freeform 3">
            <a:extLst>
              <a:ext uri="{FF2B5EF4-FFF2-40B4-BE49-F238E27FC236}">
                <a16:creationId xmlns:a16="http://schemas.microsoft.com/office/drawing/2014/main" id="{5B33635A-200F-2B4E-8931-99AB77A2854C}"/>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1">
            <a:extLst>
              <a:ext uri="{FF2B5EF4-FFF2-40B4-BE49-F238E27FC236}">
                <a16:creationId xmlns:a16="http://schemas.microsoft.com/office/drawing/2014/main" id="{68F82DC2-E5AB-DD4A-BE04-6851FAAEA413}"/>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国家战略</a:t>
            </a:r>
          </a:p>
        </p:txBody>
      </p:sp>
      <p:sp>
        <p:nvSpPr>
          <p:cNvPr id="14" name="TextBox 1">
            <a:extLst>
              <a:ext uri="{FF2B5EF4-FFF2-40B4-BE49-F238E27FC236}">
                <a16:creationId xmlns:a16="http://schemas.microsoft.com/office/drawing/2014/main" id="{5990DFCD-CEB7-6547-8E72-7014A1C3A958}"/>
              </a:ext>
            </a:extLst>
          </p:cNvPr>
          <p:cNvSpPr txBox="1"/>
          <p:nvPr/>
        </p:nvSpPr>
        <p:spPr>
          <a:xfrm>
            <a:off x="1266751" y="5466344"/>
            <a:ext cx="9576340" cy="454676"/>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2025</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年</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8</a:t>
            </a:r>
            <a:r>
              <a:rPr lang="zh-CN" altLang="en-US" sz="2599" b="1" dirty="0">
                <a:solidFill>
                  <a:srgbClr val="000000"/>
                </a:solidFill>
                <a:latin typeface="Calibri" pitchFamily="18" charset="0"/>
                <a:cs typeface="Calibri" pitchFamily="18" charset="0"/>
              </a:rPr>
              <a:t> </a:t>
            </a:r>
            <a:r>
              <a:rPr lang="en-US" altLang="zh-CN" sz="2599" b="1" dirty="0">
                <a:solidFill>
                  <a:srgbClr val="000000"/>
                </a:solidFill>
                <a:latin typeface="微软雅黑" pitchFamily="18" charset="0"/>
                <a:cs typeface="微软雅黑" pitchFamily="18" charset="0"/>
              </a:rPr>
              <a:t>月，</a:t>
            </a:r>
            <a:r>
              <a:rPr lang="zh-CN" altLang="en-US" sz="2599" b="1" dirty="0">
                <a:solidFill>
                  <a:srgbClr val="000000"/>
                </a:solidFill>
                <a:latin typeface="微软雅黑" pitchFamily="18" charset="0"/>
                <a:cs typeface="微软雅黑" pitchFamily="18" charset="0"/>
              </a:rPr>
              <a:t>国务院关于深入实施“人工智能</a:t>
            </a:r>
            <a:r>
              <a:rPr lang="en-US" altLang="zh-CN" sz="2599" b="1" dirty="0">
                <a:solidFill>
                  <a:srgbClr val="000000"/>
                </a:solidFill>
                <a:latin typeface="微软雅黑" pitchFamily="18" charset="0"/>
                <a:cs typeface="微软雅黑" pitchFamily="18" charset="0"/>
              </a:rPr>
              <a:t>+”</a:t>
            </a:r>
            <a:r>
              <a:rPr lang="zh-CN" altLang="en-US" sz="2599" b="1" dirty="0">
                <a:solidFill>
                  <a:srgbClr val="000000"/>
                </a:solidFill>
                <a:latin typeface="微软雅黑" pitchFamily="18" charset="0"/>
                <a:cs typeface="微软雅黑" pitchFamily="18" charset="0"/>
              </a:rPr>
              <a:t>行动提出意见</a:t>
            </a:r>
            <a:endParaRPr lang="en-US" altLang="zh-CN" sz="2599" b="1" dirty="0">
              <a:solidFill>
                <a:srgbClr val="000000"/>
              </a:solidFill>
              <a:latin typeface="微软雅黑" pitchFamily="18" charset="0"/>
              <a:cs typeface="微软雅黑" pitchFamily="18" charset="0"/>
            </a:endParaRPr>
          </a:p>
        </p:txBody>
      </p:sp>
      <p:sp>
        <p:nvSpPr>
          <p:cNvPr id="15" name="TextBox 1">
            <a:extLst>
              <a:ext uri="{FF2B5EF4-FFF2-40B4-BE49-F238E27FC236}">
                <a16:creationId xmlns:a16="http://schemas.microsoft.com/office/drawing/2014/main" id="{E184C5DE-8F00-6B4B-9741-5044E104A909}"/>
              </a:ext>
            </a:extLst>
          </p:cNvPr>
          <p:cNvSpPr txBox="1"/>
          <p:nvPr/>
        </p:nvSpPr>
        <p:spPr>
          <a:xfrm>
            <a:off x="1266751" y="4800982"/>
            <a:ext cx="873637" cy="451855"/>
          </a:xfrm>
          <a:prstGeom prst="rect">
            <a:avLst/>
          </a:prstGeom>
          <a:noFill/>
        </p:spPr>
        <p:txBody>
          <a:bodyPr wrap="none" lIns="0" tIns="0" rIns="0" rtlCol="0">
            <a:spAutoFit/>
          </a:bodyPr>
          <a:lstStyle/>
          <a:p>
            <a:pPr>
              <a:lnSpc>
                <a:spcPts val="3400"/>
              </a:lnSpc>
            </a:pPr>
            <a:r>
              <a:rPr lang="en-US" altLang="zh-CN" sz="2599" dirty="0">
                <a:solidFill>
                  <a:srgbClr val="000000"/>
                </a:solidFill>
                <a:latin typeface="Arial" pitchFamily="18" charset="0"/>
                <a:cs typeface="Arial" pitchFamily="18" charset="0"/>
              </a:rPr>
              <a:t>•</a:t>
            </a:r>
            <a:r>
              <a:rPr lang="zh-CN" altLang="en-US" sz="2599" dirty="0">
                <a:solidFill>
                  <a:srgbClr val="000000"/>
                </a:solidFill>
                <a:latin typeface="Arial" pitchFamily="18" charset="0"/>
                <a:cs typeface="Arial" pitchFamily="18" charset="0"/>
              </a:rPr>
              <a:t> </a:t>
            </a:r>
            <a:r>
              <a:rPr lang="en-US" altLang="zh-CN" sz="2599" dirty="0">
                <a:solidFill>
                  <a:srgbClr val="000000"/>
                </a:solidFill>
                <a:latin typeface="Arial" pitchFamily="18" charset="0"/>
                <a:cs typeface="Arial" pitchFamily="18" charset="0"/>
              </a:rPr>
              <a:t>······</a:t>
            </a:r>
            <a:endParaRPr lang="en-US" altLang="zh-CN" sz="2599" b="1" dirty="0">
              <a:solidFill>
                <a:srgbClr val="000000"/>
              </a:solidFill>
              <a:latin typeface="微软雅黑" pitchFamily="18" charset="0"/>
              <a:cs typeface="微软雅黑"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035301" y="2654301"/>
            <a:ext cx="6187591" cy="790601"/>
          </a:xfrm>
          <a:prstGeom prst="rect">
            <a:avLst/>
          </a:prstGeom>
          <a:noFill/>
        </p:spPr>
        <p:txBody>
          <a:bodyPr wrap="none" lIns="0" tIns="0" rIns="0" rtlCol="0">
            <a:spAutoFit/>
          </a:bodyPr>
          <a:lstStyle/>
          <a:p>
            <a:pPr>
              <a:lnSpc>
                <a:spcPts val="6300"/>
              </a:lnSpc>
            </a:pPr>
            <a:r>
              <a:rPr lang="en-US" altLang="zh-CN" sz="4800" b="1" dirty="0">
                <a:solidFill>
                  <a:srgbClr val="000000"/>
                </a:solidFill>
                <a:latin typeface="微软雅黑" pitchFamily="18" charset="0"/>
                <a:cs typeface="微软雅黑" pitchFamily="18" charset="0"/>
              </a:rPr>
              <a:t>如何学习人工智能技术</a:t>
            </a:r>
          </a:p>
        </p:txBody>
      </p:sp>
      <p:sp>
        <p:nvSpPr>
          <p:cNvPr id="7" name="TextBox 1">
            <a:extLst>
              <a:ext uri="{FF2B5EF4-FFF2-40B4-BE49-F238E27FC236}">
                <a16:creationId xmlns:a16="http://schemas.microsoft.com/office/drawing/2014/main" id="{4326B7BB-F09E-CF4A-8CFD-867F31E69E19}"/>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75</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6058014" y="2594779"/>
            <a:ext cx="546100" cy="456403"/>
          </a:xfrm>
          <a:custGeom>
            <a:avLst/>
            <a:gdLst>
              <a:gd name="connsiteX0" fmla="*/ 0 w 546100"/>
              <a:gd name="connsiteY0" fmla="*/ 114100 h 456403"/>
              <a:gd name="connsiteX1" fmla="*/ 317898 w 546100"/>
              <a:gd name="connsiteY1" fmla="*/ 114100 h 456403"/>
              <a:gd name="connsiteX2" fmla="*/ 317898 w 546100"/>
              <a:gd name="connsiteY2" fmla="*/ 0 h 456403"/>
              <a:gd name="connsiteX3" fmla="*/ 546100 w 546100"/>
              <a:gd name="connsiteY3" fmla="*/ 228202 h 456403"/>
              <a:gd name="connsiteX4" fmla="*/ 317898 w 546100"/>
              <a:gd name="connsiteY4" fmla="*/ 456403 h 456403"/>
              <a:gd name="connsiteX5" fmla="*/ 317898 w 546100"/>
              <a:gd name="connsiteY5" fmla="*/ 342303 h 456403"/>
              <a:gd name="connsiteX6" fmla="*/ 0 w 546100"/>
              <a:gd name="connsiteY6" fmla="*/ 342303 h 456403"/>
              <a:gd name="connsiteX7" fmla="*/ 0 w 546100"/>
              <a:gd name="connsiteY7" fmla="*/ 114100 h 45640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546100" h="456403">
                <a:moveTo>
                  <a:pt x="0" y="114100"/>
                </a:moveTo>
                <a:lnTo>
                  <a:pt x="317898" y="114100"/>
                </a:lnTo>
                <a:lnTo>
                  <a:pt x="317898" y="0"/>
                </a:lnTo>
                <a:lnTo>
                  <a:pt x="546100" y="228202"/>
                </a:lnTo>
                <a:lnTo>
                  <a:pt x="317898" y="456403"/>
                </a:lnTo>
                <a:lnTo>
                  <a:pt x="317898" y="342303"/>
                </a:lnTo>
                <a:lnTo>
                  <a:pt x="0" y="342303"/>
                </a:lnTo>
                <a:lnTo>
                  <a:pt x="0" y="114100"/>
                </a:lnTo>
              </a:path>
            </a:pathLst>
          </a:custGeom>
          <a:solidFill>
            <a:srgbClr val="8FAAD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2209800" y="1828800"/>
            <a:ext cx="3797300" cy="1981200"/>
          </a:xfrm>
          <a:prstGeom prst="rect">
            <a:avLst/>
          </a:prstGeom>
          <a:noFill/>
        </p:spPr>
      </p:pic>
      <p:pic>
        <p:nvPicPr>
          <p:cNvPr id="7" name="Picture 3"/>
          <p:cNvPicPr>
            <a:picLocks noChangeAspect="1" noChangeArrowheads="1"/>
          </p:cNvPicPr>
          <p:nvPr/>
        </p:nvPicPr>
        <p:blipFill>
          <a:blip r:embed="rId4"/>
          <a:srcRect/>
          <a:stretch>
            <a:fillRect/>
          </a:stretch>
        </p:blipFill>
        <p:spPr bwMode="auto">
          <a:xfrm>
            <a:off x="6616700" y="1828800"/>
            <a:ext cx="3505200" cy="1981200"/>
          </a:xfrm>
          <a:prstGeom prst="rect">
            <a:avLst/>
          </a:prstGeom>
          <a:noFill/>
        </p:spPr>
      </p:pic>
      <p:sp>
        <p:nvSpPr>
          <p:cNvPr id="2" name="TextBox 1"/>
          <p:cNvSpPr txBox="1"/>
          <p:nvPr/>
        </p:nvSpPr>
        <p:spPr>
          <a:xfrm>
            <a:off x="990600" y="694793"/>
            <a:ext cx="5714706" cy="86754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目前人工智能几乎完全依赖计算机</a:t>
            </a:r>
          </a:p>
        </p:txBody>
      </p:sp>
      <p:sp>
        <p:nvSpPr>
          <p:cNvPr id="8" name="TextBox 1"/>
          <p:cNvSpPr txBox="1"/>
          <p:nvPr/>
        </p:nvSpPr>
        <p:spPr>
          <a:xfrm>
            <a:off x="994144" y="4681637"/>
            <a:ext cx="9074600" cy="1610697"/>
          </a:xfrm>
          <a:prstGeom prst="rect">
            <a:avLst/>
          </a:prstGeom>
          <a:noFill/>
        </p:spPr>
        <p:txBody>
          <a:bodyPr wrap="none" lIns="0" tIns="0" rIns="0" rtlCol="0">
            <a:spAutoFit/>
          </a:bodyPr>
          <a:lstStyle/>
          <a:p>
            <a:pPr>
              <a:lnSpc>
                <a:spcPts val="3600"/>
              </a:lnSpc>
              <a:tabLst>
                <a:tab pos="457200" algn="l"/>
                <a:tab pos="685800" algn="l"/>
                <a:tab pos="76581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学习人工智能的核心</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：了解主要技术手段和方法</a:t>
            </a:r>
          </a:p>
          <a:p>
            <a:pPr>
              <a:lnSpc>
                <a:spcPts val="3600"/>
              </a:lnSpc>
              <a:tabLst>
                <a:tab pos="457200" algn="l"/>
                <a:tab pos="685800" algn="l"/>
                <a:tab pos="76581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优化</a:t>
            </a: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a:t>
            </a:r>
            <a:r>
              <a:rPr lang="en-US" altLang="zh-CN" sz="2400" dirty="0">
                <a:solidFill>
                  <a:srgbClr val="000000"/>
                </a:solidFill>
                <a:latin typeface="微软雅黑" pitchFamily="18" charset="0"/>
                <a:cs typeface="微软雅黑" pitchFamily="18" charset="0"/>
              </a:rPr>
              <a:t>搜索</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，机器学习，深度学习，强化学习，大数据，</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000"/>
              </a:lnSpc>
              <a:tabLst>
                <a:tab pos="457200" algn="l"/>
                <a:tab pos="685800" algn="l"/>
                <a:tab pos="7658100" algn="l"/>
              </a:tabLst>
            </a:pPr>
            <a:r>
              <a:rPr lang="en-US" altLang="zh-CN" dirty="0"/>
              <a:t>			</a:t>
            </a:r>
            <a:endParaRPr lang="en-US" altLang="zh-CN" sz="1200" dirty="0">
              <a:solidFill>
                <a:srgbClr val="898989"/>
              </a:solidFill>
              <a:latin typeface="Calibri" pitchFamily="18" charset="0"/>
              <a:cs typeface="Calibri" pitchFamily="18" charset="0"/>
            </a:endParaRPr>
          </a:p>
        </p:txBody>
      </p:sp>
      <p:sp>
        <p:nvSpPr>
          <p:cNvPr id="9" name="TextBox 1"/>
          <p:cNvSpPr txBox="1"/>
          <p:nvPr/>
        </p:nvSpPr>
        <p:spPr>
          <a:xfrm>
            <a:off x="3771901" y="3975101"/>
            <a:ext cx="769441" cy="353943"/>
          </a:xfrm>
          <a:prstGeom prst="rect">
            <a:avLst/>
          </a:prstGeom>
          <a:noFill/>
        </p:spPr>
        <p:txBody>
          <a:bodyPr wrap="none" lIns="0" tIns="0" rIns="0" rtlCol="0">
            <a:spAutoFit/>
          </a:bodyPr>
          <a:lstStyle/>
          <a:p>
            <a:pPr>
              <a:lnSpc>
                <a:spcPts val="2600"/>
              </a:lnSpc>
            </a:pPr>
            <a:r>
              <a:rPr lang="en-US" altLang="zh-CN" sz="2000" dirty="0">
                <a:solidFill>
                  <a:srgbClr val="000000"/>
                </a:solidFill>
                <a:latin typeface="微软雅黑" pitchFamily="18" charset="0"/>
                <a:cs typeface="微软雅黑" pitchFamily="18" charset="0"/>
              </a:rPr>
              <a:t>数字化</a:t>
            </a:r>
          </a:p>
        </p:txBody>
      </p:sp>
      <p:sp>
        <p:nvSpPr>
          <p:cNvPr id="10" name="TextBox 1"/>
          <p:cNvSpPr txBox="1"/>
          <p:nvPr/>
        </p:nvSpPr>
        <p:spPr>
          <a:xfrm>
            <a:off x="8026401" y="3975101"/>
            <a:ext cx="705321" cy="353943"/>
          </a:xfrm>
          <a:prstGeom prst="rect">
            <a:avLst/>
          </a:prstGeom>
          <a:noFill/>
        </p:spPr>
        <p:txBody>
          <a:bodyPr wrap="none" lIns="0" tIns="0" rIns="0" rtlCol="0">
            <a:spAutoFit/>
          </a:bodyPr>
          <a:lstStyle/>
          <a:p>
            <a:pPr>
              <a:lnSpc>
                <a:spcPts val="2600"/>
              </a:lnSpc>
            </a:pPr>
            <a:r>
              <a:rPr lang="en-US" altLang="zh-CN" sz="2000" dirty="0">
                <a:solidFill>
                  <a:srgbClr val="000000"/>
                </a:solidFill>
                <a:latin typeface="微软雅黑" pitchFamily="18" charset="0"/>
                <a:cs typeface="微软雅黑" pitchFamily="18" charset="0"/>
              </a:rPr>
              <a:t>算</a:t>
            </a:r>
            <a:r>
              <a:rPr lang="en-US" altLang="zh-CN" sz="2000" dirty="0">
                <a:latin typeface="Times New Roman" pitchFamily="18" charset="0"/>
                <a:cs typeface="Times New Roman" pitchFamily="18" charset="0"/>
              </a:rPr>
              <a:t>   </a:t>
            </a:r>
            <a:r>
              <a:rPr lang="en-US" altLang="zh-CN" sz="2000" dirty="0">
                <a:solidFill>
                  <a:srgbClr val="000000"/>
                </a:solidFill>
                <a:latin typeface="微软雅黑" pitchFamily="18" charset="0"/>
                <a:cs typeface="微软雅黑" pitchFamily="18" charset="0"/>
              </a:rPr>
              <a:t>法</a:t>
            </a:r>
          </a:p>
        </p:txBody>
      </p:sp>
      <p:sp>
        <p:nvSpPr>
          <p:cNvPr id="13" name="TextBox 1">
            <a:extLst>
              <a:ext uri="{FF2B5EF4-FFF2-40B4-BE49-F238E27FC236}">
                <a16:creationId xmlns:a16="http://schemas.microsoft.com/office/drawing/2014/main" id="{E966128C-15D5-4943-9CDC-B4CC2F60B4CF}"/>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76</a:t>
            </a:r>
          </a:p>
        </p:txBody>
      </p:sp>
      <p:sp>
        <p:nvSpPr>
          <p:cNvPr id="14" name="Freeform 3">
            <a:extLst>
              <a:ext uri="{FF2B5EF4-FFF2-40B4-BE49-F238E27FC236}">
                <a16:creationId xmlns:a16="http://schemas.microsoft.com/office/drawing/2014/main" id="{A85AF5ED-4E71-0C4A-B406-D1CD290F2836}"/>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TextBox 1">
            <a:extLst>
              <a:ext uri="{FF2B5EF4-FFF2-40B4-BE49-F238E27FC236}">
                <a16:creationId xmlns:a16="http://schemas.microsoft.com/office/drawing/2014/main" id="{083A0642-CB28-1941-907E-DBFA406B4FF4}"/>
              </a:ext>
            </a:extLst>
          </p:cNvPr>
          <p:cNvSpPr txBox="1"/>
          <p:nvPr/>
        </p:nvSpPr>
        <p:spPr>
          <a:xfrm>
            <a:off x="472354" y="152400"/>
            <a:ext cx="7415492"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了解实现人工智能的主要技术手段和方法</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5652259" y="4699292"/>
            <a:ext cx="685800" cy="546100"/>
          </a:xfrm>
          <a:custGeom>
            <a:avLst/>
            <a:gdLst>
              <a:gd name="connsiteX0" fmla="*/ 0 w 685800"/>
              <a:gd name="connsiteY0" fmla="*/ 136525 h 546100"/>
              <a:gd name="connsiteX1" fmla="*/ 412751 w 685800"/>
              <a:gd name="connsiteY1" fmla="*/ 136525 h 546100"/>
              <a:gd name="connsiteX2" fmla="*/ 412751 w 685800"/>
              <a:gd name="connsiteY2" fmla="*/ 0 h 546100"/>
              <a:gd name="connsiteX3" fmla="*/ 685800 w 685800"/>
              <a:gd name="connsiteY3" fmla="*/ 273050 h 546100"/>
              <a:gd name="connsiteX4" fmla="*/ 412751 w 685800"/>
              <a:gd name="connsiteY4" fmla="*/ 546100 h 546100"/>
              <a:gd name="connsiteX5" fmla="*/ 412751 w 685800"/>
              <a:gd name="connsiteY5" fmla="*/ 409575 h 546100"/>
              <a:gd name="connsiteX6" fmla="*/ 0 w 685800"/>
              <a:gd name="connsiteY6" fmla="*/ 409575 h 546100"/>
              <a:gd name="connsiteX7" fmla="*/ 136525 w 685800"/>
              <a:gd name="connsiteY7" fmla="*/ 273050 h 546100"/>
              <a:gd name="connsiteX8" fmla="*/ 0 w 685800"/>
              <a:gd name="connsiteY8" fmla="*/ 136525 h 54610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685800" h="546100">
                <a:moveTo>
                  <a:pt x="0" y="136525"/>
                </a:moveTo>
                <a:lnTo>
                  <a:pt x="412751" y="136525"/>
                </a:lnTo>
                <a:lnTo>
                  <a:pt x="412751" y="0"/>
                </a:lnTo>
                <a:lnTo>
                  <a:pt x="685800" y="273050"/>
                </a:lnTo>
                <a:lnTo>
                  <a:pt x="412751" y="546100"/>
                </a:lnTo>
                <a:lnTo>
                  <a:pt x="412751" y="409575"/>
                </a:lnTo>
                <a:lnTo>
                  <a:pt x="0" y="409575"/>
                </a:lnTo>
                <a:lnTo>
                  <a:pt x="136525" y="273050"/>
                </a:lnTo>
                <a:lnTo>
                  <a:pt x="0" y="136525"/>
                </a:lnTo>
              </a:path>
            </a:pathLst>
          </a:custGeom>
          <a:solidFill>
            <a:srgbClr val="8FAAD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1930400" y="2959392"/>
            <a:ext cx="3771900" cy="2908300"/>
          </a:xfrm>
          <a:prstGeom prst="rect">
            <a:avLst/>
          </a:prstGeom>
          <a:noFill/>
        </p:spPr>
      </p:pic>
      <p:pic>
        <p:nvPicPr>
          <p:cNvPr id="7" name="Picture 3"/>
          <p:cNvPicPr>
            <a:picLocks noChangeAspect="1" noChangeArrowheads="1"/>
          </p:cNvPicPr>
          <p:nvPr/>
        </p:nvPicPr>
        <p:blipFill>
          <a:blip r:embed="rId4"/>
          <a:srcRect/>
          <a:stretch>
            <a:fillRect/>
          </a:stretch>
        </p:blipFill>
        <p:spPr bwMode="auto">
          <a:xfrm>
            <a:off x="6286500" y="2959392"/>
            <a:ext cx="4114800" cy="2908300"/>
          </a:xfrm>
          <a:prstGeom prst="rect">
            <a:avLst/>
          </a:prstGeom>
          <a:noFill/>
        </p:spPr>
      </p:pic>
      <p:sp>
        <p:nvSpPr>
          <p:cNvPr id="2" name="TextBox 1"/>
          <p:cNvSpPr txBox="1"/>
          <p:nvPr/>
        </p:nvSpPr>
        <p:spPr>
          <a:xfrm>
            <a:off x="914400" y="823134"/>
            <a:ext cx="9500999" cy="1795363"/>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像任何有用的技术一</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样）人工智能技术上手越来越容易</a:t>
            </a:r>
          </a:p>
          <a:p>
            <a:pPr>
              <a:lnSpc>
                <a:spcPts val="37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err="1">
                <a:solidFill>
                  <a:srgbClr val="000000"/>
                </a:solidFill>
                <a:latin typeface="微软雅黑" pitchFamily="18" charset="0"/>
                <a:cs typeface="微软雅黑" pitchFamily="18" charset="0"/>
              </a:rPr>
              <a:t>有用的技术，一定会越来越好用（更方便</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，更强大）</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err="1">
                <a:solidFill>
                  <a:srgbClr val="000000"/>
                </a:solidFill>
                <a:latin typeface="微软雅黑" pitchFamily="18" charset="0"/>
                <a:cs typeface="微软雅黑" pitchFamily="18" charset="0"/>
              </a:rPr>
              <a:t>掌握</a:t>
            </a:r>
            <a:r>
              <a:rPr lang="en-US" altLang="zh-CN" sz="2400" b="1" dirty="0" err="1">
                <a:solidFill>
                  <a:srgbClr val="C00000"/>
                </a:solidFill>
                <a:latin typeface="微软雅黑" pitchFamily="18" charset="0"/>
                <a:cs typeface="微软雅黑" pitchFamily="18" charset="0"/>
              </a:rPr>
              <a:t>知识</a:t>
            </a:r>
            <a:r>
              <a:rPr lang="en-US" altLang="zh-CN" sz="2400" dirty="0" err="1">
                <a:solidFill>
                  <a:srgbClr val="000000"/>
                </a:solidFill>
                <a:latin typeface="微软雅黑" pitchFamily="18" charset="0"/>
                <a:cs typeface="微软雅黑" pitchFamily="18" charset="0"/>
              </a:rPr>
              <a:t>比掌握工具重要</a:t>
            </a:r>
            <a:endParaRPr lang="en-US" altLang="zh-CN" sz="2400" dirty="0">
              <a:solidFill>
                <a:srgbClr val="000000"/>
              </a:solidFill>
              <a:latin typeface="微软雅黑" pitchFamily="18" charset="0"/>
              <a:cs typeface="微软雅黑" pitchFamily="18" charset="0"/>
            </a:endParaRPr>
          </a:p>
        </p:txBody>
      </p:sp>
      <p:sp>
        <p:nvSpPr>
          <p:cNvPr id="9" name="TextBox 1"/>
          <p:cNvSpPr txBox="1"/>
          <p:nvPr/>
        </p:nvSpPr>
        <p:spPr>
          <a:xfrm>
            <a:off x="7658101" y="5905793"/>
            <a:ext cx="1615827" cy="495007"/>
          </a:xfrm>
          <a:prstGeom prst="rect">
            <a:avLst/>
          </a:prstGeom>
          <a:noFill/>
        </p:spPr>
        <p:txBody>
          <a:bodyPr wrap="none" lIns="0" tIns="0" rIns="0" rtlCol="0">
            <a:spAutoFit/>
          </a:bodyPr>
          <a:lstStyle/>
          <a:p>
            <a:pPr>
              <a:lnSpc>
                <a:spcPts val="1900"/>
              </a:lnSpc>
              <a:tabLst>
                <a:tab pos="279400" algn="l"/>
              </a:tabLst>
            </a:pPr>
            <a:r>
              <a:rPr lang="en-US" altLang="zh-CN" dirty="0"/>
              <a:t>	</a:t>
            </a:r>
            <a:r>
              <a:rPr lang="en-US" altLang="zh-CN" sz="1599" dirty="0">
                <a:solidFill>
                  <a:srgbClr val="000000"/>
                </a:solidFill>
                <a:latin typeface="Calibri" pitchFamily="18" charset="0"/>
                <a:cs typeface="Calibri" pitchFamily="18" charset="0"/>
              </a:rPr>
              <a:t>PerceptiLabs</a:t>
            </a:r>
          </a:p>
          <a:p>
            <a:pPr>
              <a:lnSpc>
                <a:spcPts val="1600"/>
              </a:lnSpc>
              <a:tabLst>
                <a:tab pos="279400" algn="l"/>
              </a:tabLst>
            </a:pPr>
            <a:r>
              <a:rPr lang="en-US" altLang="zh-CN" sz="1399" dirty="0">
                <a:solidFill>
                  <a:srgbClr val="000000"/>
                </a:solidFill>
                <a:latin typeface="微软雅黑" pitchFamily="18" charset="0"/>
                <a:cs typeface="微软雅黑" pitchFamily="18" charset="0"/>
              </a:rPr>
              <a:t>机器学习模型可视化</a:t>
            </a:r>
          </a:p>
        </p:txBody>
      </p:sp>
      <p:sp>
        <p:nvSpPr>
          <p:cNvPr id="10" name="TextBox 1"/>
          <p:cNvSpPr txBox="1"/>
          <p:nvPr/>
        </p:nvSpPr>
        <p:spPr>
          <a:xfrm>
            <a:off x="3289300" y="6070892"/>
            <a:ext cx="1077218"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手动编写代码</a:t>
            </a:r>
          </a:p>
        </p:txBody>
      </p:sp>
      <p:sp>
        <p:nvSpPr>
          <p:cNvPr id="13" name="TextBox 1">
            <a:extLst>
              <a:ext uri="{FF2B5EF4-FFF2-40B4-BE49-F238E27FC236}">
                <a16:creationId xmlns:a16="http://schemas.microsoft.com/office/drawing/2014/main" id="{849E787A-E5C5-C94E-B82D-1968AEDDC5E1}"/>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77</a:t>
            </a:r>
          </a:p>
        </p:txBody>
      </p:sp>
      <p:sp>
        <p:nvSpPr>
          <p:cNvPr id="14" name="Freeform 3">
            <a:extLst>
              <a:ext uri="{FF2B5EF4-FFF2-40B4-BE49-F238E27FC236}">
                <a16:creationId xmlns:a16="http://schemas.microsoft.com/office/drawing/2014/main" id="{3C9C3990-941E-014D-ACC8-FF58F03DA470}"/>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TextBox 1">
            <a:extLst>
              <a:ext uri="{FF2B5EF4-FFF2-40B4-BE49-F238E27FC236}">
                <a16:creationId xmlns:a16="http://schemas.microsoft.com/office/drawing/2014/main" id="{BCA3737B-B006-8949-8D6E-38765180BDE6}"/>
              </a:ext>
            </a:extLst>
          </p:cNvPr>
          <p:cNvSpPr txBox="1"/>
          <p:nvPr/>
        </p:nvSpPr>
        <p:spPr>
          <a:xfrm>
            <a:off x="472354" y="152400"/>
            <a:ext cx="4943661" cy="542393"/>
          </a:xfrm>
          <a:prstGeom prst="rect">
            <a:avLst/>
          </a:prstGeom>
          <a:noFill/>
        </p:spPr>
        <p:txBody>
          <a:bodyPr wrap="none" lIns="0" tIns="0" rIns="0" rtlCol="0">
            <a:spAutoFit/>
          </a:bodyPr>
          <a:lstStyle/>
          <a:p>
            <a:pPr>
              <a:lnSpc>
                <a:spcPts val="4200"/>
              </a:lnSpc>
              <a:tabLst>
                <a:tab pos="228600" algn="l"/>
                <a:tab pos="457200" algn="l"/>
              </a:tabLst>
            </a:pPr>
            <a:r>
              <a:rPr lang="en-US" altLang="zh-CN" sz="3199" b="1" dirty="0">
                <a:solidFill>
                  <a:srgbClr val="000000"/>
                </a:solidFill>
                <a:latin typeface="微软雅黑" pitchFamily="18" charset="0"/>
                <a:cs typeface="微软雅黑" pitchFamily="18" charset="0"/>
              </a:rPr>
              <a:t>人工智能技术的门槛在降低</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914400" y="987802"/>
            <a:ext cx="7968528" cy="3462486"/>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算法代码本身可能很短很简单</a:t>
            </a:r>
          </a:p>
          <a:p>
            <a:pPr>
              <a:lnSpc>
                <a:spcPts val="37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我们现在还可以让</a:t>
            </a:r>
            <a:r>
              <a:rPr lang="en-US" altLang="zh-CN" sz="2400" dirty="0">
                <a:solidFill>
                  <a:srgbClr val="000000"/>
                </a:solidFill>
                <a:latin typeface="Calibri" pitchFamily="18" charset="0"/>
                <a:cs typeface="Calibri" pitchFamily="18" charset="0"/>
              </a:rPr>
              <a:t>AI</a:t>
            </a:r>
            <a:r>
              <a:rPr lang="en-US" altLang="zh-CN" sz="2400" dirty="0">
                <a:solidFill>
                  <a:srgbClr val="000000"/>
                </a:solidFill>
                <a:latin typeface="微软雅黑" pitchFamily="18" charset="0"/>
                <a:cs typeface="微软雅黑" pitchFamily="18" charset="0"/>
              </a:rPr>
              <a:t>来写人工智能算法代码</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3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关注的不仅仅是算法，</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而是</a:t>
            </a:r>
            <a:r>
              <a:rPr lang="en-US" altLang="zh-CN" sz="2800" b="1" dirty="0">
                <a:solidFill>
                  <a:srgbClr val="C00000"/>
                </a:solidFill>
                <a:latin typeface="微软雅黑" pitchFamily="18" charset="0"/>
                <a:cs typeface="微软雅黑" pitchFamily="18" charset="0"/>
              </a:rPr>
              <a:t>原理</a:t>
            </a:r>
            <a:r>
              <a:rPr lang="en-US" altLang="zh-CN" sz="2800" b="1" dirty="0">
                <a:solidFill>
                  <a:srgbClr val="000000"/>
                </a:solidFill>
                <a:latin typeface="微软雅黑" pitchFamily="18" charset="0"/>
                <a:cs typeface="微软雅黑" pitchFamily="18" charset="0"/>
              </a:rPr>
              <a:t>及</a:t>
            </a:r>
            <a:r>
              <a:rPr lang="zh-CN" altLang="en-US" sz="2800" b="1" dirty="0">
                <a:solidFill>
                  <a:srgbClr val="000000"/>
                </a:solidFill>
                <a:latin typeface="微软雅黑" pitchFamily="18" charset="0"/>
                <a:cs typeface="Times New Roman" pitchFamily="18" charset="0"/>
              </a:rPr>
              <a:t>整体</a:t>
            </a:r>
            <a:r>
              <a:rPr lang="en-US" altLang="zh-CN" sz="2800" b="1" dirty="0">
                <a:solidFill>
                  <a:srgbClr val="C00000"/>
                </a:solidFill>
                <a:latin typeface="微软雅黑" pitchFamily="18" charset="0"/>
                <a:cs typeface="微软雅黑" pitchFamily="18" charset="0"/>
              </a:rPr>
              <a:t>开发流程</a:t>
            </a:r>
          </a:p>
          <a:p>
            <a:pPr>
              <a:lnSpc>
                <a:spcPts val="37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原理：</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为</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什么</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怎么实现的</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开发流程：从提出目标，到部署应用</a:t>
            </a:r>
          </a:p>
        </p:txBody>
      </p:sp>
      <p:sp>
        <p:nvSpPr>
          <p:cNvPr id="8" name="TextBox 1">
            <a:extLst>
              <a:ext uri="{FF2B5EF4-FFF2-40B4-BE49-F238E27FC236}">
                <a16:creationId xmlns:a16="http://schemas.microsoft.com/office/drawing/2014/main" id="{C197AC93-B3B4-E14D-898A-5C48E684F5B1}"/>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78</a:t>
            </a:r>
          </a:p>
        </p:txBody>
      </p:sp>
      <p:sp>
        <p:nvSpPr>
          <p:cNvPr id="9" name="Freeform 3">
            <a:extLst>
              <a:ext uri="{FF2B5EF4-FFF2-40B4-BE49-F238E27FC236}">
                <a16:creationId xmlns:a16="http://schemas.microsoft.com/office/drawing/2014/main" id="{D9377CFE-37A8-D443-979B-ADF48E6EE7B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579CF34A-DE57-DD49-A83A-59269D23F6DD}"/>
              </a:ext>
            </a:extLst>
          </p:cNvPr>
          <p:cNvSpPr txBox="1"/>
          <p:nvPr/>
        </p:nvSpPr>
        <p:spPr>
          <a:xfrm>
            <a:off x="472354" y="152400"/>
            <a:ext cx="4943661"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运用人工智能技术解决问题</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5591175" y="5127921"/>
            <a:ext cx="895350" cy="488950"/>
          </a:xfrm>
          <a:custGeom>
            <a:avLst/>
            <a:gdLst>
              <a:gd name="connsiteX0" fmla="*/ 0 w 895350"/>
              <a:gd name="connsiteY0" fmla="*/ 244475 h 488950"/>
              <a:gd name="connsiteX1" fmla="*/ 244475 w 895350"/>
              <a:gd name="connsiteY1" fmla="*/ 0 h 488950"/>
              <a:gd name="connsiteX2" fmla="*/ 244475 w 895350"/>
              <a:gd name="connsiteY2" fmla="*/ 122237 h 488950"/>
              <a:gd name="connsiteX3" fmla="*/ 650875 w 895350"/>
              <a:gd name="connsiteY3" fmla="*/ 122237 h 488950"/>
              <a:gd name="connsiteX4" fmla="*/ 650875 w 895350"/>
              <a:gd name="connsiteY4" fmla="*/ 0 h 488950"/>
              <a:gd name="connsiteX5" fmla="*/ 895350 w 895350"/>
              <a:gd name="connsiteY5" fmla="*/ 244475 h 488950"/>
              <a:gd name="connsiteX6" fmla="*/ 650875 w 895350"/>
              <a:gd name="connsiteY6" fmla="*/ 488950 h 488950"/>
              <a:gd name="connsiteX7" fmla="*/ 650875 w 895350"/>
              <a:gd name="connsiteY7" fmla="*/ 366712 h 488950"/>
              <a:gd name="connsiteX8" fmla="*/ 244475 w 895350"/>
              <a:gd name="connsiteY8" fmla="*/ 366712 h 488950"/>
              <a:gd name="connsiteX9" fmla="*/ 244475 w 895350"/>
              <a:gd name="connsiteY9" fmla="*/ 488950 h 488950"/>
              <a:gd name="connsiteX10" fmla="*/ 0 w 895350"/>
              <a:gd name="connsiteY10" fmla="*/ 244475 h 48895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Lst>
            <a:rect l="l" t="t" r="r" b="b"/>
            <a:pathLst>
              <a:path w="895350" h="488950">
                <a:moveTo>
                  <a:pt x="0" y="244475"/>
                </a:moveTo>
                <a:lnTo>
                  <a:pt x="244475" y="0"/>
                </a:lnTo>
                <a:lnTo>
                  <a:pt x="244475" y="122237"/>
                </a:lnTo>
                <a:lnTo>
                  <a:pt x="650875" y="122237"/>
                </a:lnTo>
                <a:lnTo>
                  <a:pt x="650875" y="0"/>
                </a:lnTo>
                <a:lnTo>
                  <a:pt x="895350" y="244475"/>
                </a:lnTo>
                <a:lnTo>
                  <a:pt x="650875" y="488950"/>
                </a:lnTo>
                <a:lnTo>
                  <a:pt x="650875" y="366712"/>
                </a:lnTo>
                <a:lnTo>
                  <a:pt x="244475" y="366712"/>
                </a:lnTo>
                <a:lnTo>
                  <a:pt x="244475" y="488950"/>
                </a:lnTo>
                <a:lnTo>
                  <a:pt x="0" y="244475"/>
                </a:lnTo>
              </a:path>
            </a:pathLst>
          </a:custGeom>
          <a:solidFill>
            <a:srgbClr val="4472C4">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1"/>
          <p:cNvSpPr txBox="1"/>
          <p:nvPr/>
        </p:nvSpPr>
        <p:spPr>
          <a:xfrm>
            <a:off x="1841500" y="1219201"/>
            <a:ext cx="3403176" cy="4869923"/>
          </a:xfrm>
          <a:prstGeom prst="rect">
            <a:avLst/>
          </a:prstGeom>
          <a:noFill/>
        </p:spPr>
        <p:txBody>
          <a:bodyPr wrap="none" lIns="0" tIns="0" rIns="0" rtlCol="0">
            <a:spAutoFit/>
          </a:bodyPr>
          <a:lstStyle/>
          <a:p>
            <a:pPr>
              <a:lnSpc>
                <a:spcPts val="3600"/>
              </a:lnSpc>
              <a:tabLst>
                <a:tab pos="279400" algn="l"/>
                <a:tab pos="609600" algn="l"/>
                <a:tab pos="736600" algn="l"/>
                <a:tab pos="762000" algn="l"/>
              </a:tabLst>
            </a:pPr>
            <a:r>
              <a:rPr lang="en-US" altLang="zh-CN" dirty="0"/>
              <a:t>	</a:t>
            </a: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人工智能应用</a:t>
            </a:r>
          </a:p>
          <a:p>
            <a:pPr>
              <a:lnSpc>
                <a:spcPts val="3700"/>
              </a:lnSpc>
              <a:tabLst>
                <a:tab pos="279400" algn="l"/>
                <a:tab pos="609600" algn="l"/>
                <a:tab pos="736600" algn="l"/>
                <a:tab pos="7620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自动驾驶汽车</a:t>
            </a:r>
          </a:p>
          <a:p>
            <a:pPr>
              <a:lnSpc>
                <a:spcPts val="3600"/>
              </a:lnSpc>
              <a:tabLst>
                <a:tab pos="279400" algn="l"/>
                <a:tab pos="609600" algn="l"/>
                <a:tab pos="736600" algn="l"/>
                <a:tab pos="7620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装备故障诊断</a:t>
            </a:r>
          </a:p>
          <a:p>
            <a:pPr>
              <a:lnSpc>
                <a:spcPts val="3600"/>
              </a:lnSpc>
              <a:tabLst>
                <a:tab pos="279400" algn="l"/>
                <a:tab pos="609600" algn="l"/>
                <a:tab pos="736600" algn="l"/>
                <a:tab pos="7620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基于视觉的测量</a:t>
            </a:r>
          </a:p>
          <a:p>
            <a:pPr>
              <a:lnSpc>
                <a:spcPts val="3600"/>
              </a:lnSpc>
              <a:tabLst>
                <a:tab pos="279400" algn="l"/>
                <a:tab pos="609600" algn="l"/>
                <a:tab pos="736600" algn="l"/>
                <a:tab pos="7620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行为预测</a:t>
            </a:r>
          </a:p>
          <a:p>
            <a:pPr>
              <a:lnSpc>
                <a:spcPts val="3600"/>
              </a:lnSpc>
              <a:tabLst>
                <a:tab pos="279400" algn="l"/>
                <a:tab pos="609600" algn="l"/>
                <a:tab pos="736600" algn="l"/>
                <a:tab pos="7620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机器人控制</a:t>
            </a:r>
          </a:p>
          <a:p>
            <a:pPr>
              <a:lnSpc>
                <a:spcPts val="3700"/>
              </a:lnSpc>
              <a:tabLst>
                <a:tab pos="279400" algn="l"/>
                <a:tab pos="609600" algn="l"/>
                <a:tab pos="736600" algn="l"/>
                <a:tab pos="7620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800"/>
              </a:lnSpc>
              <a:tabLst>
                <a:tab pos="279400" algn="l"/>
                <a:tab pos="609600" algn="l"/>
                <a:tab pos="736600" algn="l"/>
                <a:tab pos="762000" algn="l"/>
              </a:tabLst>
            </a:pPr>
            <a:r>
              <a:rPr lang="en-US" altLang="zh-CN" sz="2400" b="1" dirty="0">
                <a:solidFill>
                  <a:srgbClr val="000000"/>
                </a:solidFill>
                <a:latin typeface="微软雅黑" pitchFamily="18" charset="0"/>
                <a:cs typeface="微软雅黑" pitchFamily="18" charset="0"/>
              </a:rPr>
              <a:t>针对工程中的实际问题，</a:t>
            </a:r>
          </a:p>
          <a:p>
            <a:pPr>
              <a:lnSpc>
                <a:spcPts val="2700"/>
              </a:lnSpc>
              <a:tabLst>
                <a:tab pos="279400" algn="l"/>
                <a:tab pos="609600" algn="l"/>
                <a:tab pos="736600" algn="l"/>
                <a:tab pos="762000" algn="l"/>
              </a:tabLst>
            </a:pPr>
            <a:r>
              <a:rPr lang="en-US" altLang="zh-CN" dirty="0"/>
              <a:t>		</a:t>
            </a:r>
            <a:r>
              <a:rPr lang="en-US" altLang="zh-CN" sz="2400" b="1" dirty="0">
                <a:solidFill>
                  <a:srgbClr val="000000"/>
                </a:solidFill>
                <a:latin typeface="微软雅黑" pitchFamily="18" charset="0"/>
                <a:cs typeface="微软雅黑" pitchFamily="18" charset="0"/>
              </a:rPr>
              <a:t>能够开发</a:t>
            </a:r>
            <a:r>
              <a:rPr lang="en-US" altLang="zh-CN" sz="2400" b="1" dirty="0">
                <a:solidFill>
                  <a:srgbClr val="C00000"/>
                </a:solidFill>
                <a:latin typeface="微软雅黑" pitchFamily="18" charset="0"/>
                <a:cs typeface="微软雅黑" pitchFamily="18" charset="0"/>
              </a:rPr>
              <a:t>简单的</a:t>
            </a:r>
          </a:p>
          <a:p>
            <a:pPr>
              <a:lnSpc>
                <a:spcPts val="2900"/>
              </a:lnSpc>
              <a:tabLst>
                <a:tab pos="279400" algn="l"/>
                <a:tab pos="609600" algn="l"/>
                <a:tab pos="736600" algn="l"/>
                <a:tab pos="762000" algn="l"/>
              </a:tabLst>
            </a:pPr>
            <a:r>
              <a:rPr lang="en-US" altLang="zh-CN" dirty="0"/>
              <a:t>				</a:t>
            </a:r>
            <a:r>
              <a:rPr lang="en-US" altLang="zh-CN" sz="2400" b="1" dirty="0">
                <a:solidFill>
                  <a:srgbClr val="C00000"/>
                </a:solidFill>
                <a:latin typeface="微软雅黑" pitchFamily="18" charset="0"/>
                <a:cs typeface="微软雅黑" pitchFamily="18" charset="0"/>
              </a:rPr>
              <a:t>人工智能应用</a:t>
            </a:r>
          </a:p>
        </p:txBody>
      </p:sp>
      <p:sp>
        <p:nvSpPr>
          <p:cNvPr id="9" name="TextBox 1"/>
          <p:cNvSpPr txBox="1"/>
          <p:nvPr/>
        </p:nvSpPr>
        <p:spPr>
          <a:xfrm>
            <a:off x="6235700" y="1206501"/>
            <a:ext cx="3579506" cy="4611519"/>
          </a:xfrm>
          <a:prstGeom prst="rect">
            <a:avLst/>
          </a:prstGeom>
          <a:noFill/>
        </p:spPr>
        <p:txBody>
          <a:bodyPr wrap="none" lIns="0" tIns="0" rIns="0" rtlCol="0">
            <a:spAutoFit/>
          </a:bodyPr>
          <a:lstStyle/>
          <a:p>
            <a:pPr>
              <a:lnSpc>
                <a:spcPts val="3600"/>
              </a:lnSpc>
              <a:tabLst>
                <a:tab pos="457200" algn="l"/>
                <a:tab pos="787400" algn="l"/>
                <a:tab pos="1092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主要技术手段和方法</a:t>
            </a:r>
          </a:p>
          <a:p>
            <a:pPr>
              <a:lnSpc>
                <a:spcPts val="3700"/>
              </a:lnSpc>
              <a:tabLst>
                <a:tab pos="457200" algn="l"/>
                <a:tab pos="787400" algn="l"/>
                <a:tab pos="1092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优化</a:t>
            </a:r>
          </a:p>
          <a:p>
            <a:pPr>
              <a:lnSpc>
                <a:spcPts val="3600"/>
              </a:lnSpc>
              <a:tabLst>
                <a:tab pos="457200" algn="l"/>
                <a:tab pos="787400" algn="l"/>
                <a:tab pos="1092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搜索</a:t>
            </a:r>
          </a:p>
          <a:p>
            <a:pPr>
              <a:lnSpc>
                <a:spcPts val="3600"/>
              </a:lnSpc>
              <a:tabLst>
                <a:tab pos="457200" algn="l"/>
                <a:tab pos="787400" algn="l"/>
                <a:tab pos="1092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机器学习</a:t>
            </a:r>
          </a:p>
          <a:p>
            <a:pPr>
              <a:lnSpc>
                <a:spcPts val="3600"/>
              </a:lnSpc>
              <a:tabLst>
                <a:tab pos="457200" algn="l"/>
                <a:tab pos="787400" algn="l"/>
                <a:tab pos="1092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深度学习</a:t>
            </a:r>
          </a:p>
          <a:p>
            <a:pPr>
              <a:lnSpc>
                <a:spcPts val="3600"/>
              </a:lnSpc>
              <a:tabLst>
                <a:tab pos="457200" algn="l"/>
                <a:tab pos="787400" algn="l"/>
                <a:tab pos="1092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强化学习</a:t>
            </a:r>
          </a:p>
          <a:p>
            <a:pPr>
              <a:lnSpc>
                <a:spcPts val="3600"/>
              </a:lnSpc>
              <a:tabLst>
                <a:tab pos="457200" algn="l"/>
                <a:tab pos="787400" algn="l"/>
                <a:tab pos="1092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大数据</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600"/>
              </a:lnSpc>
              <a:tabLst>
                <a:tab pos="457200" algn="l"/>
                <a:tab pos="787400" algn="l"/>
                <a:tab pos="1092200" algn="l"/>
              </a:tabLst>
            </a:pPr>
            <a:r>
              <a:rPr lang="en-US" altLang="zh-CN" dirty="0"/>
              <a:t>			</a:t>
            </a:r>
            <a:r>
              <a:rPr lang="en-US" altLang="zh-CN" sz="2400" b="1" dirty="0">
                <a:solidFill>
                  <a:srgbClr val="000000"/>
                </a:solidFill>
                <a:latin typeface="微软雅黑" pitchFamily="18" charset="0"/>
                <a:cs typeface="微软雅黑" pitchFamily="18" charset="0"/>
              </a:rPr>
              <a:t>掌握人工智能的</a:t>
            </a:r>
          </a:p>
          <a:p>
            <a:pPr>
              <a:lnSpc>
                <a:spcPts val="2700"/>
              </a:lnSpc>
              <a:tabLst>
                <a:tab pos="457200" algn="l"/>
                <a:tab pos="787400" algn="l"/>
                <a:tab pos="1092200" algn="l"/>
              </a:tabLst>
            </a:pPr>
            <a:r>
              <a:rPr lang="en-US" altLang="zh-CN" dirty="0"/>
              <a:t>		</a:t>
            </a:r>
            <a:r>
              <a:rPr lang="en-US" altLang="zh-CN" sz="2400" b="1" dirty="0">
                <a:solidFill>
                  <a:srgbClr val="C00000"/>
                </a:solidFill>
                <a:latin typeface="微软雅黑" pitchFamily="18" charset="0"/>
                <a:cs typeface="微软雅黑" pitchFamily="18" charset="0"/>
              </a:rPr>
              <a:t>主要技术手段和方法</a:t>
            </a:r>
          </a:p>
        </p:txBody>
      </p:sp>
      <p:sp>
        <p:nvSpPr>
          <p:cNvPr id="11" name="TextBox 1">
            <a:extLst>
              <a:ext uri="{FF2B5EF4-FFF2-40B4-BE49-F238E27FC236}">
                <a16:creationId xmlns:a16="http://schemas.microsoft.com/office/drawing/2014/main" id="{86E94577-7F25-8C40-A353-5AFE504D1C83}"/>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79</a:t>
            </a:r>
          </a:p>
        </p:txBody>
      </p:sp>
      <p:sp>
        <p:nvSpPr>
          <p:cNvPr id="12" name="Freeform 3">
            <a:extLst>
              <a:ext uri="{FF2B5EF4-FFF2-40B4-BE49-F238E27FC236}">
                <a16:creationId xmlns:a16="http://schemas.microsoft.com/office/drawing/2014/main" id="{85FC47CC-645C-9048-B5F9-397E74B30CE0}"/>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DC1A2A89-DE2A-4240-A8DB-1DD04490BA98}"/>
              </a:ext>
            </a:extLst>
          </p:cNvPr>
          <p:cNvSpPr txBox="1"/>
          <p:nvPr/>
        </p:nvSpPr>
        <p:spPr>
          <a:xfrm>
            <a:off x="472354" y="152400"/>
            <a:ext cx="4943661"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运用人工智能技术解决问题</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340100" y="2654301"/>
            <a:ext cx="5568832" cy="790601"/>
          </a:xfrm>
          <a:prstGeom prst="rect">
            <a:avLst/>
          </a:prstGeom>
          <a:noFill/>
        </p:spPr>
        <p:txBody>
          <a:bodyPr wrap="none" lIns="0" tIns="0" rIns="0" rtlCol="0">
            <a:spAutoFit/>
          </a:bodyPr>
          <a:lstStyle/>
          <a:p>
            <a:pPr>
              <a:lnSpc>
                <a:spcPts val="6300"/>
              </a:lnSpc>
            </a:pPr>
            <a:r>
              <a:rPr lang="en-US" altLang="zh-CN" sz="4800" b="1" dirty="0">
                <a:solidFill>
                  <a:srgbClr val="000000"/>
                </a:solidFill>
                <a:latin typeface="微软雅黑" pitchFamily="18" charset="0"/>
                <a:cs typeface="微软雅黑" pitchFamily="18" charset="0"/>
              </a:rPr>
              <a:t>本课程的内容与安排</a:t>
            </a:r>
          </a:p>
        </p:txBody>
      </p:sp>
      <p:sp>
        <p:nvSpPr>
          <p:cNvPr id="7" name="TextBox 1">
            <a:extLst>
              <a:ext uri="{FF2B5EF4-FFF2-40B4-BE49-F238E27FC236}">
                <a16:creationId xmlns:a16="http://schemas.microsoft.com/office/drawing/2014/main" id="{B777E9AA-0003-3F44-A33F-798B4AD84E32}"/>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80</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1524000" y="906554"/>
            <a:ext cx="5715539" cy="5244449"/>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39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绪论</a:t>
            </a:r>
          </a:p>
          <a:p>
            <a:pPr>
              <a:lnSpc>
                <a:spcPts val="37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基础：优化与搜索</a:t>
            </a:r>
          </a:p>
          <a:p>
            <a:pPr>
              <a:lnSpc>
                <a:spcPts val="39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核心：机器学习</a:t>
            </a:r>
          </a:p>
          <a:p>
            <a:pPr>
              <a:lnSpc>
                <a:spcPts val="27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线性回归、决策树等模型</a:t>
            </a:r>
          </a:p>
          <a:p>
            <a:pPr>
              <a:lnSpc>
                <a:spcPts val="28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神经网络模型（深度学习模型）</a:t>
            </a:r>
          </a:p>
          <a:p>
            <a:pPr>
              <a:lnSpc>
                <a:spcPts val="29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模型评价指标，防止过拟合的方法等</a:t>
            </a:r>
          </a:p>
          <a:p>
            <a:pPr>
              <a:lnSpc>
                <a:spcPts val="38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核心：强化学习</a:t>
            </a:r>
          </a:p>
          <a:p>
            <a:pPr>
              <a:lnSpc>
                <a:spcPts val="38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支撑：大数据相关技术</a:t>
            </a:r>
          </a:p>
          <a:p>
            <a:pPr>
              <a:lnSpc>
                <a:spcPts val="37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应用：机械行业中的人工智能</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6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上机：使用</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Python</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训练机器学习模型</a:t>
            </a:r>
          </a:p>
        </p:txBody>
      </p:sp>
      <p:sp>
        <p:nvSpPr>
          <p:cNvPr id="8" name="TextBox 1">
            <a:extLst>
              <a:ext uri="{FF2B5EF4-FFF2-40B4-BE49-F238E27FC236}">
                <a16:creationId xmlns:a16="http://schemas.microsoft.com/office/drawing/2014/main" id="{B7B98983-2E26-2040-AB6A-4F7B67638FED}"/>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81</a:t>
            </a:r>
          </a:p>
        </p:txBody>
      </p:sp>
      <p:sp>
        <p:nvSpPr>
          <p:cNvPr id="9" name="Freeform 3">
            <a:extLst>
              <a:ext uri="{FF2B5EF4-FFF2-40B4-BE49-F238E27FC236}">
                <a16:creationId xmlns:a16="http://schemas.microsoft.com/office/drawing/2014/main" id="{1D734F7D-DF16-CB48-B6C5-5779C4D1470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1C15FB2E-F816-BF4F-86D2-8D0A97D554B7}"/>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课程内容</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7150100" y="965200"/>
            <a:ext cx="2222500" cy="1549400"/>
          </a:xfrm>
          <a:prstGeom prst="rect">
            <a:avLst/>
          </a:prstGeom>
          <a:noFill/>
        </p:spPr>
      </p:pic>
      <p:pic>
        <p:nvPicPr>
          <p:cNvPr id="6" name="Picture 3"/>
          <p:cNvPicPr>
            <a:picLocks noChangeAspect="1" noChangeArrowheads="1"/>
          </p:cNvPicPr>
          <p:nvPr/>
        </p:nvPicPr>
        <p:blipFill>
          <a:blip r:embed="rId3"/>
          <a:srcRect/>
          <a:stretch>
            <a:fillRect/>
          </a:stretch>
        </p:blipFill>
        <p:spPr bwMode="auto">
          <a:xfrm>
            <a:off x="6629400" y="3060700"/>
            <a:ext cx="2908300" cy="1231900"/>
          </a:xfrm>
          <a:prstGeom prst="rect">
            <a:avLst/>
          </a:prstGeom>
          <a:noFill/>
        </p:spPr>
      </p:pic>
      <p:pic>
        <p:nvPicPr>
          <p:cNvPr id="7" name="Picture 3"/>
          <p:cNvPicPr>
            <a:picLocks noChangeAspect="1" noChangeArrowheads="1"/>
          </p:cNvPicPr>
          <p:nvPr/>
        </p:nvPicPr>
        <p:blipFill>
          <a:blip r:embed="rId4"/>
          <a:srcRect/>
          <a:stretch>
            <a:fillRect/>
          </a:stretch>
        </p:blipFill>
        <p:spPr bwMode="auto">
          <a:xfrm>
            <a:off x="5880100" y="4762500"/>
            <a:ext cx="2387600" cy="1663700"/>
          </a:xfrm>
          <a:prstGeom prst="rect">
            <a:avLst/>
          </a:prstGeom>
          <a:noFill/>
        </p:spPr>
      </p:pic>
      <p:pic>
        <p:nvPicPr>
          <p:cNvPr id="8" name="Picture 3"/>
          <p:cNvPicPr>
            <a:picLocks noChangeAspect="1" noChangeArrowheads="1"/>
          </p:cNvPicPr>
          <p:nvPr/>
        </p:nvPicPr>
        <p:blipFill>
          <a:blip r:embed="rId5"/>
          <a:srcRect/>
          <a:stretch>
            <a:fillRect/>
          </a:stretch>
        </p:blipFill>
        <p:spPr bwMode="auto">
          <a:xfrm>
            <a:off x="8597900" y="4902200"/>
            <a:ext cx="1447800" cy="1397000"/>
          </a:xfrm>
          <a:prstGeom prst="rect">
            <a:avLst/>
          </a:prstGeom>
          <a:noFill/>
        </p:spPr>
      </p:pic>
      <p:sp>
        <p:nvSpPr>
          <p:cNvPr id="2" name="TextBox 1"/>
          <p:cNvSpPr txBox="1"/>
          <p:nvPr/>
        </p:nvSpPr>
        <p:spPr>
          <a:xfrm>
            <a:off x="1322543" y="1035678"/>
            <a:ext cx="4087657" cy="5252079"/>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41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1.</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人工智能绪论</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2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2.</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优化与搜索</a:t>
            </a:r>
          </a:p>
          <a:p>
            <a:pPr>
              <a:lnSpc>
                <a:spcPts val="30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带约束的优化问题，凸优化</a:t>
            </a:r>
          </a:p>
          <a:p>
            <a:pPr>
              <a:lnSpc>
                <a:spcPts val="31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图与图搜索</a:t>
            </a:r>
          </a:p>
          <a:p>
            <a:pPr>
              <a:lnSpc>
                <a:spcPts val="30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路径规划</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200"/>
              </a:lnSpc>
              <a:tabLst>
                <a:tab pos="457200" algn="l"/>
              </a:tabLst>
            </a:pPr>
            <a:r>
              <a:rPr lang="en-US" altLang="zh-CN" sz="2599" dirty="0">
                <a:solidFill>
                  <a:srgbClr val="000000"/>
                </a:solidFill>
                <a:latin typeface="Arial" pitchFamily="18" charset="0"/>
                <a:cs typeface="Arial" pitchFamily="18" charset="0"/>
              </a:rPr>
              <a:t>•</a:t>
            </a:r>
            <a:r>
              <a:rPr lang="en-US" altLang="zh-CN" sz="2599" dirty="0">
                <a:latin typeface="Times New Roman" pitchFamily="18" charset="0"/>
                <a:cs typeface="Times New Roman" pitchFamily="18" charset="0"/>
              </a:rPr>
              <a:t> </a:t>
            </a:r>
            <a:r>
              <a:rPr lang="en-US" altLang="zh-CN" sz="2599" b="1" dirty="0">
                <a:solidFill>
                  <a:srgbClr val="000000"/>
                </a:solidFill>
                <a:latin typeface="Calibri" pitchFamily="18" charset="0"/>
                <a:cs typeface="Calibri" pitchFamily="18" charset="0"/>
              </a:rPr>
              <a:t>3.</a:t>
            </a:r>
            <a:r>
              <a:rPr lang="en-US" altLang="zh-CN" sz="2599" dirty="0">
                <a:latin typeface="Times New Roman" pitchFamily="18" charset="0"/>
                <a:cs typeface="Times New Roman" pitchFamily="18" charset="0"/>
              </a:rPr>
              <a:t> </a:t>
            </a:r>
            <a:r>
              <a:rPr lang="en-US" altLang="zh-CN" sz="2599" b="1" dirty="0">
                <a:solidFill>
                  <a:srgbClr val="000000"/>
                </a:solidFill>
                <a:latin typeface="微软雅黑" pitchFamily="18" charset="0"/>
                <a:cs typeface="微软雅黑" pitchFamily="18" charset="0"/>
              </a:rPr>
              <a:t>机器学习（一）</a:t>
            </a:r>
          </a:p>
          <a:p>
            <a:pPr>
              <a:lnSpc>
                <a:spcPts val="31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机器学习的分类</a:t>
            </a:r>
          </a:p>
          <a:p>
            <a:pPr>
              <a:lnSpc>
                <a:spcPts val="30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广义线性回归</a:t>
            </a:r>
          </a:p>
          <a:p>
            <a:pPr>
              <a:lnSpc>
                <a:spcPts val="3200"/>
              </a:lnSpc>
              <a:tabLst>
                <a:tab pos="457200" algn="l"/>
              </a:tabLst>
            </a:pPr>
            <a:r>
              <a:rPr lang="en-US" altLang="zh-CN" dirty="0"/>
              <a:t>	</a:t>
            </a:r>
            <a:r>
              <a:rPr lang="en-US" altLang="zh-CN" sz="2199" dirty="0">
                <a:solidFill>
                  <a:srgbClr val="000000"/>
                </a:solidFill>
                <a:latin typeface="Arial" pitchFamily="18" charset="0"/>
                <a:cs typeface="Arial" pitchFamily="18" charset="0"/>
              </a:rPr>
              <a:t>•</a:t>
            </a:r>
            <a:r>
              <a:rPr lang="en-US" altLang="zh-CN" sz="2199" dirty="0">
                <a:latin typeface="Times New Roman" pitchFamily="18" charset="0"/>
                <a:cs typeface="Times New Roman" pitchFamily="18" charset="0"/>
              </a:rPr>
              <a:t>  </a:t>
            </a:r>
            <a:r>
              <a:rPr lang="en-US" altLang="zh-CN" sz="2199" dirty="0">
                <a:solidFill>
                  <a:srgbClr val="000000"/>
                </a:solidFill>
                <a:latin typeface="微软雅黑" pitchFamily="18" charset="0"/>
                <a:cs typeface="微软雅黑" pitchFamily="18" charset="0"/>
              </a:rPr>
              <a:t>过拟合与正则化</a:t>
            </a:r>
          </a:p>
        </p:txBody>
      </p:sp>
      <p:sp>
        <p:nvSpPr>
          <p:cNvPr id="9" name="TextBox 1"/>
          <p:cNvSpPr txBox="1"/>
          <p:nvPr/>
        </p:nvSpPr>
        <p:spPr>
          <a:xfrm>
            <a:off x="9563101" y="1663700"/>
            <a:ext cx="718145" cy="2088392"/>
          </a:xfrm>
          <a:prstGeom prst="rect">
            <a:avLst/>
          </a:prstGeom>
          <a:noFill/>
        </p:spPr>
        <p:txBody>
          <a:bodyPr wrap="none" lIns="0" tIns="0" rIns="0" rtlCol="0">
            <a:spAutoFit/>
          </a:bodyPr>
          <a:lstStyle/>
          <a:p>
            <a:pPr>
              <a:lnSpc>
                <a:spcPts val="1800"/>
              </a:lnSpc>
              <a:tabLst>
                <a:tab pos="127000" algn="l"/>
              </a:tabLst>
            </a:pPr>
            <a:r>
              <a:rPr lang="en-US" altLang="zh-CN" sz="1399" dirty="0">
                <a:solidFill>
                  <a:srgbClr val="000000"/>
                </a:solidFill>
                <a:latin typeface="微软雅黑" pitchFamily="18" charset="0"/>
                <a:cs typeface="微软雅黑" pitchFamily="18" charset="0"/>
              </a:rPr>
              <a:t>优化问题</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200"/>
              </a:lnSpc>
              <a:tabLst>
                <a:tab pos="127000" algn="l"/>
              </a:tabLst>
            </a:pPr>
            <a:r>
              <a:rPr lang="en-US" altLang="zh-CN" dirty="0"/>
              <a:t>	</a:t>
            </a:r>
            <a:r>
              <a:rPr lang="en-US" altLang="zh-CN" sz="1399" dirty="0">
                <a:solidFill>
                  <a:srgbClr val="000000"/>
                </a:solidFill>
                <a:latin typeface="微软雅黑" pitchFamily="18" charset="0"/>
                <a:cs typeface="微软雅黑" pitchFamily="18" charset="0"/>
              </a:rPr>
              <a:t>图搜索</a:t>
            </a:r>
          </a:p>
        </p:txBody>
      </p:sp>
      <p:sp>
        <p:nvSpPr>
          <p:cNvPr id="10" name="TextBox 1"/>
          <p:cNvSpPr txBox="1"/>
          <p:nvPr/>
        </p:nvSpPr>
        <p:spPr>
          <a:xfrm>
            <a:off x="6616700" y="6413500"/>
            <a:ext cx="1077218"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广义线性回归</a:t>
            </a:r>
          </a:p>
        </p:txBody>
      </p:sp>
      <p:sp>
        <p:nvSpPr>
          <p:cNvPr id="11" name="TextBox 1"/>
          <p:cNvSpPr txBox="1"/>
          <p:nvPr/>
        </p:nvSpPr>
        <p:spPr>
          <a:xfrm>
            <a:off x="9093200" y="6400800"/>
            <a:ext cx="538609" cy="263149"/>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过拟合</a:t>
            </a:r>
            <a:endParaRPr lang="en-US" altLang="zh-CN" sz="1200" dirty="0">
              <a:solidFill>
                <a:srgbClr val="898989"/>
              </a:solidFill>
              <a:latin typeface="Calibri" pitchFamily="18" charset="0"/>
              <a:cs typeface="Calibri" pitchFamily="18" charset="0"/>
            </a:endParaRPr>
          </a:p>
        </p:txBody>
      </p:sp>
      <p:sp>
        <p:nvSpPr>
          <p:cNvPr id="14" name="TextBox 1">
            <a:extLst>
              <a:ext uri="{FF2B5EF4-FFF2-40B4-BE49-F238E27FC236}">
                <a16:creationId xmlns:a16="http://schemas.microsoft.com/office/drawing/2014/main" id="{BAB8EC5B-A7E7-4440-A5D9-700A772EC36E}"/>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82</a:t>
            </a:r>
          </a:p>
        </p:txBody>
      </p:sp>
      <p:sp>
        <p:nvSpPr>
          <p:cNvPr id="15" name="Freeform 3">
            <a:extLst>
              <a:ext uri="{FF2B5EF4-FFF2-40B4-BE49-F238E27FC236}">
                <a16:creationId xmlns:a16="http://schemas.microsoft.com/office/drawing/2014/main" id="{A1D3F603-69A3-8644-9CC5-1E5A50DE02B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
            <a:extLst>
              <a:ext uri="{FF2B5EF4-FFF2-40B4-BE49-F238E27FC236}">
                <a16:creationId xmlns:a16="http://schemas.microsoft.com/office/drawing/2014/main" id="{E78594B5-21DD-0D47-957A-E977076C515F}"/>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课程安排</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7429500" y="965200"/>
            <a:ext cx="1587500" cy="1511300"/>
          </a:xfrm>
          <a:prstGeom prst="rect">
            <a:avLst/>
          </a:prstGeom>
          <a:noFill/>
        </p:spPr>
      </p:pic>
      <p:pic>
        <p:nvPicPr>
          <p:cNvPr id="6" name="Picture 3"/>
          <p:cNvPicPr>
            <a:picLocks noChangeAspect="1" noChangeArrowheads="1"/>
          </p:cNvPicPr>
          <p:nvPr/>
        </p:nvPicPr>
        <p:blipFill>
          <a:blip r:embed="rId3"/>
          <a:srcRect/>
          <a:stretch>
            <a:fillRect/>
          </a:stretch>
        </p:blipFill>
        <p:spPr bwMode="auto">
          <a:xfrm>
            <a:off x="7010400" y="2501900"/>
            <a:ext cx="2946400" cy="3378200"/>
          </a:xfrm>
          <a:prstGeom prst="rect">
            <a:avLst/>
          </a:prstGeom>
          <a:noFill/>
        </p:spPr>
      </p:pic>
      <p:pic>
        <p:nvPicPr>
          <p:cNvPr id="7" name="Picture 3"/>
          <p:cNvPicPr>
            <a:picLocks noChangeAspect="1" noChangeArrowheads="1"/>
          </p:cNvPicPr>
          <p:nvPr/>
        </p:nvPicPr>
        <p:blipFill>
          <a:blip r:embed="rId4"/>
          <a:srcRect/>
          <a:stretch>
            <a:fillRect/>
          </a:stretch>
        </p:blipFill>
        <p:spPr bwMode="auto">
          <a:xfrm>
            <a:off x="7378700" y="5969000"/>
            <a:ext cx="1206500" cy="647700"/>
          </a:xfrm>
          <a:prstGeom prst="rect">
            <a:avLst/>
          </a:prstGeom>
          <a:noFill/>
        </p:spPr>
      </p:pic>
      <p:sp>
        <p:nvSpPr>
          <p:cNvPr id="2" name="TextBox 1"/>
          <p:cNvSpPr txBox="1"/>
          <p:nvPr/>
        </p:nvSpPr>
        <p:spPr>
          <a:xfrm>
            <a:off x="1416942" y="1907221"/>
            <a:ext cx="107402" cy="1635832"/>
          </a:xfrm>
          <a:prstGeom prst="rect">
            <a:avLst/>
          </a:prstGeom>
          <a:noFill/>
        </p:spPr>
        <p:txBody>
          <a:bodyPr wrap="none" lIns="0" tIns="0" rIns="0" rtlCol="0">
            <a:spAutoFit/>
          </a:bodyPr>
          <a:lstStyle/>
          <a:p>
            <a:pPr>
              <a:lnSpc>
                <a:spcPts val="2600"/>
              </a:lnSpc>
            </a:pPr>
            <a:r>
              <a:rPr lang="en-US" altLang="zh-CN" sz="2400" dirty="0">
                <a:solidFill>
                  <a:srgbClr val="000000"/>
                </a:solidFill>
                <a:latin typeface="Arial" pitchFamily="18" charset="0"/>
                <a:cs typeface="Arial" pitchFamily="18" charset="0"/>
              </a:rPr>
              <a:t>•</a:t>
            </a:r>
          </a:p>
          <a:p>
            <a:pPr>
              <a:lnSpc>
                <a:spcPts val="3400"/>
              </a:lnSpc>
            </a:pPr>
            <a:r>
              <a:rPr lang="en-US" altLang="zh-CN" sz="2400" dirty="0">
                <a:solidFill>
                  <a:srgbClr val="000000"/>
                </a:solidFill>
                <a:latin typeface="Arial" pitchFamily="18" charset="0"/>
                <a:cs typeface="Arial" pitchFamily="18" charset="0"/>
              </a:rPr>
              <a:t>•</a:t>
            </a:r>
          </a:p>
          <a:p>
            <a:pPr>
              <a:lnSpc>
                <a:spcPts val="3300"/>
              </a:lnSpc>
            </a:pPr>
            <a:r>
              <a:rPr lang="en-US" altLang="zh-CN" sz="2400" dirty="0">
                <a:solidFill>
                  <a:srgbClr val="000000"/>
                </a:solidFill>
                <a:latin typeface="Arial" pitchFamily="18" charset="0"/>
                <a:cs typeface="Arial" pitchFamily="18" charset="0"/>
              </a:rPr>
              <a:t>•</a:t>
            </a:r>
          </a:p>
          <a:p>
            <a:pPr>
              <a:lnSpc>
                <a:spcPts val="3400"/>
              </a:lnSpc>
            </a:pPr>
            <a:r>
              <a:rPr lang="en-US" altLang="zh-CN" sz="2400" dirty="0">
                <a:solidFill>
                  <a:srgbClr val="000000"/>
                </a:solidFill>
                <a:latin typeface="Arial" pitchFamily="18" charset="0"/>
                <a:cs typeface="Arial" pitchFamily="18" charset="0"/>
              </a:rPr>
              <a:t>•</a:t>
            </a:r>
          </a:p>
        </p:txBody>
      </p:sp>
      <p:sp>
        <p:nvSpPr>
          <p:cNvPr id="8" name="TextBox 1"/>
          <p:cNvSpPr txBox="1"/>
          <p:nvPr/>
        </p:nvSpPr>
        <p:spPr>
          <a:xfrm>
            <a:off x="1645542" y="1869122"/>
            <a:ext cx="4238340" cy="1699183"/>
          </a:xfrm>
          <a:prstGeom prst="rect">
            <a:avLst/>
          </a:prstGeom>
          <a:noFill/>
        </p:spPr>
        <p:txBody>
          <a:bodyPr wrap="none" lIns="0" tIns="0" rIns="0" rtlCol="0">
            <a:spAutoFit/>
          </a:bodyPr>
          <a:lstStyle/>
          <a:p>
            <a:pPr>
              <a:lnSpc>
                <a:spcPts val="3100"/>
              </a:lnSpc>
            </a:pPr>
            <a:r>
              <a:rPr lang="en-US" altLang="zh-CN" sz="2400" dirty="0">
                <a:solidFill>
                  <a:srgbClr val="000000"/>
                </a:solidFill>
                <a:latin typeface="微软雅黑" pitchFamily="18" charset="0"/>
                <a:cs typeface="微软雅黑" pitchFamily="18" charset="0"/>
              </a:rPr>
              <a:t>度量指标</a:t>
            </a:r>
          </a:p>
          <a:p>
            <a:pPr>
              <a:lnSpc>
                <a:spcPts val="3400"/>
              </a:lnSpc>
            </a:pPr>
            <a:r>
              <a:rPr lang="en-US" altLang="zh-CN" sz="2400" dirty="0">
                <a:solidFill>
                  <a:srgbClr val="000000"/>
                </a:solidFill>
                <a:latin typeface="微软雅黑" pitchFamily="18" charset="0"/>
                <a:cs typeface="微软雅黑" pitchFamily="18" charset="0"/>
              </a:rPr>
              <a:t>支持向量机，决策树</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K</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均值</a:t>
            </a:r>
          </a:p>
          <a:p>
            <a:pPr>
              <a:lnSpc>
                <a:spcPts val="3300"/>
              </a:lnSpc>
            </a:pPr>
            <a:r>
              <a:rPr lang="en-US" altLang="zh-CN" sz="2400" dirty="0">
                <a:solidFill>
                  <a:srgbClr val="000000"/>
                </a:solidFill>
                <a:latin typeface="微软雅黑" pitchFamily="18" charset="0"/>
                <a:cs typeface="微软雅黑" pitchFamily="18" charset="0"/>
              </a:rPr>
              <a:t>集成学习，</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特征选择</a:t>
            </a:r>
          </a:p>
          <a:p>
            <a:pPr>
              <a:lnSpc>
                <a:spcPts val="3400"/>
              </a:lnSpc>
            </a:pPr>
            <a:r>
              <a:rPr lang="en-US" altLang="zh-CN" sz="2400" dirty="0">
                <a:solidFill>
                  <a:srgbClr val="000000"/>
                </a:solidFill>
                <a:latin typeface="微软雅黑" pitchFamily="18" charset="0"/>
                <a:cs typeface="微软雅黑" pitchFamily="18" charset="0"/>
              </a:rPr>
              <a:t>机器学习开发流程</a:t>
            </a:r>
          </a:p>
        </p:txBody>
      </p:sp>
      <p:sp>
        <p:nvSpPr>
          <p:cNvPr id="9" name="TextBox 1"/>
          <p:cNvSpPr txBox="1"/>
          <p:nvPr/>
        </p:nvSpPr>
        <p:spPr>
          <a:xfrm>
            <a:off x="1086156" y="4238390"/>
            <a:ext cx="5352812" cy="1705210"/>
          </a:xfrm>
          <a:prstGeom prst="rect">
            <a:avLst/>
          </a:prstGeom>
          <a:noFill/>
        </p:spPr>
        <p:txBody>
          <a:bodyPr wrap="none" lIns="0" tIns="0" rIns="0" rtlCol="0">
            <a:spAutoFit/>
          </a:bodyPr>
          <a:lstStyle/>
          <a:p>
            <a:pPr>
              <a:lnSpc>
                <a:spcPts val="3700"/>
              </a:lnSpc>
              <a:tabLst>
                <a:tab pos="228600" algn="l"/>
                <a:tab pos="457200" algn="l"/>
                <a:tab pos="685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上机：</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Python</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基础与</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scikit-learn</a:t>
            </a:r>
          </a:p>
          <a:p>
            <a:pPr>
              <a:lnSpc>
                <a:spcPts val="3300"/>
              </a:lnSpc>
              <a:tabLst>
                <a:tab pos="228600" algn="l"/>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开</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发</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环境</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Numpy</a:t>
            </a:r>
            <a:r>
              <a:rPr lang="en-US" altLang="zh-CN" sz="2400" dirty="0">
                <a:solidFill>
                  <a:srgbClr val="000000"/>
                </a:solidFill>
                <a:latin typeface="微软雅黑" pitchFamily="18" charset="0"/>
                <a:cs typeface="微软雅黑" pitchFamily="18" charset="0"/>
              </a:rPr>
              <a:t>与</a:t>
            </a:r>
            <a:r>
              <a:rPr lang="en-US" altLang="zh-CN" sz="2400" dirty="0">
                <a:solidFill>
                  <a:srgbClr val="000000"/>
                </a:solidFill>
                <a:latin typeface="Calibri" pitchFamily="18" charset="0"/>
                <a:cs typeface="Calibri" pitchFamily="18" charset="0"/>
              </a:rPr>
              <a:t>Pandas</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p>
          <a:p>
            <a:pPr>
              <a:lnSpc>
                <a:spcPts val="2800"/>
              </a:lnSpc>
              <a:tabLst>
                <a:tab pos="228600" algn="l"/>
                <a:tab pos="457200" algn="l"/>
                <a:tab pos="685800" algn="l"/>
              </a:tabLst>
            </a:pPr>
            <a:r>
              <a:rPr lang="en-US" altLang="zh-CN" dirty="0"/>
              <a:t>			</a:t>
            </a:r>
            <a:r>
              <a:rPr lang="en-US" altLang="zh-CN" sz="2400" dirty="0">
                <a:solidFill>
                  <a:srgbClr val="000000"/>
                </a:solidFill>
                <a:latin typeface="微软雅黑" pitchFamily="18" charset="0"/>
                <a:cs typeface="微软雅黑" pitchFamily="18" charset="0"/>
              </a:rPr>
              <a:t>数据导入导出</a:t>
            </a:r>
          </a:p>
          <a:p>
            <a:pPr>
              <a:lnSpc>
                <a:spcPts val="3400"/>
              </a:lnSpc>
              <a:tabLst>
                <a:tab pos="228600" algn="l"/>
                <a:tab pos="457200" algn="l"/>
                <a:tab pos="6858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在</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scikit-learn</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中实现机器学习</a:t>
            </a:r>
          </a:p>
        </p:txBody>
      </p:sp>
      <p:sp>
        <p:nvSpPr>
          <p:cNvPr id="10" name="TextBox 1"/>
          <p:cNvSpPr txBox="1"/>
          <p:nvPr/>
        </p:nvSpPr>
        <p:spPr>
          <a:xfrm>
            <a:off x="990600" y="1099232"/>
            <a:ext cx="4842672" cy="694998"/>
          </a:xfrm>
          <a:prstGeom prst="rect">
            <a:avLst/>
          </a:prstGeom>
          <a:noFill/>
        </p:spPr>
        <p:txBody>
          <a:bodyPr wrap="none" lIns="0" tIns="0" rIns="0" rtlCol="0">
            <a:spAutoFit/>
          </a:bodyPr>
          <a:lstStyle/>
          <a:p>
            <a:pPr>
              <a:lnSpc>
                <a:spcPts val="1000"/>
              </a:lnSpc>
            </a:pPr>
            <a:endParaRPr lang="en-US" altLang="zh-CN" dirty="0"/>
          </a:p>
          <a:p>
            <a:pPr>
              <a:lnSpc>
                <a:spcPts val="45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4-5.</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机器学习（</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二</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三</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p>
        </p:txBody>
      </p:sp>
      <p:sp>
        <p:nvSpPr>
          <p:cNvPr id="11" name="TextBox 1"/>
          <p:cNvSpPr txBox="1"/>
          <p:nvPr/>
        </p:nvSpPr>
        <p:spPr>
          <a:xfrm>
            <a:off x="9474200" y="1511300"/>
            <a:ext cx="897682"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支持向量机</a:t>
            </a:r>
          </a:p>
        </p:txBody>
      </p:sp>
      <p:sp>
        <p:nvSpPr>
          <p:cNvPr id="12" name="TextBox 1"/>
          <p:cNvSpPr txBox="1"/>
          <p:nvPr/>
        </p:nvSpPr>
        <p:spPr>
          <a:xfrm>
            <a:off x="9702801" y="3822700"/>
            <a:ext cx="564257" cy="2691121"/>
          </a:xfrm>
          <a:prstGeom prst="rect">
            <a:avLst/>
          </a:prstGeom>
          <a:noFill/>
        </p:spPr>
        <p:txBody>
          <a:bodyPr wrap="none" lIns="0" tIns="0" rIns="0" rtlCol="0">
            <a:spAutoFit/>
          </a:bodyPr>
          <a:lstStyle/>
          <a:p>
            <a:pPr>
              <a:lnSpc>
                <a:spcPts val="1800"/>
              </a:lnSpc>
              <a:tabLst>
                <a:tab pos="25400" algn="l"/>
                <a:tab pos="76200" algn="l"/>
              </a:tabLst>
            </a:pPr>
            <a:r>
              <a:rPr lang="en-US" altLang="zh-CN" dirty="0"/>
              <a:t>	</a:t>
            </a:r>
            <a:r>
              <a:rPr lang="en-US" altLang="zh-CN" sz="1399" dirty="0">
                <a:solidFill>
                  <a:srgbClr val="000000"/>
                </a:solidFill>
                <a:latin typeface="微软雅黑" pitchFamily="18" charset="0"/>
                <a:cs typeface="微软雅黑" pitchFamily="18" charset="0"/>
              </a:rPr>
              <a:t>决策树</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600"/>
              </a:lnSpc>
              <a:tabLst>
                <a:tab pos="25400" algn="l"/>
                <a:tab pos="76200" algn="l"/>
              </a:tabLst>
            </a:pPr>
            <a:r>
              <a:rPr lang="en-US" altLang="zh-CN" sz="1399" dirty="0">
                <a:solidFill>
                  <a:srgbClr val="000000"/>
                </a:solidFill>
                <a:latin typeface="Calibri" pitchFamily="18" charset="0"/>
                <a:cs typeface="Calibri" pitchFamily="18" charset="0"/>
              </a:rPr>
              <a:t>K</a:t>
            </a:r>
            <a:r>
              <a:rPr lang="en-US" altLang="zh-CN" sz="1399" dirty="0">
                <a:latin typeface="Times New Roman" pitchFamily="18" charset="0"/>
                <a:cs typeface="Times New Roman" pitchFamily="18" charset="0"/>
              </a:rPr>
              <a:t> </a:t>
            </a:r>
            <a:r>
              <a:rPr lang="en-US" altLang="zh-CN" sz="1399" dirty="0">
                <a:solidFill>
                  <a:srgbClr val="000000"/>
                </a:solidFill>
                <a:latin typeface="微软雅黑" pitchFamily="18" charset="0"/>
                <a:cs typeface="微软雅黑" pitchFamily="18" charset="0"/>
              </a:rPr>
              <a:t>均值</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p:txBody>
      </p:sp>
      <p:sp>
        <p:nvSpPr>
          <p:cNvPr id="15" name="TextBox 1">
            <a:extLst>
              <a:ext uri="{FF2B5EF4-FFF2-40B4-BE49-F238E27FC236}">
                <a16:creationId xmlns:a16="http://schemas.microsoft.com/office/drawing/2014/main" id="{E0F45A86-CE48-DB45-817C-CBBC23AB4485}"/>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83</a:t>
            </a:r>
          </a:p>
        </p:txBody>
      </p:sp>
      <p:sp>
        <p:nvSpPr>
          <p:cNvPr id="17" name="Freeform 3">
            <a:extLst>
              <a:ext uri="{FF2B5EF4-FFF2-40B4-BE49-F238E27FC236}">
                <a16:creationId xmlns:a16="http://schemas.microsoft.com/office/drawing/2014/main" id="{827D4183-544D-6B45-B62C-B7928E927069}"/>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1">
            <a:extLst>
              <a:ext uri="{FF2B5EF4-FFF2-40B4-BE49-F238E27FC236}">
                <a16:creationId xmlns:a16="http://schemas.microsoft.com/office/drawing/2014/main" id="{25CB71F9-AA38-1148-AC10-0DCD227E8082}"/>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课程安排</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1524000" y="0"/>
            <a:ext cx="9144000" cy="6858000"/>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 name="connsiteX4" fmla="*/ 0 w 9144000"/>
              <a:gd name="connsiteY4" fmla="*/ 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58000">
                <a:moveTo>
                  <a:pt x="0" y="0"/>
                </a:moveTo>
                <a:lnTo>
                  <a:pt x="9144000" y="0"/>
                </a:lnTo>
                <a:lnTo>
                  <a:pt x="9144000" y="6858000"/>
                </a:lnTo>
                <a:lnTo>
                  <a:pt x="0" y="68580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2"/>
          <a:srcRect/>
          <a:stretch>
            <a:fillRect/>
          </a:stretch>
        </p:blipFill>
        <p:spPr bwMode="auto">
          <a:xfrm>
            <a:off x="6802964" y="152400"/>
            <a:ext cx="3492500" cy="6489700"/>
          </a:xfrm>
          <a:prstGeom prst="rect">
            <a:avLst/>
          </a:prstGeom>
          <a:noFill/>
        </p:spPr>
      </p:pic>
      <p:sp>
        <p:nvSpPr>
          <p:cNvPr id="2" name="TextBox 1"/>
          <p:cNvSpPr txBox="1"/>
          <p:nvPr/>
        </p:nvSpPr>
        <p:spPr>
          <a:xfrm>
            <a:off x="1087566" y="1047605"/>
            <a:ext cx="4844275" cy="4844275"/>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4600"/>
              </a:lnSpc>
              <a:tabLst>
                <a:tab pos="228600" algn="l"/>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6-7.</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神经网络与深度学习</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神经网络基</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础</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反向传播</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算法</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神经网络训练</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技巧</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400"/>
              </a:lnSpc>
              <a:tabLst>
                <a:tab pos="228600" algn="l"/>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8-9.</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机器视觉与自然语言处理</a:t>
            </a:r>
          </a:p>
          <a:p>
            <a:pPr>
              <a:lnSpc>
                <a:spcPts val="37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CNN</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文本数据化</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solidFill>
                  <a:srgbClr val="000000"/>
                </a:solidFill>
                <a:latin typeface="Calibri" pitchFamily="18" charset="0"/>
                <a:cs typeface="Calibri" pitchFamily="18" charset="0"/>
              </a:rPr>
              <a:t>RNN</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与</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LSTM</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Transformer</a:t>
            </a:r>
          </a:p>
        </p:txBody>
      </p:sp>
      <p:sp>
        <p:nvSpPr>
          <p:cNvPr id="6" name="TextBox 1"/>
          <p:cNvSpPr txBox="1"/>
          <p:nvPr/>
        </p:nvSpPr>
        <p:spPr>
          <a:xfrm>
            <a:off x="9733218" y="287869"/>
            <a:ext cx="1025922" cy="6589624"/>
          </a:xfrm>
          <a:prstGeom prst="rect">
            <a:avLst/>
          </a:prstGeom>
          <a:noFill/>
        </p:spPr>
        <p:txBody>
          <a:bodyPr wrap="none" lIns="0" tIns="0" rIns="0" rtlCol="0">
            <a:spAutoFit/>
          </a:bodyPr>
          <a:lstStyle/>
          <a:p>
            <a:pPr>
              <a:lnSpc>
                <a:spcPts val="1800"/>
              </a:lnSpc>
              <a:tabLst>
                <a:tab pos="304800" algn="l"/>
                <a:tab pos="863600" algn="l"/>
                <a:tab pos="977900" algn="l"/>
                <a:tab pos="1193800" algn="l"/>
              </a:tabLst>
            </a:pPr>
            <a:r>
              <a:rPr lang="en-US" altLang="zh-CN" dirty="0"/>
              <a:t>	</a:t>
            </a:r>
            <a:r>
              <a:rPr lang="en-US" altLang="zh-CN" sz="1399" dirty="0">
                <a:solidFill>
                  <a:srgbClr val="000000"/>
                </a:solidFill>
                <a:latin typeface="微软雅黑" pitchFamily="18" charset="0"/>
                <a:cs typeface="微软雅黑" pitchFamily="18" charset="0"/>
              </a:rPr>
              <a:t>神经网络</a:t>
            </a:r>
          </a:p>
          <a:p>
            <a:pPr>
              <a:lnSpc>
                <a:spcPts val="1700"/>
              </a:lnSpc>
              <a:tabLst>
                <a:tab pos="304800" algn="l"/>
                <a:tab pos="863600" algn="l"/>
                <a:tab pos="977900" algn="l"/>
                <a:tab pos="1193800" algn="l"/>
              </a:tabLst>
            </a:pPr>
            <a:r>
              <a:rPr lang="en-US" altLang="zh-CN" dirty="0"/>
              <a:t>	</a:t>
            </a:r>
            <a:r>
              <a:rPr lang="en-US" altLang="zh-CN" sz="1399" dirty="0">
                <a:solidFill>
                  <a:srgbClr val="000000"/>
                </a:solidFill>
                <a:latin typeface="微软雅黑" pitchFamily="18" charset="0"/>
                <a:cs typeface="微软雅黑" pitchFamily="18" charset="0"/>
              </a:rPr>
              <a:t>反向传播</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500"/>
              </a:lnSpc>
              <a:tabLst>
                <a:tab pos="304800" algn="l"/>
                <a:tab pos="863600" algn="l"/>
                <a:tab pos="977900" algn="l"/>
                <a:tab pos="1193800" algn="l"/>
              </a:tabLst>
            </a:pPr>
            <a:r>
              <a:rPr lang="en-US" altLang="zh-CN" sz="1399" dirty="0">
                <a:solidFill>
                  <a:srgbClr val="000000"/>
                </a:solidFill>
                <a:latin typeface="微软雅黑" pitchFamily="18" charset="0"/>
                <a:cs typeface="微软雅黑" pitchFamily="18" charset="0"/>
              </a:rPr>
              <a:t>梯度下降</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100"/>
              </a:lnSpc>
              <a:tabLst>
                <a:tab pos="304800" algn="l"/>
                <a:tab pos="863600" algn="l"/>
                <a:tab pos="977900" algn="l"/>
                <a:tab pos="1193800" algn="l"/>
              </a:tabLst>
            </a:pPr>
            <a:r>
              <a:rPr lang="en-US" altLang="zh-CN" dirty="0"/>
              <a:t>	</a:t>
            </a:r>
            <a:r>
              <a:rPr lang="zh-CN" altLang="en-US" dirty="0"/>
              <a:t>   </a:t>
            </a:r>
            <a:r>
              <a:rPr lang="en-US" altLang="zh-CN" sz="1399" dirty="0">
                <a:solidFill>
                  <a:srgbClr val="000000"/>
                </a:solidFill>
                <a:latin typeface="Calibri" pitchFamily="18" charset="0"/>
                <a:cs typeface="Calibri" pitchFamily="18" charset="0"/>
              </a:rPr>
              <a:t>CNN</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400"/>
              </a:lnSpc>
              <a:tabLst>
                <a:tab pos="304800" algn="l"/>
                <a:tab pos="863600" algn="l"/>
                <a:tab pos="977900" algn="l"/>
                <a:tab pos="1193800" algn="l"/>
              </a:tabLst>
            </a:pPr>
            <a:r>
              <a:rPr lang="zh-CN" altLang="en-US" sz="1399" dirty="0">
                <a:solidFill>
                  <a:srgbClr val="000000"/>
                </a:solidFill>
                <a:latin typeface="Calibri" pitchFamily="18" charset="0"/>
                <a:cs typeface="Calibri" pitchFamily="18" charset="0"/>
              </a:rPr>
              <a:t>         </a:t>
            </a:r>
            <a:r>
              <a:rPr lang="en-US" altLang="zh-CN" sz="1399" dirty="0">
                <a:solidFill>
                  <a:srgbClr val="000000"/>
                </a:solidFill>
                <a:latin typeface="Calibri" pitchFamily="18" charset="0"/>
                <a:cs typeface="Calibri" pitchFamily="18" charset="0"/>
              </a:rPr>
              <a:t>LSTM</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400"/>
              </a:lnSpc>
              <a:tabLst>
                <a:tab pos="304800" algn="l"/>
                <a:tab pos="863600" algn="l"/>
                <a:tab pos="977900" algn="l"/>
                <a:tab pos="1193800" algn="l"/>
              </a:tabLst>
            </a:pPr>
            <a:r>
              <a:rPr lang="en-US" altLang="zh-CN" dirty="0"/>
              <a:t>			</a:t>
            </a:r>
            <a:endParaRPr lang="en-US" altLang="zh-CN" sz="1200" dirty="0">
              <a:solidFill>
                <a:srgbClr val="898989"/>
              </a:solidFill>
              <a:latin typeface="Calibri" pitchFamily="18" charset="0"/>
              <a:cs typeface="Calibri" pitchFamily="18" charset="0"/>
            </a:endParaRPr>
          </a:p>
        </p:txBody>
      </p:sp>
      <p:sp>
        <p:nvSpPr>
          <p:cNvPr id="9" name="TextBox 1">
            <a:extLst>
              <a:ext uri="{FF2B5EF4-FFF2-40B4-BE49-F238E27FC236}">
                <a16:creationId xmlns:a16="http://schemas.microsoft.com/office/drawing/2014/main" id="{518266F7-A701-CC41-88AA-8AEB953FFC02}"/>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84</a:t>
            </a:r>
          </a:p>
        </p:txBody>
      </p:sp>
      <p:sp>
        <p:nvSpPr>
          <p:cNvPr id="10" name="Freeform 3">
            <a:extLst>
              <a:ext uri="{FF2B5EF4-FFF2-40B4-BE49-F238E27FC236}">
                <a16:creationId xmlns:a16="http://schemas.microsoft.com/office/drawing/2014/main" id="{B450A99B-3261-2940-BFAE-B91188CDE39B}"/>
              </a:ext>
            </a:extLst>
          </p:cNvPr>
          <p:cNvSpPr/>
          <p:nvPr/>
        </p:nvSpPr>
        <p:spPr>
          <a:xfrm flipV="1">
            <a:off x="386256" y="685800"/>
            <a:ext cx="6416708" cy="105924"/>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32CFAA97-8E3E-E840-A426-D7233A10B9C0}"/>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课程安排</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6184900" y="838200"/>
            <a:ext cx="3721100" cy="3937000"/>
          </a:xfrm>
          <a:prstGeom prst="rect">
            <a:avLst/>
          </a:prstGeom>
          <a:noFill/>
        </p:spPr>
      </p:pic>
      <p:pic>
        <p:nvPicPr>
          <p:cNvPr id="6" name="Picture 3"/>
          <p:cNvPicPr>
            <a:picLocks noChangeAspect="1" noChangeArrowheads="1"/>
          </p:cNvPicPr>
          <p:nvPr/>
        </p:nvPicPr>
        <p:blipFill>
          <a:blip r:embed="rId3"/>
          <a:srcRect/>
          <a:stretch>
            <a:fillRect/>
          </a:stretch>
        </p:blipFill>
        <p:spPr bwMode="auto">
          <a:xfrm>
            <a:off x="6540500" y="5029200"/>
            <a:ext cx="3009900" cy="1333500"/>
          </a:xfrm>
          <a:prstGeom prst="rect">
            <a:avLst/>
          </a:prstGeom>
          <a:noFill/>
        </p:spPr>
      </p:pic>
      <p:sp>
        <p:nvSpPr>
          <p:cNvPr id="7" name="TextBox 1"/>
          <p:cNvSpPr txBox="1"/>
          <p:nvPr/>
        </p:nvSpPr>
        <p:spPr>
          <a:xfrm>
            <a:off x="990600" y="1242504"/>
            <a:ext cx="4809202" cy="4372992"/>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4600"/>
              </a:lnSpc>
              <a:tabLst>
                <a:tab pos="228600" algn="l"/>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上机：</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PyTorch</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神经网络模型</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400"/>
              </a:lnSpc>
              <a:tabLst>
                <a:tab pos="228600" algn="l"/>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10-12.</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强化学习</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马尔可夫过程</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动态规划</a:t>
            </a:r>
          </a:p>
          <a:p>
            <a:pPr>
              <a:lnSpc>
                <a:spcPts val="37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Calibri" pitchFamily="18" charset="0"/>
                <a:cs typeface="Calibri" pitchFamily="18" charset="0"/>
              </a:rPr>
              <a:t>Q</a:t>
            </a:r>
            <a:r>
              <a:rPr lang="en-US" altLang="zh-CN" sz="2400" dirty="0">
                <a:solidFill>
                  <a:srgbClr val="000000"/>
                </a:solidFill>
                <a:latin typeface="微软雅黑" pitchFamily="18" charset="0"/>
                <a:cs typeface="微软雅黑" pitchFamily="18" charset="0"/>
              </a:rPr>
              <a:t>学习与深度</a:t>
            </a:r>
            <a:r>
              <a:rPr lang="en-US" altLang="zh-CN" sz="2400" dirty="0">
                <a:solidFill>
                  <a:srgbClr val="000000"/>
                </a:solidFill>
                <a:latin typeface="Calibri" pitchFamily="18" charset="0"/>
                <a:cs typeface="Calibri" pitchFamily="18" charset="0"/>
              </a:rPr>
              <a:t>Q</a:t>
            </a:r>
            <a:r>
              <a:rPr lang="en-US" altLang="zh-CN" sz="2400" dirty="0">
                <a:solidFill>
                  <a:srgbClr val="000000"/>
                </a:solidFill>
                <a:latin typeface="微软雅黑" pitchFamily="18" charset="0"/>
                <a:cs typeface="微软雅黑" pitchFamily="18" charset="0"/>
              </a:rPr>
              <a:t>学习</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策略梯度</a:t>
            </a:r>
          </a:p>
          <a:p>
            <a:pPr>
              <a:lnSpc>
                <a:spcPts val="3600"/>
              </a:lnSpc>
              <a:tabLst>
                <a:tab pos="228600" algn="l"/>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常见的强化学习算法</a:t>
            </a:r>
          </a:p>
        </p:txBody>
      </p:sp>
      <p:sp>
        <p:nvSpPr>
          <p:cNvPr id="8" name="TextBox 1"/>
          <p:cNvSpPr txBox="1"/>
          <p:nvPr/>
        </p:nvSpPr>
        <p:spPr>
          <a:xfrm>
            <a:off x="9296401" y="1739900"/>
            <a:ext cx="769441" cy="2857834"/>
          </a:xfrm>
          <a:prstGeom prst="rect">
            <a:avLst/>
          </a:prstGeom>
          <a:noFill/>
        </p:spPr>
        <p:txBody>
          <a:bodyPr wrap="none" lIns="0" tIns="0" rIns="0" rtlCol="0">
            <a:spAutoFit/>
          </a:bodyPr>
          <a:lstStyle/>
          <a:p>
            <a:pPr>
              <a:lnSpc>
                <a:spcPts val="1800"/>
              </a:lnSpc>
              <a:tabLst>
                <a:tab pos="50800" algn="l"/>
                <a:tab pos="177800" algn="l"/>
              </a:tabLst>
            </a:pPr>
            <a:r>
              <a:rPr lang="en-US" altLang="zh-CN" sz="1399" dirty="0">
                <a:solidFill>
                  <a:srgbClr val="000000"/>
                </a:solidFill>
                <a:latin typeface="微软雅黑" pitchFamily="18" charset="0"/>
                <a:cs typeface="微软雅黑" pitchFamily="18" charset="0"/>
              </a:rPr>
              <a:t>马尔科夫</a:t>
            </a:r>
          </a:p>
          <a:p>
            <a:pPr>
              <a:lnSpc>
                <a:spcPts val="1700"/>
              </a:lnSpc>
              <a:tabLst>
                <a:tab pos="50800" algn="l"/>
                <a:tab pos="177800" algn="l"/>
              </a:tabLst>
            </a:pPr>
            <a:r>
              <a:rPr lang="en-US" altLang="zh-CN" dirty="0"/>
              <a:t>		</a:t>
            </a:r>
            <a:r>
              <a:rPr lang="en-US" altLang="zh-CN" sz="1399" dirty="0">
                <a:solidFill>
                  <a:srgbClr val="000000"/>
                </a:solidFill>
                <a:latin typeface="微软雅黑" pitchFamily="18" charset="0"/>
                <a:cs typeface="微软雅黑" pitchFamily="18" charset="0"/>
              </a:rPr>
              <a:t>过程</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600"/>
              </a:lnSpc>
              <a:tabLst>
                <a:tab pos="50800" algn="l"/>
                <a:tab pos="177800" algn="l"/>
              </a:tabLst>
            </a:pPr>
            <a:r>
              <a:rPr lang="en-US" altLang="zh-CN" dirty="0"/>
              <a:t>	</a:t>
            </a:r>
            <a:r>
              <a:rPr lang="en-US" altLang="zh-CN" sz="1399" dirty="0">
                <a:solidFill>
                  <a:srgbClr val="000000"/>
                </a:solidFill>
                <a:latin typeface="微软雅黑" pitchFamily="18" charset="0"/>
                <a:cs typeface="微软雅黑" pitchFamily="18" charset="0"/>
              </a:rPr>
              <a:t>动态规划</a:t>
            </a:r>
          </a:p>
        </p:txBody>
      </p:sp>
      <p:sp>
        <p:nvSpPr>
          <p:cNvPr id="9" name="TextBox 1"/>
          <p:cNvSpPr txBox="1"/>
          <p:nvPr/>
        </p:nvSpPr>
        <p:spPr>
          <a:xfrm>
            <a:off x="7505700" y="6362700"/>
            <a:ext cx="1077218"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蒙特卡洛方法</a:t>
            </a:r>
          </a:p>
        </p:txBody>
      </p:sp>
      <p:sp>
        <p:nvSpPr>
          <p:cNvPr id="12" name="TextBox 1">
            <a:extLst>
              <a:ext uri="{FF2B5EF4-FFF2-40B4-BE49-F238E27FC236}">
                <a16:creationId xmlns:a16="http://schemas.microsoft.com/office/drawing/2014/main" id="{453957F4-129F-4141-BA9E-430244D8261C}"/>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85</a:t>
            </a:r>
          </a:p>
        </p:txBody>
      </p:sp>
      <p:sp>
        <p:nvSpPr>
          <p:cNvPr id="13" name="Freeform 3">
            <a:extLst>
              <a:ext uri="{FF2B5EF4-FFF2-40B4-BE49-F238E27FC236}">
                <a16:creationId xmlns:a16="http://schemas.microsoft.com/office/drawing/2014/main" id="{53721AA5-57FE-3648-87AF-4345146FE47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TextBox 1">
            <a:extLst>
              <a:ext uri="{FF2B5EF4-FFF2-40B4-BE49-F238E27FC236}">
                <a16:creationId xmlns:a16="http://schemas.microsoft.com/office/drawing/2014/main" id="{66A05933-4DB4-B549-A21A-75809F830BFF}"/>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课程安排</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1638300" y="1892300"/>
            <a:ext cx="8890000" cy="4660900"/>
          </a:xfrm>
          <a:prstGeom prst="rect">
            <a:avLst/>
          </a:prstGeom>
          <a:noFill/>
        </p:spPr>
      </p:pic>
      <p:sp>
        <p:nvSpPr>
          <p:cNvPr id="2" name="TextBox 1"/>
          <p:cNvSpPr txBox="1"/>
          <p:nvPr/>
        </p:nvSpPr>
        <p:spPr>
          <a:xfrm>
            <a:off x="990600" y="733839"/>
            <a:ext cx="4877938" cy="132087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572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13.</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大数据与人工智能</a:t>
            </a:r>
          </a:p>
          <a:p>
            <a:pPr>
              <a:lnSpc>
                <a:spcPts val="3600"/>
              </a:lnSpc>
              <a:tabLst>
                <a:tab pos="457200" algn="l"/>
              </a:tabLst>
            </a:pPr>
            <a:r>
              <a:rPr lang="en-US" altLang="zh-CN" dirty="0"/>
              <a:t>	</a:t>
            </a: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大数据，数据挖掘</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，异常检测</a:t>
            </a:r>
          </a:p>
        </p:txBody>
      </p:sp>
      <p:sp>
        <p:nvSpPr>
          <p:cNvPr id="7" name="TextBox 1"/>
          <p:cNvSpPr txBox="1"/>
          <p:nvPr/>
        </p:nvSpPr>
        <p:spPr>
          <a:xfrm>
            <a:off x="990600" y="3883249"/>
            <a:ext cx="5455019" cy="986745"/>
          </a:xfrm>
          <a:prstGeom prst="rect">
            <a:avLst/>
          </a:prstGeom>
          <a:noFill/>
        </p:spPr>
        <p:txBody>
          <a:bodyPr wrap="none" lIns="0" tIns="0" rIns="0" rtlCol="0">
            <a:spAutoFit/>
          </a:bodyPr>
          <a:lstStyle/>
          <a:p>
            <a:pPr>
              <a:lnSpc>
                <a:spcPts val="1800"/>
              </a:lnSpc>
              <a:tabLst>
                <a:tab pos="1701800" algn="l"/>
              </a:tabLst>
            </a:pPr>
            <a:r>
              <a:rPr lang="en-US" altLang="zh-CN" dirty="0"/>
              <a:t>	</a:t>
            </a:r>
            <a:r>
              <a:rPr lang="en-US" altLang="zh-CN" sz="1399" dirty="0">
                <a:solidFill>
                  <a:srgbClr val="000000"/>
                </a:solidFill>
                <a:latin typeface="微软雅黑" pitchFamily="18" charset="0"/>
                <a:cs typeface="微软雅黑" pitchFamily="18" charset="0"/>
              </a:rPr>
              <a:t>大数据</a:t>
            </a:r>
            <a:r>
              <a:rPr lang="en-US" altLang="zh-CN" sz="1399" dirty="0">
                <a:latin typeface="Times New Roman" pitchFamily="18" charset="0"/>
                <a:cs typeface="Times New Roman" pitchFamily="18" charset="0"/>
              </a:rPr>
              <a:t> </a:t>
            </a:r>
            <a:r>
              <a:rPr lang="en-US" altLang="zh-CN" sz="1399" dirty="0">
                <a:solidFill>
                  <a:srgbClr val="000000"/>
                </a:solidFill>
                <a:latin typeface="Calibri" pitchFamily="18" charset="0"/>
                <a:cs typeface="Calibri" pitchFamily="18" charset="0"/>
              </a:rPr>
              <a:t>MapReduce</a:t>
            </a:r>
            <a:r>
              <a:rPr lang="en-US" altLang="zh-CN" sz="1399" dirty="0">
                <a:latin typeface="Times New Roman" pitchFamily="18" charset="0"/>
                <a:cs typeface="Times New Roman" pitchFamily="18" charset="0"/>
              </a:rPr>
              <a:t> </a:t>
            </a:r>
            <a:r>
              <a:rPr lang="en-US" altLang="zh-CN" sz="1399" dirty="0">
                <a:solidFill>
                  <a:srgbClr val="000000"/>
                </a:solidFill>
                <a:latin typeface="微软雅黑" pitchFamily="18" charset="0"/>
                <a:cs typeface="微软雅黑" pitchFamily="18" charset="0"/>
              </a:rPr>
              <a:t>方法</a:t>
            </a:r>
          </a:p>
          <a:p>
            <a:pPr>
              <a:lnSpc>
                <a:spcPts val="1000"/>
              </a:lnSpc>
            </a:pPr>
            <a:endParaRPr lang="en-US" altLang="zh-CN" dirty="0"/>
          </a:p>
          <a:p>
            <a:pPr>
              <a:lnSpc>
                <a:spcPts val="1000"/>
              </a:lnSpc>
            </a:pPr>
            <a:endParaRPr lang="en-US" altLang="zh-CN" dirty="0"/>
          </a:p>
          <a:p>
            <a:pPr>
              <a:lnSpc>
                <a:spcPts val="3800"/>
              </a:lnSpc>
              <a:tabLst>
                <a:tab pos="17018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14.</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人工智能在机械行业中的应用</a:t>
            </a:r>
          </a:p>
        </p:txBody>
      </p:sp>
      <p:sp>
        <p:nvSpPr>
          <p:cNvPr id="8" name="TextBox 1"/>
          <p:cNvSpPr txBox="1"/>
          <p:nvPr/>
        </p:nvSpPr>
        <p:spPr>
          <a:xfrm>
            <a:off x="9525001" y="2794000"/>
            <a:ext cx="718145" cy="259686"/>
          </a:xfrm>
          <a:prstGeom prst="rect">
            <a:avLst/>
          </a:prstGeom>
          <a:noFill/>
        </p:spPr>
        <p:txBody>
          <a:bodyPr wrap="none" lIns="0" tIns="0" rIns="0" rtlCol="0">
            <a:spAutoFit/>
          </a:bodyPr>
          <a:lstStyle/>
          <a:p>
            <a:pPr>
              <a:lnSpc>
                <a:spcPts val="1800"/>
              </a:lnSpc>
            </a:pPr>
            <a:r>
              <a:rPr lang="en-US" altLang="zh-CN" sz="1399" dirty="0">
                <a:solidFill>
                  <a:srgbClr val="000000"/>
                </a:solidFill>
                <a:latin typeface="微软雅黑" pitchFamily="18" charset="0"/>
                <a:cs typeface="微软雅黑" pitchFamily="18" charset="0"/>
              </a:rPr>
              <a:t>二元分类</a:t>
            </a:r>
          </a:p>
        </p:txBody>
      </p:sp>
      <p:sp>
        <p:nvSpPr>
          <p:cNvPr id="11" name="TextBox 1">
            <a:extLst>
              <a:ext uri="{FF2B5EF4-FFF2-40B4-BE49-F238E27FC236}">
                <a16:creationId xmlns:a16="http://schemas.microsoft.com/office/drawing/2014/main" id="{14BA675F-8C67-EA43-BADF-D2FF22821192}"/>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86</a:t>
            </a:r>
          </a:p>
        </p:txBody>
      </p:sp>
      <p:sp>
        <p:nvSpPr>
          <p:cNvPr id="12" name="Freeform 3">
            <a:extLst>
              <a:ext uri="{FF2B5EF4-FFF2-40B4-BE49-F238E27FC236}">
                <a16:creationId xmlns:a16="http://schemas.microsoft.com/office/drawing/2014/main" id="{163C6300-B0A3-BC40-B56A-A0C0A41A0F24}"/>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Box 1">
            <a:extLst>
              <a:ext uri="{FF2B5EF4-FFF2-40B4-BE49-F238E27FC236}">
                <a16:creationId xmlns:a16="http://schemas.microsoft.com/office/drawing/2014/main" id="{19DD1E9E-C3E1-5942-8DB6-B0BBA1941C6A}"/>
              </a:ext>
            </a:extLst>
          </p:cNvPr>
          <p:cNvSpPr txBox="1"/>
          <p:nvPr/>
        </p:nvSpPr>
        <p:spPr>
          <a:xfrm>
            <a:off x="472354" y="152400"/>
            <a:ext cx="1647887" cy="542393"/>
          </a:xfrm>
          <a:prstGeom prst="rect">
            <a:avLst/>
          </a:prstGeom>
          <a:noFill/>
        </p:spPr>
        <p:txBody>
          <a:bodyPr wrap="none" lIns="0" tIns="0" rIns="0" rtlCol="0">
            <a:spAutoFit/>
          </a:bodyPr>
          <a:lstStyle/>
          <a:p>
            <a:pPr>
              <a:lnSpc>
                <a:spcPts val="4200"/>
              </a:lnSpc>
              <a:tabLst>
                <a:tab pos="457200" algn="l"/>
              </a:tabLst>
            </a:pPr>
            <a:r>
              <a:rPr lang="en-US" altLang="zh-CN" sz="3199" b="1" dirty="0">
                <a:solidFill>
                  <a:srgbClr val="000000"/>
                </a:solidFill>
                <a:latin typeface="微软雅黑" pitchFamily="18" charset="0"/>
                <a:cs typeface="微软雅黑" pitchFamily="18" charset="0"/>
              </a:rPr>
              <a:t>课程安排</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p:cNvSpPr txBox="1"/>
          <p:nvPr/>
        </p:nvSpPr>
        <p:spPr>
          <a:xfrm>
            <a:off x="1381498" y="1222746"/>
            <a:ext cx="8510343" cy="939553"/>
          </a:xfrm>
          <a:prstGeom prst="rect">
            <a:avLst/>
          </a:prstGeom>
          <a:noFill/>
        </p:spPr>
        <p:txBody>
          <a:bodyPr wrap="non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课程将重点介绍实现人工智能的</a:t>
            </a:r>
            <a:r>
              <a:rPr lang="en-US" altLang="zh-CN" sz="2800" b="1" dirty="0">
                <a:solidFill>
                  <a:srgbClr val="C00000"/>
                </a:solidFill>
                <a:latin typeface="微软雅黑" pitchFamily="18" charset="0"/>
                <a:cs typeface="微软雅黑" pitchFamily="18" charset="0"/>
              </a:rPr>
              <a:t>主要技术手段</a:t>
            </a:r>
            <a:r>
              <a:rPr lang="en-US" altLang="zh-CN" sz="2800" b="1" dirty="0">
                <a:solidFill>
                  <a:srgbClr val="000000"/>
                </a:solidFill>
                <a:latin typeface="微软雅黑" pitchFamily="18" charset="0"/>
                <a:cs typeface="微软雅黑" pitchFamily="18" charset="0"/>
              </a:rPr>
              <a:t>和</a:t>
            </a:r>
            <a:r>
              <a:rPr lang="en-US" altLang="zh-CN" sz="2800" b="1" dirty="0">
                <a:solidFill>
                  <a:srgbClr val="C00000"/>
                </a:solidFill>
                <a:latin typeface="微软雅黑" pitchFamily="18" charset="0"/>
                <a:cs typeface="微软雅黑" pitchFamily="18" charset="0"/>
              </a:rPr>
              <a:t>方法</a:t>
            </a:r>
          </a:p>
          <a:p>
            <a:pPr>
              <a:lnSpc>
                <a:spcPts val="3600"/>
              </a:lnSpc>
            </a:pPr>
            <a:endParaRPr lang="en-US" altLang="zh-CN" sz="2800" b="1" dirty="0">
              <a:solidFill>
                <a:srgbClr val="000000"/>
              </a:solidFill>
              <a:latin typeface="微软雅黑" pitchFamily="18" charset="0"/>
              <a:cs typeface="微软雅黑" pitchFamily="18" charset="0"/>
            </a:endParaRPr>
          </a:p>
        </p:txBody>
      </p:sp>
      <p:sp>
        <p:nvSpPr>
          <p:cNvPr id="8" name="TextBox 1"/>
          <p:cNvSpPr txBox="1"/>
          <p:nvPr/>
        </p:nvSpPr>
        <p:spPr>
          <a:xfrm>
            <a:off x="1838698" y="1920379"/>
            <a:ext cx="1723229" cy="413575"/>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优化与搜索</a:t>
            </a:r>
          </a:p>
        </p:txBody>
      </p:sp>
      <p:sp>
        <p:nvSpPr>
          <p:cNvPr id="9" name="TextBox 1"/>
          <p:cNvSpPr txBox="1"/>
          <p:nvPr/>
        </p:nvSpPr>
        <p:spPr>
          <a:xfrm>
            <a:off x="1838697" y="2390278"/>
            <a:ext cx="4800994" cy="859210"/>
          </a:xfrm>
          <a:prstGeom prst="rect">
            <a:avLst/>
          </a:prstGeom>
          <a:noFill/>
        </p:spPr>
        <p:txBody>
          <a:bodyPr wrap="none" lIns="0" tIns="0" rIns="0" rtlCol="0">
            <a:spAutoFit/>
          </a:bodyPr>
          <a:lstStyle/>
          <a:p>
            <a:pPr>
              <a:lnSpc>
                <a:spcPts val="31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机器学习</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深度学习</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；强化学习</a:t>
            </a:r>
          </a:p>
          <a:p>
            <a:pPr>
              <a:lnSpc>
                <a:spcPts val="3600"/>
              </a:lnSpc>
            </a:pPr>
            <a:r>
              <a:rPr lang="en-US" altLang="zh-CN" sz="2400" dirty="0">
                <a:solidFill>
                  <a:srgbClr val="000000"/>
                </a:solidFill>
                <a:latin typeface="Arial" pitchFamily="18" charset="0"/>
                <a:cs typeface="Arial" pitchFamily="18" charset="0"/>
              </a:rPr>
              <a:t>•</a:t>
            </a:r>
            <a:r>
              <a:rPr lang="en-US" altLang="zh-CN" sz="2400" dirty="0">
                <a:latin typeface="Times New Roman" pitchFamily="18" charset="0"/>
                <a:cs typeface="Times New Roman" pitchFamily="18" charset="0"/>
              </a:rPr>
              <a:t> </a:t>
            </a:r>
            <a:r>
              <a:rPr lang="en-US" altLang="zh-CN" sz="2400" dirty="0">
                <a:solidFill>
                  <a:srgbClr val="000000"/>
                </a:solidFill>
                <a:latin typeface="微软雅黑" pitchFamily="18" charset="0"/>
                <a:cs typeface="微软雅黑" pitchFamily="18" charset="0"/>
              </a:rPr>
              <a:t>大数据</a:t>
            </a:r>
          </a:p>
        </p:txBody>
      </p:sp>
      <p:sp>
        <p:nvSpPr>
          <p:cNvPr id="10" name="TextBox 1"/>
          <p:cNvSpPr txBox="1"/>
          <p:nvPr/>
        </p:nvSpPr>
        <p:spPr>
          <a:xfrm>
            <a:off x="1386814" y="4078152"/>
            <a:ext cx="4722447" cy="473206"/>
          </a:xfrm>
          <a:prstGeom prst="rect">
            <a:avLst/>
          </a:prstGeom>
          <a:noFill/>
        </p:spPr>
        <p:txBody>
          <a:bodyPr wrap="none" lIns="0" tIns="0" rIns="0" rtlCol="0">
            <a:spAutoFit/>
          </a:bodyPr>
          <a:lstStyle/>
          <a:p>
            <a:pPr>
              <a:lnSpc>
                <a:spcPts val="3600"/>
              </a:lnSpc>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课程还将回答以下重要问题</a:t>
            </a:r>
          </a:p>
        </p:txBody>
      </p:sp>
      <p:sp>
        <p:nvSpPr>
          <p:cNvPr id="11" name="TextBox 1"/>
          <p:cNvSpPr txBox="1"/>
          <p:nvPr/>
        </p:nvSpPr>
        <p:spPr>
          <a:xfrm>
            <a:off x="1760386" y="4675593"/>
            <a:ext cx="9758610" cy="934871"/>
          </a:xfrm>
          <a:prstGeom prst="rect">
            <a:avLst/>
          </a:prstGeom>
          <a:noFill/>
        </p:spPr>
        <p:txBody>
          <a:bodyPr wrap="square" lIns="0" tIns="0" rIns="0" rtlCol="0">
            <a:spAutoFit/>
          </a:bodyPr>
          <a:lstStyle/>
          <a:p>
            <a:pPr>
              <a:lnSpc>
                <a:spcPts val="36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这</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些（数学的、</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统计的、计算机的、工程的）技术手段和</a:t>
            </a:r>
            <a:r>
              <a:rPr lang="zh-CN" altLang="en-US" sz="2800" b="1" dirty="0">
                <a:solidFill>
                  <a:srgbClr val="000000"/>
                </a:solidFill>
                <a:latin typeface="微软雅黑" pitchFamily="18" charset="0"/>
                <a:cs typeface="微软雅黑" pitchFamily="18" charset="0"/>
              </a:rPr>
              <a:t>    </a:t>
            </a:r>
            <a:br>
              <a:rPr lang="en-US" altLang="zh-CN" sz="2800" b="1" dirty="0">
                <a:solidFill>
                  <a:srgbClr val="000000"/>
                </a:solidFill>
                <a:latin typeface="微软雅黑" pitchFamily="18" charset="0"/>
                <a:cs typeface="微软雅黑" pitchFamily="18" charset="0"/>
              </a:rPr>
            </a:b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方法，与</a:t>
            </a:r>
            <a:r>
              <a:rPr lang="en-US" altLang="zh-CN" sz="2800" b="1" dirty="0">
                <a:solidFill>
                  <a:srgbClr val="C00000"/>
                </a:solidFill>
                <a:latin typeface="微软雅黑" pitchFamily="18" charset="0"/>
                <a:cs typeface="微软雅黑" pitchFamily="18" charset="0"/>
              </a:rPr>
              <a:t>人工智能</a:t>
            </a:r>
            <a:r>
              <a:rPr lang="en-US" altLang="zh-CN" sz="2800" b="1" dirty="0">
                <a:solidFill>
                  <a:srgbClr val="000000"/>
                </a:solidFill>
                <a:latin typeface="微软雅黑" pitchFamily="18" charset="0"/>
                <a:cs typeface="微软雅黑" pitchFamily="18" charset="0"/>
              </a:rPr>
              <a:t>是什么</a:t>
            </a:r>
            <a:r>
              <a:rPr lang="en-US" altLang="zh-CN" sz="2800" b="1" dirty="0">
                <a:solidFill>
                  <a:srgbClr val="C00000"/>
                </a:solidFill>
                <a:latin typeface="微软雅黑" pitchFamily="18" charset="0"/>
                <a:cs typeface="微软雅黑" pitchFamily="18" charset="0"/>
              </a:rPr>
              <a:t>关系</a:t>
            </a:r>
            <a:r>
              <a:rPr lang="zh-CN" altLang="en-US" sz="2800" b="1" dirty="0">
                <a:solidFill>
                  <a:srgbClr val="000000"/>
                </a:solidFill>
                <a:latin typeface="微软雅黑" pitchFamily="18" charset="0"/>
                <a:cs typeface="Times New Roman" pitchFamily="18" charset="0"/>
              </a:rPr>
              <a:t>？</a:t>
            </a:r>
            <a:r>
              <a:rPr lang="en-US" altLang="zh-CN" sz="2800" b="1" dirty="0">
                <a:solidFill>
                  <a:srgbClr val="000000"/>
                </a:solidFill>
                <a:latin typeface="微软雅黑" pitchFamily="18" charset="0"/>
                <a:cs typeface="微软雅黑" pitchFamily="18" charset="0"/>
              </a:rPr>
              <a:t>它们相互之间又是什么</a:t>
            </a:r>
            <a:r>
              <a:rPr lang="en-US" altLang="zh-CN" sz="2800" b="1" dirty="0">
                <a:solidFill>
                  <a:srgbClr val="C00000"/>
                </a:solidFill>
                <a:latin typeface="微软雅黑" pitchFamily="18" charset="0"/>
                <a:cs typeface="微软雅黑" pitchFamily="18" charset="0"/>
              </a:rPr>
              <a:t>关系</a:t>
            </a:r>
            <a:r>
              <a:rPr lang="en-US" altLang="zh-CN" sz="2800" b="1" dirty="0">
                <a:solidFill>
                  <a:srgbClr val="000000"/>
                </a:solidFill>
                <a:latin typeface="微软雅黑" pitchFamily="18" charset="0"/>
                <a:cs typeface="微软雅黑" pitchFamily="18" charset="0"/>
              </a:rPr>
              <a:t>？</a:t>
            </a:r>
          </a:p>
        </p:txBody>
      </p:sp>
      <p:sp>
        <p:nvSpPr>
          <p:cNvPr id="14" name="TextBox 1">
            <a:extLst>
              <a:ext uri="{FF2B5EF4-FFF2-40B4-BE49-F238E27FC236}">
                <a16:creationId xmlns:a16="http://schemas.microsoft.com/office/drawing/2014/main" id="{9008AA02-D95C-C045-8775-6DB672E95FE8}"/>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87</a:t>
            </a:r>
          </a:p>
        </p:txBody>
      </p:sp>
      <p:sp>
        <p:nvSpPr>
          <p:cNvPr id="15" name="Freeform 3">
            <a:extLst>
              <a:ext uri="{FF2B5EF4-FFF2-40B4-BE49-F238E27FC236}">
                <a16:creationId xmlns:a16="http://schemas.microsoft.com/office/drawing/2014/main" id="{B03F3679-C4C9-B447-8ECE-6DAB100F8B1E}"/>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
            <a:extLst>
              <a:ext uri="{FF2B5EF4-FFF2-40B4-BE49-F238E27FC236}">
                <a16:creationId xmlns:a16="http://schemas.microsoft.com/office/drawing/2014/main" id="{6717E365-D319-EB4C-B44E-6791D2A5773D}"/>
              </a:ext>
            </a:extLst>
          </p:cNvPr>
          <p:cNvSpPr txBox="1"/>
          <p:nvPr/>
        </p:nvSpPr>
        <p:spPr>
          <a:xfrm>
            <a:off x="472354" y="152400"/>
            <a:ext cx="2471831" cy="542393"/>
          </a:xfrm>
          <a:prstGeom prst="rect">
            <a:avLst/>
          </a:prstGeom>
          <a:noFill/>
        </p:spPr>
        <p:txBody>
          <a:bodyPr wrap="none" lIns="0" tIns="0" rIns="0" rtlCol="0">
            <a:spAutoFit/>
          </a:bodyPr>
          <a:lstStyle/>
          <a:p>
            <a:pPr>
              <a:lnSpc>
                <a:spcPts val="4200"/>
              </a:lnSpc>
            </a:pPr>
            <a:r>
              <a:rPr lang="en-US" altLang="zh-CN" sz="3199" b="1" dirty="0">
                <a:solidFill>
                  <a:srgbClr val="000000"/>
                </a:solidFill>
                <a:latin typeface="微软雅黑" pitchFamily="18" charset="0"/>
                <a:cs typeface="微软雅黑" pitchFamily="18" charset="0"/>
              </a:rPr>
              <a:t>课程内容说明</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2034803" y="800718"/>
            <a:ext cx="8071944" cy="45718"/>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1250775" y="1295400"/>
            <a:ext cx="9771906" cy="3688830"/>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本课程是入门课程，</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但不是概论</a:t>
            </a:r>
            <a:r>
              <a:rPr lang="en-US" altLang="zh-CN" sz="2800" dirty="0">
                <a:latin typeface="Times New Roman" pitchFamily="18" charset="0"/>
                <a:cs typeface="Times New Roman" pitchFamily="18" charset="0"/>
              </a:rPr>
              <a:t> </a:t>
            </a:r>
            <a:r>
              <a:rPr lang="en-US" altLang="zh-CN" sz="2800" b="1" dirty="0">
                <a:solidFill>
                  <a:srgbClr val="000000"/>
                </a:solidFill>
                <a:latin typeface="Calibri" pitchFamily="18" charset="0"/>
                <a:cs typeface="Calibri" pitchFamily="18" charset="0"/>
              </a:rPr>
              <a:t>/</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导论课程</a:t>
            </a:r>
            <a:endParaRPr lang="en-US" altLang="zh-CN" sz="2800" b="1" dirty="0">
              <a:solidFill>
                <a:srgbClr val="000000"/>
              </a:solidFill>
              <a:latin typeface="微软雅黑" pitchFamily="18" charset="0"/>
              <a:cs typeface="微软雅黑" pitchFamily="18" charset="0"/>
            </a:endParaRP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43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需要熟悉相关</a:t>
            </a:r>
            <a:r>
              <a:rPr lang="en-US" altLang="zh-CN" sz="2800" b="1" dirty="0">
                <a:solidFill>
                  <a:srgbClr val="C00000"/>
                </a:solidFill>
                <a:latin typeface="微软雅黑" pitchFamily="18" charset="0"/>
                <a:cs typeface="微软雅黑" pitchFamily="18" charset="0"/>
              </a:rPr>
              <a:t>数学公式</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，理解关键技术的原理</a:t>
            </a:r>
          </a:p>
          <a:p>
            <a:pPr>
              <a:lnSpc>
                <a:spcPts val="4300"/>
              </a:lnSpc>
              <a:tabLst>
                <a:tab pos="228600" algn="l"/>
              </a:tabLst>
            </a:pPr>
            <a:endParaRPr lang="en-US" altLang="zh-CN" sz="2800" b="1" dirty="0">
              <a:solidFill>
                <a:srgbClr val="000000"/>
              </a:solidFill>
              <a:latin typeface="微软雅黑" pitchFamily="18" charset="0"/>
              <a:cs typeface="微软雅黑" pitchFamily="18" charset="0"/>
            </a:endParaRPr>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err="1">
                <a:solidFill>
                  <a:srgbClr val="000000"/>
                </a:solidFill>
                <a:latin typeface="微软雅黑" pitchFamily="18" charset="0"/>
                <a:cs typeface="微软雅黑" pitchFamily="18" charset="0"/>
              </a:rPr>
              <a:t>需要</a:t>
            </a:r>
            <a:r>
              <a:rPr lang="en-US" altLang="zh-CN" sz="2800" b="1" dirty="0" err="1">
                <a:solidFill>
                  <a:srgbClr val="C00000"/>
                </a:solidFill>
                <a:latin typeface="微软雅黑" pitchFamily="18" charset="0"/>
                <a:cs typeface="微软雅黑" pitchFamily="18" charset="0"/>
              </a:rPr>
              <a:t>动手编程</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a:t>
            </a:r>
            <a:r>
              <a:rPr lang="en-US" altLang="zh-CN" sz="2800" b="1" dirty="0" err="1">
                <a:solidFill>
                  <a:srgbClr val="000000"/>
                </a:solidFill>
                <a:latin typeface="微软雅黑" pitchFamily="18" charset="0"/>
                <a:cs typeface="微软雅黑" pitchFamily="18" charset="0"/>
              </a:rPr>
              <a:t>读懂主要机器学习工具包的文档</a:t>
            </a:r>
            <a:r>
              <a:rPr lang="zh-CN" altLang="en-US" sz="2800" b="1" dirty="0">
                <a:solidFill>
                  <a:srgbClr val="000000"/>
                </a:solidFill>
                <a:latin typeface="Times New Roman" pitchFamily="18" charset="0"/>
                <a:cs typeface="Times New Roman" pitchFamily="18" charset="0"/>
              </a:rPr>
              <a:t>，</a:t>
            </a:r>
            <a:r>
              <a:rPr lang="en-US" altLang="zh-CN" sz="2800" b="1" dirty="0">
                <a:solidFill>
                  <a:srgbClr val="000000"/>
                </a:solidFill>
                <a:latin typeface="微软雅黑" pitchFamily="18" charset="0"/>
                <a:cs typeface="微软雅黑" pitchFamily="18" charset="0"/>
              </a:rPr>
              <a:t>完成机器</a:t>
            </a:r>
          </a:p>
          <a:p>
            <a:pPr>
              <a:lnSpc>
                <a:spcPts val="3700"/>
              </a:lnSpc>
              <a:tabLst>
                <a:tab pos="228600" algn="l"/>
              </a:tabLst>
            </a:pPr>
            <a:r>
              <a:rPr lang="zh-CN" altLang="en-US" sz="2800" b="1" dirty="0">
                <a:solidFill>
                  <a:srgbClr val="000000"/>
                </a:solidFill>
                <a:latin typeface="微软雅黑" pitchFamily="18" charset="0"/>
                <a:cs typeface="微软雅黑" pitchFamily="18" charset="0"/>
              </a:rPr>
              <a:t>  </a:t>
            </a:r>
            <a:r>
              <a:rPr lang="en-US" altLang="zh-CN" sz="2800" b="1" dirty="0">
                <a:solidFill>
                  <a:srgbClr val="000000"/>
                </a:solidFill>
                <a:latin typeface="微软雅黑" pitchFamily="18" charset="0"/>
                <a:cs typeface="微软雅黑" pitchFamily="18" charset="0"/>
              </a:rPr>
              <a:t>学习训练</a:t>
            </a:r>
            <a:r>
              <a:rPr lang="zh-CN" altLang="en-US" sz="2800" b="1" dirty="0">
                <a:solidFill>
                  <a:srgbClr val="000000"/>
                </a:solidFill>
                <a:latin typeface="微软雅黑" pitchFamily="18" charset="0"/>
                <a:cs typeface="微软雅黑" pitchFamily="18" charset="0"/>
              </a:rPr>
              <a:t>，</a:t>
            </a:r>
            <a:r>
              <a:rPr lang="en-US" altLang="zh-CN" sz="2800" b="1" dirty="0">
                <a:solidFill>
                  <a:srgbClr val="000000"/>
                </a:solidFill>
                <a:latin typeface="微软雅黑" pitchFamily="18" charset="0"/>
                <a:cs typeface="微软雅黑" pitchFamily="18" charset="0"/>
              </a:rPr>
              <a:t>实现机器学习模型的</a:t>
            </a:r>
            <a:r>
              <a:rPr lang="zh-CN" altLang="en-US" sz="2800" b="1" dirty="0">
                <a:solidFill>
                  <a:srgbClr val="000000"/>
                </a:solidFill>
                <a:latin typeface="微软雅黑" pitchFamily="18" charset="0"/>
                <a:cs typeface="微软雅黑" pitchFamily="18" charset="0"/>
              </a:rPr>
              <a:t>功</a:t>
            </a:r>
            <a:r>
              <a:rPr lang="en-US" altLang="zh-CN" sz="2800" b="1" dirty="0">
                <a:solidFill>
                  <a:srgbClr val="000000"/>
                </a:solidFill>
                <a:latin typeface="微软雅黑" pitchFamily="18" charset="0"/>
                <a:cs typeface="微软雅黑" pitchFamily="18" charset="0"/>
              </a:rPr>
              <a:t>能</a:t>
            </a:r>
          </a:p>
        </p:txBody>
      </p:sp>
      <p:sp>
        <p:nvSpPr>
          <p:cNvPr id="8" name="TextBox 1">
            <a:extLst>
              <a:ext uri="{FF2B5EF4-FFF2-40B4-BE49-F238E27FC236}">
                <a16:creationId xmlns:a16="http://schemas.microsoft.com/office/drawing/2014/main" id="{1E7C4F5A-6192-124B-B47B-066AD375BCBB}"/>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88</a:t>
            </a:r>
          </a:p>
        </p:txBody>
      </p:sp>
      <p:sp>
        <p:nvSpPr>
          <p:cNvPr id="9" name="Freeform 3">
            <a:extLst>
              <a:ext uri="{FF2B5EF4-FFF2-40B4-BE49-F238E27FC236}">
                <a16:creationId xmlns:a16="http://schemas.microsoft.com/office/drawing/2014/main" id="{CBD27A26-13EB-CC42-B322-4E4673C01EB1}"/>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1">
            <a:extLst>
              <a:ext uri="{FF2B5EF4-FFF2-40B4-BE49-F238E27FC236}">
                <a16:creationId xmlns:a16="http://schemas.microsoft.com/office/drawing/2014/main" id="{972ED80A-2D6F-AD46-88DA-E86BB07D95F2}"/>
              </a:ext>
            </a:extLst>
          </p:cNvPr>
          <p:cNvSpPr txBox="1"/>
          <p:nvPr/>
        </p:nvSpPr>
        <p:spPr>
          <a:xfrm>
            <a:off x="472354" y="152400"/>
            <a:ext cx="5355633"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本课程是人工智能的入门课程</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2205037" y="2227410"/>
            <a:ext cx="7781925" cy="4263660"/>
          </a:xfrm>
          <a:prstGeom prst="rect">
            <a:avLst/>
          </a:prstGeom>
          <a:noFill/>
        </p:spPr>
      </p:pic>
      <p:sp>
        <p:nvSpPr>
          <p:cNvPr id="2" name="TextBox 1"/>
          <p:cNvSpPr txBox="1"/>
          <p:nvPr/>
        </p:nvSpPr>
        <p:spPr>
          <a:xfrm>
            <a:off x="990600" y="779452"/>
            <a:ext cx="8600111" cy="1342034"/>
          </a:xfrm>
          <a:prstGeom prst="rect">
            <a:avLst/>
          </a:prstGeom>
          <a:noFill/>
        </p:spPr>
        <p:txBody>
          <a:bodyPr wrap="none" lIns="0" tIns="0" rIns="0" rtlCol="0">
            <a:spAutoFit/>
          </a:bodyPr>
          <a:lstStyle/>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28600" algn="l"/>
              </a:tabLst>
            </a:pPr>
            <a:r>
              <a:rPr lang="en-US" altLang="zh-CN" sz="2800" dirty="0">
                <a:solidFill>
                  <a:srgbClr val="000000"/>
                </a:solidFill>
                <a:latin typeface="Arial" pitchFamily="18" charset="0"/>
                <a:cs typeface="Arial" pitchFamily="18" charset="0"/>
              </a:rPr>
              <a:t>•</a:t>
            </a:r>
            <a:r>
              <a:rPr lang="en-US" altLang="zh-CN" sz="2800" dirty="0">
                <a:latin typeface="Times New Roman" pitchFamily="18" charset="0"/>
                <a:cs typeface="Times New Roman" pitchFamily="18" charset="0"/>
              </a:rPr>
              <a:t> </a:t>
            </a:r>
            <a:r>
              <a:rPr lang="en-US" altLang="zh-CN" sz="2800" b="1" dirty="0">
                <a:solidFill>
                  <a:srgbClr val="000000"/>
                </a:solidFill>
                <a:latin typeface="微软雅黑" pitchFamily="18" charset="0"/>
                <a:cs typeface="微软雅黑" pitchFamily="18" charset="0"/>
              </a:rPr>
              <a:t>本课程会介绍如何读懂机器学习工具包的相关文档，</a:t>
            </a:r>
          </a:p>
          <a:p>
            <a:pPr>
              <a:lnSpc>
                <a:spcPts val="3700"/>
              </a:lnSpc>
              <a:tabLst>
                <a:tab pos="228600" algn="l"/>
              </a:tabLst>
            </a:pPr>
            <a:r>
              <a:rPr lang="en-US" altLang="zh-CN" sz="2800" b="1" dirty="0">
                <a:solidFill>
                  <a:srgbClr val="000000"/>
                </a:solidFill>
                <a:latin typeface="微软雅黑" pitchFamily="18" charset="0"/>
                <a:cs typeface="微软雅黑" pitchFamily="18" charset="0"/>
              </a:rPr>
              <a:t>并学会使用相关工具包编程</a:t>
            </a:r>
          </a:p>
        </p:txBody>
      </p:sp>
      <p:sp>
        <p:nvSpPr>
          <p:cNvPr id="9" name="TextBox 1">
            <a:extLst>
              <a:ext uri="{FF2B5EF4-FFF2-40B4-BE49-F238E27FC236}">
                <a16:creationId xmlns:a16="http://schemas.microsoft.com/office/drawing/2014/main" id="{CDB56129-4DEF-9B45-8E9D-312DE9FCBFF7}"/>
              </a:ext>
            </a:extLst>
          </p:cNvPr>
          <p:cNvSpPr txBox="1"/>
          <p:nvPr/>
        </p:nvSpPr>
        <p:spPr>
          <a:xfrm flipH="1">
            <a:off x="11602624" y="6477000"/>
            <a:ext cx="208376" cy="225703"/>
          </a:xfrm>
          <a:prstGeom prst="rect">
            <a:avLst/>
          </a:prstGeom>
          <a:noFill/>
        </p:spPr>
        <p:txBody>
          <a:bodyPr wrap="square" lIns="0" tIns="0" rIns="0" rtlCol="0">
            <a:spAutoFit/>
          </a:bodyPr>
          <a:lstStyle/>
          <a:p>
            <a:pPr>
              <a:lnSpc>
                <a:spcPts val="1400"/>
              </a:lnSpc>
            </a:pPr>
            <a:r>
              <a:rPr lang="en-US" altLang="zh-CN" sz="1200" dirty="0">
                <a:solidFill>
                  <a:srgbClr val="898989"/>
                </a:solidFill>
                <a:latin typeface="Calibri" pitchFamily="18" charset="0"/>
                <a:cs typeface="Calibri" pitchFamily="18" charset="0"/>
              </a:rPr>
              <a:t>89</a:t>
            </a:r>
          </a:p>
        </p:txBody>
      </p:sp>
      <p:sp>
        <p:nvSpPr>
          <p:cNvPr id="10" name="Freeform 3">
            <a:extLst>
              <a:ext uri="{FF2B5EF4-FFF2-40B4-BE49-F238E27FC236}">
                <a16:creationId xmlns:a16="http://schemas.microsoft.com/office/drawing/2014/main" id="{98326503-50B0-0142-8CEF-58A4480214CA}"/>
              </a:ext>
            </a:extLst>
          </p:cNvPr>
          <p:cNvSpPr/>
          <p:nvPr/>
        </p:nvSpPr>
        <p:spPr>
          <a:xfrm>
            <a:off x="386256" y="800717"/>
            <a:ext cx="11500944" cy="45719"/>
          </a:xfrm>
          <a:custGeom>
            <a:avLst/>
            <a:gdLst>
              <a:gd name="connsiteX0" fmla="*/ 0 w 8071944"/>
              <a:gd name="connsiteY0" fmla="*/ 22859 h 45718"/>
              <a:gd name="connsiteX1" fmla="*/ 8071944 w 8071944"/>
              <a:gd name="connsiteY1" fmla="*/ 22859 h 45718"/>
            </a:gdLst>
            <a:ahLst/>
            <a:cxnLst>
              <a:cxn ang="0">
                <a:pos x="connsiteX0" y="connsiteY0"/>
              </a:cxn>
              <a:cxn ang="1">
                <a:pos x="connsiteX1" y="connsiteY1"/>
              </a:cxn>
            </a:cxnLst>
            <a:rect l="l" t="t" r="r" b="b"/>
            <a:pathLst>
              <a:path w="8071944" h="45718">
                <a:moveTo>
                  <a:pt x="0" y="22859"/>
                </a:moveTo>
                <a:lnTo>
                  <a:pt x="8071944" y="22859"/>
                </a:lnTo>
              </a:path>
            </a:pathLst>
          </a:custGeom>
          <a:ln w="63500">
            <a:solidFill>
              <a:srgbClr val="C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
            <a:extLst>
              <a:ext uri="{FF2B5EF4-FFF2-40B4-BE49-F238E27FC236}">
                <a16:creationId xmlns:a16="http://schemas.microsoft.com/office/drawing/2014/main" id="{D254D37A-C816-BD48-BB8B-7E53C3980780}"/>
              </a:ext>
            </a:extLst>
          </p:cNvPr>
          <p:cNvSpPr txBox="1"/>
          <p:nvPr/>
        </p:nvSpPr>
        <p:spPr>
          <a:xfrm>
            <a:off x="472354" y="152400"/>
            <a:ext cx="5355633" cy="542393"/>
          </a:xfrm>
          <a:prstGeom prst="rect">
            <a:avLst/>
          </a:prstGeom>
          <a:noFill/>
        </p:spPr>
        <p:txBody>
          <a:bodyPr wrap="none" lIns="0" tIns="0" rIns="0" rtlCol="0">
            <a:spAutoFit/>
          </a:bodyPr>
          <a:lstStyle/>
          <a:p>
            <a:pPr>
              <a:lnSpc>
                <a:spcPts val="4200"/>
              </a:lnSpc>
              <a:tabLst>
                <a:tab pos="228600" algn="l"/>
              </a:tabLst>
            </a:pPr>
            <a:r>
              <a:rPr lang="en-US" altLang="zh-CN" sz="3199" b="1" dirty="0">
                <a:solidFill>
                  <a:srgbClr val="000000"/>
                </a:solidFill>
                <a:latin typeface="微软雅黑" pitchFamily="18" charset="0"/>
                <a:cs typeface="微软雅黑" pitchFamily="18" charset="0"/>
              </a:rPr>
              <a:t>本课程是人工智能的入门课程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alibri Light"/>
        <a:ea typeface="雅虎"/>
        <a:cs typeface=""/>
      </a:majorFont>
      <a:minorFont>
        <a:latin typeface="Calibri"/>
        <a:ea typeface="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1447</TotalTime>
  <Words>4853</Words>
  <Application>Microsoft Office PowerPoint</Application>
  <PresentationFormat>宽屏</PresentationFormat>
  <Paragraphs>1291</Paragraphs>
  <Slides>101</Slides>
  <Notes>84</Notes>
  <HiddenSlides>0</HiddenSlides>
  <MMClips>1</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101</vt:i4>
      </vt:variant>
    </vt:vector>
  </HeadingPairs>
  <TitlesOfParts>
    <vt:vector size="116" baseType="lpstr">
      <vt:lpstr>quote-cjk-patch</vt:lpstr>
      <vt:lpstr>等线</vt:lpstr>
      <vt:lpstr>宋体</vt:lpstr>
      <vt:lpstr>微软雅黑</vt:lpstr>
      <vt:lpstr>微软雅黑</vt:lpstr>
      <vt:lpstr>雅黑</vt:lpstr>
      <vt:lpstr>雅虎</vt:lpstr>
      <vt:lpstr>Arial</vt:lpstr>
      <vt:lpstr>Calibri</vt:lpstr>
      <vt:lpstr>Calibri Light</vt:lpstr>
      <vt:lpstr>Times New Roman</vt:lpstr>
      <vt:lpstr>Verdana</vt:lpstr>
      <vt:lpstr>Wingdings</vt:lpstr>
      <vt:lpstr>Office 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深度强化学习模型+喷印机理实现体积高效控制</vt:lpstr>
      <vt:lpstr>提出大面积TFE喷印图注意缺陷溯源算法</vt:lpstr>
      <vt:lpstr>融合液滴体积偏差的监督学习算法实现液滴体积控制</vt:lpstr>
      <vt:lpstr>深度强化学习模型实现微米级液滴体积控制</vt:lpstr>
      <vt:lpstr>机理模型与深度强化学习融合驱动的多脉冲液滴体积控制</vt:lpstr>
      <vt:lpstr>提出大尺寸RGB喷印分区模仿学习规划算法</vt:lpstr>
      <vt:lpstr>多源数据融合方法实现微米级液滴体积预测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chen wei</cp:lastModifiedBy>
  <cp:revision>104</cp:revision>
  <dcterms:created xsi:type="dcterms:W3CDTF">2006-08-16T00:00:00Z</dcterms:created>
  <dcterms:modified xsi:type="dcterms:W3CDTF">2026-04-29T02:04:38Z</dcterms:modified>
</cp:coreProperties>
</file>