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0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34.xml" ContentType="application/vnd.openxmlformats-officedocument.presentationml.notesSlide+xml"/>
  <Override PartName="/ppt/tags/tag24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25.xml" ContentType="application/vnd.openxmlformats-officedocument.presentationml.tags+xml"/>
  <Override PartName="/ppt/notesSlides/notesSlide37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38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9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40.xml" ContentType="application/vnd.openxmlformats-officedocument.presentationml.notesSlide+xml"/>
  <Override PartName="/ppt/tags/tag37.xml" ContentType="application/vnd.openxmlformats-officedocument.presentationml.tags+xml"/>
  <Override PartName="/ppt/notesSlides/notesSlide41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44.xml" ContentType="application/vnd.openxmlformats-officedocument.presentationml.notesSlide+xml"/>
  <Override PartName="/ppt/tags/tag43.xml" ContentType="application/vnd.openxmlformats-officedocument.presentationml.tags+xml"/>
  <Override PartName="/ppt/notesSlides/notesSlide45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tags/tag46.xml" ContentType="application/vnd.openxmlformats-officedocument.presentationml.tags+xml"/>
  <Override PartName="/ppt/notesSlides/notesSlide57.xml" ContentType="application/vnd.openxmlformats-officedocument.presentationml.notesSlide+xml"/>
  <Override PartName="/ppt/tags/tag47.xml" ContentType="application/vnd.openxmlformats-officedocument.presentationml.tags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6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71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6"/>
  </p:notesMasterIdLst>
  <p:sldIdLst>
    <p:sldId id="256" r:id="rId2"/>
    <p:sldId id="260" r:id="rId3"/>
    <p:sldId id="379" r:id="rId4"/>
    <p:sldId id="309" r:id="rId5"/>
    <p:sldId id="315" r:id="rId6"/>
    <p:sldId id="325" r:id="rId7"/>
    <p:sldId id="316" r:id="rId8"/>
    <p:sldId id="326" r:id="rId9"/>
    <p:sldId id="330" r:id="rId10"/>
    <p:sldId id="329" r:id="rId11"/>
    <p:sldId id="331" r:id="rId12"/>
    <p:sldId id="328" r:id="rId13"/>
    <p:sldId id="327" r:id="rId14"/>
    <p:sldId id="378" r:id="rId15"/>
    <p:sldId id="336" r:id="rId16"/>
    <p:sldId id="335" r:id="rId17"/>
    <p:sldId id="313" r:id="rId18"/>
    <p:sldId id="319" r:id="rId19"/>
    <p:sldId id="332" r:id="rId20"/>
    <p:sldId id="320" r:id="rId21"/>
    <p:sldId id="333" r:id="rId22"/>
    <p:sldId id="334" r:id="rId23"/>
    <p:sldId id="338" r:id="rId24"/>
    <p:sldId id="395" r:id="rId25"/>
    <p:sldId id="396" r:id="rId26"/>
    <p:sldId id="339" r:id="rId27"/>
    <p:sldId id="321" r:id="rId28"/>
    <p:sldId id="322" r:id="rId29"/>
    <p:sldId id="311" r:id="rId30"/>
    <p:sldId id="317" r:id="rId31"/>
    <p:sldId id="348" r:id="rId32"/>
    <p:sldId id="340" r:id="rId33"/>
    <p:sldId id="342" r:id="rId34"/>
    <p:sldId id="344" r:id="rId35"/>
    <p:sldId id="345" r:id="rId36"/>
    <p:sldId id="375" r:id="rId37"/>
    <p:sldId id="343" r:id="rId38"/>
    <p:sldId id="346" r:id="rId39"/>
    <p:sldId id="349" r:id="rId40"/>
    <p:sldId id="347" r:id="rId41"/>
    <p:sldId id="350" r:id="rId42"/>
    <p:sldId id="351" r:id="rId43"/>
    <p:sldId id="318" r:id="rId44"/>
    <p:sldId id="354" r:id="rId45"/>
    <p:sldId id="355" r:id="rId46"/>
    <p:sldId id="353" r:id="rId47"/>
    <p:sldId id="376" r:id="rId48"/>
    <p:sldId id="377" r:id="rId49"/>
    <p:sldId id="380" r:id="rId50"/>
    <p:sldId id="388" r:id="rId51"/>
    <p:sldId id="381" r:id="rId52"/>
    <p:sldId id="382" r:id="rId53"/>
    <p:sldId id="383" r:id="rId54"/>
    <p:sldId id="384" r:id="rId55"/>
    <p:sldId id="385" r:id="rId56"/>
    <p:sldId id="386" r:id="rId57"/>
    <p:sldId id="387" r:id="rId58"/>
    <p:sldId id="393" r:id="rId59"/>
    <p:sldId id="389" r:id="rId60"/>
    <p:sldId id="390" r:id="rId61"/>
    <p:sldId id="312" r:id="rId62"/>
    <p:sldId id="356" r:id="rId63"/>
    <p:sldId id="357" r:id="rId64"/>
    <p:sldId id="359" r:id="rId65"/>
    <p:sldId id="358" r:id="rId66"/>
    <p:sldId id="360" r:id="rId67"/>
    <p:sldId id="361" r:id="rId68"/>
    <p:sldId id="362" r:id="rId69"/>
    <p:sldId id="364" r:id="rId70"/>
    <p:sldId id="391" r:id="rId71"/>
    <p:sldId id="365" r:id="rId72"/>
    <p:sldId id="394" r:id="rId73"/>
    <p:sldId id="363" r:id="rId74"/>
    <p:sldId id="392" r:id="rId75"/>
    <p:sldId id="337" r:id="rId76"/>
    <p:sldId id="366" r:id="rId77"/>
    <p:sldId id="367" r:id="rId78"/>
    <p:sldId id="370" r:id="rId79"/>
    <p:sldId id="369" r:id="rId80"/>
    <p:sldId id="371" r:id="rId81"/>
    <p:sldId id="372" r:id="rId82"/>
    <p:sldId id="373" r:id="rId83"/>
    <p:sldId id="368" r:id="rId84"/>
    <p:sldId id="374" r:id="rId8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8" autoAdjust="0"/>
    <p:restoredTop sz="84615"/>
  </p:normalViewPr>
  <p:slideViewPr>
    <p:cSldViewPr snapToGrid="0">
      <p:cViewPr varScale="1">
        <p:scale>
          <a:sx n="72" d="100"/>
          <a:sy n="72" d="100"/>
        </p:scale>
        <p:origin x="516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88F82-B575-4FED-995F-EE36B716F16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4D014-7E33-44A7-8C25-594FB616F2F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各位同学，大家好！今天我们要开启 “机器学习（一）” 这门课程的学习。在接下来的课程里，我们会围绕人工智能与深度学习领域中机器学习的基础内容展开，一起探索机器学习的核心概念、方法和应用。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71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在正式进入机器学习的细节之前，我们先明确一下机器学习和人工智能的关系。人工智能是一个非常广泛的领域，它旨在让机器具备类似人类的智能，能够完成一些需要人类智慧才能解决的任务。而机器学习，则是实现人工智能的重要手段之一。简单来说，机器学习就是让机器从数据中学习规律，进而利用这些规律解决实际问题。就像我们人类通过学习经验来提升能力一样，机器也能通过分析大量数据来 “提升” 自己解决问题的能力，这便是机器学习在人工智能体系中的核心作用。</a:t>
            </a:r>
          </a:p>
          <a:p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27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为了让大家更直观地理解机器学习能解决哪些问题，我们来看几个常见的示例。首先是 </a:t>
            </a:r>
            <a:r>
              <a:rPr lang="en-GB" altLang="zh-CN" b="0" i="0">
                <a:effectLst/>
                <a:latin typeface="Inter"/>
              </a:rPr>
              <a:t>AlphaGo </a:t>
            </a:r>
            <a:r>
              <a:rPr lang="zh-CN" altLang="en-US" b="0" i="0">
                <a:effectLst/>
                <a:latin typeface="Inter"/>
              </a:rPr>
              <a:t>与 </a:t>
            </a:r>
            <a:r>
              <a:rPr lang="en-GB" altLang="zh-CN" b="0" i="0">
                <a:effectLst/>
                <a:latin typeface="Inter"/>
              </a:rPr>
              <a:t>Lee Sedol </a:t>
            </a:r>
            <a:r>
              <a:rPr lang="zh-CN" altLang="en-US" b="0" i="0">
                <a:effectLst/>
                <a:latin typeface="Inter"/>
              </a:rPr>
              <a:t>的围棋对战，</a:t>
            </a:r>
            <a:r>
              <a:rPr lang="en-GB" altLang="zh-CN" b="0" i="0">
                <a:effectLst/>
                <a:latin typeface="Inter"/>
              </a:rPr>
              <a:t>AlphaGo </a:t>
            </a:r>
            <a:r>
              <a:rPr lang="zh-CN" altLang="en-US" b="0" i="0">
                <a:effectLst/>
                <a:latin typeface="Inter"/>
              </a:rPr>
              <a:t>正是通过机器学习，分析了大量的围棋棋谱，学习到了围棋的策略，最终在与世界顶级棋手的对战中取得了胜利，这展现了机器学习在复杂决策任务中的强大能力。还有 </a:t>
            </a:r>
            <a:r>
              <a:rPr lang="en-GB" altLang="zh-CN" b="0" i="0">
                <a:effectLst/>
                <a:latin typeface="Inter"/>
              </a:rPr>
              <a:t>Google Translate </a:t>
            </a:r>
            <a:r>
              <a:rPr lang="zh-CN" altLang="en-US" b="0" i="0">
                <a:effectLst/>
                <a:latin typeface="Inter"/>
              </a:rPr>
              <a:t>的实时翻译功能，它能准确地将一种语言翻译成另一种语言，也是依靠机器学习对海量语言数据的学习和分析。还有对路上的物体进行识别。这些例子都说明，机器学习已经渗透到我们生活的方方面面，解决了很多实际问题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80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上一页我们看了一些机器学习的应用示例，这一页我们进一步梳理机器学习与人工智能的关系。目前，基于统计学习的方法是当前人工智能领域的主流方法。大家可能会听到 “机器学习” 和 “统计学习” 这两个词，在很多情况下，它们是可以互换的。这是因为机器学习本质上是通过统计的方法从数据中挖掘规律，进而构建模型解决问题。所以简单来说，目前很多人工智能系统，都是通过机器学习的方法来实现其智能功能的。</a:t>
            </a:r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79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从这一页开始，我们正式进入机器学习基础内容的学习。机器学习的整个流程，都是围绕数据展开的。首先我们需要获取数据，然后对数据进行处理，接着利用处理好的数据训练模型，最后用训练好的模型解决实际问题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59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首先，我们来明确 “机器学习是什么”。简单来说，机器学习就是基于数据得到决策的方法。也就是说，机器通过对大量数据的分析和学习，找到数据背后隐藏的规律，然后根据这些规律对新的情况做出决策或预测。</a:t>
            </a:r>
            <a:endParaRPr lang="en-US" altLang="zh-CN" b="0" i="0">
              <a:effectLst/>
              <a:latin typeface="Inter"/>
            </a:endParaRPr>
          </a:p>
          <a:p>
            <a:r>
              <a:rPr lang="zh-CN" altLang="en-US" b="0" i="0">
                <a:effectLst/>
                <a:latin typeface="Inter"/>
              </a:rPr>
              <a:t>那 “数据是什么样的呢”？在实际情况中，数据本身可能非常杂乱，比如数据的结构复杂，有的数据值缺失，还有的字段存在错误等。不过，在我们课程的初始阶段，为了让大家更好地理解机器学习的核心逻辑，我们会先关注那些已经整理好的、“干净的” 数据。这些数据的特征和标签都比较明确，能帮助我们更清晰地理解模型的构建和训练过程。后续随着课程的深入，我们再逐步学习如何处理那些杂乱的实际数据。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75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effectLst/>
                <a:latin typeface="Inter"/>
              </a:rPr>
              <a:t>了解了机器学习的定义和数据的基本情况后，我们来学习几个机器学习中的基础术语。在训练模型时，我们会用到很多数据，其中每一条数据都可以称为一个训练样本。比如我们要训练一个预测房价的模型，每一套房子的相关数据，就是一个训练样本。每个样本又包含多个 “特征（</a:t>
            </a:r>
            <a:r>
              <a:rPr lang="en-GB" altLang="zh-CN" b="0" i="0" dirty="0">
                <a:effectLst/>
                <a:latin typeface="Inter"/>
              </a:rPr>
              <a:t>feature</a:t>
            </a:r>
            <a:r>
              <a:rPr lang="zh-CN" altLang="en-GB" b="0" i="0" dirty="0">
                <a:effectLst/>
                <a:latin typeface="Inter"/>
              </a:rPr>
              <a:t>）”，</a:t>
            </a:r>
            <a:r>
              <a:rPr lang="zh-CN" altLang="en-US" b="0" i="0" dirty="0">
                <a:effectLst/>
                <a:latin typeface="Inter"/>
              </a:rPr>
              <a:t>也叫属性（</a:t>
            </a:r>
            <a:r>
              <a:rPr lang="en-GB" altLang="zh-CN" b="0" i="0" dirty="0">
                <a:effectLst/>
                <a:latin typeface="Inter"/>
              </a:rPr>
              <a:t>attribute</a:t>
            </a:r>
            <a:r>
              <a:rPr lang="zh-CN" altLang="en-GB" b="0" i="0" dirty="0">
                <a:effectLst/>
                <a:latin typeface="Inter"/>
              </a:rPr>
              <a:t>）。</a:t>
            </a:r>
            <a:r>
              <a:rPr lang="zh-CN" altLang="en-US" b="0" i="0" dirty="0">
                <a:effectLst/>
                <a:latin typeface="Inter"/>
              </a:rPr>
              <a:t>特征是用来描述样本的相关信息，比如在房价预测的例子中，房子的面积、房间数量、地理位置等，都是样本的特征。这些特征可能是连续值，比如面积可以是 </a:t>
            </a:r>
            <a:r>
              <a:rPr lang="en-US" altLang="zh-CN" b="0" i="0" dirty="0">
                <a:effectLst/>
                <a:latin typeface="Inter"/>
              </a:rPr>
              <a:t>100 </a:t>
            </a:r>
            <a:r>
              <a:rPr lang="zh-CN" altLang="en-US" b="0" i="0" dirty="0">
                <a:effectLst/>
                <a:latin typeface="Inter"/>
              </a:rPr>
              <a:t>平方米、</a:t>
            </a:r>
            <a:r>
              <a:rPr lang="en-US" altLang="zh-CN" b="0" i="0" dirty="0">
                <a:effectLst/>
                <a:latin typeface="Inter"/>
              </a:rPr>
              <a:t>120 </a:t>
            </a:r>
            <a:r>
              <a:rPr lang="zh-CN" altLang="en-US" b="0" i="0" dirty="0">
                <a:effectLst/>
                <a:latin typeface="Inter"/>
              </a:rPr>
              <a:t>平方米等；也可能是离散值，比如房子是否靠近地铁，用 “是” 或 “否” 来表示。另外，样本还可能（但不是必须）包含一个或多个 “标签（</a:t>
            </a:r>
            <a:r>
              <a:rPr lang="en-GB" altLang="zh-CN" b="0" i="0" dirty="0">
                <a:effectLst/>
                <a:latin typeface="Inter"/>
              </a:rPr>
              <a:t>label</a:t>
            </a:r>
            <a:r>
              <a:rPr lang="zh-CN" altLang="en-GB" b="0" i="0" dirty="0">
                <a:effectLst/>
                <a:latin typeface="Inter"/>
              </a:rPr>
              <a:t>）”。</a:t>
            </a:r>
            <a:r>
              <a:rPr lang="zh-CN" altLang="en-US" b="0" i="0" dirty="0">
                <a:effectLst/>
                <a:latin typeface="Inter"/>
              </a:rPr>
              <a:t>标签是我们希望通过模型预测得到的结果，在房价预测中，房子的价格就是样本的标签。简单来说，特征是输入模型的信息，标签是模型输出的结果，而训练样本则是由特征和标签（如果有）组成的整体，是我们训练模型的基础数据。</a:t>
            </a:r>
          </a:p>
          <a:p>
            <a:br>
              <a:rPr lang="zh-CN" altLang="en-US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62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为了让大家更具体地理解样本、特征和标签的概念，我们以波士顿房价数据为例进行讲解。看这张表格，里面详细列出了波士顿房价数据集中的各个属性。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83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除了前面房价数据中那种单一的数值型标签，在图像领域，标签还有不同的形式。以 </a:t>
            </a:r>
            <a:r>
              <a:rPr lang="en-GB" altLang="zh-CN" b="0" i="0">
                <a:effectLst/>
                <a:latin typeface="Inter"/>
              </a:rPr>
              <a:t>ImageNet </a:t>
            </a:r>
            <a:r>
              <a:rPr lang="zh-CN" altLang="en-US" b="0" i="0">
                <a:effectLst/>
                <a:latin typeface="Inter"/>
              </a:rPr>
              <a:t>数据集为例，原始的 </a:t>
            </a:r>
            <a:r>
              <a:rPr lang="en-GB" altLang="zh-CN" b="0" i="0">
                <a:effectLst/>
                <a:latin typeface="Inter"/>
              </a:rPr>
              <a:t>ImageNet </a:t>
            </a:r>
            <a:r>
              <a:rPr lang="zh-CN" altLang="en-US" b="0" i="0">
                <a:effectLst/>
                <a:latin typeface="Inter"/>
              </a:rPr>
              <a:t>数据集中，一幅图对应一个含层级的标签。从这张图我们可以看到，标签的层级非常清晰。这种层级标签能更细致地对图像内容进行分类，让机器更准确地理解图像所包含的信息，这在图像识别任务中非常重要，比如我们要开发一个动物识别系统，这种层级标签就能帮助系统更精准地判断动物的种类。</a:t>
            </a:r>
          </a:p>
          <a:p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14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不过，在实际应用中，</a:t>
            </a:r>
            <a:r>
              <a:rPr lang="en-GB" altLang="zh-CN" b="0" i="0">
                <a:effectLst/>
                <a:latin typeface="Inter"/>
              </a:rPr>
              <a:t>ImageNet </a:t>
            </a:r>
            <a:r>
              <a:rPr lang="zh-CN" altLang="en-US" b="0" i="0">
                <a:effectLst/>
                <a:latin typeface="Inter"/>
              </a:rPr>
              <a:t>数据集的标签情况会更复杂一些，一幅图往往可以有多个标签。在实际的图像中，往往包含多个物体或场景元素，单一的标签无法完整地描述图像内容。所以在实际的机器学习图像任务中，我们需要考虑图像的多标签情况，这样才能让模型更全面地理解和处理图像数据，提高模型的实用性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92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在自动驾驶领域，视觉图像的标签又有其特殊要求。自动驾驶汽车需要通过摄像头捕捉周围环境的图像，然后对图像中的物体进行识别和定位，这就要求图像的标签不仅要识别出物体种类，还要划分出物体所在的区域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60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而且，在自动驾驶视觉图像的标注中，物体的区域甚至不一定是方框，这种更精细的区域划分称为 “分割（</a:t>
            </a:r>
            <a:r>
              <a:rPr lang="en-GB" altLang="zh-CN" b="0" i="0">
                <a:effectLst/>
                <a:latin typeface="Inter"/>
              </a:rPr>
              <a:t>segmentation</a:t>
            </a:r>
            <a:r>
              <a:rPr lang="zh-CN" altLang="en-GB" b="0" i="0">
                <a:effectLst/>
                <a:latin typeface="Inter"/>
              </a:rPr>
              <a:t>）”。</a:t>
            </a:r>
            <a:r>
              <a:rPr lang="zh-CN" altLang="en-US" b="0" i="0">
                <a:effectLst/>
                <a:latin typeface="Inter"/>
              </a:rPr>
              <a:t>相比于方框标注，分割能更精准地勾勒出物体的轮廓，不管物体的形状有多复杂，都能准确地确定物体在图像中的具体范围。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52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大家可能会好奇，这些图像的标签是怎么来的呢？其实，给图像加标签（通常称为标注）是需要人工参与的。虽然现在有一些预标注技术可以辅助，但最终还是需要人工对标注结果进行审核和修正，以确保标签的准确性。因为标签的准确性直接影响到机器学习模型的训练效果，如果标签存在错误，模型就会学习到错误的信息，导致预测结果不准确。所以，人工标注是机器学习数据准备过程中非常关键的一个环节，需要投入大量的时间和精力来保证标注质量。</a:t>
            </a:r>
          </a:p>
          <a:p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935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了解了数据相关的概念后，我们来学习机器学习中的另外两个核心概念：模型和模型参数。首先是 “模型”，模型是由输入得到输出的算法。简单来说，模型就像是一个 “黑盒子”，我们把数据的特征作为输入放进这个 “黑盒子”，它就能通过内部的算法处理，输出我们想要的结果，比如预测的标签。</a:t>
            </a:r>
          </a:p>
          <a:p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720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有了模型和模型参数的概念，接下来我们看 “训练（</a:t>
            </a:r>
            <a:r>
              <a:rPr lang="en-GB" altLang="zh-CN" b="0" i="0">
                <a:effectLst/>
                <a:latin typeface="Inter"/>
              </a:rPr>
              <a:t>training</a:t>
            </a:r>
            <a:r>
              <a:rPr lang="zh-CN" altLang="en-GB" b="0" i="0">
                <a:effectLst/>
                <a:latin typeface="Inter"/>
              </a:rPr>
              <a:t>）” </a:t>
            </a:r>
            <a:r>
              <a:rPr lang="zh-CN" altLang="en-US" b="0" i="0">
                <a:effectLst/>
                <a:latin typeface="Inter"/>
              </a:rPr>
              <a:t>这个过程。训练是由数据得到模型参数的过程，简单来说，就是我们把整理好的训练数据输入到模型中，模型通过特定的算法，不断调整自身的参数，使得模型根据输入特征预测出的结果，与训练数据中的实际标签尽可能接近。</a:t>
            </a:r>
          </a:p>
          <a:p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144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当模型训练完成，得到了合适的参数后，接下来就要进行 “部署（</a:t>
            </a:r>
            <a:r>
              <a:rPr lang="en-GB" altLang="zh-CN" b="0" i="0">
                <a:effectLst/>
                <a:latin typeface="Inter"/>
              </a:rPr>
              <a:t>deployment</a:t>
            </a:r>
            <a:r>
              <a:rPr lang="zh-CN" altLang="en-GB" b="0" i="0">
                <a:effectLst/>
                <a:latin typeface="Inter"/>
              </a:rPr>
              <a:t>）” </a:t>
            </a:r>
            <a:r>
              <a:rPr lang="zh-CN" altLang="en-US" b="0" i="0">
                <a:effectLst/>
                <a:latin typeface="Inter"/>
              </a:rPr>
              <a:t>或 “应用（</a:t>
            </a:r>
            <a:r>
              <a:rPr lang="en-GB" altLang="zh-CN" b="0" i="0">
                <a:effectLst/>
                <a:latin typeface="Inter"/>
              </a:rPr>
              <a:t>application</a:t>
            </a:r>
            <a:r>
              <a:rPr lang="zh-CN" altLang="en-GB" b="0" i="0">
                <a:effectLst/>
                <a:latin typeface="Inter"/>
              </a:rPr>
              <a:t>）” </a:t>
            </a:r>
            <a:r>
              <a:rPr lang="zh-CN" altLang="en-US" b="0" i="0">
                <a:effectLst/>
                <a:latin typeface="Inter"/>
              </a:rPr>
              <a:t>了。部署或应用是使用带参数的模型，由输入数据得到输出数据的过程。也就是说，我们把训练好的模型投入到实际使用场景中，当有新的输入数据（这些数据是模型在训练过程中没有见过的）时，模型就能利用已经确定的参数，对输入数据进行处理，快速输出预测结果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75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机器学习的应用场景非常广泛，根据不同的训练数据特点和学习任务目标，机器学习可以分为多种类型，常见的有有监督学习</a:t>
            </a:r>
            <a:r>
              <a:rPr lang="zh-CN" altLang="en-GB" b="0" i="0">
                <a:effectLst/>
                <a:latin typeface="Inter"/>
              </a:rPr>
              <a:t>、</a:t>
            </a:r>
            <a:r>
              <a:rPr lang="zh-CN" altLang="en-US" b="0" i="0">
                <a:effectLst/>
                <a:latin typeface="Inter"/>
              </a:rPr>
              <a:t>无监督学习</a:t>
            </a:r>
            <a:r>
              <a:rPr lang="zh-CN" altLang="en-GB" b="0" i="0">
                <a:effectLst/>
                <a:latin typeface="Inter"/>
              </a:rPr>
              <a:t>、</a:t>
            </a:r>
            <a:r>
              <a:rPr lang="zh-CN" altLang="en-US" b="0" i="0">
                <a:effectLst/>
                <a:latin typeface="Inter"/>
              </a:rPr>
              <a:t>半监督学习</a:t>
            </a:r>
            <a:r>
              <a:rPr lang="zh-CN" altLang="en-GB" b="0" i="0">
                <a:effectLst/>
                <a:latin typeface="Inter"/>
              </a:rPr>
              <a:t>、</a:t>
            </a:r>
            <a:r>
              <a:rPr lang="zh-CN" altLang="en-US" b="0" i="0">
                <a:effectLst/>
                <a:latin typeface="Inter"/>
              </a:rPr>
              <a:t>自监督学习</a:t>
            </a:r>
            <a:r>
              <a:rPr lang="zh-CN" altLang="en-GB" b="0" i="0">
                <a:effectLst/>
                <a:latin typeface="Inter"/>
              </a:rPr>
              <a:t>、</a:t>
            </a:r>
            <a:r>
              <a:rPr lang="zh-CN" altLang="en-US" b="0" i="0">
                <a:effectLst/>
                <a:latin typeface="Inter"/>
              </a:rPr>
              <a:t>主动学习和强化学习</a:t>
            </a:r>
            <a:r>
              <a:rPr lang="zh-CN" altLang="en-GB" b="0" i="0">
                <a:effectLst/>
                <a:latin typeface="Inter"/>
              </a:rPr>
              <a:t>。</a:t>
            </a:r>
            <a:r>
              <a:rPr lang="zh-CN" altLang="en-US" b="0" i="0">
                <a:effectLst/>
                <a:latin typeface="Inter"/>
              </a:rPr>
              <a:t>这些不同类型的机器学习方法，适用于不同的问题场景，它们的学习机制和训练过程也有所不同。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583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有监督学习，它是最常见的机器学习类型之一。其核心特点是利用有标签的训练数据，得到一个（使用特征来）预测标签的模型。</a:t>
            </a:r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011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>
                <a:effectLst/>
                <a:latin typeface="Inter"/>
              </a:rPr>
              <a:t>一个具体的示例：图像分类中的猫狗识别。在这个任务中，训练数据包含许多猫的图片和狗的图片，并且每张图片都有明确的标注（“猫” 或 “狗”），这些标注就是训练数据的标签，而图片的像素信息等则是特征。当模型训练完成后，当我们输入一张新的、模型之前没有见过的猫或狗的图片时，模型就能根据训练过程中学到的特征差异，准确地给出这张图片是 “猫” 还是 “狗” 的预测结果。</a:t>
            </a:r>
            <a:endParaRPr lang="en-US" altLang="zh-CN" b="0" i="0">
              <a:effectLst/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>
                <a:effectLst/>
                <a:latin typeface="Inter"/>
              </a:rPr>
              <a:t>有监督学习就像是我们在学习时，有老师给出题目（特征）和标准答案（标签），我们通过学习大量的题目和标准答案，掌握解题的方法，之后再遇到类似的题目，就能准确地写出答案。这种学习方式因为有 “监督”（标签的指导），所以模型的学习目标非常明确，训练效果也相对容易评估。</a:t>
            </a:r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615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无监督学习与有监督学习不同，无监督学习是从无标签的训练数据中推断结论（输出数据）。也就是说，在无监督学习的训练过程中，我们输入到模型中的训练数据只有特征，没有对应的标签，模型需要自己从这些没有标签的特征数据中，挖掘出数据背后隐藏的规律或结构。无监督学习就像是我们在没有老师指导的情况下，通过自己观察和分析大量的事物（特征数据），自主发现事物之间的联系和规律，进而对新的事物进行判断和分类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138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无监督学习有很多应用场景，自动聚类就是其中非常典型的一种。我们以动物图片的自动聚类为例来讲解。在这个任务中，训练数据包含许多动物的图片，但这些图片都没有标注具体的动物类别（没有标签），只有图片的特征数据（如像素信息、颜色特征、形状特征等）。模型的目标主要有两个：第一，对训练数据进行分类，看看哪些图片中的动物属于一类。模型会通过分析图片的特征，将特征相似的动物图片归为一类，比如将各种猫科动物的图片聚为一类，各种犬科动物的图片聚为另一类，这就是聚类过程。第二，输入一张新的动物图片，模型给出这张新图片和训练中的哪些动物图片更相似，也就是将新图片分到与其特征最相近的那个聚类中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202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除了自动聚类，无监督学习在异常检测方面也有重要应用，比如通过分析机器运行数据来判断机器运行是否出现异常。在工业生产中，机器的正常运行对于生产效率和产品质量至关重要，而通过无监督学习进行异常检测，就能及时发现机器运行中的问题，避免故障扩大。在这个任务中，训练数据是机器正常运行时的各种数据，比如温度、转速、振动频率、电流电压等特征数据，这些数据同样没有标签（不需要标注哪些是正常数据、哪些是异常数据）。模型在训练过程中，会学习机器正常运行时这些特征数据的分布规律和变化范围，掌握正常运行状态下的数据模式。当模型应用时，我们将机器实时运行的特征数据输入到模型中，模型会将实时数据与训练过程中学到的正常数据模式进行对比。如果实时数据与正常模式偏差较大，超出了正常的范围，模型就会判断机器运行出现了异常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835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半监督学习结合了有监督学习和无监督学习的特点，在它的训练数据集中，有些样本有标签，有些样本没有标签。从示意图可以看到，在训练过程中，我们将同时包含有标签样本（特征 </a:t>
            </a:r>
            <a:r>
              <a:rPr lang="en-US" altLang="zh-CN" b="0" i="0">
                <a:effectLst/>
                <a:latin typeface="Inter"/>
              </a:rPr>
              <a:t>+ </a:t>
            </a:r>
            <a:r>
              <a:rPr lang="zh-CN" altLang="en-US" b="0" i="0">
                <a:effectLst/>
                <a:latin typeface="Inter"/>
              </a:rPr>
              <a:t>标签）和无标签样本（只有特征）的训练数据输入到模型中。模型在训练时，会先利用有标签样本学习特征和标签之间的基本对应关系，然后再利用无标签样本进一步挖掘数据的内在结构和规律，从而更全面地掌握数据的特征，调整模型参数，提高模型的泛化能力。</a:t>
            </a:r>
          </a:p>
          <a:p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868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自监督学习是一种比较特殊的机器学习类型，它的核心特点是把自身的特征的一部分作为标签。也就是说，在自监督学习中，不需要人工为训练数据标注标签，而是通过数据本身的结构或特征关系，自动生成标签。从示意图可以看出，在训练过程中，我们将样本的特征输入到模型中，模型会根据数据自身的特点，从特征中提取出一部分作为 “标签”，然后学习如何根据另一部分特征来预测这个 “标签”。通过这样的方式，模型能自主学习数据的内在特征和规律，调整模型参数。</a:t>
            </a:r>
          </a:p>
          <a:p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064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比如自然语言处理中的 </a:t>
            </a:r>
            <a:r>
              <a:rPr lang="en-GB" altLang="zh-CN" b="0" i="0">
                <a:effectLst/>
                <a:latin typeface="Inter"/>
              </a:rPr>
              <a:t>Masked Language Model</a:t>
            </a:r>
            <a:r>
              <a:rPr lang="zh-CN" altLang="en-GB" b="0" i="0">
                <a:effectLst/>
                <a:latin typeface="Inter"/>
              </a:rPr>
              <a:t>（</a:t>
            </a:r>
            <a:r>
              <a:rPr lang="zh-CN" altLang="en-US" b="0" i="0">
                <a:effectLst/>
                <a:latin typeface="Inter"/>
              </a:rPr>
              <a:t>以 </a:t>
            </a:r>
            <a:r>
              <a:rPr lang="en-GB" altLang="zh-CN" b="0" i="0">
                <a:effectLst/>
                <a:latin typeface="Inter"/>
              </a:rPr>
              <a:t>BERT </a:t>
            </a:r>
            <a:r>
              <a:rPr lang="zh-CN" altLang="en-US" b="0" i="0">
                <a:effectLst/>
                <a:latin typeface="Inter"/>
              </a:rPr>
              <a:t>模型为例）和计算机视觉中的 </a:t>
            </a:r>
            <a:r>
              <a:rPr lang="en-GB" altLang="zh-CN" b="0" i="0">
                <a:effectLst/>
                <a:latin typeface="Inter"/>
              </a:rPr>
              <a:t>Masked Image Models</a:t>
            </a:r>
            <a:r>
              <a:rPr lang="zh-CN" altLang="en-GB" b="0" i="0">
                <a:effectLst/>
                <a:latin typeface="Inter"/>
              </a:rPr>
              <a:t>都是</a:t>
            </a:r>
            <a:r>
              <a:rPr lang="zh-CN" altLang="en-US" b="0" i="0">
                <a:effectLst/>
                <a:latin typeface="Inter"/>
              </a:rPr>
              <a:t>自监督学习的例子。以 </a:t>
            </a:r>
            <a:r>
              <a:rPr lang="en-GB" altLang="zh-CN" b="0" i="0">
                <a:effectLst/>
                <a:latin typeface="Inter"/>
              </a:rPr>
              <a:t>MAE </a:t>
            </a:r>
            <a:r>
              <a:rPr lang="zh-CN" altLang="en-US" b="0" i="0">
                <a:effectLst/>
                <a:latin typeface="Inter"/>
              </a:rPr>
              <a:t>模型为例。在训练过程中，模型会将一张图像的部分区域随机 “遮住”，然后把带有 “遮挡” 的图像作为输入，模型需要根据图像中未被遮挡的区域，预测出被遮挡区域的像素信息。这里，被遮挡区域的像素信息就是 “标签”，未被遮挡区域的像素信息是 “特征”，模型通过学习未遮挡区域与遮挡区域之间的图像特征关系，掌握图像的结构和内容信息。</a:t>
            </a:r>
          </a:p>
          <a:p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890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主动学习是一种比较灵活的机器学习类型，它的核心特点是一边训练，一边找到关键样本，要求增加标注（要求给特定的样本添加标签）。在主动学习的训练过程中，首先会使用少量已标注的样本（特征 </a:t>
            </a:r>
            <a:r>
              <a:rPr lang="en-US" altLang="zh-CN" b="0" i="0">
                <a:effectLst/>
                <a:latin typeface="Inter"/>
              </a:rPr>
              <a:t>+ </a:t>
            </a:r>
            <a:r>
              <a:rPr lang="zh-CN" altLang="en-US" b="0" i="0">
                <a:effectLst/>
                <a:latin typeface="Inter"/>
              </a:rPr>
              <a:t>标签）对模型进行初步训练。然后，模型会根据初步的训练结果，分析那些未标注的样本，找出对模型性能提升最有帮助的关键样本（比如模型对其预测结果不确定性较高的样本）。接着，模型会请求人工对这些关键样本进行标注，获取它们的标签。之后，将这些新标注好的样本加入到训练集中，继续对模型进行训练，不断调整模型参数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005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强化学习与前面我们介绍的有监督学习、无监督学习、半监督学习和主动学习有较大区别，它一般用于学习控制与决策策略。其核心思想是让智能体（</a:t>
            </a:r>
            <a:r>
              <a:rPr lang="en-GB" altLang="zh-CN" b="0" i="0">
                <a:effectLst/>
                <a:latin typeface="Inter"/>
              </a:rPr>
              <a:t>Agent</a:t>
            </a:r>
            <a:r>
              <a:rPr lang="zh-CN" altLang="en-GB" b="0" i="0">
                <a:effectLst/>
                <a:latin typeface="Inter"/>
              </a:rPr>
              <a:t>）</a:t>
            </a:r>
            <a:r>
              <a:rPr lang="zh-CN" altLang="en-US" b="0" i="0">
                <a:effectLst/>
                <a:latin typeface="Inter"/>
              </a:rPr>
              <a:t>在一个动态的环境（</a:t>
            </a:r>
            <a:r>
              <a:rPr lang="en-GB" altLang="zh-CN" b="0" i="0">
                <a:effectLst/>
                <a:latin typeface="Inter"/>
              </a:rPr>
              <a:t>Environment</a:t>
            </a:r>
            <a:r>
              <a:rPr lang="zh-CN" altLang="en-GB" b="0" i="0">
                <a:effectLst/>
                <a:latin typeface="Inter"/>
              </a:rPr>
              <a:t>）</a:t>
            </a:r>
            <a:r>
              <a:rPr lang="zh-CN" altLang="en-US" b="0" i="0">
                <a:effectLst/>
                <a:latin typeface="Inter"/>
              </a:rPr>
              <a:t>中，通过不断地与环境进行交互，根据环境反馈的奖励（</a:t>
            </a:r>
            <a:r>
              <a:rPr lang="en-GB" altLang="zh-CN" b="0" i="0">
                <a:effectLst/>
                <a:latin typeface="Inter"/>
              </a:rPr>
              <a:t>Reward</a:t>
            </a:r>
            <a:r>
              <a:rPr lang="zh-CN" altLang="en-GB" b="0" i="0">
                <a:effectLst/>
                <a:latin typeface="Inter"/>
              </a:rPr>
              <a:t>）</a:t>
            </a:r>
            <a:r>
              <a:rPr lang="zh-CN" altLang="en-US" b="0" i="0">
                <a:effectLst/>
                <a:latin typeface="Inter"/>
              </a:rPr>
              <a:t>或惩罚信号，来调整自己的行为策略，以最大化累积奖励为目标，逐步学习到最优的控制和决策策略。</a:t>
            </a:r>
          </a:p>
          <a:p>
            <a:pPr algn="l"/>
            <a:r>
              <a:rPr lang="zh-CN" altLang="en-US" b="0" i="0">
                <a:effectLst/>
                <a:latin typeface="Inter"/>
              </a:rPr>
              <a:t>关于强化学习的更多细节，我们会在后面的课程中进行详细讨论。</a:t>
            </a:r>
          </a:p>
          <a:p>
            <a:br>
              <a:rPr lang="zh-CN" altLang="en-US"/>
            </a:br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044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学习了不同类型的机器学习方法后，我们来做一个小练习，看看以下几个应用场景，分别可以用哪类机器学习方法来解决。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175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从这一页开始，我们将深入学习具体的机器学习模型，首先要介绍的是线性回归模型（</a:t>
            </a:r>
            <a:r>
              <a:rPr lang="en-GB" altLang="zh-CN" b="0" i="0">
                <a:effectLst/>
                <a:latin typeface="Inter"/>
              </a:rPr>
              <a:t>Linear Regression Models</a:t>
            </a:r>
            <a:r>
              <a:rPr lang="zh-CN" altLang="en-GB" b="0" i="0">
                <a:effectLst/>
                <a:latin typeface="Inter"/>
              </a:rPr>
              <a:t>）。</a:t>
            </a:r>
            <a:r>
              <a:rPr lang="zh-CN" altLang="en-US" b="0" i="0">
                <a:effectLst/>
                <a:latin typeface="Inter"/>
              </a:rPr>
              <a:t>线性回归模型是机器学习中最基础、最经典的模型之一，它简单易懂，同时也是很多复杂模型的基础，掌握好线性回归模型，对于我们后续学习更复杂的机器学习模型非常有帮助。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578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先我们来学习线性模型的基本形式。假设我们有一个由 </a:t>
            </a:r>
            <a:r>
              <a:rPr lang="en-GB" altLang="zh-CN" b="0" i="0">
                <a:effectLst/>
                <a:latin typeface="Inter"/>
              </a:rPr>
              <a:t>d </a:t>
            </a:r>
            <a:r>
              <a:rPr lang="zh-CN" altLang="en-US" b="0" i="0">
                <a:effectLst/>
                <a:latin typeface="Inter"/>
              </a:rPr>
              <a:t>个特征描述的样本，其中 </a:t>
            </a:r>
            <a:r>
              <a:rPr lang="en-GB" altLang="zh-CN" b="0" i="0">
                <a:effectLst/>
                <a:latin typeface="Inter"/>
              </a:rPr>
              <a:t>x_j </a:t>
            </a:r>
            <a:r>
              <a:rPr lang="zh-CN" altLang="en-US" b="0" i="0">
                <a:effectLst/>
                <a:latin typeface="Inter"/>
              </a:rPr>
              <a:t>是这个样本在第 </a:t>
            </a:r>
            <a:r>
              <a:rPr lang="en-GB" altLang="zh-CN" b="0" i="0">
                <a:effectLst/>
                <a:latin typeface="Inter"/>
              </a:rPr>
              <a:t>j </a:t>
            </a:r>
            <a:r>
              <a:rPr lang="zh-CN" altLang="en-US" b="0" i="0">
                <a:effectLst/>
                <a:latin typeface="Inter"/>
              </a:rPr>
              <a:t>个属性上的取值。线性模型是通过特征的线性组合来进行预测的函数，它的数学表达式一般可以写成 </a:t>
            </a:r>
            <a:r>
              <a:rPr lang="en-GB" altLang="zh-CN" b="0" i="0">
                <a:effectLst/>
                <a:latin typeface="Inter"/>
              </a:rPr>
              <a:t>f (x) = w₁x₁ + w₂x₂ + … + w_dx_d + b</a:t>
            </a:r>
            <a:r>
              <a:rPr lang="zh-CN" altLang="en-GB" b="0" i="0">
                <a:effectLst/>
                <a:latin typeface="Inter"/>
              </a:rPr>
              <a:t>。</a:t>
            </a:r>
            <a:r>
              <a:rPr lang="zh-CN" altLang="en-US" b="0" i="0">
                <a:effectLst/>
                <a:latin typeface="Inter"/>
              </a:rPr>
              <a:t>也可以用向量形式来书写。过训练数据确定了 </a:t>
            </a:r>
            <a:r>
              <a:rPr lang="en-GB" altLang="zh-CN" b="0" i="0">
                <a:effectLst/>
                <a:latin typeface="Inter"/>
              </a:rPr>
              <a:t>w </a:t>
            </a:r>
            <a:r>
              <a:rPr lang="zh-CN" altLang="en-US" b="0" i="0">
                <a:effectLst/>
                <a:latin typeface="Inter"/>
              </a:rPr>
              <a:t>和 </a:t>
            </a:r>
            <a:r>
              <a:rPr lang="en-GB" altLang="zh-CN" b="0" i="0">
                <a:effectLst/>
                <a:latin typeface="Inter"/>
              </a:rPr>
              <a:t>b </a:t>
            </a:r>
            <a:r>
              <a:rPr lang="zh-CN" altLang="en-US" b="0" i="0">
                <a:effectLst/>
                <a:latin typeface="Inter"/>
              </a:rPr>
              <a:t>的取值后，这个线性模型就得以确定，之后只要输入新样本的特征向量 </a:t>
            </a:r>
            <a:r>
              <a:rPr lang="en-GB" altLang="zh-CN" b="0" i="0">
                <a:effectLst/>
                <a:latin typeface="Inter"/>
              </a:rPr>
              <a:t>x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就能通过这个模型计算出对应的预测值 </a:t>
            </a:r>
            <a:r>
              <a:rPr lang="en-GB" altLang="zh-CN" b="0" i="0">
                <a:effectLst/>
                <a:latin typeface="Inter"/>
              </a:rPr>
              <a:t>f (x)</a:t>
            </a:r>
            <a:r>
              <a:rPr lang="zh-CN" altLang="en-GB" b="0" i="0">
                <a:effectLst/>
                <a:latin typeface="Inter"/>
              </a:rPr>
              <a:t>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277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加了两个示例，从这些示例可以看出，权重 </a:t>
            </a:r>
            <a:r>
              <a:rPr lang="en-GB" altLang="zh-CN" b="0" i="0">
                <a:effectLst/>
                <a:latin typeface="Inter"/>
              </a:rPr>
              <a:t>w </a:t>
            </a:r>
            <a:r>
              <a:rPr lang="zh-CN" altLang="en-US" b="0" i="0">
                <a:effectLst/>
                <a:latin typeface="Inter"/>
              </a:rPr>
              <a:t>直观地表达了各特征在模型中的重要性，偏置项 </a:t>
            </a:r>
            <a:r>
              <a:rPr lang="en-GB" altLang="zh-CN" b="0" i="0">
                <a:effectLst/>
                <a:latin typeface="Inter"/>
              </a:rPr>
              <a:t>b </a:t>
            </a:r>
            <a:r>
              <a:rPr lang="zh-CN" altLang="en-US" b="0" i="0">
                <a:effectLst/>
                <a:latin typeface="Inter"/>
              </a:rPr>
              <a:t>则调整了模型的基础预测值，因此线性模型具有很好的可解释性，我们能清楚地知道每个特征对预测结果的影响程度，这也是线性模型被广泛应用的重要原因之一。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482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了解了线性模型的基本形式后，我们来正式学习线性回归。线性回归试图学得一个线性模型，以尽可能准确地通过特征向量预测输出标签。线性回归的目标就是找到合适的权重向量 </a:t>
            </a:r>
            <a:r>
              <a:rPr lang="en-GB" altLang="zh-CN" b="0" i="0">
                <a:effectLst/>
                <a:latin typeface="Inter"/>
              </a:rPr>
              <a:t>w </a:t>
            </a:r>
            <a:r>
              <a:rPr lang="zh-CN" altLang="en-US" b="0" i="0">
                <a:effectLst/>
                <a:latin typeface="Inter"/>
              </a:rPr>
              <a:t>和偏置项 </a:t>
            </a:r>
            <a:r>
              <a:rPr lang="en-GB" altLang="zh-CN" b="0" i="0">
                <a:effectLst/>
                <a:latin typeface="Inter"/>
              </a:rPr>
              <a:t>b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构建线性模型 </a:t>
            </a:r>
            <a:r>
              <a:rPr lang="en-GB" altLang="zh-CN" b="0" i="0">
                <a:effectLst/>
                <a:latin typeface="Inter"/>
              </a:rPr>
              <a:t>f (x_i) = w^T x_i + b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使得对于每个样本 </a:t>
            </a:r>
            <a:r>
              <a:rPr lang="en-US" altLang="zh-CN" b="0" i="0">
                <a:effectLst/>
                <a:latin typeface="Inter"/>
              </a:rPr>
              <a:t>(</a:t>
            </a:r>
            <a:r>
              <a:rPr lang="en-GB" altLang="zh-CN" b="0" i="0">
                <a:effectLst/>
                <a:latin typeface="Inter"/>
              </a:rPr>
              <a:t>x_i, y_i)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模型的预测值 </a:t>
            </a:r>
            <a:r>
              <a:rPr lang="en-GB" altLang="zh-CN" b="0" i="0">
                <a:effectLst/>
                <a:latin typeface="Inter"/>
              </a:rPr>
              <a:t>f (x_i) </a:t>
            </a:r>
            <a:r>
              <a:rPr lang="zh-CN" altLang="en-US" b="0" i="0">
                <a:effectLst/>
                <a:latin typeface="Inter"/>
              </a:rPr>
              <a:t>都尽可能接近真实的标签值 </a:t>
            </a:r>
            <a:r>
              <a:rPr lang="en-GB" altLang="zh-CN" b="0" i="0">
                <a:effectLst/>
                <a:latin typeface="Inter"/>
              </a:rPr>
              <a:t>y_i</a:t>
            </a:r>
            <a:r>
              <a:rPr lang="zh-CN" altLang="en-GB" b="0" i="0">
                <a:effectLst/>
                <a:latin typeface="Inter"/>
              </a:rPr>
              <a:t>。</a:t>
            </a:r>
            <a:r>
              <a:rPr lang="zh-CN" altLang="en-US" b="0" i="0">
                <a:effectLst/>
                <a:latin typeface="Inter"/>
              </a:rPr>
              <a:t>也就是说，我们要通过对数据集 </a:t>
            </a:r>
            <a:r>
              <a:rPr lang="en-GB" altLang="zh-CN" b="0" i="0">
                <a:effectLst/>
                <a:latin typeface="Inter"/>
              </a:rPr>
              <a:t>D </a:t>
            </a:r>
            <a:r>
              <a:rPr lang="zh-CN" altLang="en-US" b="0" i="0">
                <a:effectLst/>
                <a:latin typeface="Inter"/>
              </a:rPr>
              <a:t>的学习，确定模型参数 </a:t>
            </a:r>
            <a:r>
              <a:rPr lang="en-GB" altLang="zh-CN" b="0" i="0">
                <a:effectLst/>
                <a:latin typeface="Inter"/>
              </a:rPr>
              <a:t>w </a:t>
            </a:r>
            <a:r>
              <a:rPr lang="zh-CN" altLang="en-US" b="0" i="0">
                <a:effectLst/>
                <a:latin typeface="Inter"/>
              </a:rPr>
              <a:t>和 </a:t>
            </a:r>
            <a:r>
              <a:rPr lang="en-GB" altLang="zh-CN" b="0" i="0">
                <a:effectLst/>
                <a:latin typeface="Inter"/>
              </a:rPr>
              <a:t>b </a:t>
            </a:r>
            <a:r>
              <a:rPr lang="zh-CN" altLang="en-US" b="0" i="0">
                <a:effectLst/>
                <a:latin typeface="Inter"/>
              </a:rPr>
              <a:t>的取值，让这个线性模型能够很好地拟合数据中特征和标签之间的线性关系，从而对新的样本做出准确的预测。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796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为了更清晰地理解线性回归的原理，我们先从最简单的一维情形入手。在一维情形下，输入特征的数据只有一个，也就是说每个样本只有一个特征。</a:t>
            </a:r>
          </a:p>
          <a:p>
            <a:pPr algn="l"/>
            <a:r>
              <a:rPr lang="zh-CN" altLang="en-US" b="0" i="0">
                <a:effectLst/>
                <a:latin typeface="Inter"/>
              </a:rPr>
              <a:t>线性回归的任务就是找到一条直线 </a:t>
            </a:r>
            <a:r>
              <a:rPr lang="en-GB" altLang="zh-CN" b="0" i="0">
                <a:effectLst/>
                <a:latin typeface="Inter"/>
              </a:rPr>
              <a:t>f (x) = w x + b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使得这条直线尽可能地靠近所有的样本点，也就是说，让每个样本点到这条直线的 “距离” 尽可能小，从而实现通过特征 </a:t>
            </a:r>
            <a:r>
              <a:rPr lang="en-GB" altLang="zh-CN" b="0" i="0">
                <a:effectLst/>
                <a:latin typeface="Inter"/>
              </a:rPr>
              <a:t>x </a:t>
            </a:r>
            <a:r>
              <a:rPr lang="zh-CN" altLang="en-US" b="0" i="0">
                <a:effectLst/>
                <a:latin typeface="Inter"/>
              </a:rPr>
              <a:t>预测标签 </a:t>
            </a:r>
            <a:r>
              <a:rPr lang="en-GB" altLang="zh-CN" b="0" i="0">
                <a:effectLst/>
                <a:latin typeface="Inter"/>
              </a:rPr>
              <a:t>y </a:t>
            </a:r>
            <a:r>
              <a:rPr lang="zh-CN" altLang="en-US" b="0" i="0">
                <a:effectLst/>
                <a:latin typeface="Inter"/>
              </a:rPr>
              <a:t>的目的。一维情形下的线性回归非常直观，便于我们理解线性回归的核心思想 </a:t>
            </a:r>
            <a:r>
              <a:rPr lang="en-US" altLang="zh-CN" b="0" i="0">
                <a:effectLst/>
                <a:latin typeface="Inter"/>
              </a:rPr>
              <a:t>—— </a:t>
            </a:r>
            <a:r>
              <a:rPr lang="zh-CN" altLang="en-US" b="0" i="0">
                <a:effectLst/>
                <a:latin typeface="Inter"/>
              </a:rPr>
              <a:t>找到最优的直线来拟合数据。</a:t>
            </a:r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259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那么，在一维线性回归中，我们如何确定 </a:t>
            </a:r>
            <a:r>
              <a:rPr lang="en-GB" altLang="zh-CN" b="0" i="0">
                <a:effectLst/>
                <a:latin typeface="Inter"/>
              </a:rPr>
              <a:t>w </a:t>
            </a:r>
            <a:r>
              <a:rPr lang="zh-CN" altLang="en-US" b="0" i="0">
                <a:effectLst/>
                <a:latin typeface="Inter"/>
              </a:rPr>
              <a:t>和 </a:t>
            </a:r>
            <a:r>
              <a:rPr lang="en-GB" altLang="zh-CN" b="0" i="0">
                <a:effectLst/>
                <a:latin typeface="Inter"/>
              </a:rPr>
              <a:t>b </a:t>
            </a:r>
            <a:r>
              <a:rPr lang="zh-CN" altLang="en-US" b="0" i="0">
                <a:effectLst/>
                <a:latin typeface="Inter"/>
              </a:rPr>
              <a:t>的取值，使得直线 </a:t>
            </a:r>
            <a:r>
              <a:rPr lang="en-GB" altLang="zh-CN" b="0" i="0">
                <a:effectLst/>
                <a:latin typeface="Inter"/>
              </a:rPr>
              <a:t>f (x) = w x + b </a:t>
            </a:r>
            <a:r>
              <a:rPr lang="zh-CN" altLang="en-US" b="0" i="0">
                <a:effectLst/>
                <a:latin typeface="Inter"/>
              </a:rPr>
              <a:t>尽可能靠近所有样本点呢？首先，我们需要定义一个指标来度量模型预测值 </a:t>
            </a:r>
            <a:r>
              <a:rPr lang="en-GB" altLang="zh-CN" b="0" i="0">
                <a:effectLst/>
                <a:latin typeface="Inter"/>
              </a:rPr>
              <a:t>f (x) </a:t>
            </a:r>
            <a:r>
              <a:rPr lang="zh-CN" altLang="en-US" b="0" i="0">
                <a:effectLst/>
                <a:latin typeface="Inter"/>
              </a:rPr>
              <a:t>和真实标签值 </a:t>
            </a:r>
            <a:r>
              <a:rPr lang="en-GB" altLang="zh-CN" b="0" i="0">
                <a:effectLst/>
                <a:latin typeface="Inter"/>
              </a:rPr>
              <a:t>y </a:t>
            </a:r>
            <a:r>
              <a:rPr lang="zh-CN" altLang="en-US" b="0" i="0">
                <a:effectLst/>
                <a:latin typeface="Inter"/>
              </a:rPr>
              <a:t>之间的差别，也就是误差。误差的表示如图所示。</a:t>
            </a:r>
            <a:endParaRPr lang="en-US" altLang="zh-CN" b="0" i="0">
              <a:effectLst/>
              <a:latin typeface="Inter"/>
            </a:endParaRPr>
          </a:p>
          <a:p>
            <a:pPr algn="l"/>
            <a:endParaRPr lang="zh-CN" altLang="en-US" b="0" i="0">
              <a:effectLst/>
              <a:latin typeface="Inter"/>
            </a:endParaRPr>
          </a:p>
          <a:p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778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求解让误差之和最小的 </a:t>
            </a:r>
            <a:r>
              <a:rPr lang="en-GB" altLang="zh-CN" b="0" i="0">
                <a:effectLst/>
                <a:latin typeface="Inter"/>
              </a:rPr>
              <a:t>w </a:t>
            </a:r>
            <a:r>
              <a:rPr lang="zh-CN" altLang="en-US" b="0" i="0">
                <a:effectLst/>
                <a:latin typeface="Inter"/>
              </a:rPr>
              <a:t>和 </a:t>
            </a:r>
            <a:r>
              <a:rPr lang="en-GB" altLang="zh-CN" b="0" i="0">
                <a:effectLst/>
                <a:latin typeface="Inter"/>
              </a:rPr>
              <a:t>b </a:t>
            </a:r>
            <a:r>
              <a:rPr lang="zh-CN" altLang="en-US" b="0" i="0">
                <a:effectLst/>
                <a:latin typeface="Inter"/>
              </a:rPr>
              <a:t>的过程，称为线性回归模型的参数估计，在一维情形下，我们常用的方法是最小二乘法（</a:t>
            </a:r>
            <a:r>
              <a:rPr lang="en-GB" altLang="zh-CN" b="0" i="0">
                <a:effectLst/>
                <a:latin typeface="Inter"/>
              </a:rPr>
              <a:t>least square method</a:t>
            </a:r>
            <a:r>
              <a:rPr lang="zh-CN" altLang="en-GB" b="0" i="0">
                <a:effectLst/>
                <a:latin typeface="Inter"/>
              </a:rPr>
              <a:t>）。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341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在继续推导之前，我先问大家一个问题：一维线性回归最小化的是哪个距离的平方和？从屏幕上的图我们可以看到，有 “</a:t>
            </a:r>
            <a:r>
              <a:rPr lang="en-GB" altLang="zh-CN" b="0" i="0" dirty="0">
                <a:effectLst/>
                <a:latin typeface="Inter"/>
              </a:rPr>
              <a:t>vertical offsets</a:t>
            </a:r>
            <a:r>
              <a:rPr lang="zh-CN" altLang="en-GB" b="0" i="0" dirty="0">
                <a:effectLst/>
                <a:latin typeface="Inter"/>
              </a:rPr>
              <a:t>（</a:t>
            </a:r>
            <a:r>
              <a:rPr lang="zh-CN" altLang="en-US" b="0" i="0" dirty="0">
                <a:effectLst/>
                <a:latin typeface="Inter"/>
              </a:rPr>
              <a:t>垂直距离）” 和 “</a:t>
            </a:r>
            <a:r>
              <a:rPr lang="en-GB" altLang="zh-CN" b="0" i="0" dirty="0">
                <a:effectLst/>
                <a:latin typeface="Inter"/>
              </a:rPr>
              <a:t>perpendicular offsets</a:t>
            </a:r>
            <a:r>
              <a:rPr lang="zh-CN" altLang="en-GB" b="0" i="0">
                <a:effectLst/>
                <a:latin typeface="Inter"/>
              </a:rPr>
              <a:t>（</a:t>
            </a:r>
            <a:r>
              <a:rPr lang="zh-CN" altLang="en-US" b="0" i="0">
                <a:effectLst/>
                <a:latin typeface="Inter"/>
              </a:rPr>
              <a:t>垂直于直线的距离）” 两种。答案是垂直距离的平方和。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681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从图中可以看到，这条直线尽可能地穿过了散点的中间区域，大部分散点都比较靠近这条直线，只有少数散点离直线稍远一些。这条直线就是通过最小二乘法求解得到的最优拟合直线，它代表了特征 </a:t>
            </a:r>
            <a:r>
              <a:rPr lang="en-GB" altLang="zh-CN" b="0" i="0">
                <a:effectLst/>
                <a:latin typeface="Inter"/>
              </a:rPr>
              <a:t>x </a:t>
            </a:r>
            <a:r>
              <a:rPr lang="zh-CN" altLang="en-US" b="0" i="0">
                <a:effectLst/>
                <a:latin typeface="Inter"/>
              </a:rPr>
              <a:t>和标签 </a:t>
            </a:r>
            <a:r>
              <a:rPr lang="en-GB" altLang="zh-CN" b="0" i="0">
                <a:effectLst/>
                <a:latin typeface="Inter"/>
              </a:rPr>
              <a:t>y </a:t>
            </a:r>
            <a:r>
              <a:rPr lang="zh-CN" altLang="en-US" b="0" i="0">
                <a:effectLst/>
                <a:latin typeface="Inter"/>
              </a:rPr>
              <a:t>之间的线性关系。通过这条直线，我们就能根据新的特征 </a:t>
            </a:r>
            <a:r>
              <a:rPr lang="en-GB" altLang="zh-CN" b="0" i="0">
                <a:effectLst/>
                <a:latin typeface="Inter"/>
              </a:rPr>
              <a:t>x </a:t>
            </a:r>
            <a:r>
              <a:rPr lang="zh-CN" altLang="en-US" b="0" i="0">
                <a:effectLst/>
                <a:latin typeface="Inter"/>
              </a:rPr>
              <a:t>值，预测出对应的标签 </a:t>
            </a:r>
            <a:r>
              <a:rPr lang="en-GB" altLang="zh-CN" b="0" i="0">
                <a:effectLst/>
                <a:latin typeface="Inter"/>
              </a:rPr>
              <a:t>y </a:t>
            </a:r>
            <a:r>
              <a:rPr lang="zh-CN" altLang="en-US" b="0" i="0">
                <a:effectLst/>
                <a:latin typeface="Inter"/>
              </a:rPr>
              <a:t>值。比如，当 </a:t>
            </a:r>
            <a:r>
              <a:rPr lang="en-GB" altLang="zh-CN" b="0" i="0">
                <a:effectLst/>
                <a:latin typeface="Inter"/>
              </a:rPr>
              <a:t>x=10 </a:t>
            </a:r>
            <a:r>
              <a:rPr lang="zh-CN" altLang="en-US" b="0" i="0">
                <a:effectLst/>
                <a:latin typeface="Inter"/>
              </a:rPr>
              <a:t>时，我们可以在直线上找到对应的 </a:t>
            </a:r>
            <a:r>
              <a:rPr lang="en-GB" altLang="zh-CN" b="0" i="0">
                <a:effectLst/>
                <a:latin typeface="Inter"/>
              </a:rPr>
              <a:t>y </a:t>
            </a:r>
            <a:r>
              <a:rPr lang="zh-CN" altLang="en-US" b="0" i="0">
                <a:effectLst/>
                <a:latin typeface="Inter"/>
              </a:rPr>
              <a:t>值，这个 </a:t>
            </a:r>
            <a:r>
              <a:rPr lang="en-GB" altLang="zh-CN" b="0" i="0">
                <a:effectLst/>
                <a:latin typeface="Inter"/>
              </a:rPr>
              <a:t>y </a:t>
            </a:r>
            <a:r>
              <a:rPr lang="zh-CN" altLang="en-US" b="0" i="0">
                <a:effectLst/>
                <a:latin typeface="Inter"/>
              </a:rPr>
              <a:t>值就是模型的预测结果。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138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接下来我们进行具体的参数求解推导。首先，我们定义误差函数，再找到使 </a:t>
            </a:r>
            <a:r>
              <a:rPr lang="en-GB" altLang="zh-CN" b="0" i="0">
                <a:effectLst/>
                <a:latin typeface="Inter"/>
              </a:rPr>
              <a:t>E (w, b) </a:t>
            </a:r>
            <a:r>
              <a:rPr lang="zh-CN" altLang="en-US" b="0" i="0">
                <a:effectLst/>
                <a:latin typeface="Inter"/>
              </a:rPr>
              <a:t>取得最小值的 </a:t>
            </a:r>
            <a:r>
              <a:rPr lang="en-GB" altLang="zh-CN" b="0" i="0">
                <a:effectLst/>
                <a:latin typeface="Inter"/>
              </a:rPr>
              <a:t>w </a:t>
            </a:r>
            <a:r>
              <a:rPr lang="zh-CN" altLang="en-US" b="0" i="0">
                <a:effectLst/>
                <a:latin typeface="Inter"/>
              </a:rPr>
              <a:t>和 </a:t>
            </a:r>
            <a:r>
              <a:rPr lang="en-GB" altLang="zh-CN" b="0" i="0">
                <a:effectLst/>
                <a:latin typeface="Inter"/>
              </a:rPr>
              <a:t>b</a:t>
            </a:r>
            <a:r>
              <a:rPr lang="zh-CN" altLang="en-GB" b="0" i="0">
                <a:effectLst/>
                <a:latin typeface="Inter"/>
              </a:rPr>
              <a:t>。</a:t>
            </a:r>
            <a:r>
              <a:rPr lang="zh-CN" altLang="en-US" b="0" i="0">
                <a:effectLst/>
                <a:latin typeface="Inter"/>
              </a:rPr>
              <a:t>由于 </a:t>
            </a:r>
            <a:r>
              <a:rPr lang="en-GB" altLang="zh-CN" b="0" i="0">
                <a:effectLst/>
                <a:latin typeface="Inter"/>
              </a:rPr>
              <a:t>E (w, b) </a:t>
            </a:r>
            <a:r>
              <a:rPr lang="zh-CN" altLang="en-US" b="0" i="0">
                <a:effectLst/>
                <a:latin typeface="Inter"/>
              </a:rPr>
              <a:t>是关于 </a:t>
            </a:r>
            <a:r>
              <a:rPr lang="en-GB" altLang="zh-CN" b="0" i="0">
                <a:effectLst/>
                <a:latin typeface="Inter"/>
              </a:rPr>
              <a:t>w </a:t>
            </a:r>
            <a:r>
              <a:rPr lang="zh-CN" altLang="en-US" b="0" i="0">
                <a:effectLst/>
                <a:latin typeface="Inter"/>
              </a:rPr>
              <a:t>和 </a:t>
            </a:r>
            <a:r>
              <a:rPr lang="en-GB" altLang="zh-CN" b="0" i="0">
                <a:effectLst/>
                <a:latin typeface="Inter"/>
              </a:rPr>
              <a:t>b </a:t>
            </a:r>
            <a:r>
              <a:rPr lang="zh-CN" altLang="en-US" b="0" i="0">
                <a:effectLst/>
                <a:latin typeface="Inter"/>
              </a:rPr>
              <a:t>的连续可导函数，根据微积分的知识，函数在最小值点处的偏导数都为 </a:t>
            </a:r>
            <a:r>
              <a:rPr lang="en-US" altLang="zh-CN" b="0" i="0">
                <a:effectLst/>
                <a:latin typeface="Inter"/>
              </a:rPr>
              <a:t>0</a:t>
            </a:r>
            <a:r>
              <a:rPr lang="zh-CN" altLang="en-US" b="0" i="0">
                <a:effectLst/>
                <a:latin typeface="Inter"/>
              </a:rPr>
              <a:t>。所以，我们可以分别对 </a:t>
            </a:r>
            <a:r>
              <a:rPr lang="en-GB" altLang="zh-CN" b="0" i="0">
                <a:effectLst/>
                <a:latin typeface="Inter"/>
              </a:rPr>
              <a:t>w </a:t>
            </a:r>
            <a:r>
              <a:rPr lang="zh-CN" altLang="en-US" b="0" i="0">
                <a:effectLst/>
                <a:latin typeface="Inter"/>
              </a:rPr>
              <a:t>和 </a:t>
            </a:r>
            <a:r>
              <a:rPr lang="en-GB" altLang="zh-CN" b="0" i="0">
                <a:effectLst/>
                <a:latin typeface="Inter"/>
              </a:rPr>
              <a:t>b </a:t>
            </a:r>
            <a:r>
              <a:rPr lang="zh-CN" altLang="en-US" b="0" i="0">
                <a:effectLst/>
                <a:latin typeface="Inter"/>
              </a:rPr>
              <a:t>求偏导数，然后令偏导数等于 </a:t>
            </a:r>
            <a:r>
              <a:rPr lang="en-US" altLang="zh-CN" b="0" i="0">
                <a:effectLst/>
                <a:latin typeface="Inter"/>
              </a:rPr>
              <a:t>0</a:t>
            </a:r>
            <a:r>
              <a:rPr lang="zh-CN" altLang="en-US" b="0" i="0">
                <a:effectLst/>
                <a:latin typeface="Inter"/>
              </a:rPr>
              <a:t>，解出对应的 </a:t>
            </a:r>
            <a:r>
              <a:rPr lang="en-GB" altLang="zh-CN" b="0" i="0">
                <a:effectLst/>
                <a:latin typeface="Inter"/>
              </a:rPr>
              <a:t>w </a:t>
            </a:r>
            <a:r>
              <a:rPr lang="zh-CN" altLang="en-US" b="0" i="0">
                <a:effectLst/>
                <a:latin typeface="Inter"/>
              </a:rPr>
              <a:t>和 </a:t>
            </a:r>
            <a:r>
              <a:rPr lang="en-GB" altLang="zh-CN" b="0" i="0">
                <a:effectLst/>
                <a:latin typeface="Inter"/>
              </a:rPr>
              <a:t>b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这就是我们要找的最优参数。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81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104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掌握了一维线性回归的原理和参数求解方法后，我们再来学习更一般的多维情形，这也被称为 “多元线性回归</a:t>
            </a:r>
            <a:r>
              <a:rPr kumimoji="1" lang="zh-CN" altLang="en-US" b="0" i="0">
                <a:effectLst/>
                <a:latin typeface="Inter"/>
              </a:rPr>
              <a:t>”</a:t>
            </a:r>
            <a:endParaRPr lang="en-US" altLang="zh-CN" b="0" i="0"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29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988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441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在线性回归模型的基础上，我们可以进一步扩展，得到广义线性回归模型。广义线性回归模型通过引入一个单调可微的函数，将线性模型的预测结果映射到更符合实际问题需求的输出空间，从而解决一些非线性的回归问题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402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对数线性回归是广义线性回归模型中非常典型的一种，它适用于标签 </a:t>
            </a:r>
            <a:r>
              <a:rPr lang="en-GB" altLang="zh-CN" b="0" i="0">
                <a:effectLst/>
                <a:latin typeface="Inter"/>
              </a:rPr>
              <a:t>y </a:t>
            </a:r>
            <a:r>
              <a:rPr lang="zh-CN" altLang="en-US" b="0" i="0">
                <a:effectLst/>
                <a:latin typeface="Inter"/>
              </a:rPr>
              <a:t>相对于特征 </a:t>
            </a:r>
            <a:r>
              <a:rPr lang="en-GB" altLang="zh-CN" b="0" i="0">
                <a:effectLst/>
                <a:latin typeface="Inter"/>
              </a:rPr>
              <a:t>x </a:t>
            </a:r>
            <a:r>
              <a:rPr lang="zh-CN" altLang="en-US" b="0" i="0">
                <a:effectLst/>
                <a:latin typeface="Inter"/>
              </a:rPr>
              <a:t>在指数尺度上变化的情况。在对数线性回归中，我们不再直接让线性模型的预测结果等于标签 </a:t>
            </a:r>
            <a:r>
              <a:rPr lang="en-GB" altLang="zh-CN" b="0" i="0">
                <a:effectLst/>
                <a:latin typeface="Inter"/>
              </a:rPr>
              <a:t>y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而是将标签 </a:t>
            </a:r>
            <a:r>
              <a:rPr lang="en-GB" altLang="zh-CN" b="0" i="0">
                <a:effectLst/>
                <a:latin typeface="Inter"/>
              </a:rPr>
              <a:t>y </a:t>
            </a:r>
            <a:r>
              <a:rPr lang="zh-CN" altLang="en-US" b="0" i="0">
                <a:effectLst/>
                <a:latin typeface="Inter"/>
              </a:rPr>
              <a:t>的对数作为线性模型逼近的目标，即 </a:t>
            </a:r>
            <a:r>
              <a:rPr lang="en-GB" altLang="zh-CN" b="0" i="0">
                <a:effectLst/>
                <a:latin typeface="Inter"/>
              </a:rPr>
              <a:t>ln y = w^T x + b</a:t>
            </a:r>
            <a:r>
              <a:rPr lang="zh-CN" altLang="en-GB" b="0" i="0">
                <a:effectLst/>
                <a:latin typeface="Inter"/>
              </a:rPr>
              <a:t>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801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实质上，对数线性回归通过引入对数函数这个单调可微的映射函数，求取了输入空间（特征 </a:t>
            </a:r>
            <a:r>
              <a:rPr lang="en-GB" altLang="zh-CN" b="0" i="0">
                <a:effectLst/>
                <a:latin typeface="Inter"/>
              </a:rPr>
              <a:t>x</a:t>
            </a:r>
            <a:r>
              <a:rPr lang="zh-CN" altLang="en-GB" b="0" i="0">
                <a:effectLst/>
                <a:latin typeface="Inter"/>
              </a:rPr>
              <a:t>）</a:t>
            </a:r>
            <a:r>
              <a:rPr lang="zh-CN" altLang="en-US" b="0" i="0">
                <a:effectLst/>
                <a:latin typeface="Inter"/>
              </a:rPr>
              <a:t>到输出空间（标签 </a:t>
            </a:r>
            <a:r>
              <a:rPr lang="en-GB" altLang="zh-CN" b="0" i="0">
                <a:effectLst/>
                <a:latin typeface="Inter"/>
              </a:rPr>
              <a:t>y</a:t>
            </a:r>
            <a:r>
              <a:rPr lang="zh-CN" altLang="en-GB" b="0" i="0">
                <a:effectLst/>
                <a:latin typeface="Inter"/>
              </a:rPr>
              <a:t>）</a:t>
            </a:r>
            <a:r>
              <a:rPr lang="zh-CN" altLang="en-US" b="0" i="0">
                <a:effectLst/>
                <a:latin typeface="Inter"/>
              </a:rPr>
              <a:t>的非线性函数映射。这种方法既保留了线性回归模型参数求解简单、可解释性强的优点，又能处理标签与特征之间呈指数关系的非线性回归问题，在经济预测、生物生长规律分析等领域都有广泛的应用。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594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在对数线性回归的基础上，我们可以推广得到广义线性回归模型的一般形式。更一般地，考虑一个单调可微函数 </a:t>
            </a:r>
            <a:r>
              <a:rPr lang="en-GB" altLang="zh-CN" b="0" i="0">
                <a:effectLst/>
                <a:latin typeface="Inter"/>
              </a:rPr>
              <a:t>g (</a:t>
            </a:r>
            <a:r>
              <a:rPr lang="zh-CN" altLang="en-GB" b="0" i="0">
                <a:effectLst/>
                <a:latin typeface="Inter"/>
              </a:rPr>
              <a:t>・</a:t>
            </a:r>
            <a:r>
              <a:rPr lang="en-GB" altLang="zh-CN" b="0" i="0">
                <a:effectLst/>
                <a:latin typeface="Inter"/>
              </a:rPr>
              <a:t>)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我们令 </a:t>
            </a:r>
            <a:r>
              <a:rPr lang="en-GB" altLang="zh-CN" b="0" i="0">
                <a:effectLst/>
                <a:latin typeface="Inter"/>
              </a:rPr>
              <a:t>g (y) = w^T x + b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或者其等价形式 </a:t>
            </a:r>
            <a:r>
              <a:rPr lang="en-GB" altLang="zh-CN" b="0" i="0">
                <a:effectLst/>
                <a:latin typeface="Inter"/>
              </a:rPr>
              <a:t>y = g^(-1)(w^T x + b)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这样得到的模型就称为 “广义线性模型”（</a:t>
            </a:r>
            <a:r>
              <a:rPr lang="en-GB" altLang="zh-CN" b="0" i="0">
                <a:effectLst/>
                <a:latin typeface="Inter"/>
              </a:rPr>
              <a:t>generalized linear model</a:t>
            </a:r>
            <a:r>
              <a:rPr lang="zh-CN" altLang="en-GB" b="0" i="0">
                <a:effectLst/>
                <a:latin typeface="Inter"/>
              </a:rPr>
              <a:t>）。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384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在实际应用中，我们不需要手动推导和计算线性回归模型的参数，因为有很多优秀的机器学习库可以帮助我们快速实现模型的构建、训练和预测，其中 </a:t>
            </a:r>
            <a:r>
              <a:rPr lang="en-GB" altLang="zh-CN" b="0" i="0">
                <a:effectLst/>
                <a:latin typeface="Inter"/>
              </a:rPr>
              <a:t>scikit-learn</a:t>
            </a:r>
            <a:r>
              <a:rPr lang="zh-CN" altLang="en-GB" b="0" i="0">
                <a:effectLst/>
                <a:latin typeface="Inter"/>
              </a:rPr>
              <a:t>（</a:t>
            </a:r>
            <a:r>
              <a:rPr lang="zh-CN" altLang="en-US" b="0" i="0">
                <a:effectLst/>
                <a:latin typeface="Inter"/>
              </a:rPr>
              <a:t>简称 </a:t>
            </a:r>
            <a:r>
              <a:rPr lang="en-GB" altLang="zh-CN" b="0" i="0">
                <a:effectLst/>
                <a:latin typeface="Inter"/>
              </a:rPr>
              <a:t>sklearn</a:t>
            </a:r>
            <a:r>
              <a:rPr lang="zh-CN" altLang="en-GB" b="0" i="0">
                <a:effectLst/>
                <a:latin typeface="Inter"/>
              </a:rPr>
              <a:t>）</a:t>
            </a:r>
            <a:r>
              <a:rPr lang="zh-CN" altLang="en-US" b="0" i="0">
                <a:effectLst/>
                <a:latin typeface="Inter"/>
              </a:rPr>
              <a:t>就是 </a:t>
            </a:r>
            <a:r>
              <a:rPr lang="en-GB" altLang="zh-CN" b="0" i="0">
                <a:effectLst/>
                <a:latin typeface="Inter"/>
              </a:rPr>
              <a:t>Python </a:t>
            </a:r>
            <a:r>
              <a:rPr lang="zh-CN" altLang="en-US" b="0" i="0">
                <a:effectLst/>
                <a:latin typeface="Inter"/>
              </a:rPr>
              <a:t>中最常用的机器学习库之一。</a:t>
            </a:r>
          </a:p>
          <a:p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3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大家可以通过访问 </a:t>
            </a:r>
            <a:r>
              <a:rPr lang="en-GB" altLang="zh-CN" b="0" i="0">
                <a:effectLst/>
                <a:latin typeface="Inter"/>
              </a:rPr>
              <a:t>scikit-learn </a:t>
            </a:r>
            <a:r>
              <a:rPr lang="zh-CN" altLang="en-US" b="0" i="0">
                <a:effectLst/>
                <a:latin typeface="Inter"/>
              </a:rPr>
              <a:t>的官方网站（</a:t>
            </a:r>
            <a:r>
              <a:rPr lang="en-GB" altLang="zh-CN" b="0" i="0" u="none" strike="noStrike">
                <a:effectLst/>
                <a:latin typeface="Inter"/>
                <a:hlinkClick r:id="rId3"/>
              </a:rPr>
              <a:t>scikit-learn.org</a:t>
            </a:r>
            <a:r>
              <a:rPr lang="zh-CN" altLang="en-GB" b="0" i="0">
                <a:effectLst/>
                <a:latin typeface="Inter"/>
              </a:rPr>
              <a:t>）</a:t>
            </a:r>
            <a:r>
              <a:rPr lang="zh-CN" altLang="en-US" b="0" i="0">
                <a:effectLst/>
                <a:latin typeface="Inter"/>
              </a:rPr>
              <a:t>来获取详细的文档、教程和示例代码。官方网站上的 </a:t>
            </a:r>
            <a:r>
              <a:rPr lang="en-GB" altLang="zh-CN" b="0" i="0">
                <a:effectLst/>
                <a:latin typeface="Inter"/>
              </a:rPr>
              <a:t>User Guide</a:t>
            </a:r>
            <a:r>
              <a:rPr lang="zh-CN" altLang="en-GB" b="0" i="0">
                <a:effectLst/>
                <a:latin typeface="Inter"/>
              </a:rPr>
              <a:t>（</a:t>
            </a:r>
            <a:r>
              <a:rPr lang="zh-CN" altLang="en-US" b="0" i="0">
                <a:effectLst/>
                <a:latin typeface="Inter"/>
              </a:rPr>
              <a:t>用户指南）详细介绍了各种机器学习算法的原理和使用方法，</a:t>
            </a:r>
            <a:r>
              <a:rPr lang="en-GB" altLang="zh-CN" b="0" i="0">
                <a:effectLst/>
                <a:latin typeface="Inter"/>
              </a:rPr>
              <a:t>API Reference</a:t>
            </a:r>
            <a:r>
              <a:rPr lang="zh-CN" altLang="en-GB" b="0" i="0">
                <a:effectLst/>
                <a:latin typeface="Inter"/>
              </a:rPr>
              <a:t>（</a:t>
            </a:r>
            <a:r>
              <a:rPr lang="en-GB" altLang="zh-CN" b="0" i="0">
                <a:effectLst/>
                <a:latin typeface="Inter"/>
              </a:rPr>
              <a:t>API </a:t>
            </a:r>
            <a:r>
              <a:rPr lang="zh-CN" altLang="en-US" b="0" i="0">
                <a:effectLst/>
                <a:latin typeface="Inter"/>
              </a:rPr>
              <a:t>参考）列出了各个函数和类的详细参数和用法，</a:t>
            </a:r>
            <a:r>
              <a:rPr lang="en-GB" altLang="zh-CN" b="0" i="0">
                <a:effectLst/>
                <a:latin typeface="Inter"/>
              </a:rPr>
              <a:t>Examples</a:t>
            </a:r>
            <a:r>
              <a:rPr lang="zh-CN" altLang="en-GB" b="0" i="0">
                <a:effectLst/>
                <a:latin typeface="Inter"/>
              </a:rPr>
              <a:t>（</a:t>
            </a:r>
            <a:r>
              <a:rPr lang="zh-CN" altLang="en-US" b="0" i="0">
                <a:effectLst/>
                <a:latin typeface="Inter"/>
              </a:rPr>
              <a:t>示例）则提供了大量的实战案例，帮助我们快速上手使用 </a:t>
            </a:r>
            <a:r>
              <a:rPr lang="en-GB" altLang="zh-CN" b="0" i="0">
                <a:effectLst/>
                <a:latin typeface="Inter"/>
              </a:rPr>
              <a:t>scikit-learn </a:t>
            </a:r>
            <a:r>
              <a:rPr lang="zh-CN" altLang="en-US" b="0" i="0">
                <a:effectLst/>
                <a:latin typeface="Inter"/>
              </a:rPr>
              <a:t>解决实际问题。掌握 </a:t>
            </a:r>
            <a:r>
              <a:rPr lang="en-GB" altLang="zh-CN" b="0" i="0">
                <a:effectLst/>
                <a:latin typeface="Inter"/>
              </a:rPr>
              <a:t>scikit-learn </a:t>
            </a:r>
            <a:r>
              <a:rPr lang="zh-CN" altLang="en-US" b="0" i="0">
                <a:effectLst/>
                <a:latin typeface="Inter"/>
              </a:rPr>
              <a:t>的使用，是我们将机器学习理论转化为实际应用能力的关键一步。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950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接下来，我们就来看一下如何使用 </a:t>
            </a:r>
            <a:r>
              <a:rPr lang="en-GB" altLang="zh-CN" b="0" i="0">
                <a:effectLst/>
                <a:latin typeface="Inter"/>
              </a:rPr>
              <a:t>scikit-learn </a:t>
            </a:r>
            <a:r>
              <a:rPr lang="zh-CN" altLang="en-US" b="0" i="0">
                <a:effectLst/>
                <a:latin typeface="Inter"/>
              </a:rPr>
              <a:t>实现线性回归，首先是代码示例。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159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首先需要从 </a:t>
            </a:r>
            <a:r>
              <a:rPr lang="en-GB" altLang="zh-CN" b="0" i="0">
                <a:effectLst/>
                <a:latin typeface="Inter"/>
              </a:rPr>
              <a:t>sklearn </a:t>
            </a:r>
            <a:r>
              <a:rPr lang="zh-CN" altLang="en-US" b="0" i="0">
                <a:effectLst/>
                <a:latin typeface="Inter"/>
              </a:rPr>
              <a:t>的 </a:t>
            </a:r>
            <a:r>
              <a:rPr lang="en-GB" altLang="zh-CN" b="0" i="0">
                <a:effectLst/>
                <a:latin typeface="Inter"/>
              </a:rPr>
              <a:t>linear_model </a:t>
            </a:r>
            <a:r>
              <a:rPr lang="zh-CN" altLang="en-US" b="0" i="0">
                <a:effectLst/>
                <a:latin typeface="Inter"/>
              </a:rPr>
              <a:t>模块中导入 </a:t>
            </a:r>
            <a:r>
              <a:rPr lang="en-GB" altLang="zh-CN" b="0" i="0">
                <a:effectLst/>
                <a:latin typeface="Inter"/>
              </a:rPr>
              <a:t>LinearRegression </a:t>
            </a:r>
            <a:r>
              <a:rPr lang="zh-CN" altLang="en-US" b="0" i="0">
                <a:effectLst/>
                <a:latin typeface="Inter"/>
              </a:rPr>
              <a:t>类。然后，我们需要创建一个 </a:t>
            </a:r>
            <a:r>
              <a:rPr lang="en-GB" altLang="zh-CN" b="0" i="0">
                <a:effectLst/>
                <a:latin typeface="Inter"/>
              </a:rPr>
              <a:t>LinearRegression </a:t>
            </a:r>
            <a:r>
              <a:rPr lang="zh-CN" altLang="en-US" b="0" i="0">
                <a:effectLst/>
                <a:latin typeface="Inter"/>
              </a:rPr>
              <a:t>类的实例，也就是创建一个线性回归模型对象。创建好模型对象后，接下来就要使用训练数据对模型进行训练。</a:t>
            </a:r>
            <a:r>
              <a:rPr lang="en-GB" altLang="zh-CN" b="0" i="0">
                <a:effectLst/>
                <a:latin typeface="Inter"/>
              </a:rPr>
              <a:t>scikit-learn </a:t>
            </a:r>
            <a:r>
              <a:rPr lang="zh-CN" altLang="en-US" b="0" i="0">
                <a:effectLst/>
                <a:latin typeface="Inter"/>
              </a:rPr>
              <a:t>中模型的训练都是通过调用模型对象的 </a:t>
            </a:r>
            <a:r>
              <a:rPr lang="en-GB" altLang="zh-CN" b="0" i="0">
                <a:effectLst/>
                <a:latin typeface="Inter"/>
              </a:rPr>
              <a:t>fit () </a:t>
            </a:r>
            <a:r>
              <a:rPr lang="zh-CN" altLang="en-US" b="0" i="0">
                <a:effectLst/>
                <a:latin typeface="Inter"/>
              </a:rPr>
              <a:t>方法来实现的，</a:t>
            </a:r>
            <a:r>
              <a:rPr lang="en-GB" altLang="zh-CN" b="0" i="0">
                <a:effectLst/>
                <a:latin typeface="Inter"/>
              </a:rPr>
              <a:t>fit () </a:t>
            </a:r>
            <a:r>
              <a:rPr lang="zh-CN" altLang="en-US" b="0" i="0">
                <a:effectLst/>
                <a:latin typeface="Inter"/>
              </a:rPr>
              <a:t>方法的第一个参数是训练数据的特征矩阵 </a:t>
            </a:r>
            <a:r>
              <a:rPr lang="en-GB" altLang="zh-CN" b="0" i="0">
                <a:effectLst/>
                <a:latin typeface="Inter"/>
              </a:rPr>
              <a:t>X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第二个参数是训练数据的标签向量 </a:t>
            </a:r>
            <a:r>
              <a:rPr lang="en-GB" altLang="zh-CN" b="0" i="0">
                <a:effectLst/>
                <a:latin typeface="Inter"/>
              </a:rPr>
              <a:t>y</a:t>
            </a:r>
            <a:r>
              <a:rPr lang="zh-CN" altLang="en-GB" b="0" i="0">
                <a:effectLst/>
                <a:latin typeface="Inter"/>
              </a:rPr>
              <a:t>。</a:t>
            </a:r>
            <a:r>
              <a:rPr lang="zh-CN" altLang="en-US" b="0" i="0">
                <a:effectLst/>
                <a:latin typeface="Inter"/>
              </a:rPr>
              <a:t>我们来看一个具体的例子，假设我们的训练数据特征矩阵 </a:t>
            </a:r>
            <a:r>
              <a:rPr lang="en-GB" altLang="zh-CN" b="0" i="0">
                <a:effectLst/>
                <a:latin typeface="Inter"/>
              </a:rPr>
              <a:t>X </a:t>
            </a:r>
            <a:r>
              <a:rPr lang="zh-CN" altLang="en-US" b="0" i="0">
                <a:effectLst/>
                <a:latin typeface="Inter"/>
              </a:rPr>
              <a:t>是 </a:t>
            </a:r>
            <a:r>
              <a:rPr lang="en-US" altLang="zh-CN" b="0" i="0">
                <a:effectLst/>
                <a:latin typeface="Inter"/>
              </a:rPr>
              <a:t>[[0, 0], [1, 1], [2, 2]]</a:t>
            </a:r>
            <a:r>
              <a:rPr lang="zh-CN" altLang="en-US" b="0" i="0">
                <a:effectLst/>
                <a:latin typeface="Inter"/>
              </a:rPr>
              <a:t>（包含 </a:t>
            </a:r>
            <a:r>
              <a:rPr lang="en-US" altLang="zh-CN" b="0" i="0">
                <a:effectLst/>
                <a:latin typeface="Inter"/>
              </a:rPr>
              <a:t>3 </a:t>
            </a:r>
            <a:r>
              <a:rPr lang="zh-CN" altLang="en-US" b="0" i="0">
                <a:effectLst/>
                <a:latin typeface="Inter"/>
              </a:rPr>
              <a:t>个样本，每个样本有 </a:t>
            </a:r>
            <a:r>
              <a:rPr lang="en-US" altLang="zh-CN" b="0" i="0">
                <a:effectLst/>
                <a:latin typeface="Inter"/>
              </a:rPr>
              <a:t>2 </a:t>
            </a:r>
            <a:r>
              <a:rPr lang="zh-CN" altLang="en-US" b="0" i="0">
                <a:effectLst/>
                <a:latin typeface="Inter"/>
              </a:rPr>
              <a:t>个特征），标签向量 </a:t>
            </a:r>
            <a:r>
              <a:rPr lang="en-GB" altLang="zh-CN" b="0" i="0">
                <a:effectLst/>
                <a:latin typeface="Inter"/>
              </a:rPr>
              <a:t>y </a:t>
            </a:r>
            <a:r>
              <a:rPr lang="zh-CN" altLang="en-US" b="0" i="0">
                <a:effectLst/>
                <a:latin typeface="Inter"/>
              </a:rPr>
              <a:t>是 </a:t>
            </a:r>
            <a:r>
              <a:rPr lang="en-US" altLang="zh-CN" b="0" i="0">
                <a:effectLst/>
                <a:latin typeface="Inter"/>
              </a:rPr>
              <a:t>[0, 1, 2]</a:t>
            </a:r>
            <a:r>
              <a:rPr lang="zh-CN" altLang="en-US" b="0" i="0">
                <a:effectLst/>
                <a:latin typeface="Inter"/>
              </a:rPr>
              <a:t>。</a:t>
            </a:r>
            <a:endParaRPr lang="en-US" altLang="zh-CN" b="0" i="0">
              <a:effectLst/>
              <a:latin typeface="Inter"/>
            </a:endParaRPr>
          </a:p>
          <a:p>
            <a:r>
              <a:rPr lang="zh-CN" altLang="en-US" b="0" i="0">
                <a:effectLst/>
                <a:latin typeface="Inter"/>
              </a:rPr>
              <a:t>模型训练完成后，我们可以通过访问模型对象的 </a:t>
            </a:r>
            <a:r>
              <a:rPr lang="en-GB" altLang="zh-CN" b="0" i="0">
                <a:effectLst/>
                <a:latin typeface="Inter"/>
              </a:rPr>
              <a:t>coef_</a:t>
            </a:r>
            <a:r>
              <a:rPr lang="zh-CN" altLang="en-US" b="0" i="0">
                <a:effectLst/>
                <a:latin typeface="Inter"/>
              </a:rPr>
              <a:t>属性来获取训练得到的权重参数 </a:t>
            </a:r>
            <a:r>
              <a:rPr lang="en-GB" altLang="zh-CN" b="0" i="0">
                <a:effectLst/>
                <a:latin typeface="Inter"/>
              </a:rPr>
              <a:t>w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763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当我们运行这段代码时，首先会输出 </a:t>
            </a:r>
            <a:r>
              <a:rPr lang="en-GB" altLang="zh-CN" b="0" i="0" dirty="0" err="1">
                <a:effectLst/>
                <a:latin typeface="Inter"/>
              </a:rPr>
              <a:t>LinearRegression</a:t>
            </a:r>
            <a:r>
              <a:rPr lang="en-GB" altLang="zh-CN" b="0" i="0" dirty="0">
                <a:effectLst/>
                <a:latin typeface="Inter"/>
              </a:rPr>
              <a:t> ()</a:t>
            </a:r>
            <a:r>
              <a:rPr lang="zh-CN" altLang="en-GB" b="0" i="0" dirty="0">
                <a:effectLst/>
                <a:latin typeface="Inter"/>
              </a:rPr>
              <a:t>，</a:t>
            </a:r>
            <a:r>
              <a:rPr lang="zh-CN" altLang="en-US" b="0" i="0" dirty="0">
                <a:effectLst/>
                <a:latin typeface="Inter"/>
              </a:rPr>
              <a:t>这表示我们成功创建了一个 </a:t>
            </a:r>
            <a:r>
              <a:rPr lang="en-GB" altLang="zh-CN" b="0" i="0" dirty="0" err="1">
                <a:effectLst/>
                <a:latin typeface="Inter"/>
              </a:rPr>
              <a:t>LinearRegression</a:t>
            </a:r>
            <a:r>
              <a:rPr lang="en-GB" altLang="zh-CN" b="0" i="0" dirty="0">
                <a:effectLst/>
                <a:latin typeface="Inter"/>
              </a:rPr>
              <a:t> </a:t>
            </a:r>
            <a:r>
              <a:rPr lang="zh-CN" altLang="en-US" b="0" i="0" dirty="0">
                <a:effectLst/>
                <a:latin typeface="Inter"/>
              </a:rPr>
              <a:t>类的实例，模型对象创建成功。然后，打印 </a:t>
            </a:r>
            <a:r>
              <a:rPr lang="en-GB" altLang="zh-CN" b="0" i="0" dirty="0" err="1">
                <a:effectLst/>
                <a:latin typeface="Inter"/>
              </a:rPr>
              <a:t>reg.coef</a:t>
            </a:r>
            <a:r>
              <a:rPr lang="en-GB" altLang="zh-CN" b="0" i="0" dirty="0">
                <a:effectLst/>
                <a:latin typeface="Inter"/>
              </a:rPr>
              <a:t>_</a:t>
            </a:r>
            <a:r>
              <a:rPr lang="zh-CN" altLang="en-US" b="0" i="0" dirty="0">
                <a:effectLst/>
                <a:latin typeface="Inter"/>
              </a:rPr>
              <a:t>的结果会是 </a:t>
            </a:r>
            <a:r>
              <a:rPr lang="en-GB" altLang="zh-CN" b="0" i="0" dirty="0">
                <a:effectLst/>
                <a:latin typeface="Inter"/>
              </a:rPr>
              <a:t>array ([0.5, 0.5])</a:t>
            </a:r>
            <a:r>
              <a:rPr lang="zh-CN" altLang="en-GB" b="0" i="0" dirty="0">
                <a:effectLst/>
                <a:latin typeface="Inter"/>
              </a:rPr>
              <a:t>，</a:t>
            </a:r>
            <a:r>
              <a:rPr lang="zh-CN" altLang="en-US" b="0" i="0" dirty="0">
                <a:effectLst/>
                <a:latin typeface="Inter"/>
              </a:rPr>
              <a:t>这就是我们训练得到的权重参数 </a:t>
            </a:r>
            <a:r>
              <a:rPr lang="en-GB" altLang="zh-CN" b="0" i="0" dirty="0">
                <a:effectLst/>
                <a:latin typeface="Inter"/>
              </a:rPr>
              <a:t>w </a:t>
            </a:r>
            <a:r>
              <a:rPr lang="zh-CN" altLang="en-US" b="0" i="0" dirty="0">
                <a:effectLst/>
                <a:latin typeface="Inter"/>
              </a:rPr>
              <a:t>的值，</a:t>
            </a:r>
            <a:r>
              <a:rPr lang="en-GB" altLang="zh-CN" b="0" i="0" dirty="0">
                <a:effectLst/>
                <a:latin typeface="Inter"/>
              </a:rPr>
              <a:t>w₁=0.5</a:t>
            </a:r>
            <a:r>
              <a:rPr lang="zh-CN" altLang="en-GB" b="0" i="0" dirty="0">
                <a:effectLst/>
                <a:latin typeface="Inter"/>
              </a:rPr>
              <a:t>，</a:t>
            </a:r>
            <a:r>
              <a:rPr lang="en-GB" altLang="zh-CN" b="0" i="0" dirty="0">
                <a:effectLst/>
                <a:latin typeface="Inter"/>
              </a:rPr>
              <a:t>w₂=0.5</a:t>
            </a:r>
            <a:r>
              <a:rPr lang="zh-CN" altLang="en-GB" b="0" i="0" dirty="0">
                <a:effectLst/>
                <a:latin typeface="Inter"/>
              </a:rPr>
              <a:t>。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b="0" i="0" dirty="0">
                <a:effectLst/>
                <a:latin typeface="Inter"/>
              </a:rPr>
              <a:t>我们来分析一下这个结果是否合理。我们的训练数据特征矩阵 </a:t>
            </a:r>
            <a:r>
              <a:rPr lang="en-GB" altLang="zh-CN" b="0" i="0" dirty="0">
                <a:effectLst/>
                <a:latin typeface="Inter"/>
              </a:rPr>
              <a:t>X </a:t>
            </a:r>
            <a:r>
              <a:rPr lang="zh-CN" altLang="en-US" b="0" i="0" dirty="0">
                <a:effectLst/>
                <a:latin typeface="Inter"/>
              </a:rPr>
              <a:t>是 </a:t>
            </a:r>
            <a:r>
              <a:rPr lang="en-US" altLang="zh-CN" b="0" i="0" dirty="0">
                <a:effectLst/>
                <a:latin typeface="Inter"/>
              </a:rPr>
              <a:t>[[0, 0], [1, 1], [2, 2]]</a:t>
            </a:r>
            <a:r>
              <a:rPr lang="zh-CN" altLang="en-US" b="0" i="0" dirty="0">
                <a:effectLst/>
                <a:latin typeface="Inter"/>
              </a:rPr>
              <a:t>，标签向量 </a:t>
            </a:r>
            <a:r>
              <a:rPr lang="en-GB" altLang="zh-CN" b="0" i="0" dirty="0">
                <a:effectLst/>
                <a:latin typeface="Inter"/>
              </a:rPr>
              <a:t>y </a:t>
            </a:r>
            <a:r>
              <a:rPr lang="zh-CN" altLang="en-US" b="0" i="0" dirty="0">
                <a:effectLst/>
                <a:latin typeface="Inter"/>
              </a:rPr>
              <a:t>是 </a:t>
            </a:r>
            <a:r>
              <a:rPr lang="en-US" altLang="zh-CN" b="0" i="0" dirty="0">
                <a:effectLst/>
                <a:latin typeface="Inter"/>
              </a:rPr>
              <a:t>[0, 1, 2]</a:t>
            </a:r>
            <a:r>
              <a:rPr lang="zh-CN" altLang="en-US" b="0" i="0" dirty="0">
                <a:effectLst/>
                <a:latin typeface="Inter"/>
              </a:rPr>
              <a:t>。假设我们的线性模型是 </a:t>
            </a:r>
            <a:r>
              <a:rPr lang="en-GB" altLang="zh-CN" b="0" i="0" dirty="0">
                <a:effectLst/>
                <a:latin typeface="Inter"/>
              </a:rPr>
              <a:t>y = </a:t>
            </a:r>
            <a:r>
              <a:rPr lang="en-GB" altLang="zh-CN" b="0" i="0" dirty="0" err="1">
                <a:effectLst/>
                <a:latin typeface="Inter"/>
              </a:rPr>
              <a:t>w₁x</a:t>
            </a:r>
            <a:r>
              <a:rPr lang="en-GB" altLang="zh-CN" b="0" i="0" dirty="0">
                <a:effectLst/>
                <a:latin typeface="Inter"/>
              </a:rPr>
              <a:t>₁ + </a:t>
            </a:r>
            <a:r>
              <a:rPr lang="en-GB" altLang="zh-CN" b="0" i="0" dirty="0" err="1">
                <a:effectLst/>
                <a:latin typeface="Inter"/>
              </a:rPr>
              <a:t>w₂x</a:t>
            </a:r>
            <a:r>
              <a:rPr lang="en-GB" altLang="zh-CN" b="0" i="0" dirty="0">
                <a:effectLst/>
                <a:latin typeface="Inter"/>
              </a:rPr>
              <a:t>₂ + b</a:t>
            </a:r>
            <a:r>
              <a:rPr lang="zh-CN" altLang="en-GB" b="0" i="0" dirty="0">
                <a:effectLst/>
                <a:latin typeface="Inter"/>
              </a:rPr>
              <a:t>，</a:t>
            </a:r>
            <a:r>
              <a:rPr lang="zh-CN" altLang="en-US" b="0" i="0" dirty="0">
                <a:effectLst/>
                <a:latin typeface="Inter"/>
              </a:rPr>
              <a:t>通过前面的线性回归原理，我们可以推测出这个模型的最优参数。由于每个样本的两个特征 </a:t>
            </a:r>
            <a:r>
              <a:rPr lang="en-GB" altLang="zh-CN" b="0" i="0" dirty="0">
                <a:effectLst/>
                <a:latin typeface="Inter"/>
              </a:rPr>
              <a:t>x₁</a:t>
            </a:r>
            <a:r>
              <a:rPr lang="zh-CN" altLang="en-US" b="0" i="0" dirty="0">
                <a:effectLst/>
                <a:latin typeface="Inter"/>
              </a:rPr>
              <a:t>和 </a:t>
            </a:r>
            <a:r>
              <a:rPr lang="en-GB" altLang="zh-CN" b="0" i="0" dirty="0">
                <a:effectLst/>
                <a:latin typeface="Inter"/>
              </a:rPr>
              <a:t>x₂</a:t>
            </a:r>
            <a:r>
              <a:rPr lang="zh-CN" altLang="en-US" b="0" i="0" dirty="0">
                <a:effectLst/>
                <a:latin typeface="Inter"/>
              </a:rPr>
              <a:t>取值相同（如第一个样本 </a:t>
            </a:r>
            <a:r>
              <a:rPr lang="en-GB" altLang="zh-CN" b="0" i="0" dirty="0">
                <a:effectLst/>
                <a:latin typeface="Inter"/>
              </a:rPr>
              <a:t>x₁=0</a:t>
            </a:r>
            <a:r>
              <a:rPr lang="zh-CN" altLang="en-GB" b="0" i="0" dirty="0">
                <a:effectLst/>
                <a:latin typeface="Inter"/>
              </a:rPr>
              <a:t>，</a:t>
            </a:r>
            <a:r>
              <a:rPr lang="en-GB" altLang="zh-CN" b="0" i="0" dirty="0">
                <a:effectLst/>
                <a:latin typeface="Inter"/>
              </a:rPr>
              <a:t>x₂=0</a:t>
            </a:r>
            <a:r>
              <a:rPr lang="zh-CN" altLang="en-GB" b="0" i="0" dirty="0">
                <a:effectLst/>
                <a:latin typeface="Inter"/>
              </a:rPr>
              <a:t>；</a:t>
            </a:r>
            <a:r>
              <a:rPr lang="zh-CN" altLang="en-US" b="0" i="0" dirty="0">
                <a:effectLst/>
                <a:latin typeface="Inter"/>
              </a:rPr>
              <a:t>第二个样本 </a:t>
            </a:r>
            <a:r>
              <a:rPr lang="en-GB" altLang="zh-CN" b="0" i="0" dirty="0">
                <a:effectLst/>
                <a:latin typeface="Inter"/>
              </a:rPr>
              <a:t>x₁=1</a:t>
            </a:r>
            <a:r>
              <a:rPr lang="zh-CN" altLang="en-GB" b="0" i="0" dirty="0">
                <a:effectLst/>
                <a:latin typeface="Inter"/>
              </a:rPr>
              <a:t>，</a:t>
            </a:r>
            <a:r>
              <a:rPr lang="en-GB" altLang="zh-CN" b="0" i="0" dirty="0">
                <a:effectLst/>
                <a:latin typeface="Inter"/>
              </a:rPr>
              <a:t>x₂=1 </a:t>
            </a:r>
            <a:r>
              <a:rPr lang="zh-CN" altLang="en-US" b="0" i="0" dirty="0">
                <a:effectLst/>
                <a:latin typeface="Inter"/>
              </a:rPr>
              <a:t>等），所以模型可以简化为 </a:t>
            </a:r>
            <a:r>
              <a:rPr lang="en-GB" altLang="zh-CN" b="0" i="0" dirty="0">
                <a:effectLst/>
                <a:latin typeface="Inter"/>
              </a:rPr>
              <a:t>y = (w₁ + w₂) x + b</a:t>
            </a:r>
            <a:r>
              <a:rPr lang="zh-CN" altLang="en-GB" b="0" i="0" dirty="0">
                <a:effectLst/>
                <a:latin typeface="Inter"/>
              </a:rPr>
              <a:t>。</a:t>
            </a:r>
            <a:r>
              <a:rPr lang="zh-CN" altLang="en-US" b="0" i="0" dirty="0">
                <a:effectLst/>
                <a:latin typeface="Inter"/>
              </a:rPr>
              <a:t>通过观察数据，我们可以发现 </a:t>
            </a:r>
            <a:r>
              <a:rPr lang="en-GB" altLang="zh-CN" b="0" i="0" dirty="0">
                <a:effectLst/>
                <a:latin typeface="Inter"/>
              </a:rPr>
              <a:t>y </a:t>
            </a:r>
            <a:r>
              <a:rPr lang="zh-CN" altLang="en-US" b="0" i="0" dirty="0">
                <a:effectLst/>
                <a:latin typeface="Inter"/>
              </a:rPr>
              <a:t>与 </a:t>
            </a:r>
            <a:r>
              <a:rPr lang="en-GB" altLang="zh-CN" b="0" i="0" dirty="0">
                <a:effectLst/>
                <a:latin typeface="Inter"/>
              </a:rPr>
              <a:t>x </a:t>
            </a:r>
            <a:r>
              <a:rPr lang="zh-CN" altLang="en-US" b="0" i="0" dirty="0">
                <a:effectLst/>
                <a:latin typeface="Inter"/>
              </a:rPr>
              <a:t>之间是线性关系 </a:t>
            </a:r>
            <a:r>
              <a:rPr lang="en-GB" altLang="zh-CN" b="0" i="0" dirty="0">
                <a:effectLst/>
                <a:latin typeface="Inter"/>
              </a:rPr>
              <a:t>y = x</a:t>
            </a:r>
            <a:r>
              <a:rPr lang="zh-CN" altLang="en-GB" b="0" i="0" dirty="0">
                <a:effectLst/>
                <a:latin typeface="Inter"/>
              </a:rPr>
              <a:t>，</a:t>
            </a:r>
            <a:r>
              <a:rPr lang="zh-CN" altLang="en-US" b="0" i="0" dirty="0">
                <a:effectLst/>
                <a:latin typeface="Inter"/>
              </a:rPr>
              <a:t>所以 </a:t>
            </a:r>
            <a:r>
              <a:rPr lang="en-US" altLang="zh-CN" b="0" i="0" dirty="0">
                <a:effectLst/>
                <a:latin typeface="Inter"/>
              </a:rPr>
              <a:t>(</a:t>
            </a:r>
            <a:r>
              <a:rPr lang="en-GB" altLang="zh-CN" b="0" i="0" dirty="0">
                <a:effectLst/>
                <a:latin typeface="Inter"/>
              </a:rPr>
              <a:t>w₁ + w₂) = 1</a:t>
            </a:r>
            <a:r>
              <a:rPr lang="zh-CN" altLang="en-GB" b="0" i="0" dirty="0">
                <a:effectLst/>
                <a:latin typeface="Inter"/>
              </a:rPr>
              <a:t>，</a:t>
            </a:r>
            <a:r>
              <a:rPr lang="en-GB" altLang="zh-CN" b="0" i="0" dirty="0">
                <a:effectLst/>
                <a:latin typeface="Inter"/>
              </a:rPr>
              <a:t>b=0</a:t>
            </a:r>
            <a:r>
              <a:rPr lang="zh-CN" altLang="en-GB" b="0" i="0" dirty="0">
                <a:effectLst/>
                <a:latin typeface="Inter"/>
              </a:rPr>
              <a:t>。</a:t>
            </a:r>
            <a:r>
              <a:rPr lang="zh-CN" altLang="en-US" b="0" i="0" dirty="0">
                <a:effectLst/>
                <a:latin typeface="Inter"/>
              </a:rPr>
              <a:t>而我们得到的 </a:t>
            </a:r>
            <a:r>
              <a:rPr lang="en-GB" altLang="zh-CN" b="0" i="0" dirty="0">
                <a:effectLst/>
                <a:latin typeface="Inter"/>
              </a:rPr>
              <a:t>w₁=0.5</a:t>
            </a:r>
            <a:r>
              <a:rPr lang="zh-CN" altLang="en-GB" b="0" i="0" dirty="0">
                <a:effectLst/>
                <a:latin typeface="Inter"/>
              </a:rPr>
              <a:t>，</a:t>
            </a:r>
            <a:r>
              <a:rPr lang="en-GB" altLang="zh-CN" b="0" i="0" dirty="0">
                <a:effectLst/>
                <a:latin typeface="Inter"/>
              </a:rPr>
              <a:t>w₂=0.5</a:t>
            </a:r>
            <a:r>
              <a:rPr lang="zh-CN" altLang="en-GB" b="0" i="0" dirty="0">
                <a:effectLst/>
                <a:latin typeface="Inter"/>
              </a:rPr>
              <a:t>，</a:t>
            </a:r>
            <a:r>
              <a:rPr lang="zh-CN" altLang="en-US" b="0" i="0" dirty="0">
                <a:effectLst/>
                <a:latin typeface="Inter"/>
              </a:rPr>
              <a:t>满足 </a:t>
            </a:r>
            <a:r>
              <a:rPr lang="en-GB" altLang="zh-CN" b="0" i="0" dirty="0">
                <a:effectLst/>
                <a:latin typeface="Inter"/>
              </a:rPr>
              <a:t>w₁ + w₂=1</a:t>
            </a:r>
            <a:r>
              <a:rPr lang="zh-CN" altLang="en-GB" b="0" i="0" dirty="0">
                <a:effectLst/>
                <a:latin typeface="Inter"/>
              </a:rPr>
              <a:t>，</a:t>
            </a:r>
            <a:r>
              <a:rPr lang="zh-CN" altLang="en-US" b="0" i="0" dirty="0">
                <a:effectLst/>
                <a:latin typeface="Inter"/>
              </a:rPr>
              <a:t>同时通过模型的 </a:t>
            </a:r>
            <a:r>
              <a:rPr lang="en-GB" altLang="zh-CN" b="0" i="0" dirty="0">
                <a:effectLst/>
                <a:latin typeface="Inter"/>
              </a:rPr>
              <a:t>intercept_</a:t>
            </a:r>
            <a:r>
              <a:rPr lang="zh-CN" altLang="en-US" b="0" i="0" dirty="0">
                <a:effectLst/>
                <a:latin typeface="Inter"/>
              </a:rPr>
              <a:t>属性（我们后面会介绍）可以查看 </a:t>
            </a:r>
            <a:r>
              <a:rPr lang="en-GB" altLang="zh-CN" b="0" i="0" dirty="0">
                <a:effectLst/>
                <a:latin typeface="Inter"/>
              </a:rPr>
              <a:t>b=0</a:t>
            </a:r>
            <a:r>
              <a:rPr lang="zh-CN" altLang="en-GB" b="0" i="0" dirty="0">
                <a:effectLst/>
                <a:latin typeface="Inter"/>
              </a:rPr>
              <a:t>，</a:t>
            </a:r>
            <a:r>
              <a:rPr lang="zh-CN" altLang="en-US" b="0" i="0" dirty="0">
                <a:effectLst/>
                <a:latin typeface="Inter"/>
              </a:rPr>
              <a:t>这与数据的实际规律完全一致，说明模型训练得到了正确的参数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2922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要熟练使用 </a:t>
            </a:r>
            <a:r>
              <a:rPr lang="en-GB" altLang="zh-CN" b="0" i="0">
                <a:effectLst/>
                <a:latin typeface="Inter"/>
              </a:rPr>
              <a:t>scikit-learn </a:t>
            </a:r>
            <a:r>
              <a:rPr lang="zh-CN" altLang="en-US" b="0" i="0">
                <a:effectLst/>
                <a:latin typeface="Inter"/>
              </a:rPr>
              <a:t>中的 </a:t>
            </a:r>
            <a:r>
              <a:rPr lang="en-GB" altLang="zh-CN" b="0" i="0">
                <a:effectLst/>
                <a:latin typeface="Inter"/>
              </a:rPr>
              <a:t>LinearRegression </a:t>
            </a:r>
            <a:r>
              <a:rPr lang="zh-CN" altLang="en-US" b="0" i="0">
                <a:effectLst/>
                <a:latin typeface="Inter"/>
              </a:rPr>
              <a:t>类，我们需要了解它的主要参数，可以</a:t>
            </a:r>
            <a:r>
              <a:rPr lang="zh-CN" altLang="en-US" dirty="0"/>
              <a:t>在 </a:t>
            </a:r>
            <a:r>
              <a:rPr lang="en-US" altLang="zh-CN" dirty="0"/>
              <a:t>scikit-learn </a:t>
            </a:r>
            <a:r>
              <a:rPr lang="zh-CN" altLang="en-US" dirty="0"/>
              <a:t>的 </a:t>
            </a:r>
            <a:r>
              <a:rPr lang="en-US" altLang="zh-CN" dirty="0"/>
              <a:t>API </a:t>
            </a:r>
            <a:r>
              <a:rPr lang="zh-CN" altLang="en-US" dirty="0"/>
              <a:t>文档中查找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594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我们可以在文档里面看到</a:t>
            </a:r>
            <a:r>
              <a:rPr lang="en-GB" altLang="zh-CN" b="0" i="0">
                <a:effectLst/>
                <a:latin typeface="Inter"/>
              </a:rPr>
              <a:t>LinearRegression</a:t>
            </a:r>
            <a:r>
              <a:rPr lang="zh-CN" altLang="en-US" b="0" i="0">
                <a:effectLst/>
                <a:latin typeface="Inter"/>
              </a:rPr>
              <a:t>类中参数的设置和要求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2479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6640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在 </a:t>
            </a:r>
            <a:r>
              <a:rPr lang="en-GB" altLang="zh-CN" b="0" i="0">
                <a:effectLst/>
                <a:latin typeface="Inter"/>
              </a:rPr>
              <a:t>scikit-learn </a:t>
            </a:r>
            <a:r>
              <a:rPr lang="zh-CN" altLang="en-US" b="0" i="0">
                <a:effectLst/>
                <a:latin typeface="Inter"/>
              </a:rPr>
              <a:t>中，</a:t>
            </a:r>
            <a:r>
              <a:rPr lang="en-GB" altLang="zh-CN" b="0" i="0">
                <a:effectLst/>
                <a:latin typeface="Inter"/>
              </a:rPr>
              <a:t>LinearRegression </a:t>
            </a:r>
            <a:r>
              <a:rPr lang="zh-CN" altLang="en-US" b="0" i="0">
                <a:effectLst/>
                <a:latin typeface="Inter"/>
              </a:rPr>
              <a:t>类的 </a:t>
            </a:r>
            <a:r>
              <a:rPr lang="en-GB" altLang="zh-CN" b="0" i="0">
                <a:effectLst/>
                <a:latin typeface="Inter"/>
              </a:rPr>
              <a:t>fit () </a:t>
            </a:r>
            <a:r>
              <a:rPr lang="zh-CN" altLang="en-US" b="0" i="0">
                <a:effectLst/>
                <a:latin typeface="Inter"/>
              </a:rPr>
              <a:t>方法是模型训练的核心方法，从文档中可以获取</a:t>
            </a:r>
            <a:r>
              <a:rPr kumimoji="1" lang="en-US" altLang="zh-CN"/>
              <a:t>fit</a:t>
            </a:r>
            <a:r>
              <a:rPr kumimoji="1" lang="zh-CN" altLang="en-US"/>
              <a:t>函数的输入要求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2228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模型训练完成后，我们可以通过访问 </a:t>
            </a:r>
            <a:r>
              <a:rPr lang="en-GB" altLang="zh-CN" b="0" i="0">
                <a:effectLst/>
                <a:latin typeface="Inter"/>
              </a:rPr>
              <a:t>LinearRegression </a:t>
            </a:r>
            <a:r>
              <a:rPr lang="zh-CN" altLang="en-US" b="0" i="0">
                <a:effectLst/>
                <a:latin typeface="Inter"/>
              </a:rPr>
              <a:t>模型对象的属性来获取训练得到的相关信息，其中最常用的属性是 </a:t>
            </a:r>
            <a:r>
              <a:rPr lang="en-GB" altLang="zh-CN" b="0" i="0">
                <a:effectLst/>
                <a:latin typeface="Inter"/>
              </a:rPr>
              <a:t>coef_</a:t>
            </a:r>
            <a:r>
              <a:rPr lang="zh-CN" altLang="en-US" b="0" i="0">
                <a:effectLst/>
                <a:latin typeface="Inter"/>
              </a:rPr>
              <a:t>和 </a:t>
            </a:r>
            <a:r>
              <a:rPr lang="en-GB" altLang="zh-CN" b="0" i="0">
                <a:effectLst/>
                <a:latin typeface="Inter"/>
              </a:rPr>
              <a:t>intercept_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5965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b="0" i="0">
                <a:effectLst/>
                <a:latin typeface="Inter"/>
              </a:rPr>
              <a:t>coef_</a:t>
            </a:r>
            <a:r>
              <a:rPr lang="zh-CN" altLang="en-US" b="0" i="0">
                <a:effectLst/>
                <a:latin typeface="Inter"/>
              </a:rPr>
              <a:t>存储的是模型训练得到的权重参数 </a:t>
            </a:r>
            <a:r>
              <a:rPr lang="en-GB" altLang="zh-CN" b="0" i="0">
                <a:effectLst/>
                <a:latin typeface="Inter"/>
              </a:rPr>
              <a:t>w</a:t>
            </a:r>
            <a:r>
              <a:rPr lang="zh-CN" altLang="en-US" b="0" i="0">
                <a:effectLst/>
                <a:latin typeface="Inter"/>
              </a:rPr>
              <a:t>，</a:t>
            </a:r>
            <a:r>
              <a:rPr lang="en-GB" altLang="zh-CN" b="0" i="0">
                <a:effectLst/>
                <a:latin typeface="Inter"/>
              </a:rPr>
              <a:t>intercept_</a:t>
            </a:r>
            <a:r>
              <a:rPr lang="zh-CN" altLang="en-US" b="0" i="0">
                <a:effectLst/>
                <a:latin typeface="Inter"/>
              </a:rPr>
              <a:t>存储的是模型训练得到的偏置项 </a:t>
            </a:r>
            <a:r>
              <a:rPr lang="en-GB" altLang="zh-CN" b="0" i="0">
                <a:effectLst/>
                <a:latin typeface="Inter"/>
              </a:rPr>
              <a:t>b</a:t>
            </a:r>
            <a:r>
              <a:rPr lang="zh-CN" altLang="en-GB" b="0" i="0">
                <a:effectLst/>
                <a:latin typeface="Inter"/>
              </a:rPr>
              <a:t>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4947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当模型训练完成并得到了合适的参数后，接下来就可以使用模型对新的数据进行预测了。在 </a:t>
            </a:r>
            <a:r>
              <a:rPr lang="en-GB" altLang="zh-CN" b="0" i="0">
                <a:effectLst/>
                <a:latin typeface="Inter"/>
              </a:rPr>
              <a:t>scikit-learn </a:t>
            </a:r>
            <a:r>
              <a:rPr lang="zh-CN" altLang="en-US" b="0" i="0">
                <a:effectLst/>
                <a:latin typeface="Inter"/>
              </a:rPr>
              <a:t>中，</a:t>
            </a:r>
            <a:r>
              <a:rPr lang="en-GB" altLang="zh-CN" b="0" i="0">
                <a:effectLst/>
                <a:latin typeface="Inter"/>
              </a:rPr>
              <a:t>LinearRegression </a:t>
            </a:r>
            <a:r>
              <a:rPr lang="zh-CN" altLang="en-US" b="0" i="0">
                <a:effectLst/>
                <a:latin typeface="Inter"/>
              </a:rPr>
              <a:t>模型的预测功能是通过 </a:t>
            </a:r>
            <a:r>
              <a:rPr lang="en-GB" altLang="zh-CN" b="0" i="0">
                <a:effectLst/>
                <a:latin typeface="Inter"/>
              </a:rPr>
              <a:t>predict () </a:t>
            </a:r>
            <a:r>
              <a:rPr lang="zh-CN" altLang="en-US" b="0" i="0">
                <a:effectLst/>
                <a:latin typeface="Inter"/>
              </a:rPr>
              <a:t>方法实现的。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6573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预测的输入和返回参数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7433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下面来讲过拟合和正则化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062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>
                <a:effectLst/>
                <a:latin typeface="Inter"/>
              </a:rPr>
              <a:t>同学们，我们之前花了很多时间学习模型的训练，比如怎么用线性回归拟合数据、怎么调参数。但训练模型的最终目的，不是让它在训练数据上表现好，而是要让它能处理没见过的新数据 </a:t>
            </a:r>
            <a:r>
              <a:rPr lang="en-US" altLang="zh-CN" b="0" i="0">
                <a:effectLst/>
                <a:latin typeface="Inter"/>
              </a:rPr>
              <a:t>—— </a:t>
            </a:r>
            <a:r>
              <a:rPr lang="zh-CN" altLang="en-US" b="0" i="0">
                <a:effectLst/>
                <a:latin typeface="Inter"/>
              </a:rPr>
              <a:t>这就涉及到 “泛化” 的概念。而</a:t>
            </a:r>
            <a:r>
              <a:rPr lang="zh-CN" altLang="en-US" dirty="0"/>
              <a:t>机器学习模型在训练时的误差成为训练误差，在新样本上的误差成为泛化误差。</a:t>
            </a:r>
            <a:endParaRPr lang="en-US" altLang="zh-CN" dirty="0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6500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我们当然希望模型能从训练数据集上学到适用于所有潜在样本的“</a:t>
            </a:r>
            <a:r>
              <a:rPr lang="zh-CN" altLang="en-US" dirty="0">
                <a:solidFill>
                  <a:srgbClr val="C00000"/>
                </a:solidFill>
              </a:rPr>
              <a:t>普遍规律</a:t>
            </a:r>
            <a:r>
              <a:rPr lang="zh-CN" altLang="en-US" dirty="0"/>
              <a:t>”。然而，在某些情况下，模型可能把样本自身一些特点误当成了一般的性质；这会导致泛化性能下降，这种现象被称为“</a:t>
            </a:r>
            <a:r>
              <a:rPr lang="zh-CN" altLang="en-US" dirty="0">
                <a:solidFill>
                  <a:srgbClr val="C00000"/>
                </a:solidFill>
              </a:rPr>
              <a:t>过拟合</a:t>
            </a:r>
            <a:r>
              <a:rPr lang="zh-CN" altLang="en-US" dirty="0"/>
              <a:t>” 。</a:t>
            </a:r>
            <a:endParaRPr lang="en-US" altLang="zh-CN" dirty="0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9955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为了让大家更直观理解过拟合，我们先看分类模型的例子。分类任务的目标是把不同类别的样本用边界分开，比如左边这个图，红色点和黄色点是两类样本，黑色的线能清晰地把它们分开，而且这条直线没有刻意去 “贴” 某个样本 </a:t>
            </a:r>
            <a:r>
              <a:rPr lang="en-US" altLang="zh-CN" b="0" i="0">
                <a:effectLst/>
                <a:latin typeface="Inter"/>
              </a:rPr>
              <a:t>—— </a:t>
            </a:r>
            <a:r>
              <a:rPr lang="zh-CN" altLang="en-US" b="0" i="0">
                <a:effectLst/>
                <a:latin typeface="Inter"/>
              </a:rPr>
              <a:t>这就是正常拟合，它抓住了数据的整体规律，泛化能力强。</a:t>
            </a:r>
          </a:p>
          <a:p>
            <a:r>
              <a:rPr lang="zh-CN" altLang="en-US" b="0" i="0">
                <a:effectLst/>
                <a:latin typeface="Inter"/>
              </a:rPr>
              <a:t>再看右边这个图，黑色的曲线虽然把所有训练样本都 “完美分开” 了：没有一个红色点在曲线的黄色侧，也没有一个黄色点在曲线的红色侧，训练误差几乎为零。但这条曲线非常扭曲，比如为了避开某个离群的红色点，特意拐了个大弯。如果来了一个新的蓝色样本，刚好落在曲线的黄色侧附近，模型就会把它误判成黄色 </a:t>
            </a:r>
            <a:r>
              <a:rPr lang="en-US" altLang="zh-CN" b="0" i="0">
                <a:effectLst/>
                <a:latin typeface="Inter"/>
              </a:rPr>
              <a:t>—— </a:t>
            </a:r>
            <a:r>
              <a:rPr lang="zh-CN" altLang="en-US" b="0" i="0">
                <a:effectLst/>
                <a:latin typeface="Inter"/>
              </a:rPr>
              <a:t>这就是过拟合的典型表现。</a:t>
            </a:r>
            <a:br>
              <a:rPr lang="zh-CN" altLang="en-US"/>
            </a:b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67357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下如图所示为机器学习模型的过拟合的示例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5824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为什么会出现过拟合？最常见的原因是 “模型学习能力太强，数据质量跟不上”。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07304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简单说，过拟合就是 “模型想把所有数据都学会，但学错了重点”。接下来我们就讲怎么解决这个问题 </a:t>
            </a:r>
            <a:r>
              <a:rPr lang="en-US" altLang="zh-CN" b="0" i="0">
                <a:effectLst/>
                <a:latin typeface="Inter"/>
              </a:rPr>
              <a:t>—— </a:t>
            </a:r>
            <a:r>
              <a:rPr lang="zh-CN" altLang="en-US" b="0" i="0">
                <a:effectLst/>
                <a:latin typeface="Inter"/>
              </a:rPr>
              <a:t>正则化。</a:t>
            </a:r>
          </a:p>
          <a:p>
            <a:br>
              <a:rPr lang="zh-CN" altLang="en-US"/>
            </a:br>
            <a:r>
              <a:rPr lang="zh-CN" altLang="en-US" b="0" i="0">
                <a:effectLst/>
                <a:latin typeface="Inter"/>
              </a:rPr>
              <a:t>它的核心思路是：在模型的 “损失函数” 里加一个 “正则化项”，给模型的参数 “加约束”，防止模型为了拟合训练数据而把参数调得过大，从而抑制过拟合。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0456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Lasso [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ləˈsu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绳索、套索</a:t>
            </a:r>
            <a:endParaRPr kumimoji="1" lang="en-US" altLang="zh-CN" dirty="0"/>
          </a:p>
          <a:p>
            <a:r>
              <a:rPr kumimoji="1" lang="zh-CN" altLang="en-US" dirty="0"/>
              <a:t>多出来的那一项就是正则化项，权重为正则化项的超参数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956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b="0" i="0" dirty="0">
                <a:effectLst/>
                <a:latin typeface="Inter"/>
              </a:rPr>
              <a:t>Lasso</a:t>
            </a:r>
            <a:r>
              <a:rPr lang="zh-CN" altLang="en-US" b="0" i="0" dirty="0">
                <a:effectLst/>
                <a:latin typeface="Inter"/>
              </a:rPr>
              <a:t>正则化对线性模型有两个关键影响，这也是它的核心价值：第一个影响：降低模型对单一特征的 “敏感程度”，抑制过拟合。第二个影响：“特征选择” 功能。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362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学习</a:t>
            </a:r>
            <a:r>
              <a:rPr lang="en-GB" altLang="zh-CN" b="0" i="0">
                <a:effectLst/>
                <a:latin typeface="Inter"/>
              </a:rPr>
              <a:t> scikit-learn </a:t>
            </a:r>
            <a:r>
              <a:rPr lang="zh-CN" altLang="en-GB" b="0" i="0">
                <a:effectLst/>
                <a:latin typeface="Inter"/>
              </a:rPr>
              <a:t>中的</a:t>
            </a:r>
            <a:r>
              <a:rPr lang="zh-CN" altLang="en-US" b="0" i="0">
                <a:effectLst/>
                <a:latin typeface="Inter"/>
              </a:rPr>
              <a:t>文档示例，看看如何实现。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4129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创建 </a:t>
            </a:r>
            <a:r>
              <a:rPr lang="en-GB" altLang="zh-CN" b="0" i="0">
                <a:effectLst/>
                <a:latin typeface="Inter"/>
              </a:rPr>
              <a:t>Lasso </a:t>
            </a:r>
            <a:r>
              <a:rPr lang="zh-CN" altLang="en-US" b="0" i="0">
                <a:effectLst/>
                <a:latin typeface="Inter"/>
              </a:rPr>
              <a:t>模型实例，注意要指定正则化强度 </a:t>
            </a:r>
            <a:r>
              <a:rPr lang="el-GR" altLang="zh-CN" b="0" i="0">
                <a:effectLst/>
                <a:latin typeface="Inter"/>
              </a:rPr>
              <a:t>λ</a:t>
            </a:r>
            <a:r>
              <a:rPr lang="zh-CN" altLang="el-GR" b="0" i="0">
                <a:effectLst/>
                <a:latin typeface="Inter"/>
              </a:rPr>
              <a:t>（</a:t>
            </a:r>
            <a:r>
              <a:rPr lang="zh-CN" altLang="en-US" b="0" i="0">
                <a:effectLst/>
                <a:latin typeface="Inter"/>
              </a:rPr>
              <a:t>对应参数 </a:t>
            </a:r>
            <a:r>
              <a:rPr lang="en-GB" altLang="zh-CN" b="0" i="0">
                <a:effectLst/>
                <a:latin typeface="Inter"/>
              </a:rPr>
              <a:t>alpha</a:t>
            </a:r>
            <a:r>
              <a:rPr lang="zh-CN" altLang="en-GB" b="0" i="0">
                <a:effectLst/>
                <a:latin typeface="Inter"/>
              </a:rPr>
              <a:t>）：</a:t>
            </a:r>
            <a:endParaRPr lang="en-US" altLang="zh-CN" b="0" i="0">
              <a:effectLst/>
              <a:latin typeface="Inter"/>
            </a:endParaRPr>
          </a:p>
          <a:p>
            <a:r>
              <a:rPr lang="zh-CN" altLang="en-US" b="0" i="0">
                <a:effectLst/>
                <a:latin typeface="Inter"/>
              </a:rPr>
              <a:t>接下来，用 </a:t>
            </a:r>
            <a:r>
              <a:rPr lang="en-GB" altLang="zh-CN" b="0" i="0">
                <a:effectLst/>
                <a:latin typeface="Inter"/>
              </a:rPr>
              <a:t>fit () </a:t>
            </a:r>
            <a:r>
              <a:rPr lang="zh-CN" altLang="en-US" b="0" i="0">
                <a:effectLst/>
                <a:latin typeface="Inter"/>
              </a:rPr>
              <a:t>方法训练模型，这里用一个简单的训练集：特征 </a:t>
            </a:r>
            <a:r>
              <a:rPr lang="en-GB" altLang="zh-CN" b="0" i="0">
                <a:effectLst/>
                <a:latin typeface="Inter"/>
              </a:rPr>
              <a:t>X </a:t>
            </a:r>
            <a:r>
              <a:rPr lang="zh-CN" altLang="en-US" b="0" i="0">
                <a:effectLst/>
                <a:latin typeface="Inter"/>
              </a:rPr>
              <a:t>是 </a:t>
            </a:r>
            <a:r>
              <a:rPr lang="en-US" altLang="zh-CN" b="0" i="0">
                <a:effectLst/>
                <a:latin typeface="Inter"/>
              </a:rPr>
              <a:t>[[0, 0], [1, 1]]</a:t>
            </a:r>
            <a:r>
              <a:rPr lang="zh-CN" altLang="en-US" b="0" i="0">
                <a:effectLst/>
                <a:latin typeface="Inter"/>
              </a:rPr>
              <a:t>（</a:t>
            </a:r>
            <a:r>
              <a:rPr lang="en-US" altLang="zh-CN" b="0" i="0">
                <a:effectLst/>
                <a:latin typeface="Inter"/>
              </a:rPr>
              <a:t>2 </a:t>
            </a:r>
            <a:r>
              <a:rPr lang="zh-CN" altLang="en-US" b="0" i="0">
                <a:effectLst/>
                <a:latin typeface="Inter"/>
              </a:rPr>
              <a:t>个样本，每个样本 </a:t>
            </a:r>
            <a:r>
              <a:rPr lang="en-US" altLang="zh-CN" b="0" i="0">
                <a:effectLst/>
                <a:latin typeface="Inter"/>
              </a:rPr>
              <a:t>2 </a:t>
            </a:r>
            <a:r>
              <a:rPr lang="zh-CN" altLang="en-US" b="0" i="0">
                <a:effectLst/>
                <a:latin typeface="Inter"/>
              </a:rPr>
              <a:t>个特征），标签 </a:t>
            </a:r>
            <a:r>
              <a:rPr lang="en-GB" altLang="zh-CN" b="0" i="0">
                <a:effectLst/>
                <a:latin typeface="Inter"/>
              </a:rPr>
              <a:t>y </a:t>
            </a:r>
            <a:r>
              <a:rPr lang="zh-CN" altLang="en-US" b="0" i="0">
                <a:effectLst/>
                <a:latin typeface="Inter"/>
              </a:rPr>
              <a:t>是 </a:t>
            </a:r>
            <a:r>
              <a:rPr lang="en-US" altLang="zh-CN" b="0" i="0">
                <a:effectLst/>
                <a:latin typeface="Inter"/>
              </a:rPr>
              <a:t>[0, 1]</a:t>
            </a:r>
            <a:r>
              <a:rPr lang="zh-CN" altLang="en-US" b="0" i="0">
                <a:effectLst/>
                <a:latin typeface="Inter"/>
              </a:rPr>
              <a:t>：</a:t>
            </a:r>
            <a:endParaRPr lang="en-US" altLang="zh-CN" b="0" i="0">
              <a:effectLst/>
              <a:latin typeface="Inter"/>
            </a:endParaRPr>
          </a:p>
          <a:p>
            <a:r>
              <a:rPr lang="zh-CN" altLang="en-US" b="0" i="0">
                <a:effectLst/>
                <a:latin typeface="Inter"/>
              </a:rPr>
              <a:t>训练完成后，用 </a:t>
            </a:r>
            <a:r>
              <a:rPr lang="en-GB" altLang="zh-CN" b="0" i="0">
                <a:effectLst/>
                <a:latin typeface="Inter"/>
              </a:rPr>
              <a:t>predict () </a:t>
            </a:r>
            <a:r>
              <a:rPr lang="zh-CN" altLang="en-US" b="0" i="0">
                <a:effectLst/>
                <a:latin typeface="Inter"/>
              </a:rPr>
              <a:t>方法预测新样本，比如预测特征 </a:t>
            </a:r>
            <a:r>
              <a:rPr lang="en-US" altLang="zh-CN" b="0" i="0">
                <a:effectLst/>
                <a:latin typeface="Inter"/>
              </a:rPr>
              <a:t>[[1, 1]] </a:t>
            </a:r>
            <a:r>
              <a:rPr lang="zh-CN" altLang="en-US" b="0" i="0">
                <a:effectLst/>
                <a:latin typeface="Inter"/>
              </a:rPr>
              <a:t>的标签：</a:t>
            </a:r>
            <a:endParaRPr lang="en-US" altLang="zh-CN" b="0" i="0">
              <a:effectLst/>
              <a:latin typeface="Inter"/>
            </a:endParaRPr>
          </a:p>
          <a:p>
            <a:r>
              <a:rPr lang="zh-CN" altLang="en-US" b="0" i="0">
                <a:effectLst/>
                <a:latin typeface="Inter"/>
              </a:rPr>
              <a:t>我们来分析一下这个结果：如果是普通线性回归，训练数据 </a:t>
            </a:r>
            <a:r>
              <a:rPr lang="en-GB" altLang="zh-CN" b="0" i="0">
                <a:effectLst/>
                <a:latin typeface="Inter"/>
              </a:rPr>
              <a:t>X=[[0,0],[1,1]]</a:t>
            </a:r>
            <a:r>
              <a:rPr lang="zh-CN" altLang="en-GB" b="0" i="0">
                <a:effectLst/>
                <a:latin typeface="Inter"/>
              </a:rPr>
              <a:t>、</a:t>
            </a:r>
            <a:r>
              <a:rPr lang="en-GB" altLang="zh-CN" b="0" i="0">
                <a:effectLst/>
                <a:latin typeface="Inter"/>
              </a:rPr>
              <a:t>y=[0,1]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会得到 </a:t>
            </a:r>
            <a:r>
              <a:rPr lang="en-GB" altLang="zh-CN" b="0" i="0">
                <a:effectLst/>
                <a:latin typeface="Inter"/>
              </a:rPr>
              <a:t>w1=0.5</a:t>
            </a:r>
            <a:r>
              <a:rPr lang="zh-CN" altLang="en-GB" b="0" i="0">
                <a:effectLst/>
                <a:latin typeface="Inter"/>
              </a:rPr>
              <a:t>、</a:t>
            </a:r>
            <a:r>
              <a:rPr lang="en-GB" altLang="zh-CN" b="0" i="0">
                <a:effectLst/>
                <a:latin typeface="Inter"/>
              </a:rPr>
              <a:t>w2=0.5</a:t>
            </a:r>
            <a:r>
              <a:rPr lang="zh-CN" altLang="en-GB" b="0" i="0">
                <a:effectLst/>
                <a:latin typeface="Inter"/>
              </a:rPr>
              <a:t>、</a:t>
            </a:r>
            <a:r>
              <a:rPr lang="en-GB" altLang="zh-CN" b="0" i="0">
                <a:effectLst/>
                <a:latin typeface="Inter"/>
              </a:rPr>
              <a:t>b=0</a:t>
            </a:r>
            <a:r>
              <a:rPr lang="zh-CN" altLang="en-GB" b="0" i="0">
                <a:effectLst/>
                <a:latin typeface="Inter"/>
              </a:rPr>
              <a:t>，</a:t>
            </a:r>
            <a:r>
              <a:rPr lang="zh-CN" altLang="en-US" b="0" i="0">
                <a:effectLst/>
                <a:latin typeface="Inter"/>
              </a:rPr>
              <a:t>预测 </a:t>
            </a:r>
            <a:r>
              <a:rPr lang="en-US" altLang="zh-CN" b="0" i="0">
                <a:effectLst/>
                <a:latin typeface="Inter"/>
              </a:rPr>
              <a:t>[[1,1]] </a:t>
            </a:r>
            <a:r>
              <a:rPr lang="zh-CN" altLang="en-US" b="0" i="0">
                <a:effectLst/>
                <a:latin typeface="Inter"/>
              </a:rPr>
              <a:t>的结果是 </a:t>
            </a:r>
            <a:r>
              <a:rPr lang="en-US" altLang="zh-CN" b="0" i="0">
                <a:effectLst/>
                <a:latin typeface="Inter"/>
              </a:rPr>
              <a:t>0.5×1 + 0.5×1 + 0 = 1.0</a:t>
            </a:r>
            <a:r>
              <a:rPr lang="zh-CN" altLang="en-US" b="0" i="0">
                <a:effectLst/>
                <a:latin typeface="Inter"/>
              </a:rPr>
              <a:t>。而 </a:t>
            </a:r>
            <a:r>
              <a:rPr lang="en-GB" altLang="zh-CN" b="0" i="0">
                <a:effectLst/>
                <a:latin typeface="Inter"/>
              </a:rPr>
              <a:t>Lasso </a:t>
            </a:r>
            <a:r>
              <a:rPr lang="zh-CN" altLang="en-US" b="0" i="0">
                <a:effectLst/>
                <a:latin typeface="Inter"/>
              </a:rPr>
              <a:t>回归因为加了正则化项，会稍微 “压缩” 权重，所以预测结果变成了 </a:t>
            </a:r>
            <a:r>
              <a:rPr lang="en-US" altLang="zh-CN" b="0" i="0">
                <a:effectLst/>
                <a:latin typeface="Inter"/>
              </a:rPr>
              <a:t>0.8—— </a:t>
            </a:r>
            <a:r>
              <a:rPr lang="zh-CN" altLang="en-US" b="0" i="0">
                <a:effectLst/>
                <a:latin typeface="Inter"/>
              </a:rPr>
              <a:t>这就是正则化在起作用，防止权重过大。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1282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可以通过文档</a:t>
            </a:r>
            <a:r>
              <a:rPr lang="zh-CN" altLang="en-US" b="0" i="0">
                <a:effectLst/>
                <a:latin typeface="Inter"/>
              </a:rPr>
              <a:t>再详细看一下 </a:t>
            </a:r>
            <a:r>
              <a:rPr lang="en-GB" altLang="zh-CN" b="0" i="0">
                <a:effectLst/>
                <a:latin typeface="Inter"/>
              </a:rPr>
              <a:t>Lasso </a:t>
            </a:r>
            <a:r>
              <a:rPr lang="zh-CN" altLang="en-US" b="0" i="0">
                <a:effectLst/>
                <a:latin typeface="Inter"/>
              </a:rPr>
              <a:t>类的关键参数，帮助大家更好地使用它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8795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除了 </a:t>
            </a:r>
            <a:r>
              <a:rPr lang="en-GB" altLang="zh-CN" b="0" i="0">
                <a:effectLst/>
                <a:latin typeface="Inter"/>
              </a:rPr>
              <a:t>L1 </a:t>
            </a:r>
            <a:r>
              <a:rPr lang="zh-CN" altLang="en-US" b="0" i="0">
                <a:effectLst/>
                <a:latin typeface="Inter"/>
              </a:rPr>
              <a:t>正则化，线性回归中还有两种常用的正则化：</a:t>
            </a:r>
            <a:r>
              <a:rPr lang="en-GB" altLang="zh-CN" b="0" i="0">
                <a:effectLst/>
                <a:latin typeface="Inter"/>
              </a:rPr>
              <a:t>L2 </a:t>
            </a:r>
            <a:r>
              <a:rPr lang="zh-CN" altLang="en-US" b="0" i="0">
                <a:effectLst/>
                <a:latin typeface="Inter"/>
              </a:rPr>
              <a:t>正则化（</a:t>
            </a:r>
            <a:r>
              <a:rPr lang="en-GB" altLang="zh-CN" b="0" i="0">
                <a:effectLst/>
                <a:latin typeface="Inter"/>
              </a:rPr>
              <a:t>Ridge </a:t>
            </a:r>
            <a:r>
              <a:rPr lang="zh-CN" altLang="en-US" b="0" i="0">
                <a:effectLst/>
                <a:latin typeface="Inter"/>
              </a:rPr>
              <a:t>回归）和 </a:t>
            </a:r>
            <a:r>
              <a:rPr lang="en-GB" altLang="zh-CN" b="0" i="0">
                <a:effectLst/>
                <a:latin typeface="Inter"/>
              </a:rPr>
              <a:t>L1+L2 </a:t>
            </a:r>
            <a:r>
              <a:rPr lang="zh-CN" altLang="en-US" b="0" i="0">
                <a:effectLst/>
                <a:latin typeface="Inter"/>
              </a:rPr>
              <a:t>正则化（</a:t>
            </a:r>
            <a:r>
              <a:rPr lang="en-GB" altLang="zh-CN" b="0" i="0">
                <a:effectLst/>
                <a:latin typeface="Inter"/>
              </a:rPr>
              <a:t>Elastic Net </a:t>
            </a:r>
            <a:r>
              <a:rPr lang="zh-CN" altLang="en-US" b="0" i="0">
                <a:effectLst/>
                <a:latin typeface="Inter"/>
              </a:rPr>
              <a:t>回归）。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2642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这些模型的 </a:t>
            </a:r>
            <a:r>
              <a:rPr lang="en-GB" altLang="zh-CN" b="0" i="0">
                <a:effectLst/>
                <a:latin typeface="Inter"/>
              </a:rPr>
              <a:t>API </a:t>
            </a:r>
            <a:r>
              <a:rPr lang="zh-CN" altLang="en-US" b="0" i="0">
                <a:effectLst/>
                <a:latin typeface="Inter"/>
              </a:rPr>
              <a:t>接口和 </a:t>
            </a:r>
            <a:r>
              <a:rPr lang="en-GB" altLang="zh-CN" b="0" i="0">
                <a:effectLst/>
                <a:latin typeface="Inter"/>
              </a:rPr>
              <a:t>LinearRegression</a:t>
            </a:r>
            <a:r>
              <a:rPr lang="zh-CN" altLang="en-GB" b="0" i="0">
                <a:effectLst/>
                <a:latin typeface="Inter"/>
              </a:rPr>
              <a:t>、</a:t>
            </a:r>
            <a:r>
              <a:rPr lang="en-GB" altLang="zh-CN" b="0" i="0">
                <a:effectLst/>
                <a:latin typeface="Inter"/>
              </a:rPr>
              <a:t>Lasso </a:t>
            </a:r>
            <a:r>
              <a:rPr lang="zh-CN" altLang="en-US" b="0" i="0">
                <a:effectLst/>
                <a:latin typeface="Inter"/>
              </a:rPr>
              <a:t>高度一致，都是 “创建实例→</a:t>
            </a:r>
            <a:r>
              <a:rPr lang="en-GB" altLang="zh-CN" b="0" i="0">
                <a:effectLst/>
                <a:latin typeface="Inter"/>
              </a:rPr>
              <a:t>fit </a:t>
            </a:r>
            <a:r>
              <a:rPr lang="zh-CN" altLang="en-US" b="0" i="0">
                <a:effectLst/>
                <a:latin typeface="Inter"/>
              </a:rPr>
              <a:t>训练→</a:t>
            </a:r>
            <a:r>
              <a:rPr lang="en-GB" altLang="zh-CN" b="0" i="0">
                <a:effectLst/>
                <a:latin typeface="Inter"/>
              </a:rPr>
              <a:t>predict </a:t>
            </a:r>
            <a:r>
              <a:rPr lang="zh-CN" altLang="en-US" b="0" i="0">
                <a:effectLst/>
                <a:latin typeface="Inter"/>
              </a:rPr>
              <a:t>预测” 的流程，大家课后可以用自己的数据试试，感受不同正则化的效果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55012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讲完了正则化，我们还要解决一个关键问题：怎么判断模型有没有过拟合？怎么评估模型的泛化能力？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9662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答案是 “不要把所有数据都用来训练”，要留一部分数据专门用来 “测试” 和 “验证”。这就像学生考试：课本上的例题（训练集）是用来学习的，不能把例题当考题（测试集）</a:t>
            </a:r>
            <a:r>
              <a:rPr lang="en-US" altLang="zh-CN" b="0" i="0">
                <a:effectLst/>
                <a:latin typeface="Inter"/>
              </a:rPr>
              <a:t>—— </a:t>
            </a:r>
            <a:r>
              <a:rPr lang="zh-CN" altLang="en-US" b="0" i="0">
                <a:effectLst/>
                <a:latin typeface="Inter"/>
              </a:rPr>
              <a:t>如果考题都是例题，就算学生考满分，也不能说明他真的学会了（可能只是死记硬背）。</a:t>
            </a:r>
            <a:endParaRPr lang="en-US" altLang="zh-CN" b="0" i="0">
              <a:effectLst/>
              <a:latin typeface="Inter"/>
            </a:endParaRPr>
          </a:p>
          <a:p>
            <a:r>
              <a:rPr lang="zh-CN" altLang="en-US" b="0" i="0">
                <a:effectLst/>
                <a:latin typeface="Inter"/>
              </a:rPr>
              <a:t>在有监督学习中，我们通常会把整个数据集分成三部分：训练集（</a:t>
            </a:r>
            <a:r>
              <a:rPr lang="en-GB" altLang="zh-CN" b="0" i="0">
                <a:effectLst/>
                <a:latin typeface="Inter"/>
              </a:rPr>
              <a:t>Training Set</a:t>
            </a:r>
            <a:r>
              <a:rPr lang="zh-CN" altLang="en-GB" b="0" i="0">
                <a:effectLst/>
                <a:latin typeface="Inter"/>
              </a:rPr>
              <a:t>）、</a:t>
            </a:r>
            <a:r>
              <a:rPr lang="zh-CN" altLang="en-US" b="0" i="0">
                <a:effectLst/>
                <a:latin typeface="Inter"/>
              </a:rPr>
              <a:t>验证集（</a:t>
            </a:r>
            <a:r>
              <a:rPr lang="en-GB" altLang="zh-CN" b="0" i="0">
                <a:effectLst/>
                <a:latin typeface="Inter"/>
              </a:rPr>
              <a:t>Validation Set</a:t>
            </a:r>
            <a:r>
              <a:rPr lang="zh-CN" altLang="en-GB" b="0" i="0">
                <a:effectLst/>
                <a:latin typeface="Inter"/>
              </a:rPr>
              <a:t>）、</a:t>
            </a:r>
            <a:r>
              <a:rPr lang="zh-CN" altLang="en-US" b="0" i="0">
                <a:effectLst/>
                <a:latin typeface="Inter"/>
              </a:rPr>
              <a:t>测试集（</a:t>
            </a:r>
            <a:r>
              <a:rPr lang="en-GB" altLang="zh-CN" b="0" i="0">
                <a:effectLst/>
                <a:latin typeface="Inter"/>
              </a:rPr>
              <a:t>Testing Set</a:t>
            </a:r>
            <a:r>
              <a:rPr lang="zh-CN" altLang="en-GB" b="0" i="0">
                <a:effectLst/>
                <a:latin typeface="Inter"/>
              </a:rPr>
              <a:t>）。</a:t>
            </a:r>
            <a:r>
              <a:rPr lang="zh-CN" altLang="en-US" b="0" i="0">
                <a:effectLst/>
                <a:latin typeface="Inter"/>
              </a:rPr>
              <a:t>这三部分的作用完全不同，接下来我们分别讲它们的用途和划分逻辑。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2595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首先是训练集，它的作用是 “训练模型参数”，也就是让模型从数据中学习规律。</a:t>
            </a:r>
            <a:endParaRPr kumimoji="1" lang="zh-CN" altLang="en-US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4468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然后是测试集，它的作用是 “最终评估模型的泛化能力”，相当于模型的 “期末考试”。测试集的核心原则：“不参与任何模型训练和调整”。</a:t>
            </a:r>
            <a:endParaRPr kumimoji="1" lang="zh-CN" altLang="en-US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1052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>
                <a:effectLst/>
                <a:latin typeface="Inter"/>
              </a:rPr>
              <a:t>最后是验证集，它的作用是 “在测试前初步评估模型，辅助调整模型超参数”，相当于模型的 “模拟考试</a:t>
            </a:r>
            <a:r>
              <a:rPr lang="en-US" altLang="zh-CN" b="0" i="0">
                <a:effectLst/>
                <a:latin typeface="Inter"/>
              </a:rPr>
              <a:t>/</a:t>
            </a:r>
            <a:r>
              <a:rPr lang="zh-CN" altLang="en-US" b="0" i="0">
                <a:effectLst/>
                <a:latin typeface="Inter"/>
              </a:rPr>
              <a:t>练习题”。</a:t>
            </a:r>
            <a:endParaRPr lang="en-US" altLang="zh-CN" b="0" i="0">
              <a:effectLst/>
              <a:latin typeface="Inter"/>
            </a:endParaRPr>
          </a:p>
          <a:p>
            <a:endParaRPr kumimoji="1" lang="zh-CN" altLang="en-US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6592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我们先想一个问题：训练完模型后，我们怎么知道它有没有过拟合？怎么选择正则化的 </a:t>
            </a:r>
            <a:r>
              <a:rPr lang="en-GB" altLang="zh-CN" b="0" i="0">
                <a:effectLst/>
                <a:latin typeface="Inter"/>
              </a:rPr>
              <a:t>alpha </a:t>
            </a:r>
            <a:r>
              <a:rPr lang="zh-CN" altLang="en-US" b="0" i="0">
                <a:effectLst/>
                <a:latin typeface="Inter"/>
              </a:rPr>
              <a:t>值？比如 </a:t>
            </a:r>
            <a:r>
              <a:rPr lang="en-GB" altLang="zh-CN" b="0" i="0">
                <a:effectLst/>
                <a:latin typeface="Inter"/>
              </a:rPr>
              <a:t>Lasso </a:t>
            </a:r>
            <a:r>
              <a:rPr lang="zh-CN" altLang="en-US" b="0" i="0">
                <a:effectLst/>
                <a:latin typeface="Inter"/>
              </a:rPr>
              <a:t>回归的 </a:t>
            </a:r>
            <a:r>
              <a:rPr lang="en-GB" altLang="zh-CN" b="0" i="0">
                <a:effectLst/>
                <a:latin typeface="Inter"/>
              </a:rPr>
              <a:t>alpha </a:t>
            </a:r>
            <a:r>
              <a:rPr lang="zh-CN" altLang="en-US" b="0" i="0">
                <a:effectLst/>
                <a:latin typeface="Inter"/>
              </a:rPr>
              <a:t>可以是 </a:t>
            </a:r>
            <a:r>
              <a:rPr lang="en-US" altLang="zh-CN" b="0" i="0">
                <a:effectLst/>
                <a:latin typeface="Inter"/>
              </a:rPr>
              <a:t>0.1</a:t>
            </a:r>
            <a:r>
              <a:rPr lang="zh-CN" altLang="en-US" b="0" i="0">
                <a:effectLst/>
                <a:latin typeface="Inter"/>
              </a:rPr>
              <a:t>、</a:t>
            </a:r>
            <a:r>
              <a:rPr lang="en-US" altLang="zh-CN" b="0" i="0">
                <a:effectLst/>
                <a:latin typeface="Inter"/>
              </a:rPr>
              <a:t>1</a:t>
            </a:r>
            <a:r>
              <a:rPr lang="zh-CN" altLang="en-US" b="0" i="0">
                <a:effectLst/>
                <a:latin typeface="Inter"/>
              </a:rPr>
              <a:t>、</a:t>
            </a:r>
            <a:r>
              <a:rPr lang="en-US" altLang="zh-CN" b="0" i="0">
                <a:effectLst/>
                <a:latin typeface="Inter"/>
              </a:rPr>
              <a:t>10</a:t>
            </a:r>
            <a:r>
              <a:rPr lang="zh-CN" altLang="en-US" b="0" i="0">
                <a:effectLst/>
                <a:latin typeface="Inter"/>
              </a:rPr>
              <a:t>，哪个 </a:t>
            </a:r>
            <a:r>
              <a:rPr lang="en-GB" altLang="zh-CN" b="0" i="0">
                <a:effectLst/>
                <a:latin typeface="Inter"/>
              </a:rPr>
              <a:t>alpha </a:t>
            </a:r>
            <a:r>
              <a:rPr lang="zh-CN" altLang="en-US" b="0" i="0">
                <a:effectLst/>
                <a:latin typeface="Inter"/>
              </a:rPr>
              <a:t>能让模型泛化能力最强？</a:t>
            </a:r>
          </a:p>
          <a:p>
            <a:pPr algn="l"/>
            <a:r>
              <a:rPr lang="zh-CN" altLang="en-US" b="0" i="0">
                <a:effectLst/>
                <a:latin typeface="Inter"/>
              </a:rPr>
              <a:t>直接用测试集试吗？不行，因为这样会违反 “测试集不参与调整” 的原则。这时候就需要验证集。</a:t>
            </a:r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102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>
                <a:effectLst/>
                <a:latin typeface="Inter"/>
              </a:rPr>
              <a:t>如果数据集很小（比如只有 </a:t>
            </a:r>
            <a:r>
              <a:rPr lang="en-US" altLang="zh-CN" b="0" i="0">
                <a:effectLst/>
                <a:latin typeface="Inter"/>
              </a:rPr>
              <a:t>100 </a:t>
            </a:r>
            <a:r>
              <a:rPr lang="zh-CN" altLang="en-US" b="0" i="0">
                <a:effectLst/>
                <a:latin typeface="Inter"/>
              </a:rPr>
              <a:t>个样本），单独划分出 </a:t>
            </a:r>
            <a:r>
              <a:rPr lang="en-US" altLang="zh-CN" b="0" i="0">
                <a:effectLst/>
                <a:latin typeface="Inter"/>
              </a:rPr>
              <a:t>20% </a:t>
            </a:r>
            <a:r>
              <a:rPr lang="zh-CN" altLang="en-US" b="0" i="0">
                <a:effectLst/>
                <a:latin typeface="Inter"/>
              </a:rPr>
              <a:t>作为验证集（只有 </a:t>
            </a:r>
            <a:r>
              <a:rPr lang="en-US" altLang="zh-CN" b="0" i="0">
                <a:effectLst/>
                <a:latin typeface="Inter"/>
              </a:rPr>
              <a:t>20 </a:t>
            </a:r>
            <a:r>
              <a:rPr lang="zh-CN" altLang="en-US" b="0" i="0">
                <a:effectLst/>
                <a:latin typeface="Inter"/>
              </a:rPr>
              <a:t>个样本），会导致验证集的 “代表性不足”</a:t>
            </a:r>
            <a:r>
              <a:rPr lang="en-US" altLang="zh-CN" b="0" i="0">
                <a:effectLst/>
                <a:latin typeface="Inter"/>
              </a:rPr>
              <a:t>—— </a:t>
            </a:r>
            <a:r>
              <a:rPr lang="zh-CN" altLang="en-US" b="0" i="0">
                <a:effectLst/>
                <a:latin typeface="Inter"/>
              </a:rPr>
              <a:t>比如验证集里刚好有很多噪声样本，用它选出来的超参数，可能不是真的最优。</a:t>
            </a:r>
          </a:p>
          <a:p>
            <a:pPr algn="l"/>
            <a:r>
              <a:rPr lang="zh-CN" altLang="en-US" b="0" i="0">
                <a:effectLst/>
                <a:latin typeface="Inter"/>
              </a:rPr>
              <a:t>这时候就需要交叉验证（</a:t>
            </a:r>
            <a:r>
              <a:rPr lang="en-GB" altLang="zh-CN" b="0" i="0">
                <a:effectLst/>
                <a:latin typeface="Inter"/>
              </a:rPr>
              <a:t>Cross Validation</a:t>
            </a:r>
            <a:r>
              <a:rPr lang="zh-CN" altLang="en-GB" b="0" i="0">
                <a:effectLst/>
                <a:latin typeface="Inter"/>
              </a:rPr>
              <a:t>），</a:t>
            </a:r>
            <a:r>
              <a:rPr lang="zh-CN" altLang="en-US" b="0" i="0">
                <a:effectLst/>
                <a:latin typeface="Inter"/>
              </a:rPr>
              <a:t>它的核心思路是：“把数据集用不同的方式多次划分成训练集和验证集，做多次‘训练 </a:t>
            </a:r>
            <a:r>
              <a:rPr lang="en-US" altLang="zh-CN" b="0" i="0">
                <a:effectLst/>
                <a:latin typeface="Inter"/>
              </a:rPr>
              <a:t>- </a:t>
            </a:r>
            <a:r>
              <a:rPr lang="zh-CN" altLang="en-US" b="0" i="0">
                <a:effectLst/>
                <a:latin typeface="Inter"/>
              </a:rPr>
              <a:t>验证’，取平均值作为最终的验证结果”。</a:t>
            </a:r>
          </a:p>
          <a:p>
            <a:endParaRPr kumimoji="1" lang="zh-CN" altLang="en-US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5009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0411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7122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是的，对于严肃的、希望得到可靠结果的机器学习项目，进行验证是绝对必要的。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可以这么说，没有经过严格验证的机器学习模型，其性能和可靠性是不可信的。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对于任何需要评估模型泛化性能、并计划用于现实世界或做出决策的机器学习项目，保留一个独立的、未在训练和调参过程中使用过的测试集，是绝对必要的。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4D014-7E33-44A7-8C25-594FB616F2FB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1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187060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71" y="193278"/>
            <a:ext cx="10762593" cy="544513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71" y="1040524"/>
            <a:ext cx="10762593" cy="5136440"/>
          </a:xfrm>
        </p:spPr>
        <p:txBody>
          <a:bodyPr/>
          <a:lstStyle>
            <a:lvl1pPr>
              <a:lnSpc>
                <a:spcPct val="110000"/>
              </a:lnSpc>
              <a:defRPr b="1"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9"/>
          <p:cNvSpPr/>
          <p:nvPr userDrawn="1"/>
        </p:nvSpPr>
        <p:spPr>
          <a:xfrm>
            <a:off x="681071" y="800718"/>
            <a:ext cx="10762593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1771287"/>
          </a:xfrm>
        </p:spPr>
        <p:txBody>
          <a:bodyPr anchor="b">
            <a:normAutofit/>
          </a:bodyPr>
          <a:lstStyle>
            <a:lvl1pPr algn="ctr">
              <a:defRPr sz="48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922461"/>
            <a:ext cx="10515600" cy="2167190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71" y="1025824"/>
            <a:ext cx="5338729" cy="5151139"/>
          </a:xfrm>
        </p:spPr>
        <p:txBody>
          <a:bodyPr/>
          <a:lstStyle>
            <a:lvl1pPr defTabSz="914400">
              <a:lnSpc>
                <a:spcPct val="110000"/>
              </a:lnSpc>
              <a:defRPr b="1"/>
            </a:lvl1pPr>
            <a:lvl2pPr defTabSz="914400">
              <a:lnSpc>
                <a:spcPct val="110000"/>
              </a:lnSpc>
              <a:defRPr/>
            </a:lvl2pPr>
            <a:lvl3pPr defTabSz="914400">
              <a:lnSpc>
                <a:spcPct val="110000"/>
              </a:lnSpc>
              <a:defRPr/>
            </a:lvl3pPr>
            <a:lvl4pPr defTabSz="914400">
              <a:lnSpc>
                <a:spcPct val="110000"/>
              </a:lnSpc>
              <a:defRPr/>
            </a:lvl4pPr>
            <a:lvl5pPr defTabSz="914400">
              <a:lnSpc>
                <a:spcPct val="11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25824"/>
            <a:ext cx="5271464" cy="5151139"/>
          </a:xfrm>
        </p:spPr>
        <p:txBody>
          <a:bodyPr/>
          <a:lstStyle>
            <a:lvl1pPr>
              <a:lnSpc>
                <a:spcPct val="110000"/>
              </a:lnSpc>
              <a:defRPr b="1"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1071" y="193278"/>
            <a:ext cx="10762593" cy="544513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Rectangle 9"/>
          <p:cNvSpPr/>
          <p:nvPr userDrawn="1"/>
        </p:nvSpPr>
        <p:spPr>
          <a:xfrm>
            <a:off x="681071" y="800718"/>
            <a:ext cx="10762593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81071" y="193278"/>
            <a:ext cx="10762593" cy="544513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1" name="Rectangle 9"/>
          <p:cNvSpPr/>
          <p:nvPr userDrawn="1"/>
        </p:nvSpPr>
        <p:spPr>
          <a:xfrm>
            <a:off x="681071" y="800718"/>
            <a:ext cx="10762593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3D597-4074-484D-B366-9FBF1EAB7EA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1166"/>
            <a:ext cx="10515600" cy="725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54935"/>
            <a:ext cx="10515600" cy="4922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3D597-4074-484D-B366-9FBF1EAB7EA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73D6C-392A-46A2-A751-B42838D7A247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.xml"/><Relationship Id="rId7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tags" Target="../tags/tag5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notesSlide" Target="../notesSlides/notesSlide30.xml"/><Relationship Id="rId5" Type="http://schemas.openxmlformats.org/officeDocument/2006/relationships/tags" Target="../tags/tag8.xml"/><Relationship Id="rId15" Type="http://schemas.openxmlformats.org/officeDocument/2006/relationships/image" Target="../media/image19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23.png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15.xml"/><Relationship Id="rId7" Type="http://schemas.openxmlformats.org/officeDocument/2006/relationships/image" Target="../media/image26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5.png"/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18.xml"/><Relationship Id="rId7" Type="http://schemas.openxmlformats.org/officeDocument/2006/relationships/image" Target="../media/image28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1.png"/><Relationship Id="rId4" Type="http://schemas.openxmlformats.org/officeDocument/2006/relationships/tags" Target="../tags/tag19.xml"/><Relationship Id="rId9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4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tags" Target="../tags/tag28.xml"/><Relationship Id="rId7" Type="http://schemas.openxmlformats.org/officeDocument/2006/relationships/notesSlide" Target="../notesSlides/notesSlide38.xml"/><Relationship Id="rId12" Type="http://schemas.openxmlformats.org/officeDocument/2006/relationships/image" Target="../media/image45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4.png"/><Relationship Id="rId5" Type="http://schemas.openxmlformats.org/officeDocument/2006/relationships/tags" Target="../tags/tag30.xml"/><Relationship Id="rId10" Type="http://schemas.openxmlformats.org/officeDocument/2006/relationships/image" Target="../media/image43.png"/><Relationship Id="rId4" Type="http://schemas.openxmlformats.org/officeDocument/2006/relationships/tags" Target="../tags/tag29.xml"/><Relationship Id="rId9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tags" Target="../tags/tag33.xml"/><Relationship Id="rId7" Type="http://schemas.openxmlformats.org/officeDocument/2006/relationships/image" Target="../media/image46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9.png"/><Relationship Id="rId4" Type="http://schemas.openxmlformats.org/officeDocument/2006/relationships/tags" Target="../tags/tag34.xml"/><Relationship Id="rId9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5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tags" Target="../tags/tag42.xml"/><Relationship Id="rId7" Type="http://schemas.openxmlformats.org/officeDocument/2006/relationships/image" Target="../media/image57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56.png"/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5" Type="http://schemas.openxmlformats.org/officeDocument/2006/relationships/image" Target="../media/image60.jpeg"/><Relationship Id="rId4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Relationship Id="rId4" Type="http://schemas.openxmlformats.org/officeDocument/2006/relationships/image" Target="../media/image2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Relationship Id="rId4" Type="http://schemas.openxmlformats.org/officeDocument/2006/relationships/image" Target="../media/image2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notesSlide" Target="../notesSlides/notesSlide67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tags" Target="../tags/tag52.xml"/><Relationship Id="rId7" Type="http://schemas.openxmlformats.org/officeDocument/2006/relationships/image" Target="../media/image76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notesSlide" Target="../notesSlides/notesSlide68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79.png"/><Relationship Id="rId4" Type="http://schemas.openxmlformats.org/officeDocument/2006/relationships/tags" Target="../tags/tag53.xml"/><Relationship Id="rId9" Type="http://schemas.openxmlformats.org/officeDocument/2006/relationships/image" Target="../media/image7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3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notesSlide" Target="../notesSlides/notesSlide7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notesSlide" Target="../notesSlides/notesSlide7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人工智能与深度学习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667000" y="3854450"/>
            <a:ext cx="6858000" cy="226695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机器学习（一）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zh-CN" altLang="en-US" dirty="0"/>
              <a:t>华中科技大学  机械科学与工程学院</a:t>
            </a:r>
            <a:endParaRPr lang="en-US" altLang="zh-CN" dirty="0"/>
          </a:p>
          <a:p>
            <a:r>
              <a:rPr lang="zh-CN" altLang="en-US" dirty="0"/>
              <a:t>陈伟</a:t>
            </a:r>
            <a:endParaRPr lang="en-US" altLang="zh-CN" dirty="0"/>
          </a:p>
          <a:p>
            <a:r>
              <a:rPr lang="en-US" altLang="zh-CN" dirty="0"/>
              <a:t>2026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机器学习与人工智能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机器学习问题示例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 descr="Google DeepMind Gelişmeye Devam Ediyor - Atılım Yazılı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509" y="4173240"/>
            <a:ext cx="3232073" cy="183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Real Time Image Segmentation Using 5 Lines of Code | by Ayoola Olafenwa  (she/her) | Towards Data Science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50"/>
          <a:stretch>
            <a:fillRect/>
          </a:stretch>
        </p:blipFill>
        <p:spPr bwMode="auto">
          <a:xfrm>
            <a:off x="6498419" y="4111811"/>
            <a:ext cx="3198533" cy="196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ee the source imag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9" t="32917" r="10320"/>
          <a:stretch>
            <a:fillRect/>
          </a:stretch>
        </p:blipFill>
        <p:spPr bwMode="auto">
          <a:xfrm>
            <a:off x="2260774" y="1481688"/>
            <a:ext cx="3746501" cy="212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t will change everything': DeepMind's AI makes gigantic leap in solving  protein structures"/>
          <p:cNvPicPr>
            <a:picLocks noGrp="1" noChangeAspect="1" noChangeArrowheads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227" y="1594841"/>
            <a:ext cx="3393573" cy="1908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机器学习与人工智能的关系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zh-CN" altLang="en-US" dirty="0">
                <a:solidFill>
                  <a:srgbClr val="C00000"/>
                </a:solidFill>
              </a:rPr>
              <a:t>统计学习</a:t>
            </a:r>
            <a:r>
              <a:rPr lang="zh-CN" altLang="en-US" dirty="0"/>
              <a:t>的方法是当前人工智能的主流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“</a:t>
            </a:r>
            <a:r>
              <a:rPr lang="zh-CN" altLang="en-US" dirty="0">
                <a:solidFill>
                  <a:srgbClr val="C00000"/>
                </a:solidFill>
              </a:rPr>
              <a:t>机器学习</a:t>
            </a:r>
            <a:r>
              <a:rPr lang="zh-CN" altLang="en-US" dirty="0"/>
              <a:t>”与“</a:t>
            </a:r>
            <a:r>
              <a:rPr lang="zh-CN" altLang="en-US" dirty="0">
                <a:solidFill>
                  <a:srgbClr val="C00000"/>
                </a:solidFill>
              </a:rPr>
              <a:t>统计学习</a:t>
            </a:r>
            <a:r>
              <a:rPr lang="zh-CN" altLang="en-US" dirty="0"/>
              <a:t>”两个词在很多情况下是可以互换的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所以简单说，目前很多人工智能都是</a:t>
            </a:r>
            <a:r>
              <a:rPr lang="zh-CN" altLang="en-US" dirty="0">
                <a:solidFill>
                  <a:srgbClr val="C00000"/>
                </a:solidFill>
              </a:rPr>
              <a:t>通过机器学习的方法来实现的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机器学习基础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机器学习是什么？</a:t>
            </a:r>
            <a:endParaRPr lang="en-US" altLang="zh-CN" dirty="0"/>
          </a:p>
          <a:p>
            <a:pPr lvl="1"/>
            <a:r>
              <a:rPr lang="zh-CN" altLang="en-US" dirty="0"/>
              <a:t>基于数据得到决策的方法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数据是什么样的？</a:t>
            </a:r>
            <a:endParaRPr lang="en-US" altLang="zh-CN" dirty="0"/>
          </a:p>
          <a:p>
            <a:pPr lvl="1"/>
            <a:r>
              <a:rPr lang="zh-CN" altLang="en-US" dirty="0"/>
              <a:t>数据本身可能很杂乱</a:t>
            </a:r>
            <a:endParaRPr lang="en-US" altLang="zh-CN" dirty="0"/>
          </a:p>
          <a:p>
            <a:pPr lvl="2"/>
            <a:r>
              <a:rPr lang="zh-CN" altLang="en-US" dirty="0"/>
              <a:t>结构复杂，值缺失，字段错误</a:t>
            </a:r>
            <a:r>
              <a:rPr lang="en-US" altLang="zh-CN" dirty="0"/>
              <a:t>……</a:t>
            </a:r>
          </a:p>
          <a:p>
            <a:pPr lvl="1"/>
            <a:r>
              <a:rPr lang="zh-CN" altLang="en-US" dirty="0"/>
              <a:t>我们目前先关注整理好的、“干净的”数据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机器学习中的基础术语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10867" y="1189817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训练数据中的相关术语</a:t>
            </a:r>
            <a:endParaRPr lang="en-US" altLang="zh-CN" dirty="0"/>
          </a:p>
          <a:p>
            <a:pPr lvl="1"/>
            <a:r>
              <a:rPr lang="zh-CN" altLang="en-US" dirty="0"/>
              <a:t>     个训练</a:t>
            </a:r>
            <a:r>
              <a:rPr lang="zh-CN" altLang="en-US" b="1" dirty="0">
                <a:solidFill>
                  <a:srgbClr val="C00000"/>
                </a:solidFill>
              </a:rPr>
              <a:t>样本</a:t>
            </a:r>
            <a:r>
              <a:rPr lang="zh-CN" altLang="en-US" dirty="0"/>
              <a:t>（</a:t>
            </a:r>
            <a:r>
              <a:rPr lang="en-US" altLang="zh-CN" dirty="0"/>
              <a:t>samples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每个样本包含多个</a:t>
            </a:r>
            <a:r>
              <a:rPr lang="zh-CN" altLang="en-US" b="1" dirty="0">
                <a:solidFill>
                  <a:srgbClr val="C00000"/>
                </a:solidFill>
              </a:rPr>
              <a:t>特征</a:t>
            </a:r>
            <a:r>
              <a:rPr lang="zh-CN" altLang="en-US" dirty="0"/>
              <a:t>（</a:t>
            </a:r>
            <a:r>
              <a:rPr lang="en-US" altLang="zh-CN" dirty="0"/>
              <a:t>feature</a:t>
            </a:r>
            <a:r>
              <a:rPr lang="zh-CN" altLang="en-US" dirty="0"/>
              <a:t>），也叫</a:t>
            </a:r>
            <a:r>
              <a:rPr lang="zh-CN" altLang="en-US" b="1" dirty="0">
                <a:solidFill>
                  <a:srgbClr val="C00000"/>
                </a:solidFill>
              </a:rPr>
              <a:t>属性</a:t>
            </a:r>
            <a:r>
              <a:rPr lang="zh-CN" altLang="en-US" dirty="0"/>
              <a:t>（</a:t>
            </a:r>
            <a:r>
              <a:rPr lang="en-US" altLang="zh-CN" dirty="0"/>
              <a:t>attribute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zh-CN" altLang="en-US" dirty="0"/>
              <a:t>特征可能是连续值，也可能是离散值</a:t>
            </a: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样本还可能（但不是必须）包含一个或多个</a:t>
            </a:r>
            <a:r>
              <a:rPr lang="zh-CN" altLang="en-US" b="1" dirty="0">
                <a:solidFill>
                  <a:srgbClr val="C00000"/>
                </a:solidFill>
              </a:rPr>
              <a:t>标签</a:t>
            </a:r>
            <a:r>
              <a:rPr lang="zh-CN" altLang="en-US" dirty="0"/>
              <a:t>（</a:t>
            </a:r>
            <a:r>
              <a:rPr lang="en-US" altLang="zh-CN" dirty="0"/>
              <a:t>label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7</a:t>
            </a:fld>
            <a:endParaRPr lang="en-US" dirty="0"/>
          </a:p>
        </p:txBody>
      </p:sp>
      <p:pic>
        <p:nvPicPr>
          <p:cNvPr id="12" name="图片 11" descr="\documentclass{article}&#10;\usepackage{amsmath}&#10;\pagestyle{empty}&#10;\begin{document}&#10;&#10;$m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369" y="1899245"/>
            <a:ext cx="250514" cy="137143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i\in  \{1,2,...,m\}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428" y="2951666"/>
            <a:ext cx="1978513" cy="305372"/>
          </a:xfrm>
          <a:prstGeom prst="rect">
            <a:avLst/>
          </a:prstGeom>
        </p:spPr>
      </p:pic>
      <p:pic>
        <p:nvPicPr>
          <p:cNvPr id="10" name="图片 9" descr="\documentclass{article}&#10;\usepackage{amsmath}&#10;\usepackage{amssymb}&#10;\pagestyle{empty}&#10;\begin{document}&#10;&#10;$x^{(i)} = [x_1^{(i)},...,x_d^{(i)}]^T 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683" y="2847437"/>
            <a:ext cx="2649601" cy="4096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波士顿房价数据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8</a:t>
            </a:fld>
            <a:endParaRPr lang="en-US" dirty="0"/>
          </a:p>
        </p:txBody>
      </p:sp>
      <p:pic>
        <p:nvPicPr>
          <p:cNvPr id="1026" name="Picture 2" descr="å±æ§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" r="2627" b="47553"/>
          <a:stretch>
            <a:fillRect/>
          </a:stretch>
        </p:blipFill>
        <p:spPr bwMode="auto">
          <a:xfrm>
            <a:off x="1549224" y="4472468"/>
            <a:ext cx="4521551" cy="206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e the source imag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53"/>
          <a:stretch>
            <a:fillRect/>
          </a:stretch>
        </p:blipFill>
        <p:spPr bwMode="auto">
          <a:xfrm>
            <a:off x="1836910" y="1683654"/>
            <a:ext cx="8633197" cy="216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å±æ§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" t="52159" r="2965"/>
          <a:stretch>
            <a:fillRect/>
          </a:stretch>
        </p:blipFill>
        <p:spPr bwMode="auto">
          <a:xfrm>
            <a:off x="6121227" y="4814228"/>
            <a:ext cx="4469793" cy="187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1791417" y="2754702"/>
            <a:ext cx="8727058" cy="24209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/>
        </p:nvSpPr>
        <p:spPr>
          <a:xfrm>
            <a:off x="5532408" y="1660916"/>
            <a:ext cx="621101" cy="51294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05304" y="3650203"/>
            <a:ext cx="1055814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algn="ctr"/>
            <a:r>
              <a:rPr lang="zh-CN" altLang="en-US" dirty="0"/>
              <a:t>样本</a:t>
            </a:r>
            <a:endParaRPr lang="en-US" altLang="zh-CN" dirty="0"/>
          </a:p>
        </p:txBody>
      </p:sp>
      <p:sp>
        <p:nvSpPr>
          <p:cNvPr id="12" name="文本框 11"/>
          <p:cNvSpPr txBox="1"/>
          <p:nvPr/>
        </p:nvSpPr>
        <p:spPr>
          <a:xfrm>
            <a:off x="6153508" y="954459"/>
            <a:ext cx="1055814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algn="ctr"/>
            <a:r>
              <a:rPr lang="zh-CN" altLang="en-US" dirty="0"/>
              <a:t>特征</a:t>
            </a:r>
            <a:endParaRPr lang="en-US" altLang="zh-CN" dirty="0"/>
          </a:p>
        </p:txBody>
      </p:sp>
      <p:sp>
        <p:nvSpPr>
          <p:cNvPr id="13" name="矩形 12"/>
          <p:cNvSpPr/>
          <p:nvPr/>
        </p:nvSpPr>
        <p:spPr>
          <a:xfrm>
            <a:off x="9849006" y="1655671"/>
            <a:ext cx="621101" cy="51294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文本框 13"/>
          <p:cNvSpPr txBox="1"/>
          <p:nvPr/>
        </p:nvSpPr>
        <p:spPr>
          <a:xfrm>
            <a:off x="9244640" y="954459"/>
            <a:ext cx="1055814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algn="ctr"/>
            <a:r>
              <a:rPr lang="zh-CN" altLang="en-US" dirty="0"/>
              <a:t>标签</a:t>
            </a:r>
            <a:endParaRPr lang="en-US" altLang="zh-CN" dirty="0"/>
          </a:p>
        </p:txBody>
      </p:sp>
      <p:sp>
        <p:nvSpPr>
          <p:cNvPr id="15" name="文本框 14"/>
          <p:cNvSpPr txBox="1"/>
          <p:nvPr/>
        </p:nvSpPr>
        <p:spPr>
          <a:xfrm>
            <a:off x="7068423" y="4354253"/>
            <a:ext cx="2780583" cy="3683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algn="ctr"/>
            <a:r>
              <a:rPr lang="zh-CN" altLang="en-US" dirty="0"/>
              <a:t>特征与标签的说明</a:t>
            </a:r>
            <a:endParaRPr lang="en-US" altLang="zh-CN" dirty="0"/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6234023" y="1397479"/>
            <a:ext cx="310551" cy="19553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9849006" y="1369496"/>
            <a:ext cx="190344" cy="19553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3262813" y="3085665"/>
            <a:ext cx="435044" cy="4919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标签：</a:t>
            </a:r>
            <a:r>
              <a:rPr lang="en-US" altLang="zh-CN" dirty="0"/>
              <a:t>ImageNet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原始的</a:t>
            </a:r>
            <a:r>
              <a:rPr lang="en-US" altLang="zh-CN" dirty="0"/>
              <a:t>ImageNet</a:t>
            </a:r>
            <a:r>
              <a:rPr lang="zh-CN" altLang="en-US" dirty="0"/>
              <a:t>：一幅图，一个含层级的标签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9</a:t>
            </a:fld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81957"/>
            <a:ext cx="91440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标签： </a:t>
            </a:r>
            <a:r>
              <a:rPr lang="en-US" altLang="zh-CN" dirty="0"/>
              <a:t>ImageNet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实际上：一幅图，可以有多个标签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10</a:t>
            </a:fld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711" y="1609268"/>
            <a:ext cx="6799947" cy="5010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标签：自动驾驶视觉图像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一幅图上，有多个标签，而且需要划分区域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11</a:t>
            </a:fld>
            <a:endParaRPr lang="en-US" dirty="0"/>
          </a:p>
        </p:txBody>
      </p:sp>
      <p:pic>
        <p:nvPicPr>
          <p:cNvPr id="5122" name="Picture 2" descr="Geometry of Autonomous Vehicles | Mathematics at Illino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24739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标签：自动驾驶视觉图像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区域甚至不一定是方框（分割，</a:t>
            </a:r>
            <a:r>
              <a:rPr lang="en-US" altLang="zh-CN" dirty="0"/>
              <a:t>segmentation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12</a:t>
            </a:fld>
            <a:endParaRPr lang="en-US" dirty="0"/>
          </a:p>
        </p:txBody>
      </p:sp>
      <p:pic>
        <p:nvPicPr>
          <p:cNvPr id="2050" name="Picture 2" descr="智能驾驶数据_自动驾驶数据标注采集-澳鹏app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87526"/>
            <a:ext cx="9144000" cy="456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标签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给图像加标签（通常称为标注）需要人工参与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058" y="2643883"/>
            <a:ext cx="7477883" cy="24088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机器学习中的基本概念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模型</a:t>
            </a:r>
            <a:endParaRPr lang="en-US" altLang="zh-CN" dirty="0"/>
          </a:p>
          <a:p>
            <a:pPr lvl="1"/>
            <a:r>
              <a:rPr lang="zh-CN" altLang="en-US" dirty="0"/>
              <a:t>由输入得到输出的算法</a:t>
            </a:r>
            <a:endParaRPr lang="en-US" altLang="zh-CN" dirty="0"/>
          </a:p>
          <a:p>
            <a:r>
              <a:rPr lang="zh-CN" altLang="en-US" dirty="0"/>
              <a:t>模型参数</a:t>
            </a:r>
            <a:endParaRPr lang="en-US" altLang="zh-CN" dirty="0"/>
          </a:p>
          <a:p>
            <a:pPr lvl="1"/>
            <a:r>
              <a:rPr lang="zh-CN" altLang="en-US" dirty="0"/>
              <a:t>模型中包含的、对“输入</a:t>
            </a:r>
            <a:r>
              <a:rPr lang="en-US" altLang="zh-CN" dirty="0"/>
              <a:t>-</a:t>
            </a:r>
            <a:r>
              <a:rPr lang="zh-CN" altLang="en-US" dirty="0"/>
              <a:t>输出”关系有影响的参数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流程图: 文档 4"/>
          <p:cNvSpPr/>
          <p:nvPr/>
        </p:nvSpPr>
        <p:spPr>
          <a:xfrm>
            <a:off x="5216105" y="4212458"/>
            <a:ext cx="2137195" cy="1286641"/>
          </a:xfrm>
          <a:prstGeom prst="flowChart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模  型</a:t>
            </a:r>
            <a:endParaRPr lang="en-US" altLang="zh-CN" dirty="0"/>
          </a:p>
          <a:p>
            <a:pPr algn="ctr"/>
            <a:endParaRPr lang="en-US" dirty="0"/>
          </a:p>
        </p:txBody>
      </p:sp>
      <p:sp>
        <p:nvSpPr>
          <p:cNvPr id="6" name="矩形: 剪去对角 5"/>
          <p:cNvSpPr/>
          <p:nvPr/>
        </p:nvSpPr>
        <p:spPr>
          <a:xfrm>
            <a:off x="5320227" y="4760528"/>
            <a:ext cx="1118673" cy="561911"/>
          </a:xfrm>
          <a:prstGeom prst="snip2Diag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模型参数</a:t>
            </a:r>
            <a:endParaRPr lang="en-US" sz="1600" dirty="0"/>
          </a:p>
        </p:txBody>
      </p:sp>
      <p:sp>
        <p:nvSpPr>
          <p:cNvPr id="7" name="矩形 6"/>
          <p:cNvSpPr/>
          <p:nvPr/>
        </p:nvSpPr>
        <p:spPr>
          <a:xfrm>
            <a:off x="3034783" y="4571812"/>
            <a:ext cx="1345721" cy="41626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8188901" y="4581141"/>
            <a:ext cx="1345721" cy="41626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</a:t>
            </a:r>
            <a:endParaRPr lang="en-US" dirty="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4449654" y="4789274"/>
            <a:ext cx="6211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7525325" y="4779945"/>
            <a:ext cx="6211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机器学习中的基本概念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071945" cy="2979025"/>
          </a:xfrm>
        </p:spPr>
        <p:txBody>
          <a:bodyPr>
            <a:normAutofit/>
          </a:bodyPr>
          <a:lstStyle/>
          <a:p>
            <a:r>
              <a:rPr lang="zh-CN" altLang="en-US" dirty="0"/>
              <a:t>训练（</a:t>
            </a:r>
            <a:r>
              <a:rPr lang="en-US" altLang="zh-CN" dirty="0"/>
              <a:t>training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由数据得到模型参数的过程</a:t>
            </a:r>
            <a:endParaRPr lang="en-US" altLang="zh-CN" dirty="0"/>
          </a:p>
          <a:p>
            <a:pPr lvl="1"/>
            <a:r>
              <a:rPr lang="zh-CN" altLang="en-US" dirty="0"/>
              <a:t>往往（但不是必须）在离线进行</a:t>
            </a:r>
            <a:endParaRPr lang="en-US" altLang="zh-CN" dirty="0"/>
          </a:p>
          <a:p>
            <a:pPr lvl="1"/>
            <a:r>
              <a:rPr lang="zh-CN" altLang="en-US" dirty="0"/>
              <a:t>“训练”有时也被称为“学习（</a:t>
            </a:r>
            <a:r>
              <a:rPr lang="en-US" altLang="zh-CN" dirty="0"/>
              <a:t>learning</a:t>
            </a:r>
            <a:r>
              <a:rPr lang="zh-CN" altLang="en-US" dirty="0"/>
              <a:t>）”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3930530" y="3718897"/>
            <a:ext cx="1345721" cy="13399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</a:t>
            </a:r>
            <a:endParaRPr lang="en-US" dirty="0"/>
          </a:p>
        </p:txBody>
      </p:sp>
      <p:sp>
        <p:nvSpPr>
          <p:cNvPr id="6" name="矩形: 剪去对角 5"/>
          <p:cNvSpPr/>
          <p:nvPr/>
        </p:nvSpPr>
        <p:spPr>
          <a:xfrm>
            <a:off x="6926777" y="4019549"/>
            <a:ext cx="1345721" cy="885672"/>
          </a:xfrm>
          <a:prstGeom prst="snip2Diag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模型参数</a:t>
            </a:r>
            <a:endParaRPr lang="en-US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5414274" y="4388881"/>
            <a:ext cx="13169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剪去对角 7"/>
          <p:cNvSpPr/>
          <p:nvPr/>
        </p:nvSpPr>
        <p:spPr>
          <a:xfrm>
            <a:off x="5002482" y="3569452"/>
            <a:ext cx="2140549" cy="885672"/>
          </a:xfrm>
          <a:prstGeom prst="snip2Diag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训练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机器学习中的基本概念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部署（</a:t>
            </a:r>
            <a:r>
              <a:rPr lang="en-US" altLang="zh-CN" dirty="0"/>
              <a:t>deployment</a:t>
            </a:r>
            <a:r>
              <a:rPr lang="zh-CN" altLang="en-US" dirty="0"/>
              <a:t>）或应用（</a:t>
            </a:r>
            <a:r>
              <a:rPr lang="en-US" altLang="zh-CN" dirty="0"/>
              <a:t>application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使用带参数的模型，由输入数据得到输出数据的过程</a:t>
            </a:r>
            <a:endParaRPr lang="en-US" altLang="zh-CN" dirty="0"/>
          </a:p>
          <a:p>
            <a:pPr lvl="1"/>
            <a:r>
              <a:rPr lang="zh-CN" altLang="en-US" dirty="0"/>
              <a:t>根据具体的任务，部署有时也会被叫做推理（</a:t>
            </a:r>
            <a:r>
              <a:rPr lang="en-US" altLang="zh-CN" dirty="0"/>
              <a:t>inference</a:t>
            </a:r>
            <a:r>
              <a:rPr lang="zh-CN" altLang="en-US" dirty="0"/>
              <a:t>）或预测（</a:t>
            </a:r>
            <a:r>
              <a:rPr lang="en-US" altLang="zh-CN" dirty="0"/>
              <a:t>prediction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3044995" y="3836841"/>
            <a:ext cx="1345721" cy="41626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输入数据</a:t>
            </a:r>
            <a:endParaRPr lang="en-US" dirty="0"/>
          </a:p>
        </p:txBody>
      </p:sp>
      <p:sp>
        <p:nvSpPr>
          <p:cNvPr id="6" name="流程图: 文档 5"/>
          <p:cNvSpPr/>
          <p:nvPr/>
        </p:nvSpPr>
        <p:spPr>
          <a:xfrm>
            <a:off x="5150117" y="3665705"/>
            <a:ext cx="1345721" cy="885672"/>
          </a:xfrm>
          <a:prstGeom prst="flowChart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模型</a:t>
            </a:r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7201890" y="3846170"/>
            <a:ext cx="1345721" cy="41626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输出数据</a:t>
            </a:r>
            <a:endParaRPr 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4459866" y="4054303"/>
            <a:ext cx="6211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6538314" y="4044974"/>
            <a:ext cx="6211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机器学习分类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8678" y="1124500"/>
            <a:ext cx="10762593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有监督学习（</a:t>
            </a:r>
            <a:r>
              <a:rPr lang="en-US" altLang="zh-CN" dirty="0"/>
              <a:t>supervised learning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无监督学习（</a:t>
            </a:r>
            <a:r>
              <a:rPr lang="en-US" altLang="zh-CN" dirty="0"/>
              <a:t>unsupervised learning</a:t>
            </a:r>
            <a:r>
              <a:rPr lang="zh-CN" altLang="en-US" dirty="0"/>
              <a:t>）</a:t>
            </a:r>
            <a:endParaRPr lang="en-US" dirty="0"/>
          </a:p>
          <a:p>
            <a:r>
              <a:rPr lang="zh-CN" altLang="en-US" dirty="0"/>
              <a:t>半监督学习（</a:t>
            </a:r>
            <a:r>
              <a:rPr lang="en-US" altLang="zh-CN" dirty="0"/>
              <a:t>semi-supervised learning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自监督学习（</a:t>
            </a:r>
            <a:r>
              <a:rPr lang="en-US" altLang="zh-CN" dirty="0"/>
              <a:t>self-supervised learning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主动学习（</a:t>
            </a:r>
            <a:r>
              <a:rPr lang="en-US" altLang="zh-CN" dirty="0"/>
              <a:t>active learning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强化学习（</a:t>
            </a:r>
            <a:r>
              <a:rPr lang="en-US" altLang="zh-CN" dirty="0"/>
              <a:t>reinforcement learning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有监督学习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88615" y="1102742"/>
            <a:ext cx="8071945" cy="2300774"/>
          </a:xfrm>
        </p:spPr>
        <p:txBody>
          <a:bodyPr>
            <a:normAutofit/>
          </a:bodyPr>
          <a:lstStyle/>
          <a:p>
            <a:r>
              <a:rPr lang="zh-CN" altLang="en-US" dirty="0"/>
              <a:t>最常见的机器学习</a:t>
            </a:r>
            <a:endParaRPr lang="en-US" altLang="zh-CN" dirty="0"/>
          </a:p>
          <a:p>
            <a:r>
              <a:rPr lang="zh-CN" altLang="en-US" dirty="0"/>
              <a:t>利用有标签的训练数据，得到一个（使用特征来）预测标签的模型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3219883" y="3140788"/>
            <a:ext cx="5485086" cy="3013815"/>
            <a:chOff x="1742536" y="3430037"/>
            <a:chExt cx="5485086" cy="3013815"/>
          </a:xfrm>
        </p:grpSpPr>
        <p:sp>
          <p:nvSpPr>
            <p:cNvPr id="5" name="矩形 4"/>
            <p:cNvSpPr/>
            <p:nvPr/>
          </p:nvSpPr>
          <p:spPr>
            <a:xfrm>
              <a:off x="1742536" y="3432885"/>
              <a:ext cx="948906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2764360" y="3430037"/>
              <a:ext cx="594191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标签</a:t>
              </a:r>
              <a:endParaRPr 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518635" y="5729316"/>
              <a:ext cx="948906" cy="41626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10" name="矩形: 剪去对角 9"/>
            <p:cNvSpPr/>
            <p:nvPr/>
          </p:nvSpPr>
          <p:spPr>
            <a:xfrm>
              <a:off x="4226942" y="3720431"/>
              <a:ext cx="1345721" cy="885672"/>
            </a:xfrm>
            <a:prstGeom prst="snip2Diag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模型参数</a:t>
              </a:r>
              <a:endParaRPr lang="en-US" dirty="0"/>
            </a:p>
          </p:txBody>
        </p:sp>
        <p:sp>
          <p:nvSpPr>
            <p:cNvPr id="11" name="流程图: 文档 10"/>
            <p:cNvSpPr/>
            <p:nvPr/>
          </p:nvSpPr>
          <p:spPr>
            <a:xfrm>
              <a:off x="4226942" y="5558180"/>
              <a:ext cx="1345721" cy="885672"/>
            </a:xfrm>
            <a:prstGeom prst="flowChart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</a:t>
              </a:r>
              <a:endParaRPr 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6278716" y="5738645"/>
              <a:ext cx="948906" cy="4162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标签</a:t>
              </a:r>
              <a:endParaRPr 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3496574" y="4100021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3467818" y="3730689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训练</a:t>
              </a:r>
              <a:endParaRPr lang="en-US" dirty="0"/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3536691" y="5946778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5615139" y="5937449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4608726" y="5159397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应用</a:t>
              </a:r>
              <a:endParaRPr lang="en-US" dirty="0"/>
            </a:p>
          </p:txBody>
        </p:sp>
        <p:cxnSp>
          <p:nvCxnSpPr>
            <p:cNvPr id="20" name="直接箭头连接符 19"/>
            <p:cNvCxnSpPr>
              <a:endCxn id="19" idx="0"/>
            </p:cNvCxnSpPr>
            <p:nvPr/>
          </p:nvCxnSpPr>
          <p:spPr>
            <a:xfrm>
              <a:off x="4970233" y="4606103"/>
              <a:ext cx="0" cy="55329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有监督学习示例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866" y="1056647"/>
            <a:ext cx="10352852" cy="2300774"/>
          </a:xfrm>
        </p:spPr>
        <p:txBody>
          <a:bodyPr>
            <a:normAutofit/>
          </a:bodyPr>
          <a:lstStyle/>
          <a:p>
            <a:r>
              <a:rPr lang="zh-CN" altLang="en-US" dirty="0"/>
              <a:t>训练数据：许多猫的图片和狗的图片，以及每张图片的标注（“猫”或“狗”）</a:t>
            </a:r>
            <a:endParaRPr lang="en-US" altLang="zh-CN" dirty="0"/>
          </a:p>
          <a:p>
            <a:r>
              <a:rPr lang="zh-CN" altLang="en-US" dirty="0"/>
              <a:t>模型的目标：输入一张新的猫或狗的图片，模型给出这是猫还是狗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3319824" y="3358453"/>
            <a:ext cx="5485086" cy="3013815"/>
            <a:chOff x="1742536" y="3430037"/>
            <a:chExt cx="5485086" cy="3013815"/>
          </a:xfrm>
        </p:grpSpPr>
        <p:sp>
          <p:nvSpPr>
            <p:cNvPr id="5" name="矩形 4"/>
            <p:cNvSpPr/>
            <p:nvPr/>
          </p:nvSpPr>
          <p:spPr>
            <a:xfrm>
              <a:off x="1742536" y="3432885"/>
              <a:ext cx="948906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2764360" y="3430037"/>
              <a:ext cx="594191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标签</a:t>
              </a:r>
              <a:endParaRPr 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518635" y="5729316"/>
              <a:ext cx="948906" cy="41626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10" name="矩形: 剪去对角 9"/>
            <p:cNvSpPr/>
            <p:nvPr/>
          </p:nvSpPr>
          <p:spPr>
            <a:xfrm>
              <a:off x="4226942" y="3720431"/>
              <a:ext cx="1345721" cy="885672"/>
            </a:xfrm>
            <a:prstGeom prst="snip2Diag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模型参数</a:t>
              </a:r>
              <a:endParaRPr lang="en-US" dirty="0"/>
            </a:p>
          </p:txBody>
        </p:sp>
        <p:sp>
          <p:nvSpPr>
            <p:cNvPr id="11" name="流程图: 文档 10"/>
            <p:cNvSpPr/>
            <p:nvPr/>
          </p:nvSpPr>
          <p:spPr>
            <a:xfrm>
              <a:off x="4226942" y="5558180"/>
              <a:ext cx="1345721" cy="885672"/>
            </a:xfrm>
            <a:prstGeom prst="flowChart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</a:t>
              </a:r>
              <a:endParaRPr 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6278716" y="5738645"/>
              <a:ext cx="948906" cy="4162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标签</a:t>
              </a:r>
              <a:endParaRPr 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3496574" y="4100021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3467818" y="3730689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训练</a:t>
              </a:r>
              <a:endParaRPr lang="en-US" dirty="0"/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3536691" y="5946778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5615139" y="5937449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4608726" y="5159397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应用</a:t>
              </a:r>
              <a:endParaRPr lang="en-US" dirty="0"/>
            </a:p>
          </p:txBody>
        </p:sp>
        <p:cxnSp>
          <p:nvCxnSpPr>
            <p:cNvPr id="20" name="直接箭头连接符 19"/>
            <p:cNvCxnSpPr>
              <a:endCxn id="19" idx="0"/>
            </p:cNvCxnSpPr>
            <p:nvPr/>
          </p:nvCxnSpPr>
          <p:spPr>
            <a:xfrm>
              <a:off x="4970233" y="4606103"/>
              <a:ext cx="0" cy="55329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无监督学习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1483" y="1066981"/>
            <a:ext cx="10762593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从无标签的训练数据中推断结论（输出数据）</a:t>
            </a:r>
            <a:endParaRPr lang="en-US" altLang="zh-CN" dirty="0"/>
          </a:p>
          <a:p>
            <a:pPr lvl="1"/>
            <a:r>
              <a:rPr lang="zh-CN" altLang="en-US" dirty="0"/>
              <a:t>输出可能是某种标签</a:t>
            </a:r>
            <a:endParaRPr lang="en-US" altLang="zh-CN" dirty="0"/>
          </a:p>
          <a:p>
            <a:pPr lvl="1"/>
            <a:r>
              <a:rPr lang="zh-CN" altLang="en-US" dirty="0"/>
              <a:t>输出也可能是聚类信息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3901613" y="3138719"/>
            <a:ext cx="4708987" cy="2950570"/>
            <a:chOff x="2518635" y="3493282"/>
            <a:chExt cx="4708987" cy="2950570"/>
          </a:xfrm>
        </p:grpSpPr>
        <p:sp>
          <p:nvSpPr>
            <p:cNvPr id="6" name="矩形 5"/>
            <p:cNvSpPr/>
            <p:nvPr/>
          </p:nvSpPr>
          <p:spPr>
            <a:xfrm>
              <a:off x="2518635" y="3493282"/>
              <a:ext cx="948906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518635" y="5729316"/>
              <a:ext cx="948906" cy="41626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9" name="矩形: 剪去对角 8"/>
            <p:cNvSpPr/>
            <p:nvPr/>
          </p:nvSpPr>
          <p:spPr>
            <a:xfrm>
              <a:off x="4226942" y="3720431"/>
              <a:ext cx="1345721" cy="885672"/>
            </a:xfrm>
            <a:prstGeom prst="snip2Diag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模型参数</a:t>
              </a:r>
              <a:endParaRPr lang="en-US" dirty="0"/>
            </a:p>
          </p:txBody>
        </p:sp>
        <p:sp>
          <p:nvSpPr>
            <p:cNvPr id="10" name="流程图: 文档 9"/>
            <p:cNvSpPr/>
            <p:nvPr/>
          </p:nvSpPr>
          <p:spPr>
            <a:xfrm>
              <a:off x="4226942" y="5558180"/>
              <a:ext cx="1345721" cy="885672"/>
            </a:xfrm>
            <a:prstGeom prst="flowChart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</a:t>
              </a:r>
              <a:endParaRPr 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6278716" y="5738645"/>
              <a:ext cx="948906" cy="4162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输出</a:t>
              </a:r>
              <a:endParaRPr lang="en-US" sz="1400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3496574" y="4100021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3467818" y="3730689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训练</a:t>
              </a:r>
              <a:endParaRPr 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3536691" y="5946778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5615139" y="5937449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4608726" y="5159397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应用</a:t>
              </a:r>
              <a:endParaRPr lang="en-US" dirty="0"/>
            </a:p>
          </p:txBody>
        </p:sp>
        <p:cxnSp>
          <p:nvCxnSpPr>
            <p:cNvPr id="17" name="直接箭头连接符 16"/>
            <p:cNvCxnSpPr>
              <a:endCxn id="16" idx="0"/>
            </p:cNvCxnSpPr>
            <p:nvPr/>
          </p:nvCxnSpPr>
          <p:spPr>
            <a:xfrm>
              <a:off x="4970233" y="4606103"/>
              <a:ext cx="0" cy="55329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无监督学习示例：自动聚类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5129" y="1018471"/>
            <a:ext cx="988972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训练数据包含许多动物的图片，但没有标签</a:t>
            </a:r>
            <a:endParaRPr lang="en-US" altLang="zh-CN" dirty="0"/>
          </a:p>
          <a:p>
            <a:r>
              <a:rPr lang="zh-CN" altLang="en-US" dirty="0"/>
              <a:t>模型的目标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对训练数据进行分类，看看哪些图片中的动物属于一类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输入一张新的动物图片，模型给出这和训练中的哪些动物更相似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4042635" y="3493282"/>
            <a:ext cx="4708987" cy="2950570"/>
            <a:chOff x="2518635" y="3493282"/>
            <a:chExt cx="4708987" cy="2950570"/>
          </a:xfrm>
        </p:grpSpPr>
        <p:sp>
          <p:nvSpPr>
            <p:cNvPr id="6" name="矩形 5"/>
            <p:cNvSpPr/>
            <p:nvPr/>
          </p:nvSpPr>
          <p:spPr>
            <a:xfrm>
              <a:off x="2518635" y="3493282"/>
              <a:ext cx="948906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518635" y="5729316"/>
              <a:ext cx="948906" cy="41626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9" name="矩形: 剪去对角 8"/>
            <p:cNvSpPr/>
            <p:nvPr/>
          </p:nvSpPr>
          <p:spPr>
            <a:xfrm>
              <a:off x="4226942" y="3720431"/>
              <a:ext cx="1345721" cy="885672"/>
            </a:xfrm>
            <a:prstGeom prst="snip2Diag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模型参数</a:t>
              </a:r>
              <a:endParaRPr lang="en-US" dirty="0"/>
            </a:p>
          </p:txBody>
        </p:sp>
        <p:sp>
          <p:nvSpPr>
            <p:cNvPr id="10" name="流程图: 文档 9"/>
            <p:cNvSpPr/>
            <p:nvPr/>
          </p:nvSpPr>
          <p:spPr>
            <a:xfrm>
              <a:off x="4226942" y="5558180"/>
              <a:ext cx="1345721" cy="885672"/>
            </a:xfrm>
            <a:prstGeom prst="flowChart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</a:t>
              </a:r>
              <a:endParaRPr 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6278716" y="5738645"/>
              <a:ext cx="948906" cy="4162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输出</a:t>
              </a:r>
              <a:endParaRPr lang="en-US" sz="1400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3496574" y="4100021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3467818" y="3730689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训练</a:t>
              </a:r>
              <a:endParaRPr 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3536691" y="5946778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5615139" y="5937449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4608726" y="5159397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应用</a:t>
              </a:r>
              <a:endParaRPr lang="en-US" dirty="0"/>
            </a:p>
          </p:txBody>
        </p:sp>
        <p:cxnSp>
          <p:nvCxnSpPr>
            <p:cNvPr id="17" name="直接箭头连接符 16"/>
            <p:cNvCxnSpPr>
              <a:endCxn id="16" idx="0"/>
            </p:cNvCxnSpPr>
            <p:nvPr/>
          </p:nvCxnSpPr>
          <p:spPr>
            <a:xfrm>
              <a:off x="4970233" y="4606103"/>
              <a:ext cx="0" cy="55329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无监督学习示例：无监督异常检测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异常检测：机器运行数据是否出现了异常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22</a:t>
            </a:fld>
            <a:endParaRPr 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3871185" y="2312182"/>
            <a:ext cx="4708987" cy="2950570"/>
            <a:chOff x="2518635" y="3493282"/>
            <a:chExt cx="4708987" cy="2950570"/>
          </a:xfrm>
        </p:grpSpPr>
        <p:sp>
          <p:nvSpPr>
            <p:cNvPr id="6" name="矩形 5"/>
            <p:cNvSpPr/>
            <p:nvPr/>
          </p:nvSpPr>
          <p:spPr>
            <a:xfrm>
              <a:off x="2518635" y="3493282"/>
              <a:ext cx="948906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518635" y="5729316"/>
              <a:ext cx="948906" cy="41626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9" name="矩形: 剪去对角 8"/>
            <p:cNvSpPr/>
            <p:nvPr/>
          </p:nvSpPr>
          <p:spPr>
            <a:xfrm>
              <a:off x="4226942" y="3720431"/>
              <a:ext cx="1345721" cy="885672"/>
            </a:xfrm>
            <a:prstGeom prst="snip2Diag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模型参数</a:t>
              </a:r>
              <a:endParaRPr lang="en-US" dirty="0"/>
            </a:p>
          </p:txBody>
        </p:sp>
        <p:sp>
          <p:nvSpPr>
            <p:cNvPr id="10" name="流程图: 文档 9"/>
            <p:cNvSpPr/>
            <p:nvPr/>
          </p:nvSpPr>
          <p:spPr>
            <a:xfrm>
              <a:off x="4226942" y="5558180"/>
              <a:ext cx="1345721" cy="885672"/>
            </a:xfrm>
            <a:prstGeom prst="flowChart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</a:t>
              </a:r>
              <a:endParaRPr 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6278716" y="5738645"/>
              <a:ext cx="948906" cy="4162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输出</a:t>
              </a:r>
              <a:endParaRPr lang="en-US" sz="1400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3496574" y="4100021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3467818" y="3730689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训练</a:t>
              </a:r>
              <a:endParaRPr 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3536691" y="5946778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5615139" y="5937449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4608726" y="5159397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应用</a:t>
              </a:r>
              <a:endParaRPr lang="en-US" dirty="0"/>
            </a:p>
          </p:txBody>
        </p:sp>
        <p:cxnSp>
          <p:nvCxnSpPr>
            <p:cNvPr id="17" name="直接箭头连接符 16"/>
            <p:cNvCxnSpPr>
              <a:endCxn id="16" idx="0"/>
            </p:cNvCxnSpPr>
            <p:nvPr/>
          </p:nvCxnSpPr>
          <p:spPr>
            <a:xfrm>
              <a:off x="4970233" y="4606103"/>
              <a:ext cx="0" cy="55329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半监督学习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4601" y="1075080"/>
            <a:ext cx="8071945" cy="2300774"/>
          </a:xfrm>
        </p:spPr>
        <p:txBody>
          <a:bodyPr>
            <a:normAutofit/>
          </a:bodyPr>
          <a:lstStyle/>
          <a:p>
            <a:r>
              <a:rPr lang="zh-CN" altLang="en-US" dirty="0"/>
              <a:t>有些样本有标签，有些样本没有标签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23</a:t>
            </a:fld>
            <a:endParaRPr 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3266536" y="2033038"/>
            <a:ext cx="5485086" cy="3013814"/>
            <a:chOff x="1742536" y="3430038"/>
            <a:chExt cx="5485086" cy="3013814"/>
          </a:xfrm>
        </p:grpSpPr>
        <p:sp>
          <p:nvSpPr>
            <p:cNvPr id="5" name="矩形 4"/>
            <p:cNvSpPr/>
            <p:nvPr/>
          </p:nvSpPr>
          <p:spPr>
            <a:xfrm>
              <a:off x="1742536" y="3432885"/>
              <a:ext cx="948906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2764360" y="3430038"/>
              <a:ext cx="594191" cy="8856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标签</a:t>
              </a:r>
              <a:endParaRPr 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518635" y="5729316"/>
              <a:ext cx="948906" cy="41626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10" name="矩形: 剪去对角 9"/>
            <p:cNvSpPr/>
            <p:nvPr/>
          </p:nvSpPr>
          <p:spPr>
            <a:xfrm>
              <a:off x="4226942" y="3720431"/>
              <a:ext cx="1345721" cy="885672"/>
            </a:xfrm>
            <a:prstGeom prst="snip2Diag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模型参数</a:t>
              </a:r>
              <a:endParaRPr lang="en-US" dirty="0"/>
            </a:p>
          </p:txBody>
        </p:sp>
        <p:sp>
          <p:nvSpPr>
            <p:cNvPr id="11" name="流程图: 文档 10"/>
            <p:cNvSpPr/>
            <p:nvPr/>
          </p:nvSpPr>
          <p:spPr>
            <a:xfrm>
              <a:off x="4226942" y="5558180"/>
              <a:ext cx="1345721" cy="885672"/>
            </a:xfrm>
            <a:prstGeom prst="flowChart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</a:t>
              </a:r>
              <a:endParaRPr 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6278716" y="5738645"/>
              <a:ext cx="948906" cy="4162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标签</a:t>
              </a:r>
              <a:endParaRPr 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3496574" y="4100021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3467818" y="3730689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训练</a:t>
              </a:r>
              <a:endParaRPr lang="en-US" dirty="0"/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3536691" y="5946778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5615139" y="5937449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4608726" y="5159397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应用</a:t>
              </a:r>
              <a:endParaRPr lang="en-US" dirty="0"/>
            </a:p>
          </p:txBody>
        </p:sp>
        <p:cxnSp>
          <p:nvCxnSpPr>
            <p:cNvPr id="20" name="直接箭头连接符 19"/>
            <p:cNvCxnSpPr>
              <a:endCxn id="19" idx="0"/>
            </p:cNvCxnSpPr>
            <p:nvPr/>
          </p:nvCxnSpPr>
          <p:spPr>
            <a:xfrm>
              <a:off x="4970233" y="4606103"/>
              <a:ext cx="0" cy="55329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自监督学习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5568" y="1045243"/>
            <a:ext cx="8071945" cy="2300774"/>
          </a:xfrm>
        </p:spPr>
        <p:txBody>
          <a:bodyPr>
            <a:normAutofit/>
          </a:bodyPr>
          <a:lstStyle/>
          <a:p>
            <a:r>
              <a:rPr lang="zh-CN" altLang="en-US" dirty="0"/>
              <a:t>把自身的特征的一部分作为标签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24</a:t>
            </a:fld>
            <a:endParaRPr 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3266536" y="2035885"/>
            <a:ext cx="5485086" cy="3010967"/>
            <a:chOff x="1742536" y="3432885"/>
            <a:chExt cx="5485086" cy="3010967"/>
          </a:xfrm>
        </p:grpSpPr>
        <p:sp>
          <p:nvSpPr>
            <p:cNvPr id="5" name="矩形 4"/>
            <p:cNvSpPr/>
            <p:nvPr/>
          </p:nvSpPr>
          <p:spPr>
            <a:xfrm>
              <a:off x="1742536" y="3432885"/>
              <a:ext cx="948906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2764360" y="3432889"/>
              <a:ext cx="594191" cy="13399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518635" y="5729316"/>
              <a:ext cx="948906" cy="41626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10" name="矩形: 剪去对角 9"/>
            <p:cNvSpPr/>
            <p:nvPr/>
          </p:nvSpPr>
          <p:spPr>
            <a:xfrm>
              <a:off x="4226942" y="3720431"/>
              <a:ext cx="1345721" cy="885672"/>
            </a:xfrm>
            <a:prstGeom prst="snip2Diag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模型参数</a:t>
              </a:r>
              <a:endParaRPr lang="en-US" dirty="0"/>
            </a:p>
          </p:txBody>
        </p:sp>
        <p:sp>
          <p:nvSpPr>
            <p:cNvPr id="11" name="流程图: 文档 10"/>
            <p:cNvSpPr/>
            <p:nvPr/>
          </p:nvSpPr>
          <p:spPr>
            <a:xfrm>
              <a:off x="4226942" y="5558180"/>
              <a:ext cx="1345721" cy="885672"/>
            </a:xfrm>
            <a:prstGeom prst="flowChart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</a:t>
              </a:r>
              <a:endParaRPr 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6278716" y="5738645"/>
              <a:ext cx="948906" cy="4162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标签</a:t>
              </a:r>
              <a:endParaRPr 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3496574" y="4100021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3467818" y="3730689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训练</a:t>
              </a:r>
              <a:endParaRPr lang="en-US" dirty="0"/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3536691" y="5946778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5615139" y="5937449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4608726" y="5159397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应用</a:t>
              </a:r>
              <a:endParaRPr lang="en-US" dirty="0"/>
            </a:p>
          </p:txBody>
        </p:sp>
        <p:cxnSp>
          <p:nvCxnSpPr>
            <p:cNvPr id="20" name="直接箭头连接符 19"/>
            <p:cNvCxnSpPr>
              <a:endCxn id="19" idx="0"/>
            </p:cNvCxnSpPr>
            <p:nvPr/>
          </p:nvCxnSpPr>
          <p:spPr>
            <a:xfrm>
              <a:off x="4970233" y="4606103"/>
              <a:ext cx="0" cy="55329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自监督学习示例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61218" y="1069045"/>
            <a:ext cx="8071945" cy="2300774"/>
          </a:xfrm>
        </p:spPr>
        <p:txBody>
          <a:bodyPr>
            <a:normAutofit/>
          </a:bodyPr>
          <a:lstStyle/>
          <a:p>
            <a:r>
              <a:rPr lang="zh-CN" altLang="en-US" dirty="0"/>
              <a:t>预测被遮住的部分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25</a:t>
            </a:fld>
            <a:endParaRPr 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3203036" y="3572585"/>
            <a:ext cx="5485086" cy="3010967"/>
            <a:chOff x="1742536" y="3432885"/>
            <a:chExt cx="5485086" cy="3010967"/>
          </a:xfrm>
        </p:grpSpPr>
        <p:sp>
          <p:nvSpPr>
            <p:cNvPr id="5" name="矩形 4"/>
            <p:cNvSpPr/>
            <p:nvPr/>
          </p:nvSpPr>
          <p:spPr>
            <a:xfrm>
              <a:off x="1742536" y="3432885"/>
              <a:ext cx="948906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2764360" y="3432889"/>
              <a:ext cx="594191" cy="13399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518635" y="5729316"/>
              <a:ext cx="948906" cy="41626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10" name="矩形: 剪去对角 9"/>
            <p:cNvSpPr/>
            <p:nvPr/>
          </p:nvSpPr>
          <p:spPr>
            <a:xfrm>
              <a:off x="4226942" y="3720431"/>
              <a:ext cx="1345721" cy="885672"/>
            </a:xfrm>
            <a:prstGeom prst="snip2Diag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模型参数</a:t>
              </a:r>
              <a:endParaRPr lang="en-US" dirty="0"/>
            </a:p>
          </p:txBody>
        </p:sp>
        <p:sp>
          <p:nvSpPr>
            <p:cNvPr id="11" name="流程图: 文档 10"/>
            <p:cNvSpPr/>
            <p:nvPr/>
          </p:nvSpPr>
          <p:spPr>
            <a:xfrm>
              <a:off x="4226942" y="5558180"/>
              <a:ext cx="1345721" cy="885672"/>
            </a:xfrm>
            <a:prstGeom prst="flowChart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</a:t>
              </a:r>
              <a:endParaRPr 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6278716" y="5738645"/>
              <a:ext cx="948906" cy="4162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标签</a:t>
              </a:r>
              <a:endParaRPr 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3496574" y="4100021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3467818" y="3730689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训练</a:t>
              </a:r>
              <a:endParaRPr lang="en-US" dirty="0"/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3536691" y="5946778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5615139" y="5937449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4608726" y="5159397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应用</a:t>
              </a:r>
              <a:endParaRPr lang="en-US" dirty="0"/>
            </a:p>
          </p:txBody>
        </p:sp>
        <p:cxnSp>
          <p:nvCxnSpPr>
            <p:cNvPr id="20" name="直接箭头连接符 19"/>
            <p:cNvCxnSpPr>
              <a:endCxn id="19" idx="0"/>
            </p:cNvCxnSpPr>
            <p:nvPr/>
          </p:nvCxnSpPr>
          <p:spPr>
            <a:xfrm>
              <a:off x="4970233" y="4606103"/>
              <a:ext cx="0" cy="55329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882" y="932795"/>
            <a:ext cx="4971118" cy="259608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主动学习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61218" y="1059939"/>
            <a:ext cx="8071945" cy="2300774"/>
          </a:xfrm>
        </p:spPr>
        <p:txBody>
          <a:bodyPr>
            <a:normAutofit/>
          </a:bodyPr>
          <a:lstStyle/>
          <a:p>
            <a:r>
              <a:rPr lang="zh-CN" altLang="en-US" dirty="0"/>
              <a:t>一边训练，一边找到关键样本，要求增加标注（要求给特定的样本添加标签）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26</a:t>
            </a:fld>
            <a:endParaRPr lang="en-US" dirty="0"/>
          </a:p>
        </p:txBody>
      </p:sp>
      <p:grpSp>
        <p:nvGrpSpPr>
          <p:cNvPr id="30" name="组合 29"/>
          <p:cNvGrpSpPr/>
          <p:nvPr/>
        </p:nvGrpSpPr>
        <p:grpSpPr>
          <a:xfrm>
            <a:off x="3641186" y="3247291"/>
            <a:ext cx="4600757" cy="1615794"/>
            <a:chOff x="1742536" y="3430038"/>
            <a:chExt cx="4600757" cy="1615794"/>
          </a:xfrm>
        </p:grpSpPr>
        <p:sp>
          <p:nvSpPr>
            <p:cNvPr id="6" name="矩形 5"/>
            <p:cNvSpPr/>
            <p:nvPr/>
          </p:nvSpPr>
          <p:spPr>
            <a:xfrm>
              <a:off x="1742536" y="3432885"/>
              <a:ext cx="948906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2764360" y="3430038"/>
              <a:ext cx="594191" cy="238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标签</a:t>
              </a:r>
              <a:endParaRPr lang="en-US" sz="1400" dirty="0"/>
            </a:p>
          </p:txBody>
        </p:sp>
        <p:sp>
          <p:nvSpPr>
            <p:cNvPr id="9" name="矩形: 剪去对角 8"/>
            <p:cNvSpPr/>
            <p:nvPr/>
          </p:nvSpPr>
          <p:spPr>
            <a:xfrm>
              <a:off x="4997572" y="3730689"/>
              <a:ext cx="1345721" cy="885672"/>
            </a:xfrm>
            <a:prstGeom prst="snip2Diag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模型参数</a:t>
              </a:r>
              <a:endParaRPr lang="en-US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3496574" y="4100021"/>
              <a:ext cx="13103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3817190" y="3730689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训练</a:t>
              </a:r>
              <a:endParaRPr lang="en-US" dirty="0"/>
            </a:p>
          </p:txBody>
        </p:sp>
        <p:cxnSp>
          <p:nvCxnSpPr>
            <p:cNvPr id="20" name="连接符: 肘形 19"/>
            <p:cNvCxnSpPr>
              <a:stCxn id="13" idx="2"/>
              <a:endCxn id="26" idx="2"/>
            </p:cNvCxnSpPr>
            <p:nvPr/>
          </p:nvCxnSpPr>
          <p:spPr>
            <a:xfrm rot="5400000" flipH="1">
              <a:off x="3554730" y="3475257"/>
              <a:ext cx="130175" cy="1116965"/>
            </a:xfrm>
            <a:prstGeom prst="bentConnector3">
              <a:avLst>
                <a:gd name="adj1" fmla="val -18303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3087695" y="4400672"/>
              <a:ext cx="1211230" cy="645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有选择地要求标注</a:t>
              </a:r>
              <a:endParaRPr lang="en-US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2764360" y="3730688"/>
              <a:ext cx="594191" cy="2380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标签</a:t>
              </a:r>
              <a:endParaRPr lang="en-US" sz="1400" dirty="0"/>
            </a:p>
          </p:txBody>
        </p:sp>
      </p:grp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21BD49C6-298A-7E4C-A654-E9EDF1E60C99}"/>
              </a:ext>
            </a:extLst>
          </p:cNvPr>
          <p:cNvSpPr txBox="1">
            <a:spLocks/>
          </p:cNvSpPr>
          <p:nvPr/>
        </p:nvSpPr>
        <p:spPr>
          <a:xfrm>
            <a:off x="961218" y="1069045"/>
            <a:ext cx="8071945" cy="2300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强化学习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强化学习一般用于学习控制与决策策略</a:t>
            </a:r>
            <a:endParaRPr lang="en-US" altLang="zh-CN" dirty="0"/>
          </a:p>
          <a:p>
            <a:pPr lvl="1"/>
            <a:r>
              <a:rPr lang="zh-CN" altLang="en-US" dirty="0"/>
              <a:t>例如，围棋策略，电脑游戏策略，机器人控制策略等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强化学习与前几类机器学习（有监督、无监督、半监督、主动学习）有较大区别</a:t>
            </a:r>
            <a:endParaRPr lang="en-US" altLang="zh-CN" dirty="0"/>
          </a:p>
          <a:p>
            <a:pPr lvl="1"/>
            <a:r>
              <a:rPr lang="zh-CN" altLang="en-US" dirty="0"/>
              <a:t>后面的课会详细讨论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以下应用，可以用哪类机器学习？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文本翻译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通过金融机构数据检测洗钱、诈骗等违法行为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垃圾邮件过滤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自动驾驶中基于摄像头的行人识别</a:t>
            </a:r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28</a:t>
            </a:fld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467100" y="1567934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有监督学习（可配合自监督学习辅助）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409950" y="2787134"/>
            <a:ext cx="57086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有监督学习，无监督学习，半监督学习，主动学习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409949" y="3910549"/>
            <a:ext cx="539943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有监督学习，无监督学习，半监督学习，主动学习</a:t>
            </a:r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409950" y="5231349"/>
            <a:ext cx="669679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有监督学习，无监督学习，半监督学习，自监督学习，主动学习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线性回归模型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Linear Regression Models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线性模型的基本形式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给定由     个特征描述的样本</a:t>
            </a:r>
            <a:endParaRPr lang="en-US" altLang="zh-CN" dirty="0"/>
          </a:p>
          <a:p>
            <a:pPr lvl="1"/>
            <a:r>
              <a:rPr lang="zh-CN" altLang="en-US" dirty="0"/>
              <a:t>其中       是     在第    个属性上的取值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线性模型是通过特征的线性组合来进行预测的函数，即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一般用向量形式写成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其中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30</a:t>
            </a:fld>
            <a:endParaRPr lang="en-US" dirty="0"/>
          </a:p>
        </p:txBody>
      </p:sp>
      <p:pic>
        <p:nvPicPr>
          <p:cNvPr id="8" name="图片 7" descr="\documentclass{article}&#10;\usepackage{amsmath}&#10;\pagestyle{empty}&#10;\begin{document}&#10;&#10;$d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408" y="1224257"/>
            <a:ext cx="146286" cy="213943"/>
          </a:xfrm>
          <a:prstGeom prst="rect">
            <a:avLst/>
          </a:prstGeom>
        </p:spPr>
      </p:pic>
      <p:pic>
        <p:nvPicPr>
          <p:cNvPr id="38" name="图片 37" descr="\documentclass{article}&#10;\usepackage{amsmath}&#10;\usepackage{amssymb}&#10;\usepackage{bm}&#10;\pagestyle{empty}&#10;\begin{document}&#10;&#10;$\bm{x} = [x_1,x_2,...,x_d]^T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634" y="1130690"/>
            <a:ext cx="2523428" cy="330972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x_j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722" y="1740933"/>
            <a:ext cx="259658" cy="223086"/>
          </a:xfrm>
          <a:prstGeom prst="rect">
            <a:avLst/>
          </a:prstGeom>
        </p:spPr>
      </p:pic>
      <p:pic>
        <p:nvPicPr>
          <p:cNvPr id="40" name="图片 39" descr="\documentclass{article}&#10;\usepackage{amsmath}&#10;\usepackage{bm}&#10;\pagestyle{empty}&#10;\begin{document}&#10;&#10;$\bm{x}$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678" y="1740933"/>
            <a:ext cx="173714" cy="138972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j$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754" y="1679676"/>
            <a:ext cx="126171" cy="261486"/>
          </a:xfrm>
          <a:prstGeom prst="rect">
            <a:avLst/>
          </a:prstGeom>
        </p:spPr>
      </p:pic>
      <p:pic>
        <p:nvPicPr>
          <p:cNvPr id="42" name="图片 41" descr="\documentclass{article}&#10;\usepackage{amsmath}&#10;\usepackage{amssymb}&#10;\usepackage{bm}&#10;\pagestyle{empty}&#10;\begin{document}&#10;&#10;$f(\bm{x}) = w_1x_1 + w_2x_2 + ... + w_dx_d + b,$&#10;&#10;\end{document}" title="IguanaTex Bitmap Display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777" y="3919719"/>
            <a:ext cx="4937142" cy="305372"/>
          </a:xfrm>
          <a:prstGeom prst="rect">
            <a:avLst/>
          </a:prstGeom>
        </p:spPr>
      </p:pic>
      <p:pic>
        <p:nvPicPr>
          <p:cNvPr id="46" name="图片 45" descr="\documentclass{article}&#10;\usepackage{amsmath}&#10;\usepackage{amssymb}&#10;\usepackage{bm}&#10;\pagestyle{empty}&#10;\begin{document}&#10;&#10;$f(\bm{x}) = \bm{w}^T\bm{x}+b,$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694" y="4832740"/>
            <a:ext cx="2223543" cy="330972"/>
          </a:xfrm>
          <a:prstGeom prst="rect">
            <a:avLst/>
          </a:prstGeom>
        </p:spPr>
      </p:pic>
      <p:pic>
        <p:nvPicPr>
          <p:cNvPr id="48" name="图片 47" descr="\documentclass{article}&#10;\usepackage{amsmath}&#10;\usepackage{amssymb}&#10;\usepackage{bm}&#10;\pagestyle{empty}&#10;\begin{document}&#10;&#10;$\bm{w} = [w_1,w_2,...,w_d]^T.$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049" y="4838125"/>
            <a:ext cx="2797716" cy="330972"/>
          </a:xfrm>
          <a:prstGeom prst="rect">
            <a:avLst/>
          </a:prstGeom>
        </p:spPr>
      </p:pic>
      <p:pic>
        <p:nvPicPr>
          <p:cNvPr id="6" name="图片 5" descr="\documentclass[UTF8]{article}&#10;\usepackage{amsmath}&#10;\usepackage{amssymb}&#10;\usepackage{bm}&#10;\usepackage{CTEX}&#10;\pagestyle{empty}&#10;\begin{document}&#10;&#10;\heiti&#10;&#10;在学得 $\bm{w}$ 和 $b$（即模型参数）之后，模型就得以确定。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518" y="5598063"/>
            <a:ext cx="7559321" cy="31634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线性模型示例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557126"/>
          </a:xfrm>
        </p:spPr>
        <p:txBody>
          <a:bodyPr>
            <a:normAutofit/>
          </a:bodyPr>
          <a:lstStyle/>
          <a:p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31</a:t>
            </a:fld>
            <a:endParaRPr lang="en-US" dirty="0"/>
          </a:p>
        </p:txBody>
      </p:sp>
      <p:pic>
        <p:nvPicPr>
          <p:cNvPr id="15" name="图片 14" descr="\documentclass[UTF8]{article}&#10;\usepackage{amsmath}&#10;\usepackage{amssymb}&#10;\usepackage{bm}&#10;\usepackage{CTEX}&#10;\usepackage [margin=2.5in] {geometry}&#10;&#10;\pagestyle{empty}&#10;&#10;\begin{document}&#10;\heiti&#10;\setlength{\parindent}{0pt}&#10;&#10;&#10;$f_{\text{score}}(\bm{x}) = 0.2x_{\text{homework}} + 0.3x_{\text{mid-term}} + 0.5x_{\text{final}}$&#10;&#10;$f_{\text{score}}(\bm{x}) = 0.2x_{\text{homework}} + 0.2x_{\text{mid-term}} + 0.4x_{\text{final}} + 20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946" y="1147963"/>
            <a:ext cx="7385364" cy="819377"/>
          </a:xfrm>
          <a:prstGeom prst="rect">
            <a:avLst/>
          </a:prstGeom>
        </p:spPr>
      </p:pic>
      <p:pic>
        <p:nvPicPr>
          <p:cNvPr id="45" name="图片 44" descr="\documentclass[UTF8]{article}&#10;\usepackage{amsmath}&#10;\usepackage{amssymb}&#10;\usepackage{bm}&#10;\usepackage{CTEX}&#10;\usepackage [margin=2.5in] {geometry}&#10;&#10;\pagestyle{empty}&#10;&#10;\begin{document}&#10;\heiti&#10;\setlength{\parindent}{0pt}&#10;&#10;\[&#10;\begin{aligned} &#10;f_{\text{price}}(\bm{x}) =&amp; 8x_{\text{weight}} + 5x_{\text{size}} + 10 \\&#10;=&amp; &#10;\underbrace{\begin{bmatrix}&#10;8 &amp; 5&#10;\end{bmatrix}}_{\bm{w}^T} \begin{bmatrix}&#10;x_{\text{weight}} \\ x_{\text{size}}&#10;\end{bmatrix}&#10;+ 10&#10;\end{aligned}&#10;\]&#10;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529" y="2944921"/>
            <a:ext cx="4455355" cy="1737519"/>
          </a:xfrm>
          <a:prstGeom prst="rect">
            <a:avLst/>
          </a:prstGeom>
        </p:spPr>
      </p:pic>
      <p:pic>
        <p:nvPicPr>
          <p:cNvPr id="25" name="图片 24" descr="\documentclass[UTF8]{article}&#10;\usepackage{amsmath}&#10;\usepackage{amssymb}&#10;\usepackage{bm}&#10;\usepackage{CTEX}&#10;\usepackage [margin=2.5in] {geometry}&#10;&#10;\pagestyle{empty}&#10;&#10;\begin{document}&#10;\heiti&#10;\setlength{\parindent}{0pt}&#10;&#10;&#10;由于 $\bm{w}$ 直观地表达了各特征在模型中的重要性，因此线性模型具有很好的可解释性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130" y="5310407"/>
            <a:ext cx="7654220" cy="79925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624198"/>
          </a:xfrm>
        </p:spPr>
        <p:txBody>
          <a:bodyPr>
            <a:normAutofit/>
          </a:bodyPr>
          <a:lstStyle/>
          <a:p>
            <a:r>
              <a:rPr lang="en-US" altLang="zh-CN" dirty="0"/>
              <a:t> 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zh-CN" altLang="en-US" dirty="0"/>
              <a:t>线性回归试图学得一个线性模型，以尽可能准确地通过特征向量预测输出标签</a:t>
            </a:r>
            <a:endParaRPr lang="en-US" altLang="zh-CN" dirty="0"/>
          </a:p>
          <a:p>
            <a:pPr lvl="1"/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32</a:t>
            </a:fld>
            <a:endParaRPr lang="en-US" dirty="0"/>
          </a:p>
        </p:txBody>
      </p:sp>
      <p:pic>
        <p:nvPicPr>
          <p:cNvPr id="46" name="图片 45" descr="\documentclass[UTF8]{article}&#10;\usepackage{amsmath}&#10;\usepackage{amssymb}&#10;\usepackage{bm}&#10;\usepackage{CTEX}&#10;\usepackage [margin=2.5in] {geometry}&#10;&#10;\pagestyle{empty}&#10;&#10;\begin{document}&#10;\heiti&#10;\setlength{\parindent}{0pt}&#10;&#10;给定数据集 $D=\{(\bm{x}_1,y_1),(\bm{x}_2,y_2),...,(\bm{x}_m,y_m)\}$，其中 $\bm{x}_i = [x_{i1},x_{i2},...,x_{id}]^T\in \mathbb{R}^d$, $y_i \in \mathbb{R}$.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848" y="1212792"/>
            <a:ext cx="7630439" cy="844980"/>
          </a:xfrm>
          <a:prstGeom prst="rect">
            <a:avLst/>
          </a:prstGeom>
        </p:spPr>
      </p:pic>
      <p:pic>
        <p:nvPicPr>
          <p:cNvPr id="52" name="图片 51" descr="\documentclass[UTF8]{article}&#10;\usepackage{amsmath}&#10;\usepackage{amssymb}&#10;\usepackage{bm}&#10;\usepackage{CTEX}&#10;\usepackage [margin=2.5in] {geometry}&#10;&#10;\pagestyle{empty}&#10;&#10;\begin{document}&#10;\heiti&#10;\setlength{\parindent}{0pt}&#10;&#10;$d$ 维列向量 $\bm{x}_i$ 代表一系列特征&#10;&#10;标量 $y_i$ 代表标签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143" y="2194537"/>
            <a:ext cx="4301724" cy="830347"/>
          </a:xfrm>
          <a:prstGeom prst="rect">
            <a:avLst/>
          </a:prstGeom>
        </p:spPr>
      </p:pic>
      <p:pic>
        <p:nvPicPr>
          <p:cNvPr id="50" name="图片 49" descr="\documentclass[UTF8]{article}&#10;\usepackage{amsmath}&#10;\usepackage{amssymb}&#10;\usepackage{bm}&#10;\usepackage{CTEX}&#10;\usepackage [margin=2.5in] {geometry}&#10;&#10;\pagestyle{empty}&#10;&#10;\begin{document}&#10;\heiti&#10;\setlength{\parindent}{0pt}&#10;&#10;即 $f(\bm{x}_i) = \bm{w}^T\bm{x}_i+b$&#10;&#10;对每个 $i$, $f(\bm{x}_i)$ 应尽可能接近 $y_i$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438" y="4747079"/>
            <a:ext cx="4479134" cy="839494"/>
          </a:xfrm>
          <a:prstGeom prst="rect">
            <a:avLst/>
          </a:prstGeom>
        </p:spPr>
      </p:pic>
      <p:pic>
        <p:nvPicPr>
          <p:cNvPr id="57" name="图片 56" descr="\documentclass[UTF8]{article}&#10;\usepackage{amsmath}&#10;\usepackage{amssymb}&#10;\usepackage{bm}&#10;\usepackage{CTEX}&#10;\usepackage [margin=2.5in] {geometry}&#10;&#10;\pagestyle{empty}&#10;&#10;\begin{document}&#10;\heiti&#10;\setlength{\parindent}{0pt}&#10;&#10;$(\bm{x}_i,y_i)$ 是已知的，需要学习的参数是 $\bm{w}$ 和 $b$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438" y="6053618"/>
            <a:ext cx="6244085" cy="34567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线性回归：一维简单情形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考虑最简单的情形，即输入特征的数据只有一个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 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线性回归试图学得</a:t>
            </a:r>
            <a:endParaRPr lang="en-US" altLang="zh-CN" dirty="0"/>
          </a:p>
          <a:p>
            <a:pPr lvl="1"/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33</a:t>
            </a:fld>
            <a:endParaRPr lang="en-US" dirty="0"/>
          </a:p>
        </p:txBody>
      </p:sp>
      <p:pic>
        <p:nvPicPr>
          <p:cNvPr id="12" name="图片 11" descr="\documentclass[UTF8]{article}&#10;\usepackage{amsmath}&#10;\usepackage{amssymb}&#10;\usepackage{bm}&#10;\usepackage{CTEX}&#10;\usepackage [margin=2.5in] {geometry}&#10;&#10;\pagestyle{empty}&#10;&#10;\begin{document}&#10;\heiti&#10;\setlength{\parindent}{0pt}&#10;&#10;$D=\{(x_1,y_1),(x_2,y_2),...,(x_m,y_m)\}$,&#10;&#10;其中$x_i \in \mathbb{R}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309" y="1650944"/>
            <a:ext cx="4965641" cy="790111"/>
          </a:xfrm>
          <a:prstGeom prst="rect">
            <a:avLst/>
          </a:prstGeom>
        </p:spPr>
      </p:pic>
      <p:pic>
        <p:nvPicPr>
          <p:cNvPr id="16" name="图片 15" descr="\documentclass[UTF8]{article}&#10;\usepackage{amsmath}&#10;\usepackage{amssymb}&#10;\usepackage{bm}&#10;\usepackage{CTEX}&#10;\usepackage [margin=2.5in] {geometry}&#10;&#10;\pagestyle{empty}&#10;&#10;\begin{document}&#10;\heiti&#10;\setlength{\parindent}{0pt}&#10;&#10;$f(x_i) = wx_i +b$, 使得 $f(x_i) \approx y_i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60" y="3625153"/>
            <a:ext cx="4508399" cy="343845"/>
          </a:xfrm>
          <a:prstGeom prst="rect">
            <a:avLst/>
          </a:prstGeom>
        </p:spPr>
      </p:pic>
      <p:pic>
        <p:nvPicPr>
          <p:cNvPr id="7170" name="Picture 2" descr="plot ol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79" y="4106863"/>
            <a:ext cx="3486150" cy="261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线性回归：一维简单情形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en-US" altLang="zh-CN" dirty="0"/>
              <a:t> 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34</a:t>
            </a:fld>
            <a:endParaRPr lang="en-US" dirty="0"/>
          </a:p>
        </p:txBody>
      </p:sp>
      <p:pic>
        <p:nvPicPr>
          <p:cNvPr id="7" name="图片 6" descr="\documentclass[UTF8]{article}&#10;\usepackage{amsmath}&#10;\usepackage{amssymb}&#10;\usepackage{bm}&#10;\usepackage{CTEX}&#10;\usepackage [margin=2.5in] {geometry}&#10;&#10;\pagestyle{empty}&#10;&#10;\begin{document}&#10;\heiti&#10;\setlength{\parindent}{0pt}&#10;&#10;如何确定 $w$ 和 $b$ 呢？我们首先定义 $f(x)$ 和 $y$ 之间的差别，然后建立一个优化问题，来最小化这个差别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359" y="1151642"/>
            <a:ext cx="7652389" cy="815717"/>
          </a:xfrm>
          <a:prstGeom prst="rect">
            <a:avLst/>
          </a:prstGeom>
        </p:spPr>
      </p:pic>
      <p:pic>
        <p:nvPicPr>
          <p:cNvPr id="27" name="图片 26" descr="\documentclass[UTF8]{article}&#10;\usepackage{amsmath}&#10;\usepackage{amssymb}&#10;\usepackage{bm}&#10;\usepackage{CTEX}&#10;\usepackage [margin=2.5in] {geometry}&#10;&#10;\pagestyle{empty}&#10;&#10;\begin{document}&#10;\heiti&#10;\setlength{\parindent}{0pt}&#10;&#10;我们用 $[f(x)-y]^2$ 来度量预测值 $f(x)$ 和真实值 $y$ 的差别。&#10;考虑全部的 $m$ 个样本，则差别之和为&#10;\[&#10;\sum_{i=1}^m[f(x_i)-y_i]^2&#10;\]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018" y="2674227"/>
            <a:ext cx="7648730" cy="202465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线性回归：一维简单情形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en-US" altLang="zh-CN" dirty="0"/>
              <a:t> 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求解以上优化问题的过程，称为线性回归模型的参数估计，可用最小二乘法（</a:t>
            </a:r>
            <a:r>
              <a:rPr lang="en-US" altLang="zh-CN" dirty="0"/>
              <a:t>least square method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35</a:t>
            </a:fld>
            <a:endParaRPr lang="en-US" dirty="0"/>
          </a:p>
        </p:txBody>
      </p:sp>
      <p:pic>
        <p:nvPicPr>
          <p:cNvPr id="11" name="图片 10" descr="IguanaTex Bitmap Display&#10;&#10;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我们希望找到最佳的 $w$ 和 $b$，使这个误差最小化，即&#10;\[&#10;\begin{aligned}&#10;(w^*,b^*) = &amp; \argmin_{(w,b)}\sum_{i=1}^m[f(x_i)-y_i]^2 \\&#10;=&amp; \argmin_{(w,b)}\sum_{i=1}^m(y_i-wx_i-b)^2&#10;\end{aligned}&#10;\]&#10;&#10;\end{document}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359" y="1151640"/>
            <a:ext cx="7370728" cy="25733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线性回归：一维简单情形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提问：一维线性回归最小化的是哪个距离的平方和？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36</a:t>
            </a:fld>
            <a:endParaRPr lang="en-US" dirty="0"/>
          </a:p>
        </p:txBody>
      </p:sp>
      <p:pic>
        <p:nvPicPr>
          <p:cNvPr id="6146" name="Picture 2" descr="r - Perpendicular offsets in a weighted least squares regression - Cross  Validat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414" y="2319339"/>
            <a:ext cx="5261169" cy="269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线性回归：一维简单情形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37</a:t>
            </a:fld>
            <a:endParaRPr 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0" y="2686190"/>
            <a:ext cx="6121400" cy="3295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 descr="\documentclass[UTF8]{article}&#10;\usepackage{amsmath}&#10;\usepackage{amssymb}&#10;\usepackage{bm}&#10;\usepackage{CTEX}&#10;\usepackage [margin=2.5in] {geometry}&#10;&#10;\pagestyle{empty}&#10;&#10;\begin{document}&#10;\heiti&#10;\setlength{\parindent}{0pt}&#10;&#10;\[&#10;\sum_{i=1}^m[f(x_i)-y_i]^2&#10;\]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206" y="1430808"/>
            <a:ext cx="2105138" cy="86509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线性回归：一维简单情形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en-US" altLang="zh-CN" dirty="0"/>
              <a:t> </a:t>
            </a:r>
          </a:p>
          <a:p>
            <a:r>
              <a:rPr lang="en-US" altLang="zh-CN" dirty="0"/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38</a:t>
            </a:fld>
            <a:endParaRPr lang="en-US" dirty="0"/>
          </a:p>
        </p:txBody>
      </p:sp>
      <p:pic>
        <p:nvPicPr>
          <p:cNvPr id="18" name="图片 17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定义函数 $E(w,b) = \sum_{i=1}^m(y_i-wx_i-b)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360" y="1151640"/>
            <a:ext cx="5625895" cy="363964"/>
          </a:xfrm>
          <a:prstGeom prst="rect">
            <a:avLst/>
          </a:prstGeom>
        </p:spPr>
      </p:pic>
      <p:pic>
        <p:nvPicPr>
          <p:cNvPr id="20" name="图片 19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目标是求 $ (w^*,b^*) = \argmin_{(w,b)}E(w,b)$, 即该函数取最小值时的 $(w,b)$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361" y="1761241"/>
            <a:ext cx="7632272" cy="844981"/>
          </a:xfrm>
          <a:prstGeom prst="rect">
            <a:avLst/>
          </a:prstGeom>
        </p:spPr>
      </p:pic>
      <p:pic>
        <p:nvPicPr>
          <p:cNvPr id="25" name="图片 24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$E(w,b)$ 是关于 $w$ 和 $b$ 的连续可导的函数，我们可将其分别对 $w$ 和 $b$ 求导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360" y="3545244"/>
            <a:ext cx="7652391" cy="799257"/>
          </a:xfrm>
          <a:prstGeom prst="rect">
            <a:avLst/>
          </a:prstGeom>
        </p:spPr>
      </p:pic>
      <p:pic>
        <p:nvPicPr>
          <p:cNvPr id="30" name="图片 29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\frac{\partial E(w,b)}{\partial w} = 2 \Big(&#10;w \sum_{i=1}^m x_i^2 - \sum_{i=1}^m(y_i-b)x_i&#10;\Big)&#10;\]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462" y="4678392"/>
            <a:ext cx="5453975" cy="865099"/>
          </a:xfrm>
          <a:prstGeom prst="rect">
            <a:avLst/>
          </a:prstGeom>
        </p:spPr>
      </p:pic>
      <p:pic>
        <p:nvPicPr>
          <p:cNvPr id="35" name="图片 34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\frac{\partial E(w,b)}{\partial b} = 2 \Big(&#10;mb - \sum_{i=1}^m(y-wx_i)&#10;\Big)&#10;\]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413" y="5689765"/>
            <a:ext cx="4757141" cy="8650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线性回归：一维简单情形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图片 5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令上述两个偏导为零，可得到 $w$ 和 $b$ 最优解的闭式形式（closed-form）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360" y="1151640"/>
            <a:ext cx="7656044" cy="793771"/>
          </a:xfrm>
          <a:prstGeom prst="rect">
            <a:avLst/>
          </a:prstGeom>
        </p:spPr>
      </p:pic>
      <p:pic>
        <p:nvPicPr>
          <p:cNvPr id="8" name="图片 7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w = \frac{\sum_{i=1}^m y_i(x_i-\bar{x})}&#10;{\sum_{i=1}^m x_i^2 - \frac{1}{m}\big(\sum_{i=1}^m x_i\big)^2}&#10;\]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407" y="2395752"/>
            <a:ext cx="4056643" cy="888877"/>
          </a:xfrm>
          <a:prstGeom prst="rect">
            <a:avLst/>
          </a:prstGeom>
        </p:spPr>
      </p:pic>
      <p:pic>
        <p:nvPicPr>
          <p:cNvPr id="10" name="图片 9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b = \frac{1}{m}\sum_{i=1}^m(y_i - w x_i)&#10;\]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737" y="2419528"/>
            <a:ext cx="2807460" cy="865101"/>
          </a:xfrm>
          <a:prstGeom prst="rect">
            <a:avLst/>
          </a:prstGeom>
        </p:spPr>
      </p:pic>
      <p:pic>
        <p:nvPicPr>
          <p:cNvPr id="13" name="图片 12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其中 $\bar{x} = \frac{1}{m} \sum_{i=1}^m x_i$ 是 $x$ 的均值&#10;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407" y="3734970"/>
            <a:ext cx="4534003" cy="37859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线性回归：多维情形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50825" y="1096509"/>
            <a:ext cx="9133940" cy="5136440"/>
          </a:xfrm>
        </p:spPr>
        <p:txBody>
          <a:bodyPr>
            <a:normAutofit/>
          </a:bodyPr>
          <a:lstStyle/>
          <a:p>
            <a:r>
              <a:rPr lang="en-US" altLang="zh-CN" dirty="0"/>
              <a:t> 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这被成为“多元线性回归”（</a:t>
            </a:r>
            <a:r>
              <a:rPr lang="en-US" altLang="zh-CN" dirty="0"/>
              <a:t>multivariate linear regression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40</a:t>
            </a:fld>
            <a:endParaRPr lang="en-US" dirty="0"/>
          </a:p>
        </p:txBody>
      </p:sp>
      <p:pic>
        <p:nvPicPr>
          <p:cNvPr id="13" name="图片 12" descr="\documentclass[UTF8]{article}&#10;\usepackage{amsmath}&#10;\usepackage{amssymb}&#10;\usepackage{bm}&#10;\usepackage{CTEX}&#10;\usepackage [margin=2.5in] {geometry}&#10;&#10;\pagestyle{empty}&#10;&#10;\begin{document}&#10;\heiti&#10;\setlength{\parindent}{0pt}&#10;&#10;在更一般的场景中，每个样本有 $d$ 个特征。给定的数据集 $D=\{(\bm{x}_1,y_1),(\bm{x}_2,y_2),...,(\bm{x}_m,y_m)\}$，其中 $\bm{x}_i = [x_{i1},x_{i2},...,x_{id}]^T\in \mathbb{R}^d$, $y_i \in \mathbb{R}$.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870" y="1268776"/>
            <a:ext cx="7652385" cy="1344287"/>
          </a:xfrm>
          <a:prstGeom prst="rect">
            <a:avLst/>
          </a:prstGeom>
        </p:spPr>
      </p:pic>
      <p:pic>
        <p:nvPicPr>
          <p:cNvPr id="10" name="图片 9" descr="\documentclass[UTF8]{article}&#10;\usepackage{amsmath}&#10;\usepackage{amssymb}&#10;\usepackage{bm}&#10;\usepackage{CTEX}&#10;\usepackage [margin=2.5in] {geometry}&#10;&#10;\pagestyle{empty}&#10;&#10;\begin{document}&#10;\heiti&#10;\setlength{\parindent}{0pt}&#10;&#10;&#10;此时我们试图学得&#10;$f(\bm{x}_i) = \bm{w}^T\bm{x}_i +b$, 使得 $f(\bm{x}_i) \approx y_i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417" y="3322400"/>
            <a:ext cx="7560466" cy="349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线性回归：多维情形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10866" y="1040524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和一维简单情形类似，多元线性回归可通过令偏导为零求得             的闭式解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多元线性回归的闭式解涉及矩阵求逆，比单变量情形复杂一些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实际计算中，使用的是更高效的数值算法，避免矩阵求逆运算</a:t>
            </a:r>
            <a:endParaRPr lang="en-US" altLang="zh-CN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41</a:t>
            </a:fld>
            <a:endParaRPr lang="en-US" dirty="0"/>
          </a:p>
        </p:txBody>
      </p:sp>
      <p:pic>
        <p:nvPicPr>
          <p:cNvPr id="6" name="图片 5" descr="\documentclass[UTF8]{article}&#10;\usepackage{amsmath}&#10;\usepackage{amssymb}&#10;\usepackage{bm}&#10;\usepackage{CTEX}&#10;\usepackage [margin=2.5in] {geometry}&#10;&#10;\pagestyle{empty}&#10;&#10;\begin{document}&#10;\heiti&#10;\setlength{\parindent}{0pt}&#10;&#10;&#10;$(\bm{w},b)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830" y="1652593"/>
            <a:ext cx="740731" cy="32006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线性回归：多维情形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4926" y="1040524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提问</a:t>
            </a:r>
            <a:r>
              <a:rPr lang="en-US" altLang="zh-CN" dirty="0"/>
              <a:t>: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42</a:t>
            </a:fld>
            <a:endParaRPr lang="en-US" dirty="0"/>
          </a:p>
        </p:txBody>
      </p:sp>
      <p:pic>
        <p:nvPicPr>
          <p:cNvPr id="4098" name="Picture 2" descr="Multiple Linear Regression” in 200 words. - Data Scienc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997" y="1844674"/>
            <a:ext cx="4181475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$\bm{x} \in \mathbb{R}^?$ $\bm{w} \in \mathbb{R}^?$ $f(\bm{x}) = \bm{w}^T\bm{x} +b$ 在几何上是什么？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533" y="1164598"/>
            <a:ext cx="6975671" cy="345675"/>
          </a:xfrm>
          <a:prstGeom prst="rect">
            <a:avLst/>
          </a:prstGeom>
        </p:spPr>
      </p:pic>
      <p:pic>
        <p:nvPicPr>
          <p:cNvPr id="6" name="图片 5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$\bm{x} \in \mathbb{R}^2$ $\bm{w} \in \mathbb{R}^2$ $f(\bm{x}) = \bm{w}^T\bm{x} +b$ 在几何上是一个平面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693" y="6121173"/>
            <a:ext cx="7454860" cy="345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广义线性回归模型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对数线性回归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</a:t>
            </a:r>
          </a:p>
          <a:p>
            <a:pPr marL="457200" lvl="1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44</a:t>
            </a:fld>
            <a:endParaRPr lang="en-US" dirty="0"/>
          </a:p>
        </p:txBody>
      </p:sp>
      <p:pic>
        <p:nvPicPr>
          <p:cNvPr id="7" name="图片 6" descr="\documentclass[UTF8]{article}&#10;\usepackage{amsmath}&#10;\usepackage{amssymb}&#10;\usepackage{bm}&#10;\usepackage{CTEX}&#10;\usepackage [margin=2.5in] {geometry}&#10;&#10;\pagestyle{empty}&#10;&#10;\begin{document}&#10;\heiti&#10;\setlength{\parindent}{0pt}&#10;&#10;我们把线性回归模型简写为&#10;$y = \bm{w}^T\bm{x} +b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115" y="1147963"/>
            <a:ext cx="5726491" cy="329213"/>
          </a:xfrm>
          <a:prstGeom prst="rect">
            <a:avLst/>
          </a:prstGeom>
        </p:spPr>
      </p:pic>
      <p:pic>
        <p:nvPicPr>
          <p:cNvPr id="10" name="图片 9" descr="\documentclass[UTF8]{article}&#10;\usepackage{amsmath}&#10;\usepackage{amssymb}&#10;\usepackage{bm}&#10;\usepackage{CTEX}&#10;\usepackage [margin=2.5in] {geometry}&#10;&#10;\pagestyle{empty}&#10;&#10;\begin{document}&#10;\heiti&#10;\setlength{\parindent}{0pt}&#10;&#10;假如我们认为样本的标签相对于特征是在指数尺度上变化的，那么我们可以将标签 $y$ 的对数作为线性模型逼近的目标，即&#10;\[&#10;\ln y = \bm{w}^T\bm{x} +b&#10;\]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115" y="2386213"/>
            <a:ext cx="7656048" cy="1828960"/>
          </a:xfrm>
          <a:prstGeom prst="rect">
            <a:avLst/>
          </a:prstGeom>
        </p:spPr>
      </p:pic>
      <p:pic>
        <p:nvPicPr>
          <p:cNvPr id="13" name="图片 12" descr="\documentclass[UTF8]{article}&#10;\usepackage{amsmath}&#10;\usepackage{amssymb}&#10;\usepackage{bm}&#10;\usepackage{CTEX}&#10;\usepackage [margin=2.5in] {geometry}&#10;&#10;\pagestyle{empty}&#10;&#10;\begin{document}&#10;\heiti&#10;\setlength{\parindent}{0pt}&#10;&#10;这就是对数线性回归（log-linear regression），其训练的过程本质依旧是线性回归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115" y="5225648"/>
            <a:ext cx="7641418" cy="79742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对数线性回归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实质上，求取了输入空间（特征）到输出空间（标签）的非线性函数映射</a:t>
            </a:r>
            <a:r>
              <a:rPr lang="en-US" altLang="zh-CN" dirty="0"/>
              <a:t> 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45</a:t>
            </a:fld>
            <a:endParaRPr lang="en-US" dirty="0"/>
          </a:p>
        </p:txBody>
      </p:sp>
      <p:pic>
        <p:nvPicPr>
          <p:cNvPr id="14" name="图片 13" descr="IguanaTex Bitmap Display&#10;&#10;\documentclass[UTF8]{article}&#10;\usepackage{amsmath}&#10;\usepackage{amssymb}&#10;\usepackage{bm}&#10;\usepackage{CTEX}&#10;\usepackage [margin=2.5in] {geometry}&#10;&#10;\pagestyle{empty}&#10;&#10;\begin{document}&#10;\heiti&#10;\setlength{\parindent}{0pt}&#10;&#10;$\ln y = \bm{w}^T\bm{x} +b$&#10;&#10;对数线性回归试图让 $f(\bm{x}) = e^{\bm{w}^T\bm{x}+b}$ 逼近 $y$&#10;&#10;\end{document}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52" y="1154314"/>
            <a:ext cx="6053875" cy="83949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550" y="3529068"/>
            <a:ext cx="3835400" cy="313565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广义线性回归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46</a:t>
            </a:fld>
            <a:endParaRPr lang="en-US" dirty="0"/>
          </a:p>
        </p:txBody>
      </p:sp>
      <p:pic>
        <p:nvPicPr>
          <p:cNvPr id="9" name="图片 8" descr="IguanaTex Bitmap Display&#10;&#10;\documentclass[UTF8]{article}&#10;\usepackage{amsmath}&#10;\usepackage{amssymb}&#10;\usepackage{bm}&#10;\usepackage{CTEX}&#10;\usepackage [margin=2.5in] {geometry}&#10;&#10;\pagestyle{empty}&#10;&#10;\begin{document}&#10;\heiti&#10;\setlength{\parindent}{0pt}&#10;&#10;更一般地，考虑单调可微函数 $g(\cdot)$, 令&#10;\[&#10;g(y) = \bm{w}^T\bm{x} +b,&#10;\]&#10;或其等价形式&#10;\[&#10;y = g^{-1}(\bm{w}^T\bm{x} +b)&#10;\]&#10;&#10;这样得到的模型成为``广义线性模型''(generalized linear model)&#10;&#10;\end{document}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253" y="1154314"/>
            <a:ext cx="7661537" cy="3632315"/>
          </a:xfrm>
          <a:prstGeom prst="rect">
            <a:avLst/>
          </a:prstGeom>
        </p:spPr>
      </p:pic>
      <p:pic>
        <p:nvPicPr>
          <p:cNvPr id="12" name="图片 11" descr="IguanaTex Bitmap Display&#10;&#10;\documentclass[UTF8]{article}&#10;\usepackage{amsmath}&#10;\usepackage{amssymb}&#10;\usepackage{bm}&#10;\usepackage{CTEX}&#10;\usepackage [margin=2.5in] {geometry}&#10;&#10;\pagestyle{empty}&#10;&#10;\begin{document}&#10;\heiti&#10;\setlength{\parindent}{0pt}&#10;&#10;对数线性回归是广义线性模型在 $g(\cdot) = \ln (\cdot)$ 时的特例&#10;&#10;\end{document}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222" y="5530849"/>
            <a:ext cx="7476812" cy="34567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7888" y="2785515"/>
            <a:ext cx="7886700" cy="1771287"/>
          </a:xfrm>
        </p:spPr>
        <p:txBody>
          <a:bodyPr>
            <a:normAutofit/>
          </a:bodyPr>
          <a:lstStyle/>
          <a:p>
            <a:r>
              <a:rPr lang="en-US" altLang="zh-CN" dirty="0"/>
              <a:t>scikit-learn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47</a:t>
            </a:fld>
            <a:endParaRPr lang="en-US" dirty="0"/>
          </a:p>
        </p:txBody>
      </p:sp>
      <p:pic>
        <p:nvPicPr>
          <p:cNvPr id="1026" name="Picture 2" descr="See the source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723" y="894069"/>
            <a:ext cx="4227030" cy="281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scikit-learn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en-US" altLang="zh-CN" dirty="0"/>
              <a:t>scikit-learn.org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48</a:t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615" y="0"/>
            <a:ext cx="538183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scikit-learn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49</a:t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268" y="0"/>
            <a:ext cx="6233464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913861" y="5066784"/>
            <a:ext cx="3578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找实现线性回归的最简单的代码</a:t>
            </a:r>
            <a:endParaRPr lang="en-US" dirty="0"/>
          </a:p>
        </p:txBody>
      </p:sp>
      <p:sp>
        <p:nvSpPr>
          <p:cNvPr id="12" name="矩形: 圆角 11"/>
          <p:cNvSpPr/>
          <p:nvPr/>
        </p:nvSpPr>
        <p:spPr>
          <a:xfrm>
            <a:off x="5842000" y="4432300"/>
            <a:ext cx="4767732" cy="12382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5365750" y="4976813"/>
            <a:ext cx="412750" cy="193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scikit-learn </a:t>
            </a:r>
            <a:r>
              <a:rPr lang="zh-CN" altLang="en-US" dirty="0"/>
              <a:t>中线性回归最简代码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50</a:t>
            </a:fld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24026" y="2306320"/>
            <a:ext cx="5784850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from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E84B5"/>
                </a:solidFill>
                <a:effectLst/>
                <a:latin typeface="Lucida Console" panose="020B0609040504020204" pitchFamily="49" charset="0"/>
                <a:ea typeface="SFMono-Regular"/>
              </a:rPr>
              <a:t>sklearn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import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Lucida Console" panose="020B0609040504020204" pitchFamily="49" charset="0"/>
              </a:rPr>
              <a:t>reg =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Lucida Console" panose="020B0609040504020204" pitchFamily="49" charset="0"/>
              </a:rPr>
              <a:t>linear_model.LinearRegression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Lucida Console" panose="020B060904050402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Lucida Console" panose="020B0609040504020204" pitchFamily="49" charset="0"/>
              </a:rPr>
              <a:t>reg.fit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Lucida Console" panose="020B0609040504020204" pitchFamily="49" charset="0"/>
              </a:rPr>
              <a:t>([[0, 0], [1, 1], [2, 2]], [0, 1, 2])</a:t>
            </a:r>
            <a:endParaRPr lang="en-US" altLang="en-US" sz="1600" b="1" dirty="0">
              <a:solidFill>
                <a:srgbClr val="C00000"/>
              </a:solidFill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reg.coef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24026" y="1578281"/>
            <a:ext cx="4572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两行代码</a:t>
            </a:r>
            <a:r>
              <a:rPr lang="zh-CN" altLang="en-US" sz="2400" dirty="0"/>
              <a:t>完成机器学习</a:t>
            </a:r>
            <a:endParaRPr lang="en-US" sz="2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7067550" y="2175181"/>
            <a:ext cx="3482974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（从 </a:t>
            </a:r>
            <a:r>
              <a:rPr lang="en-US" altLang="zh-CN" sz="2400" dirty="0"/>
              <a:t>scikit-learn </a:t>
            </a:r>
            <a:r>
              <a:rPr lang="zh-CN" altLang="en-US" sz="2400" dirty="0"/>
              <a:t>导入）</a:t>
            </a:r>
            <a:endParaRPr 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7649298" y="2772081"/>
            <a:ext cx="264722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创建一个线性模型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378643" y="3312292"/>
            <a:ext cx="3171881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使用样本数据的特征和标签，训练模型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88100" y="4158336"/>
            <a:ext cx="463477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（显示训练得到的模型参数）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scikit-learn </a:t>
            </a:r>
            <a:r>
              <a:rPr lang="zh-CN" altLang="en-US" dirty="0"/>
              <a:t>中线性回归最简代码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51</a:t>
            </a:fld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24026" y="2306320"/>
            <a:ext cx="5784850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E84B5"/>
                </a:solidFill>
                <a:effectLst/>
                <a:latin typeface="Lucida Console" panose="020B0609040504020204" pitchFamily="49" charset="0"/>
                <a:ea typeface="SFMono-Regular"/>
              </a:rPr>
              <a:t>sklearn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linear_model.LinearRegression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reg.fit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([[0, 0], [1, 1], [2, 2]], [0, 1, 2])</a:t>
            </a:r>
            <a:endParaRPr lang="en-US" altLang="en-US" sz="1600" dirty="0"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reg.coef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20000" y="4226703"/>
            <a:ext cx="2387600" cy="325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array([0.5, 0.5])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20000" y="3526768"/>
            <a:ext cx="3048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LinearRegression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()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724026" y="1578281"/>
            <a:ext cx="4572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运行的代码</a:t>
            </a:r>
            <a:endParaRPr 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7707144" y="1578280"/>
            <a:ext cx="138416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返回值</a:t>
            </a:r>
            <a:endParaRPr lang="en-US" sz="2400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7347626" y="1342417"/>
            <a:ext cx="0" cy="3677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箭头: 右 19"/>
          <p:cNvSpPr/>
          <p:nvPr/>
        </p:nvSpPr>
        <p:spPr>
          <a:xfrm>
            <a:off x="1660527" y="2993213"/>
            <a:ext cx="126997" cy="2095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箭头: 右 11"/>
          <p:cNvSpPr/>
          <p:nvPr/>
        </p:nvSpPr>
        <p:spPr>
          <a:xfrm>
            <a:off x="1660527" y="2335089"/>
            <a:ext cx="126997" cy="2095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sklearn.linear_model.LinearRegression</a:t>
            </a:r>
            <a:r>
              <a:rPr lang="en-US" altLang="zh-CN" dirty="0"/>
              <a:t>()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在 </a:t>
            </a:r>
            <a:r>
              <a:rPr lang="en-US" altLang="zh-CN" dirty="0"/>
              <a:t>scikit-learn </a:t>
            </a:r>
            <a:r>
              <a:rPr lang="zh-CN" altLang="en-US" dirty="0"/>
              <a:t>的 </a:t>
            </a:r>
            <a:r>
              <a:rPr lang="en-US" altLang="zh-CN" dirty="0"/>
              <a:t>API </a:t>
            </a:r>
            <a:r>
              <a:rPr lang="zh-CN" altLang="en-US" dirty="0"/>
              <a:t>文档中查找，或直接搜索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52</a:t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346" y="1699763"/>
            <a:ext cx="7895004" cy="5235394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4078052" y="5817476"/>
            <a:ext cx="5098374" cy="2654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sklearn.linear_model.LinearRegression</a:t>
            </a:r>
            <a:r>
              <a:rPr lang="en-US" altLang="zh-CN" dirty="0"/>
              <a:t>()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53</a:t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96" y="1040524"/>
            <a:ext cx="7986452" cy="542591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scikit-learn </a:t>
            </a:r>
            <a:r>
              <a:rPr lang="zh-CN" altLang="en-US" dirty="0"/>
              <a:t>中线性回归最简代码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54</a:t>
            </a:fld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24026" y="2306320"/>
            <a:ext cx="5784850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E84B5"/>
                </a:solidFill>
                <a:effectLst/>
                <a:latin typeface="Lucida Console" panose="020B0609040504020204" pitchFamily="49" charset="0"/>
                <a:ea typeface="SFMono-Regular"/>
              </a:rPr>
              <a:t>sklearn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linear_model.LinearRegression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reg.fit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([[0, 0], [1, 1], [2, 2]], [0, 1, 2])</a:t>
            </a:r>
            <a:endParaRPr lang="en-US" altLang="en-US" sz="1600" dirty="0"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reg.coef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20000" y="4226703"/>
            <a:ext cx="2387600" cy="325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array([0.5, 0.5])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20000" y="3526768"/>
            <a:ext cx="3048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LinearRegression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()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724026" y="1578281"/>
            <a:ext cx="4572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运行的代码</a:t>
            </a:r>
            <a:endParaRPr 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7707144" y="1578280"/>
            <a:ext cx="138416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返回值</a:t>
            </a:r>
            <a:endParaRPr lang="en-US" sz="2400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7347626" y="1342417"/>
            <a:ext cx="0" cy="3677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箭头: 右 9"/>
          <p:cNvSpPr/>
          <p:nvPr/>
        </p:nvSpPr>
        <p:spPr>
          <a:xfrm>
            <a:off x="1635127" y="3614120"/>
            <a:ext cx="126997" cy="2095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14377" y="4777027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3</a:t>
            </a:r>
            <a:r>
              <a:rPr lang="zh-CN" altLang="en-US" sz="1800" b="1" dirty="0"/>
              <a:t>个样本，每个样本含两个特征</a:t>
            </a:r>
            <a:endParaRPr lang="en-US" b="1" dirty="0"/>
          </a:p>
        </p:txBody>
      </p:sp>
      <p:sp>
        <p:nvSpPr>
          <p:cNvPr id="13" name="矩形: 圆角 12"/>
          <p:cNvSpPr/>
          <p:nvPr/>
        </p:nvSpPr>
        <p:spPr>
          <a:xfrm>
            <a:off x="2813050" y="3456424"/>
            <a:ext cx="2946399" cy="5391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: 圆角 13"/>
          <p:cNvSpPr/>
          <p:nvPr/>
        </p:nvSpPr>
        <p:spPr>
          <a:xfrm>
            <a:off x="5943601" y="3456424"/>
            <a:ext cx="1131652" cy="5391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本框 16"/>
          <p:cNvSpPr txBox="1"/>
          <p:nvPr/>
        </p:nvSpPr>
        <p:spPr>
          <a:xfrm>
            <a:off x="5699126" y="5515582"/>
            <a:ext cx="18097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3</a:t>
            </a:r>
            <a:r>
              <a:rPr lang="zh-CN" altLang="en-US" sz="1800" b="1" dirty="0"/>
              <a:t>个样本的标签</a:t>
            </a:r>
            <a:endParaRPr lang="en-US" b="1" dirty="0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4279898" y="4188026"/>
            <a:ext cx="0" cy="40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6496725" y="4099127"/>
            <a:ext cx="0" cy="1361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sklearn.linear_model.LinearRegression</a:t>
            </a:r>
            <a:r>
              <a:rPr lang="en-US" altLang="zh-CN" dirty="0"/>
              <a:t>()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55</a:t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359" y="1314983"/>
            <a:ext cx="7978831" cy="4861981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4135202" y="2820276"/>
            <a:ext cx="6075598" cy="33566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scikit-learn </a:t>
            </a:r>
            <a:r>
              <a:rPr lang="zh-CN" altLang="en-US" dirty="0"/>
              <a:t>中线性回归最简代码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56</a:t>
            </a:fld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24026" y="2306320"/>
            <a:ext cx="5784850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E84B5"/>
                </a:solidFill>
                <a:effectLst/>
                <a:latin typeface="Lucida Console" panose="020B0609040504020204" pitchFamily="49" charset="0"/>
                <a:ea typeface="SFMono-Regular"/>
              </a:rPr>
              <a:t>sklearn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linear_model.LinearRegression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reg.fit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([[0, 0], [1, 1], [2, 2]], [0, 1, 2])</a:t>
            </a:r>
            <a:endParaRPr lang="en-US" altLang="en-US" sz="1600" dirty="0"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reg.coef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20000" y="4226703"/>
            <a:ext cx="2387600" cy="325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array([0.5, 0.5])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20000" y="3526768"/>
            <a:ext cx="3048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LinearRegression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()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724026" y="1578281"/>
            <a:ext cx="4572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运行的代码</a:t>
            </a:r>
            <a:endParaRPr 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7707144" y="1578280"/>
            <a:ext cx="138416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返回值</a:t>
            </a:r>
            <a:endParaRPr lang="en-US" sz="2400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7347626" y="1342417"/>
            <a:ext cx="0" cy="3677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箭头: 右 9"/>
          <p:cNvSpPr/>
          <p:nvPr/>
        </p:nvSpPr>
        <p:spPr>
          <a:xfrm>
            <a:off x="1612902" y="4246603"/>
            <a:ext cx="126997" cy="2095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sklearn.linear_model.LinearRegression</a:t>
            </a:r>
            <a:r>
              <a:rPr lang="en-US" altLang="zh-CN" dirty="0"/>
              <a:t>()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57</a:t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205" y="1230439"/>
            <a:ext cx="7963590" cy="4397121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4223770" y="1235328"/>
            <a:ext cx="5815579" cy="9046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scikit-learn </a:t>
            </a:r>
            <a:r>
              <a:rPr lang="zh-CN" altLang="en-US" dirty="0"/>
              <a:t>中线性回归最简代码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58</a:t>
            </a:fld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24026" y="2306320"/>
            <a:ext cx="5784850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E84B5"/>
                </a:solidFill>
                <a:effectLst/>
                <a:latin typeface="Lucida Console" panose="020B0609040504020204" pitchFamily="49" charset="0"/>
                <a:ea typeface="SFMono-Regular"/>
              </a:rPr>
              <a:t>sklearn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linear_model.LinearRegression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reg.fit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([[0, 0], [1, 1], [2, 2]], [0, 1, 2])</a:t>
            </a:r>
            <a:endParaRPr lang="en-US" altLang="en-US" sz="1600" dirty="0"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reg.coef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20000" y="4226703"/>
            <a:ext cx="2387600" cy="325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array([0.5, 0.5])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20000" y="3526768"/>
            <a:ext cx="3048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LinearRegression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()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724026" y="1578281"/>
            <a:ext cx="4572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运行的代码</a:t>
            </a:r>
            <a:endParaRPr 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7707144" y="1578280"/>
            <a:ext cx="138416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返回值</a:t>
            </a:r>
            <a:endParaRPr lang="en-US" sz="2400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7347626" y="1342417"/>
            <a:ext cx="0" cy="53250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\documentclass{article}&#10;\usepackage{amsmath}&#10;\usepackage{amssymb}&#10;\usepackage{bm}&#10;\pagestyle{empty}&#10;\begin{document}&#10;&#10;$f(\bm{x}) = \bm{w}^T\bm{x}+b,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512" y="5486133"/>
            <a:ext cx="2223543" cy="330972"/>
          </a:xfrm>
          <a:prstGeom prst="rect">
            <a:avLst/>
          </a:prstGeom>
        </p:spPr>
      </p:pic>
      <p:sp>
        <p:nvSpPr>
          <p:cNvPr id="19" name="矩形: 圆角 18"/>
          <p:cNvSpPr/>
          <p:nvPr/>
        </p:nvSpPr>
        <p:spPr>
          <a:xfrm>
            <a:off x="4487423" y="5428475"/>
            <a:ext cx="461323" cy="4509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: 圆角 19"/>
          <p:cNvSpPr/>
          <p:nvPr/>
        </p:nvSpPr>
        <p:spPr>
          <a:xfrm>
            <a:off x="5470081" y="5428475"/>
            <a:ext cx="206875" cy="4509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scikit-learn </a:t>
            </a:r>
            <a:r>
              <a:rPr lang="zh-CN" altLang="en-US" dirty="0"/>
              <a:t>中线性回归最简代码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59</a:t>
            </a:fld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24026" y="2306320"/>
            <a:ext cx="5784850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E84B5"/>
                </a:solidFill>
                <a:effectLst/>
                <a:latin typeface="Lucida Console" panose="020B0609040504020204" pitchFamily="49" charset="0"/>
                <a:ea typeface="SFMono-Regular"/>
              </a:rPr>
              <a:t>sklearn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linear_model.LinearRegression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reg.fit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([[0, 0], [1, 1], [2, 2]], [0, 1, 2])</a:t>
            </a:r>
            <a:endParaRPr lang="en-US" altLang="en-US" sz="1600" dirty="0"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reg.coef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20000" y="4226703"/>
            <a:ext cx="2387600" cy="325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array([0.5, 0.5])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20000" y="3526768"/>
            <a:ext cx="3048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LinearRegression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()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724026" y="1578281"/>
            <a:ext cx="4572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运行的代码</a:t>
            </a:r>
            <a:endParaRPr 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7707144" y="1578280"/>
            <a:ext cx="138416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返回值</a:t>
            </a:r>
            <a:endParaRPr lang="en-US" sz="2400" dirty="0"/>
          </a:p>
        </p:txBody>
      </p:sp>
      <p:cxnSp>
        <p:nvCxnSpPr>
          <p:cNvPr id="18" name="直接连接符 17"/>
          <p:cNvCxnSpPr/>
          <p:nvPr/>
        </p:nvCxnSpPr>
        <p:spPr>
          <a:xfrm>
            <a:off x="7347626" y="1342417"/>
            <a:ext cx="0" cy="53250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724026" y="5195780"/>
            <a:ext cx="578485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reg.intercept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Lucida Console" panose="020B0609040504020204" pitchFamily="49" charset="0"/>
              </a:rPr>
              <a:t>reg.predict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Lucida Console" panose="020B0609040504020204" pitchFamily="49" charset="0"/>
              </a:rPr>
              <a:t>([[1.1,1.2]])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498450" y="5187386"/>
            <a:ext cx="3291099" cy="325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1.1102230246251565e-16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7498450" y="5818941"/>
            <a:ext cx="3291099" cy="24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array([1.15])</a:t>
            </a: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pic>
        <p:nvPicPr>
          <p:cNvPr id="17" name="图片 16" descr="\documentclass{article}&#10;\usepackage{amsmath}&#10;\usepackage{amssymb}&#10;\usepackage{bm}&#10;\pagestyle{empty}&#10;\begin{document}&#10;&#10;$f(\bm{x}) = \bm{w}^T\bm{x}+b,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973" y="4538632"/>
            <a:ext cx="2223543" cy="330972"/>
          </a:xfrm>
          <a:prstGeom prst="rect">
            <a:avLst/>
          </a:prstGeom>
        </p:spPr>
      </p:pic>
      <p:sp>
        <p:nvSpPr>
          <p:cNvPr id="19" name="矩形: 圆角 18"/>
          <p:cNvSpPr/>
          <p:nvPr/>
        </p:nvSpPr>
        <p:spPr>
          <a:xfrm>
            <a:off x="5249884" y="4480974"/>
            <a:ext cx="461323" cy="4509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: 圆角 19"/>
          <p:cNvSpPr/>
          <p:nvPr/>
        </p:nvSpPr>
        <p:spPr>
          <a:xfrm>
            <a:off x="6232542" y="4480974"/>
            <a:ext cx="206875" cy="4509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连接符: 肘形 20"/>
          <p:cNvCxnSpPr>
            <a:stCxn id="19" idx="0"/>
          </p:cNvCxnSpPr>
          <p:nvPr/>
        </p:nvCxnSpPr>
        <p:spPr>
          <a:xfrm rot="16200000" flipV="1">
            <a:off x="4182901" y="3183329"/>
            <a:ext cx="153090" cy="24422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/>
          <p:cNvCxnSpPr>
            <a:stCxn id="20" idx="2"/>
          </p:cNvCxnSpPr>
          <p:nvPr/>
        </p:nvCxnSpPr>
        <p:spPr>
          <a:xfrm rot="5400000">
            <a:off x="4771940" y="3785908"/>
            <a:ext cx="417980" cy="27101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sklearn.linear_model.LinearRegression</a:t>
            </a:r>
            <a:r>
              <a:rPr lang="en-US" altLang="zh-CN" dirty="0"/>
              <a:t>()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60</a:t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270" y="1089457"/>
            <a:ext cx="5997460" cy="2339543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3697024" y="2958958"/>
            <a:ext cx="4884194" cy="4890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942" y="4012887"/>
            <a:ext cx="6073666" cy="2095682"/>
          </a:xfrm>
          <a:prstGeom prst="rect">
            <a:avLst/>
          </a:prstGeom>
        </p:spPr>
      </p:pic>
      <p:sp>
        <p:nvSpPr>
          <p:cNvPr id="11" name="矩形: 圆角 10"/>
          <p:cNvSpPr/>
          <p:nvPr/>
        </p:nvSpPr>
        <p:spPr>
          <a:xfrm>
            <a:off x="3230309" y="4117110"/>
            <a:ext cx="4884194" cy="19914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过拟合与正则化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61</a:t>
            </a:fld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机器学习模型的泛化（</a:t>
            </a:r>
            <a:r>
              <a:rPr lang="en-US" altLang="zh-CN" dirty="0"/>
              <a:t>generalization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64214" y="1040524"/>
            <a:ext cx="8345650" cy="513644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机器学习模型在给定的数据集上训练后，需要在之前“未见过”的新样本上进行预测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机器学习模型在训练时的误差成为训练误差，在新样本上的误差成为泛化误差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62</a:t>
            </a:fld>
            <a:endParaRPr 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3384996" y="2101836"/>
            <a:ext cx="5485086" cy="3013815"/>
            <a:chOff x="1742536" y="3430037"/>
            <a:chExt cx="5485086" cy="3013815"/>
          </a:xfrm>
        </p:grpSpPr>
        <p:sp>
          <p:nvSpPr>
            <p:cNvPr id="8" name="矩形 7"/>
            <p:cNvSpPr/>
            <p:nvPr/>
          </p:nvSpPr>
          <p:spPr>
            <a:xfrm>
              <a:off x="1742536" y="3432885"/>
              <a:ext cx="948906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2764360" y="3430037"/>
              <a:ext cx="594191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标签</a:t>
              </a:r>
              <a:endParaRPr 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2518635" y="5729316"/>
              <a:ext cx="948906" cy="41626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13" name="矩形: 剪去对角 12"/>
            <p:cNvSpPr/>
            <p:nvPr/>
          </p:nvSpPr>
          <p:spPr>
            <a:xfrm>
              <a:off x="4226942" y="3720431"/>
              <a:ext cx="1345721" cy="885672"/>
            </a:xfrm>
            <a:prstGeom prst="snip2Diag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模型参数</a:t>
              </a:r>
              <a:endParaRPr lang="en-US" dirty="0"/>
            </a:p>
          </p:txBody>
        </p:sp>
        <p:sp>
          <p:nvSpPr>
            <p:cNvPr id="14" name="流程图: 文档 13"/>
            <p:cNvSpPr/>
            <p:nvPr/>
          </p:nvSpPr>
          <p:spPr>
            <a:xfrm>
              <a:off x="4226942" y="5558180"/>
              <a:ext cx="1345721" cy="885672"/>
            </a:xfrm>
            <a:prstGeom prst="flowChart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</a:t>
              </a:r>
              <a:endParaRPr 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6278716" y="5738645"/>
              <a:ext cx="948906" cy="4162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标签</a:t>
              </a:r>
              <a:endParaRPr lang="en-US" dirty="0"/>
            </a:p>
          </p:txBody>
        </p:sp>
        <p:cxnSp>
          <p:nvCxnSpPr>
            <p:cNvPr id="16" name="直接箭头连接符 15"/>
            <p:cNvCxnSpPr/>
            <p:nvPr/>
          </p:nvCxnSpPr>
          <p:spPr>
            <a:xfrm>
              <a:off x="3496574" y="4100021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3467818" y="3730689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训练</a:t>
              </a:r>
              <a:endParaRPr lang="en-US" dirty="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3536691" y="5946778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5615139" y="5937449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4226942" y="5159397"/>
              <a:ext cx="1473659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预测应用</a:t>
              </a:r>
              <a:endParaRPr lang="en-US" dirty="0"/>
            </a:p>
          </p:txBody>
        </p:sp>
        <p:cxnSp>
          <p:nvCxnSpPr>
            <p:cNvPr id="21" name="直接箭头连接符 20"/>
            <p:cNvCxnSpPr>
              <a:endCxn id="20" idx="0"/>
            </p:cNvCxnSpPr>
            <p:nvPr/>
          </p:nvCxnSpPr>
          <p:spPr>
            <a:xfrm flipH="1">
              <a:off x="4963772" y="4606103"/>
              <a:ext cx="5826" cy="55329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机器学习模型的过拟合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89542" y="1068516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我们希望模型能从训练数据集上学到适用于所有潜在样本的“</a:t>
            </a:r>
            <a:r>
              <a:rPr lang="zh-CN" altLang="en-US" dirty="0">
                <a:solidFill>
                  <a:srgbClr val="C00000"/>
                </a:solidFill>
              </a:rPr>
              <a:t>普遍规律</a:t>
            </a:r>
            <a:r>
              <a:rPr lang="zh-CN" altLang="en-US" dirty="0"/>
              <a:t>”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然而，在某些情况下，模型可能把样本自身一些特点误当成了一般的性质；这会导致泛化性能下降，这种现象被称为“</a:t>
            </a:r>
            <a:r>
              <a:rPr lang="zh-CN" altLang="en-US" dirty="0">
                <a:solidFill>
                  <a:srgbClr val="C00000"/>
                </a:solidFill>
              </a:rPr>
              <a:t>过拟合</a:t>
            </a:r>
            <a:r>
              <a:rPr lang="zh-CN" altLang="en-US" dirty="0"/>
              <a:t>” （</a:t>
            </a:r>
            <a:r>
              <a:rPr lang="en-US" altLang="zh-CN" dirty="0"/>
              <a:t>overfitting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63</a:t>
            </a:fld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机器学习模型的过拟合：示例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41496" y="1068517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分类模型：正常拟合和过拟合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64</a:t>
            </a:fld>
            <a:endParaRPr lang="en-US" dirty="0"/>
          </a:p>
        </p:txBody>
      </p:sp>
      <p:pic>
        <p:nvPicPr>
          <p:cNvPr id="1028" name="Picture 4" descr="Reach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0" y="2357328"/>
            <a:ext cx="8293100" cy="312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机器学习模型的过拟合：示例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65</a:t>
            </a:fld>
            <a:endParaRPr lang="en-US" dirty="0"/>
          </a:p>
        </p:txBody>
      </p:sp>
      <p:pic>
        <p:nvPicPr>
          <p:cNvPr id="3076" name="Picture 4" descr="How to Handle Overfitting in Deep Learning? | by Wai Yan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39913"/>
            <a:ext cx="9144000" cy="317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机器学习模型的过拟合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320442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有多种因素可能导致过拟合，其中最常见的情况是由于学习能力过于强大，以至于把样本所包含的不太一般的特性都学到了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66</a:t>
            </a:fld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模型的正则化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4134" y="1311112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“正则化”（</a:t>
            </a:r>
            <a:r>
              <a:rPr lang="en-US" altLang="zh-CN" dirty="0"/>
              <a:t>regularization</a:t>
            </a:r>
            <a:r>
              <a:rPr lang="zh-CN" altLang="en-US" dirty="0"/>
              <a:t>）是防止模型出现过拟合的方法之一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线性回归中使用正则化，通常是在我们试图最小化的损失函数中加入一个“正则化项”来调整学习的过程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67</a:t>
            </a:fld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</a:t>
            </a:r>
            <a:r>
              <a:rPr lang="en-US" altLang="zh-CN" dirty="0"/>
              <a:t>L1</a:t>
            </a:r>
            <a:r>
              <a:rPr lang="zh-CN" altLang="en-US" dirty="0"/>
              <a:t>正则化（</a:t>
            </a:r>
            <a:r>
              <a:rPr lang="en-US" altLang="zh-CN" dirty="0"/>
              <a:t>Lasso</a:t>
            </a:r>
            <a:r>
              <a:rPr lang="zh-CN" altLang="en-US" dirty="0"/>
              <a:t>回归）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68</a:t>
            </a:fld>
            <a:endParaRPr lang="en-US" dirty="0"/>
          </a:p>
        </p:txBody>
      </p:sp>
      <p:pic>
        <p:nvPicPr>
          <p:cNvPr id="24" name="图片 23" descr="IguanaTex Bitmap Display&#10;&#10;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没有正则化的线性回归: 我们希望找到满足下式的最佳 $w$ 和 $b$&#10;\[&#10;\begin{aligned}&#10;(w^*,b^*) =&amp; \argmin_{(w,b)}\sum_{i=1}^m(y_i-\bm{w}^T\bm{x}_i-b)^2&#10;\end{aligned}&#10;\]&#10;&#10;\end{document}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637" y="1154460"/>
            <a:ext cx="7652389" cy="2026491"/>
          </a:xfrm>
          <a:prstGeom prst="rect">
            <a:avLst/>
          </a:prstGeom>
        </p:spPr>
      </p:pic>
      <p:pic>
        <p:nvPicPr>
          <p:cNvPr id="32" name="图片 31" descr="IguanaTex Bitmap Display&#10;&#10;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加入 $L1$ 正则化的线性回归: 我们希望找到满足下式的最佳 $w$ 和 $b$&#10;\[&#10;\begin{aligned}&#10;(w^*,b^*) =&amp; \argmin_{(w,b)} \big[ \sum_{i=1}^m(y_i-\bm{w}^T\bm{x}_i-b)^2 + \lambda\sum_j^d|w_j|\big]&#10;\end{aligned}&#10;\]&#10;其中 $\lambda$ 是权重，$w_j$ 是 $\bm{w}$ 的第 $j$ 个元素&#10;&#10;\end{document}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837" y="3578286"/>
            <a:ext cx="7639586" cy="283672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</a:t>
            </a:r>
            <a:r>
              <a:rPr lang="en-US" altLang="zh-CN" dirty="0"/>
              <a:t>L1</a:t>
            </a:r>
            <a:r>
              <a:rPr lang="zh-CN" altLang="en-US" dirty="0"/>
              <a:t>正则化（</a:t>
            </a:r>
            <a:r>
              <a:rPr lang="en-US" altLang="zh-CN" dirty="0"/>
              <a:t>Lasso</a:t>
            </a:r>
            <a:r>
              <a:rPr lang="zh-CN" altLang="en-US" dirty="0"/>
              <a:t>回归）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Lasso </a:t>
            </a:r>
            <a:r>
              <a:rPr lang="zh-CN" altLang="en-US" dirty="0"/>
              <a:t>回归对学得的线性模型有什么影响？</a:t>
            </a:r>
            <a:endParaRPr lang="en-US" altLang="zh-CN" dirty="0"/>
          </a:p>
          <a:p>
            <a:pPr lvl="1"/>
            <a:r>
              <a:rPr lang="en-US" altLang="zh-CN" dirty="0"/>
              <a:t> 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69</a:t>
            </a:fld>
            <a:endParaRPr lang="en-US" dirty="0"/>
          </a:p>
        </p:txBody>
      </p:sp>
      <p:pic>
        <p:nvPicPr>
          <p:cNvPr id="6" name="图片 5" descr="IguanaTex Bitmap Display&#10;&#10;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(w^*,b^*) = \argmin_{(w,b)} \big[ \sum_{i=1}^m(y_i-\bm{w}^T\bm{x}_i-b)^2 + \lambda\sum_j^d|w_j|\big]&#10;\]&#10;&#10;\end{document}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017" y="993836"/>
            <a:ext cx="7271965" cy="962034"/>
          </a:xfrm>
          <a:prstGeom prst="rect">
            <a:avLst/>
          </a:prstGeom>
        </p:spPr>
      </p:pic>
      <p:pic>
        <p:nvPicPr>
          <p:cNvPr id="9" name="图片 8" descr="IguanaTex Bitmap Display&#10;&#10;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&#10;$\lambda\sum_j^d|w_j|$ 就是 $L1$ 正则化项&#10;&#10;\end{document}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917" y="2539911"/>
            <a:ext cx="3890209" cy="451754"/>
          </a:xfrm>
          <a:prstGeom prst="rect">
            <a:avLst/>
          </a:prstGeom>
        </p:spPr>
      </p:pic>
      <p:pic>
        <p:nvPicPr>
          <p:cNvPr id="15" name="图片 14" descr="IguanaTex Bitmap Display&#10;&#10;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&#10;加入正则化项之后，总体来讲，模型对于每个单一特征 $x_i$ 的``敏感程度''降低，因此抑制了过拟合&#10;&#10;&#10;\end{document}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444" y="4088242"/>
            <a:ext cx="7657874" cy="815718"/>
          </a:xfrm>
          <a:prstGeom prst="rect">
            <a:avLst/>
          </a:prstGeom>
        </p:spPr>
      </p:pic>
      <p:pic>
        <p:nvPicPr>
          <p:cNvPr id="17" name="图片 16" descr="IguanaTex Bitmap Display&#10;&#10;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&#10;Lasso正则化的``特征选择''功能：对多元线性回归，加入Lasso正则化项之后，会有更多的 $w_i$ 项为零&#10;&#10;&#10;\end{document}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445" y="5452768"/>
            <a:ext cx="7635929" cy="81571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</a:t>
            </a:r>
            <a:r>
              <a:rPr lang="en-US" altLang="zh-CN" dirty="0"/>
              <a:t>L1</a:t>
            </a:r>
            <a:r>
              <a:rPr lang="zh-CN" altLang="en-US" dirty="0"/>
              <a:t>正则化：</a:t>
            </a:r>
            <a:r>
              <a:rPr lang="en-US" altLang="zh-CN" dirty="0"/>
              <a:t> scikit-learn </a:t>
            </a:r>
            <a:r>
              <a:rPr lang="zh-CN" altLang="en-US" dirty="0"/>
              <a:t>示例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70</a:t>
            </a:fld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849" y="959091"/>
            <a:ext cx="5125437" cy="576238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</a:t>
            </a:r>
            <a:r>
              <a:rPr lang="en-US" altLang="zh-CN" dirty="0"/>
              <a:t>L1</a:t>
            </a:r>
            <a:r>
              <a:rPr lang="zh-CN" altLang="en-US" dirty="0"/>
              <a:t>正则化：</a:t>
            </a:r>
            <a:r>
              <a:rPr lang="en-US" altLang="zh-CN" dirty="0"/>
              <a:t> scikit-learn </a:t>
            </a:r>
            <a:r>
              <a:rPr lang="zh-CN" altLang="en-US" dirty="0"/>
              <a:t>示例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71</a:t>
            </a:fld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24026" y="2346007"/>
            <a:ext cx="5784850" cy="2165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E84B5"/>
                </a:solidFill>
                <a:effectLst/>
                <a:latin typeface="Lucida Console" panose="020B0609040504020204" pitchFamily="49" charset="0"/>
                <a:ea typeface="SFMono-Regular"/>
              </a:rPr>
              <a:t>sklearn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Lucida Console" panose="020B0609040504020204" pitchFamily="49" charset="0"/>
                <a:ea typeface="SFMono-Regular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Lucida Console" panose="020B0609040504020204" pitchFamily="49" charset="0"/>
                <a:ea typeface="SFMono-Regula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 = </a:t>
            </a:r>
            <a:r>
              <a:rPr kumimoji="0" lang="it-IT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linear_model.</a:t>
            </a:r>
            <a:r>
              <a:rPr kumimoji="0" lang="it-IT" altLang="en-US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Lucida Console" panose="020B0609040504020204" pitchFamily="49" charset="0"/>
              </a:rPr>
              <a:t>Lasso(alpha=0.1)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reg.fit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([[0, 0], [1, 1]], [0, 1])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reg.predict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([[1, 1]])</a:t>
            </a: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00" y="4266390"/>
            <a:ext cx="2387600" cy="24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array([0.8])</a:t>
            </a:r>
            <a:r>
              <a:rPr kumimoji="0" lang="en-US" altLang="en-US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20000" y="3526768"/>
            <a:ext cx="3048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Lucida Console" panose="020B0609040504020204" pitchFamily="49" charset="0"/>
                <a:ea typeface="SFMono-Regular"/>
              </a:rPr>
              <a:t>Lasso(alpha=0.1)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24026" y="1578281"/>
            <a:ext cx="4572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运行的代码</a:t>
            </a:r>
            <a:endParaRPr 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7707144" y="1578280"/>
            <a:ext cx="138416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返回值</a:t>
            </a:r>
            <a:endParaRPr lang="en-US" sz="2400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7347626" y="1342417"/>
            <a:ext cx="0" cy="40169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</a:t>
            </a:r>
            <a:r>
              <a:rPr lang="en-US" altLang="zh-CN" dirty="0"/>
              <a:t>L1</a:t>
            </a:r>
            <a:r>
              <a:rPr lang="zh-CN" altLang="en-US" dirty="0"/>
              <a:t>正则化：</a:t>
            </a:r>
            <a:r>
              <a:rPr lang="en-US" altLang="zh-CN" dirty="0"/>
              <a:t> scikit-learn </a:t>
            </a:r>
            <a:r>
              <a:rPr lang="zh-CN" altLang="en-US" dirty="0"/>
              <a:t>示例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72</a:t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1186394"/>
            <a:ext cx="9144000" cy="3723212"/>
          </a:xfrm>
          <a:prstGeom prst="rect">
            <a:avLst/>
          </a:prstGeom>
        </p:spPr>
      </p:pic>
      <p:pic>
        <p:nvPicPr>
          <p:cNvPr id="14" name="图片 13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\min_{(w,b)} \big[ \sum_{i=1}^m(y_i-\bm{w}^T\bm{x}_i-b)^2 + \lambda\sum_j^d|w_j|\big]&#10;\]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024" y="5104332"/>
            <a:ext cx="3626915" cy="654910"/>
          </a:xfrm>
          <a:prstGeom prst="rect">
            <a:avLst/>
          </a:prstGeom>
        </p:spPr>
      </p:pic>
      <p:sp>
        <p:nvSpPr>
          <p:cNvPr id="9" name="矩形: 圆角 8"/>
          <p:cNvSpPr/>
          <p:nvPr/>
        </p:nvSpPr>
        <p:spPr>
          <a:xfrm>
            <a:off x="3697024" y="2958959"/>
            <a:ext cx="3357826" cy="2541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图片 11" descr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alpha = \frac{\lambda}{2m}&#10;\]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269" y="5953969"/>
            <a:ext cx="1144227" cy="44947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线性回归正则化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73</a:t>
            </a:fld>
            <a:endParaRPr lang="en-US" dirty="0"/>
          </a:p>
        </p:txBody>
      </p:sp>
      <p:pic>
        <p:nvPicPr>
          <p:cNvPr id="20" name="图片 19" descr="IguanaTex Bitmap Display&#10;&#10;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&#10;常用的正则化项还有 $L2$ 正则化项 $\lambda\sum_j^d w_j^2$；带 $L2$ 正则化项的线性回归称为 Ridge 回归&#10;&#10;\end{document}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768" y="1121374"/>
            <a:ext cx="7643243" cy="877902"/>
          </a:xfrm>
          <a:prstGeom prst="rect">
            <a:avLst/>
          </a:prstGeom>
        </p:spPr>
      </p:pic>
      <p:pic>
        <p:nvPicPr>
          <p:cNvPr id="17" name="图片 16" descr="IguanaTex Bitmap Display&#10;&#10;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&#10;同时带有 $L1$ 和 $L2$ 正则化项的线性回归有时也被叫做 Elastic Net 回归&#10;&#10;\end{document}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108" y="2956524"/>
            <a:ext cx="7654217" cy="791941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线性回归正则化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74</a:t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177" y="0"/>
            <a:ext cx="57251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数据划分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75</a:t>
            </a:fld>
            <a:endParaRPr 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数据划分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74762" y="1329773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我们希望对机器学习模型的泛化误差进行评估，因此不能将所有的数据都用于模型训练</a:t>
            </a:r>
            <a:endParaRPr lang="en-US" altLang="zh-CN" dirty="0"/>
          </a:p>
          <a:p>
            <a:endParaRPr lang="en-US" dirty="0"/>
          </a:p>
          <a:p>
            <a:r>
              <a:rPr lang="zh-CN" altLang="en-US"/>
              <a:t>在有监督学习任务中，通常</a:t>
            </a:r>
            <a:r>
              <a:rPr lang="zh-CN" altLang="en-US" dirty="0"/>
              <a:t>（但不是必须），我们会将整个数据集分成三部分</a:t>
            </a:r>
            <a:endParaRPr lang="en-US" altLang="zh-CN" dirty="0"/>
          </a:p>
          <a:p>
            <a:pPr lvl="1"/>
            <a:r>
              <a:rPr lang="zh-CN" altLang="en-US" dirty="0"/>
              <a:t>训练集（</a:t>
            </a:r>
            <a:r>
              <a:rPr lang="en-US" altLang="zh-CN" dirty="0"/>
              <a:t>training set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验证集（</a:t>
            </a:r>
            <a:r>
              <a:rPr lang="en-US" altLang="zh-CN" dirty="0"/>
              <a:t>validation set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测试集（</a:t>
            </a:r>
            <a:r>
              <a:rPr lang="en-US" altLang="zh-CN" dirty="0"/>
              <a:t>testing set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76</a:t>
            </a:fld>
            <a:endParaRPr 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数据划分：训练集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训练集的数据全部用于训练模型参数</a:t>
            </a:r>
            <a:endParaRPr lang="en-US" altLang="zh-CN" dirty="0"/>
          </a:p>
          <a:p>
            <a:pPr lvl="1"/>
            <a:r>
              <a:rPr lang="zh-CN" altLang="en-US" dirty="0"/>
              <a:t>与人类学习类比，训练集可以认为是“教科书上的例题”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77</a:t>
            </a:fld>
            <a:endParaRPr 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3693685" y="2984486"/>
            <a:ext cx="5485086" cy="3013815"/>
            <a:chOff x="1742536" y="3430037"/>
            <a:chExt cx="5485086" cy="3013815"/>
          </a:xfrm>
        </p:grpSpPr>
        <p:sp>
          <p:nvSpPr>
            <p:cNvPr id="6" name="矩形 5"/>
            <p:cNvSpPr/>
            <p:nvPr/>
          </p:nvSpPr>
          <p:spPr>
            <a:xfrm>
              <a:off x="1742536" y="3432885"/>
              <a:ext cx="948906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2764360" y="3430037"/>
              <a:ext cx="594191" cy="13399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标签</a:t>
              </a:r>
              <a:endParaRPr 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2518635" y="5729316"/>
              <a:ext cx="948906" cy="41626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特征</a:t>
              </a:r>
              <a:endParaRPr lang="en-US" dirty="0"/>
            </a:p>
          </p:txBody>
        </p:sp>
        <p:sp>
          <p:nvSpPr>
            <p:cNvPr id="9" name="矩形: 剪去对角 8"/>
            <p:cNvSpPr/>
            <p:nvPr/>
          </p:nvSpPr>
          <p:spPr>
            <a:xfrm>
              <a:off x="4226942" y="3720431"/>
              <a:ext cx="1345721" cy="885672"/>
            </a:xfrm>
            <a:prstGeom prst="snip2Diag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模型参数</a:t>
              </a:r>
              <a:endParaRPr lang="en-US" dirty="0"/>
            </a:p>
          </p:txBody>
        </p:sp>
        <p:sp>
          <p:nvSpPr>
            <p:cNvPr id="10" name="流程图: 文档 9"/>
            <p:cNvSpPr/>
            <p:nvPr/>
          </p:nvSpPr>
          <p:spPr>
            <a:xfrm>
              <a:off x="4226942" y="5558180"/>
              <a:ext cx="1345721" cy="885672"/>
            </a:xfrm>
            <a:prstGeom prst="flowChart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模型</a:t>
              </a:r>
              <a:endParaRPr 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6278716" y="5738645"/>
              <a:ext cx="948906" cy="416266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标签</a:t>
              </a:r>
              <a:endParaRPr lang="en-US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3496574" y="4100021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3467818" y="3730689"/>
              <a:ext cx="72174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训练</a:t>
              </a:r>
              <a:endParaRPr 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3536691" y="5946778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5615139" y="5937449"/>
              <a:ext cx="6211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4226942" y="5159397"/>
              <a:ext cx="1473659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预测应用</a:t>
              </a:r>
              <a:endParaRPr lang="en-US" dirty="0"/>
            </a:p>
          </p:txBody>
        </p:sp>
        <p:cxnSp>
          <p:nvCxnSpPr>
            <p:cNvPr id="17" name="直接箭头连接符 16"/>
            <p:cNvCxnSpPr>
              <a:endCxn id="16" idx="0"/>
            </p:cNvCxnSpPr>
            <p:nvPr/>
          </p:nvCxnSpPr>
          <p:spPr>
            <a:xfrm flipH="1">
              <a:off x="4963772" y="4606103"/>
              <a:ext cx="5826" cy="55329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矩形: 圆角 17"/>
          <p:cNvSpPr/>
          <p:nvPr/>
        </p:nvSpPr>
        <p:spPr>
          <a:xfrm>
            <a:off x="3276600" y="2711450"/>
            <a:ext cx="2559574" cy="2002392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/>
          <p:cNvSpPr txBox="1"/>
          <p:nvPr/>
        </p:nvSpPr>
        <p:spPr>
          <a:xfrm>
            <a:off x="2189070" y="4831909"/>
            <a:ext cx="121157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训练集</a:t>
            </a:r>
            <a:endParaRPr lang="en-US" b="1" dirty="0"/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2965450" y="4713843"/>
            <a:ext cx="311150" cy="184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数据划分：测试集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4133" y="1292451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我们要保留一部分数据，作为测试集；这部分数据不用于训练，而仅仅用于评价训练好的机器模型的效果</a:t>
            </a:r>
            <a:endParaRPr lang="en-US" altLang="zh-CN" dirty="0"/>
          </a:p>
          <a:p>
            <a:pPr lvl="1"/>
            <a:r>
              <a:rPr lang="zh-CN" altLang="en-US" dirty="0"/>
              <a:t>与人类学习类比，测试集可以认为是“考试题”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理想状态：</a:t>
            </a:r>
            <a:r>
              <a:rPr lang="zh-CN" altLang="en-US" dirty="0">
                <a:solidFill>
                  <a:srgbClr val="C00000"/>
                </a:solidFill>
              </a:rPr>
              <a:t>测试集</a:t>
            </a:r>
            <a:r>
              <a:rPr lang="zh-CN" altLang="en-US" dirty="0"/>
              <a:t>的数据仅仅用于评价；在任何时候，</a:t>
            </a:r>
            <a:r>
              <a:rPr lang="zh-CN" altLang="en-US" dirty="0">
                <a:solidFill>
                  <a:srgbClr val="C00000"/>
                </a:solidFill>
              </a:rPr>
              <a:t>测试数据都不用于改进训练出的模型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78</a:t>
            </a:fld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数据划分：验证集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3464" y="1219911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仅仅靠训练集，我们能知道模型的泛化性能吗？</a:t>
            </a:r>
            <a:endParaRPr lang="en-US" altLang="zh-CN" dirty="0"/>
          </a:p>
          <a:p>
            <a:pPr lvl="1"/>
            <a:r>
              <a:rPr lang="zh-CN" altLang="en-US" dirty="0"/>
              <a:t>我们能知道模型是否过拟合了吗？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假如我们想在测试前，就初步评估一下模型的泛化性能；并依据这些初评结果，去改进机器学习模型（改进模型训练的超参数，或者更换模型，等等）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我们可以在</a:t>
            </a:r>
            <a:r>
              <a:rPr lang="zh-CN" altLang="en-US" dirty="0">
                <a:solidFill>
                  <a:srgbClr val="C00000"/>
                </a:solidFill>
              </a:rPr>
              <a:t>验证集</a:t>
            </a:r>
            <a:r>
              <a:rPr lang="zh-CN" altLang="en-US" dirty="0"/>
              <a:t>上做这样的初步评估</a:t>
            </a:r>
            <a:endParaRPr lang="en-US" altLang="zh-CN" dirty="0"/>
          </a:p>
          <a:p>
            <a:pPr lvl="1"/>
            <a:r>
              <a:rPr lang="zh-CN" altLang="en-US" dirty="0"/>
              <a:t>与人类学习类比，测试集可以认为是“练习题”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79</a:t>
            </a:fld>
            <a:endParaRPr 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数据划分：验证集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040524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为什么不在测试集上做这样的初步评估？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我们希望用初步的评估去改进训练模型；而对于测试集，在理想状态下，测试数据不能用于改进训练出的模型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80</a:t>
            </a:fld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5706634" y="4089544"/>
            <a:ext cx="1824465" cy="949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训练集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8113285" y="4089544"/>
            <a:ext cx="1151366" cy="949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验证集</a:t>
            </a:r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7117342" y="5589247"/>
            <a:ext cx="1151366" cy="94966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测试集</a:t>
            </a:r>
            <a:endParaRPr lang="en-US" dirty="0"/>
          </a:p>
        </p:txBody>
      </p:sp>
      <p:sp>
        <p:nvSpPr>
          <p:cNvPr id="8" name="矩形: 圆角 7"/>
          <p:cNvSpPr/>
          <p:nvPr/>
        </p:nvSpPr>
        <p:spPr>
          <a:xfrm>
            <a:off x="5337174" y="3943349"/>
            <a:ext cx="4387850" cy="1283949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1811548" y="4379711"/>
            <a:ext cx="343471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用这些数据“生成”机器学习模型</a:t>
            </a:r>
            <a:endParaRPr 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3556329" y="5817476"/>
            <a:ext cx="237024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评价生成的学习模型（不用于模型改进）</a:t>
            </a:r>
            <a:endParaRPr lang="en-US" b="1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数据划分：交叉验证（</a:t>
            </a:r>
            <a:r>
              <a:rPr lang="en-US" altLang="zh-CN" dirty="0"/>
              <a:t>cross validation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4134" y="1234200"/>
            <a:ext cx="8345650" cy="5487276"/>
          </a:xfrm>
        </p:spPr>
        <p:txBody>
          <a:bodyPr>
            <a:normAutofit/>
          </a:bodyPr>
          <a:lstStyle/>
          <a:p>
            <a:r>
              <a:rPr lang="zh-CN" altLang="en-US" dirty="0"/>
              <a:t>交叉验证：我们可以把同一个数据集，用不同的方式划分为训练集和验证集，然后进行多轮的“训练</a:t>
            </a:r>
            <a:r>
              <a:rPr lang="en-US" altLang="zh-CN" dirty="0"/>
              <a:t>-</a:t>
            </a:r>
            <a:r>
              <a:rPr lang="zh-CN" altLang="en-US" dirty="0"/>
              <a:t>验证”，取平均值作为初步评估结果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81</a:t>
            </a:fld>
            <a:endParaRPr 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4574451" y="3184475"/>
            <a:ext cx="2975831" cy="2051732"/>
            <a:chOff x="3020584" y="2717944"/>
            <a:chExt cx="2975831" cy="2051732"/>
          </a:xfrm>
        </p:grpSpPr>
        <p:sp>
          <p:nvSpPr>
            <p:cNvPr id="5" name="矩形 4"/>
            <p:cNvSpPr/>
            <p:nvPr/>
          </p:nvSpPr>
          <p:spPr>
            <a:xfrm>
              <a:off x="3020584" y="2717944"/>
              <a:ext cx="1824465" cy="9496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训练</a:t>
              </a:r>
              <a:endParaRPr 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845049" y="2717944"/>
              <a:ext cx="1151366" cy="94966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验证</a:t>
              </a:r>
              <a:endParaRPr 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4171950" y="3820010"/>
              <a:ext cx="1824465" cy="9496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训练</a:t>
              </a:r>
              <a:endParaRPr 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020584" y="3820010"/>
              <a:ext cx="1151366" cy="94966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验证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数据划分：交叉验证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23175" y="1234200"/>
            <a:ext cx="8345650" cy="5487276"/>
          </a:xfrm>
        </p:spPr>
        <p:txBody>
          <a:bodyPr>
            <a:normAutofit/>
          </a:bodyPr>
          <a:lstStyle/>
          <a:p>
            <a:r>
              <a:rPr lang="en-US" altLang="zh-CN" dirty="0"/>
              <a:t>K</a:t>
            </a:r>
            <a:r>
              <a:rPr lang="zh-CN" altLang="en-US" dirty="0"/>
              <a:t>折交叉验证（</a:t>
            </a:r>
            <a:r>
              <a:rPr lang="en-US" altLang="zh-CN" dirty="0"/>
              <a:t>k-fold cross validation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将数据分成</a:t>
            </a:r>
            <a:r>
              <a:rPr lang="en-US" altLang="zh-CN" dirty="0"/>
              <a:t>k</a:t>
            </a:r>
            <a:r>
              <a:rPr lang="zh-CN" altLang="en-US" dirty="0"/>
              <a:t>个大小近似的子集；取其中</a:t>
            </a:r>
            <a:r>
              <a:rPr lang="en-US" altLang="zh-CN" dirty="0"/>
              <a:t>k-1</a:t>
            </a:r>
            <a:r>
              <a:rPr lang="zh-CN" altLang="en-US" dirty="0"/>
              <a:t>个训练，剩下</a:t>
            </a:r>
            <a:r>
              <a:rPr lang="en-US" altLang="zh-CN" dirty="0"/>
              <a:t>1</a:t>
            </a:r>
            <a:r>
              <a:rPr lang="zh-CN" altLang="en-US" dirty="0"/>
              <a:t>个做验证；进行</a:t>
            </a:r>
            <a:r>
              <a:rPr lang="en-US" altLang="zh-CN" dirty="0"/>
              <a:t>k</a:t>
            </a:r>
            <a:r>
              <a:rPr lang="zh-CN" altLang="en-US" dirty="0"/>
              <a:t>轮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82</a:t>
            </a:fld>
            <a:endParaRPr lang="en-US" dirty="0"/>
          </a:p>
        </p:txBody>
      </p:sp>
      <p:pic>
        <p:nvPicPr>
          <p:cNvPr id="2050" name="Picture 2" descr="PyTorch K-Fold Cross-Validation using Dataloader and Sklearn - Knowledge  Transf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462" y="2661428"/>
            <a:ext cx="2782515" cy="357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数据划分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217807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如果数据量非常充足，可以考虑如下划分</a:t>
            </a:r>
            <a:endParaRPr lang="en-US" altLang="zh-CN" dirty="0"/>
          </a:p>
          <a:p>
            <a:pPr lvl="1"/>
            <a:r>
              <a:rPr lang="zh-CN" altLang="en-US" dirty="0"/>
              <a:t>训练集（“例题”）</a:t>
            </a:r>
            <a:r>
              <a:rPr lang="en-US" altLang="zh-CN" dirty="0"/>
              <a:t>60%</a:t>
            </a:r>
          </a:p>
          <a:p>
            <a:pPr lvl="1"/>
            <a:r>
              <a:rPr lang="zh-CN" altLang="en-US" dirty="0"/>
              <a:t>验证集（“习题”）</a:t>
            </a:r>
            <a:r>
              <a:rPr lang="en-US" altLang="zh-CN" dirty="0"/>
              <a:t>20%</a:t>
            </a:r>
          </a:p>
          <a:p>
            <a:pPr lvl="1"/>
            <a:r>
              <a:rPr lang="zh-CN" altLang="en-US" dirty="0"/>
              <a:t>测试集（“考试题”）</a:t>
            </a:r>
            <a:r>
              <a:rPr lang="en-US" altLang="zh-CN" dirty="0"/>
              <a:t>20%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如果数据量有限，可以考虑如下划分</a:t>
            </a:r>
            <a:endParaRPr lang="en-US" altLang="zh-CN" dirty="0"/>
          </a:p>
          <a:p>
            <a:pPr lvl="1"/>
            <a:r>
              <a:rPr lang="zh-CN" altLang="en-US" dirty="0"/>
              <a:t>训练集（“例题”）</a:t>
            </a:r>
            <a:r>
              <a:rPr lang="en-US" altLang="zh-CN" dirty="0"/>
              <a:t>+ </a:t>
            </a:r>
            <a:r>
              <a:rPr lang="zh-CN" altLang="en-US" dirty="0"/>
              <a:t>验证集（“习题”）</a:t>
            </a:r>
            <a:r>
              <a:rPr lang="en-US" altLang="zh-CN" dirty="0"/>
              <a:t>80%</a:t>
            </a:r>
          </a:p>
          <a:p>
            <a:pPr lvl="2"/>
            <a:r>
              <a:rPr lang="zh-CN" altLang="en-US" dirty="0"/>
              <a:t>采用</a:t>
            </a:r>
            <a:r>
              <a:rPr lang="en-US" altLang="zh-CN" dirty="0"/>
              <a:t>k</a:t>
            </a:r>
            <a:r>
              <a:rPr lang="zh-CN" altLang="en-US" dirty="0"/>
              <a:t>折交叉验证，</a:t>
            </a:r>
            <a:r>
              <a:rPr lang="en-US" altLang="zh-CN" dirty="0"/>
              <a:t>k=5~10</a:t>
            </a:r>
          </a:p>
          <a:p>
            <a:pPr lvl="1"/>
            <a:r>
              <a:rPr lang="zh-CN" altLang="en-US" dirty="0"/>
              <a:t>测试集（“考试题”）</a:t>
            </a:r>
            <a:r>
              <a:rPr lang="en-US" altLang="zh-CN" dirty="0"/>
              <a:t>20%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83</a:t>
            </a:fld>
            <a:endParaRPr 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数据划分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4803" y="1311113"/>
            <a:ext cx="8345650" cy="5136440"/>
          </a:xfrm>
        </p:spPr>
        <p:txBody>
          <a:bodyPr>
            <a:normAutofit/>
          </a:bodyPr>
          <a:lstStyle/>
          <a:p>
            <a:r>
              <a:rPr lang="zh-CN" altLang="en-US" dirty="0"/>
              <a:t>提问：机器学习是否一定要做验证（包括使用专门的验证集，以及使用交叉验证）？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提问：机器学习是否一定要保留数据作为“测试集”？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73D6C-392A-46A2-A751-B42838D7A247}" type="slidenum">
              <a:rPr lang="en-US" smtClean="0"/>
              <a:t>84</a:t>
            </a:fld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102.7372"/>
  <p:tag name="LATEXADDIN" val="\documentclass{article}&#10;\usepackage{amsmath}&#10;\pagestyle{empty}&#10;\begin{document}&#10;&#10;$m$&#10;&#10;\end{document}"/>
  <p:tag name="IGUANATEXSIZE" val="24"/>
  <p:tag name="IGUANATEXCURSOR" val="83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811.3986"/>
  <p:tag name="LATEXADDIN" val="\documentclass{article}&#10;\usepackage{amsmath}&#10;\pagestyle{empty}&#10;\begin{document}&#10;&#10;$i\in  \{1,2,...,m\}$&#10;&#10;\end{document}"/>
  <p:tag name="IGUANATEXSIZE" val="24"/>
  <p:tag name="IGUANATEXCURSOR" val="99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1086.614"/>
  <p:tag name="LATEXADDIN" val="\documentclass{article}&#10;\usepackage{amsmath}&#10;\usepackage{amssymb}&#10;\pagestyle{empty}&#10;\begin{document}&#10;&#10;$x^{(i)} = [x_1^{(i)},...,x_d^{(i)}]^T $&#10;&#10;\end{document}"/>
  <p:tag name="IGUANATEXSIZE" val="24"/>
  <p:tag name="IGUANATEXCURSOR" val="141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3905"/>
  <p:tag name="ORIGINALWIDTH" val="59.99252"/>
  <p:tag name="LATEXADDIN" val="\documentclass{article}&#10;\usepackage{amsmath}&#10;\pagestyle{empty}&#10;\begin{document}&#10;&#10;$d$&#10;&#10;\end{document}"/>
  <p:tag name="IGUANATEXSIZE" val="24"/>
  <p:tag name="IGUANATEXCURSOR" val="83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331"/>
  <p:tag name="ORIGINALWIDTH" val="1034.871"/>
  <p:tag name="LATEXADDIN" val="\documentclass{article}&#10;\usepackage{amsmath}&#10;\usepackage{amssymb}&#10;\usepackage{bm}&#10;\pagestyle{empty}&#10;\begin{document}&#10;&#10;$\bm{x} = [x_1,x_2,...,x_d]^T$&#10;&#10;\end{document}"/>
  <p:tag name="IGUANATEXSIZE" val="24"/>
  <p:tag name="IGUANATEXCURSOR" val="125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\end{document}"/>
  <p:tag name="IGUANATEXSIZE" val="24"/>
  <p:tag name="IGUANATEXCURSOR" val="85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99291"/>
  <p:tag name="ORIGINALWIDTH" val="71.2411"/>
  <p:tag name="LATEXADDIN" val="\documentclass{article}&#10;\usepackage{amsmath}&#10;\usepackage{bm}&#10;\pagestyle{empty}&#10;\begin{document}&#10;&#10;$\bm{x}$&#10;&#10;\end{document}"/>
  <p:tag name="IGUANATEXSIZE" val="24"/>
  <p:tag name="IGUANATEXCURSOR" val="104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2366"/>
  <p:tag name="ORIGINALWIDTH" val="51.74354"/>
  <p:tag name="LATEXADDIN" val="\documentclass{article}&#10;\usepackage{amsmath}&#10;\pagestyle{empty}&#10;\begin{document}&#10;&#10;$j$&#10;&#10;\end{document}"/>
  <p:tag name="IGUANATEXSIZE" val="24"/>
  <p:tag name="IGUANATEXCURSOR" val="83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24.747"/>
  <p:tag name="LATEXADDIN" val="\documentclass{article}&#10;\usepackage{amsmath}&#10;\usepackage{amssymb}&#10;\usepackage{bm}&#10;\pagestyle{empty}&#10;\begin{document}&#10;&#10;$f(\bm{x}) = w_1x_1 + w_2x_2 + ... + w_dx_d + b,$&#10;&#10;\end{document}"/>
  <p:tag name="IGUANATEXSIZE" val="24"/>
  <p:tag name="IGUANATEXCURSOR" val="127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331"/>
  <p:tag name="ORIGINALWIDTH" val="911.886"/>
  <p:tag name="LATEXADDIN" val="\documentclass{article}&#10;\usepackage{amsmath}&#10;\usepackage{amssymb}&#10;\usepackage{bm}&#10;\pagestyle{empty}&#10;\begin{document}&#10;&#10;$f(\bm{x}) = \bm{w}^T\bm{x}+b,$&#10;&#10;\end{document}"/>
  <p:tag name="IGUANATEXSIZE" val="24"/>
  <p:tag name="IGUANATEXCURSOR" val="145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331"/>
  <p:tag name="ORIGINALWIDTH" val="1147.357"/>
  <p:tag name="LATEXADDIN" val="\documentclass{article}&#10;\usepackage{amsmath}&#10;\usepackage{amssymb}&#10;\usepackage{bm}&#10;\pagestyle{empty}&#10;\begin{document}&#10;&#10;$\bm{w} = [w_1,w_2,...,w_d]^T.$&#10;&#10;\end{document}"/>
  <p:tag name="IGUANATEXSIZE" val="24"/>
  <p:tag name="IGUANATEXCURSOR" val="125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9.7338"/>
  <p:tag name="ORIGINALWIDTH" val="3100.113"/>
  <p:tag name="LATEXADDIN" val="\documentclass[UTF8]{article}&#10;\usepackage{amsmath}&#10;\usepackage{amssymb}&#10;\usepackage{bm}&#10;\usepackage{CTEX}&#10;\pagestyle{empty}&#10;\begin{document}&#10;&#10;\heiti&#10;&#10;在学得 $\bm{w}$ 和 $b$（即模型参数）之后，模型就得以确定。&#10;&#10;\end{document}"/>
  <p:tag name="IGUANATEXSIZE" val="24"/>
  <p:tag name="IGUANATEXCURSOR" val="165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5.958"/>
  <p:tag name="ORIGINALWIDTH" val="3028.122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&#10;$f_{\text{score}}(\bm{x}) = 0.2x_{\text{homework}} + 0.3x_{\text{mid-term}} + 0.5x_{\text{final}}$&#10;&#10;$f_{\text{score}}(\bm{x}) = 0.2x_{\text{homework}} + 0.2x_{\text{mid-term}} + 0.4x_{\text{final}} + 20$&#10;&#10;\end{document}"/>
  <p:tag name="IGUANATEXSIZE" val="24"/>
  <p:tag name="IGUANATEXCURSOR" val="399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2.4109"/>
  <p:tag name="ORIGINALWIDTH" val="1826.772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\[&#10;\begin{aligned} &#10;f_{\text{price}}(\bm{x}) =&amp; 8x_{\text{weight}} + 5x_{\text{size}} + 10 \\&#10;=&amp; &#10;\underbrace{\begin{bmatrix}&#10;8 &amp; 5&#10;\end{bmatrix}}_{\bm{w}^T} \begin{bmatrix}&#10;x_{\text{weight}} \\ x_{\text{size}}&#10;\end{bmatrix}&#10;+ 10&#10;\end{aligned}&#10;\]&#10;&#10;&#10;&#10;\end{document}"/>
  <p:tag name="IGUANATEXSIZE" val="24"/>
  <p:tag name="IGUANATEXCURSOR" val="373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7.709"/>
  <p:tag name="ORIGINALWIDTH" val="3138.358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&#10;由于 $\bm{w}$ 直观地表达了各特征在模型中的重要性，因此线性模型具有很好的可解释性&#10;&#10;\end{document}"/>
  <p:tag name="IGUANATEXSIZE" val="24"/>
  <p:tag name="IGUANATEXCURSOR" val="230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6.4567"/>
  <p:tag name="ORIGINALWIDTH" val="3128.609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给定数据集 $D=\{(\bm{x}_1,y_1),(\bm{x}_2,y_2),...,(\bm{x}_m,y_m)\}$，其中 $\bm{x}_i = [x_{i1},x_{i2},...,x_{id}]^T\in \mathbb{R}^d$, $y_i \in \mathbb{R}$.&#10;&#10;\end{document}"/>
  <p:tag name="IGUANATEXSIZE" val="24"/>
  <p:tag name="IGUANATEXCURSOR" val="275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0.4574"/>
  <p:tag name="ORIGINALWIDTH" val="1763.78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$d$ 维列向量 $\bm{x}_i$ 代表一系列特征&#10;&#10;标量 $y_i$ 代表标签&#10;&#10;\end{document}"/>
  <p:tag name="IGUANATEXSIZE" val="24"/>
  <p:tag name="IGUANATEXCURSOR" val="255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4.207"/>
  <p:tag name="ORIGINALWIDTH" val="1836.52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即 $f(\bm{x}_i) = \bm{w}^T\bm{x}_i+b$&#10;&#10;对每个 $i$, $f(\bm{x}_i)$ 应尽可能接近 $y_i$&#10;&#10;\end{document}"/>
  <p:tag name="IGUANATEXSIZE" val="24"/>
  <p:tag name="IGUANATEXCURSOR" val="219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2560.18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$(\bm{x}_i,y_i)$ 是已知的，需要学习的参数是 $\bm{w}$ 和 $b$&#10;&#10;\end{document}"/>
  <p:tag name="IGUANATEXSIZE" val="24"/>
  <p:tag name="IGUANATEXCURSOR" val="234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3.9595"/>
  <p:tag name="ORIGINALWIDTH" val="2035.996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$D=\{(x_1,y_1),(x_2,y_2),...,(x_m,y_m)\}$,&#10;&#10;其中$x_i \in \mathbb{R}$&#10;&#10;\end{document}"/>
  <p:tag name="IGUANATEXSIZE" val="24"/>
  <p:tag name="IGUANATEXCURSOR" val="259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1848.519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$f(x_i) = wx_i +b$, 使得 $f(x_i) \approx y_i$&#10;&#10;\end{document}"/>
  <p:tag name="IGUANATEXSIZE" val="24"/>
  <p:tag name="IGUANATEXCURSOR" val="240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4.4582"/>
  <p:tag name="ORIGINALWIDTH" val="3137.608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如何确定 $w$ 和 $b$ 呢？我们首先定义 $f(x)$ 和 $y$ 之间的差别，然后建立一个优化问题，来最小化这个差别&#10;&#10;\end{document}"/>
  <p:tag name="IGUANATEXSIZE" val="24"/>
  <p:tag name="IGUANATEXCURSOR" val="279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0.1462"/>
  <p:tag name="ORIGINALWIDTH" val="3136.108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我们用 $[f(x)-y]^2$ 来度量预测值 $f(x)$ 和真实值 $y$ 的差别。&#10;考虑全部的 $m$ 个样本，则差别之和为&#10;\[&#10;\sum_{i=1}^m[f(x_i)-y_i]^2&#10;\]&#10;&#10;\end{document}"/>
  <p:tag name="IGUANATEXSIZE" val="24"/>
  <p:tag name="IGUANATEXCURSOR" val="220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55.118"/>
  <p:tag name="ORIGINALWIDTH" val="3022.122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我们希望找到最佳的 $w$ 和 $b$，使这个误差最小化，即&#10;\[&#10;\begin{aligned}&#10;(w^*,b^*) = &amp; \argmin_{(w,b)}\sum_{i=1}^m[f(x_i)-y_i]^2 \\&#10;=&amp; \argmin_{(w,b)}\sum_{i=1}^m(y_i-wx_i-b)^2&#10;\end{aligned}&#10;\]&#10;&#10;\end{document}"/>
  <p:tag name="IGUANATEXSIZE" val="24"/>
  <p:tag name="IGUANATEXCURSOR" val="410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863.1422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\[&#10;\sum_{i=1}^m[f(x_i)-y_i]^2&#10;\]&#10;&#10;\end{document}"/>
  <p:tag name="IGUANATEXSIZE" val="24"/>
  <p:tag name="IGUANATEXCURSOR" val="216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2306.712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定义函数 $E(w,b) = \sum_{i=1}^m(y_i-wx_i-b)^2$&#10;&#10;&#10;\end{document}"/>
  <p:tag name="IGUANATEXSIZE" val="24"/>
  <p:tag name="IGUANATEXCURSOR" val="312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6.4567"/>
  <p:tag name="ORIGINALWIDTH" val="3129.359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目标是求 $ (w^*,b^*) = \argmin_{(w,b)}E(w,b)$, 即该函数取最小值时的 $(w,b)$&#10;&#10;&#10;\end{document}"/>
  <p:tag name="IGUANATEXSIZE" val="24"/>
  <p:tag name="IGUANATEXCURSOR" val="361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7.709"/>
  <p:tag name="ORIGINALWIDTH" val="3137.608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$E(w,b)$ 是关于 $w$ 和 $b$ 的连续可导的函数，我们可将其分别对 $w$ 和 $b$ 求导&#10;&#10;&#10;\end{document}"/>
  <p:tag name="IGUANATEXSIZE" val="24"/>
  <p:tag name="IGUANATEXCURSOR" val="306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2236.22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\frac{\partial E(w,b)}{\partial w} = 2 \Big(&#10;w \sum_{i=1}^m x_i^2 - \sum_{i=1}^m(y_i-b)x_i&#10;\Big)&#10;\]&#10;&#10;&#10;\end{document}"/>
  <p:tag name="IGUANATEXSIZE" val="24"/>
  <p:tag name="IGUANATEXCURSOR" val="393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1950.506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\frac{\partial E(w,b)}{\partial b} = 2 \Big(&#10;mb - \sum_{i=1}^m(y-wx_i)&#10;\Big)&#10;\]&#10;&#10;&#10;\end{document}"/>
  <p:tag name="IGUANATEXSIZE" val="24"/>
  <p:tag name="IGUANATEXCURSOR" val="352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5.4593"/>
  <p:tag name="ORIGINALWIDTH" val="3139.107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令上述两个偏导为零，可得到 $w$ 和 $b$ 最优解的闭式形式（closed-form）&#10;&#10;&#10;\end{document}"/>
  <p:tag name="IGUANATEXSIZE" val="24"/>
  <p:tag name="IGUANATEXCURSOR" val="344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4.4544"/>
  <p:tag name="ORIGINALWIDTH" val="1663.292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w = \frac{\sum_{i=1}^m y_i(x_i-\bar{x})}&#10;{\sum_{i=1}^m x_i^2 - \frac{1}{m}\big(\sum_{i=1}^m x_i\big)^2}&#10;\]&#10;&#10;&#10;\end{document}"/>
  <p:tag name="IGUANATEXSIZE" val="24"/>
  <p:tag name="IGUANATEXCURSOR" val="405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1151.106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b = \frac{1}{m}\sum_{i=1}^m(y_i - w x_i)&#10;\]&#10;&#10;&#10;\end{document}"/>
  <p:tag name="IGUANATEXSIZE" val="24"/>
  <p:tag name="IGUANATEXCURSOR" val="342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2306"/>
  <p:tag name="ORIGINALWIDTH" val="1859.018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其中 $\bar{x} = \frac{1}{m} \sum_{i=1}^m x_i$ 是 $x$ 的均值&#10;&#10;&#10;\end{document}"/>
  <p:tag name="IGUANATEXSIZE" val="24"/>
  <p:tag name="IGUANATEXCURSOR" val="348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1.1811"/>
  <p:tag name="ORIGINALWIDTH" val="3137.608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在更一般的场景中，每个样本有 $d$ 个特征。给定的数据集 $D=\{(\bm{x}_1,y_1),(\bm{x}_2,y_2),...,(\bm{x}_m,y_m)\}$，其中 $\bm{x}_i = [x_{i1},x_{i2},...,x_{id}]^T\in \mathbb{R}^d$, $y_i \in \mathbb{R}$.&#10;&#10;\end{document}"/>
  <p:tag name="IGUANATEXSIZE" val="24"/>
  <p:tag name="IGUANATEXCURSOR" val="387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3068.616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&#10;此时我们试图学得&#10;$f(\bm{x}_i) = \bm{w}^T\bm{x}_i +b$, 使得 $f(\bm{x}_i) \approx y_i$&#10;&#10;\end{document}"/>
  <p:tag name="IGUANATEXSIZE" val="24"/>
  <p:tag name="IGUANATEXCURSOR" val="276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.2336"/>
  <p:tag name="ORIGINALWIDTH" val="303.712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&#10;$(\bm{w},b)$&#10;&#10;\end{document}"/>
  <p:tag name="IGUANATEXSIZE" val="24"/>
  <p:tag name="IGUANATEXCURSOR" val="217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2860.142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$\bm{x} \in \mathbb{R}^?$ $\bm{w} \in \mathbb{R}^?$ $f(\bm{x}) = \bm{w}^T\bm{x} +b$ 在几何上是什么？&#10;&#10;&#10;\end{document}"/>
  <p:tag name="IGUANATEXSIZE" val="24"/>
  <p:tag name="IGUANATEXCURSOR" val="389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3056.618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$\bm{x} \in \mathbb{R}^2$ $\bm{w} \in \mathbb{R}^2$ $f(\bm{x}) = \bm{w}^T\bm{x} +b$ 在几何上是一个平面&#10;&#10;&#10;\end{document}"/>
  <p:tag name="IGUANATEXSIZE" val="24"/>
  <p:tag name="IGUANATEXCURSOR" val="393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9832"/>
  <p:tag name="ORIGINALWIDTH" val="2347.957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我们把线性回归模型简写为&#10;$y = \bm{w}^T\bm{x} +b$&#10;&#10;\end{document}"/>
  <p:tag name="IGUANATEXSIZE" val="24"/>
  <p:tag name="IGUANATEXCURSOR" val="254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9.9063"/>
  <p:tag name="ORIGINALWIDTH" val="3139.107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假如我们认为样本的标签相对于特征是在指数尺度上变化的，那么我们可以将标签 $y$ 的对数作为线性模型逼近的目标，即&#10;\[&#10;\ln y = \bm{w}^T\bm{x} +b&#10;\]&#10;&#10;\end{document}"/>
  <p:tag name="IGUANATEXSIZE" val="24"/>
  <p:tag name="IGUANATEXCURSOR" val="306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6.9591"/>
  <p:tag name="ORIGINALWIDTH" val="3133.108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这就是对数线性回归（log-linear regression），其训练的过程本质依旧是线性回归&#10;&#10;\end{document}"/>
  <p:tag name="IGUANATEXSIZE" val="24"/>
  <p:tag name="IGUANATEXCURSOR" val="265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4.207"/>
  <p:tag name="ORIGINALWIDTH" val="2482.19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$\ln y = \bm{w}^T\bm{x} +b$&#10;&#10;对数线性回归试图让 $f(\bm{x}) = e^{\bm{w}^T\bm{x}+b}$ 逼近 $y$&#10;&#10;\end{document}"/>
  <p:tag name="IGUANATEXSIZE" val="24"/>
  <p:tag name="IGUANATEXCURSOR" val="269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9.314"/>
  <p:tag name="ORIGINALWIDTH" val="3141.357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更一般地，考虑单调可微函数 $g(\cdot)$, 令&#10;\[&#10;g(y) = \bm{w}^T\bm{x} +b,&#10;\]&#10;或其等价形式&#10;\[&#10;y = g^{-1}(\bm{w}^T\bm{x} +b)&#10;\]&#10;&#10;这样得到的模型成为``广义线性模型''(generalized linear model)&#10;&#10;\end{document}"/>
  <p:tag name="IGUANATEXSIZE" val="24"/>
  <p:tag name="IGUANATEXCURSOR" val="340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.7323"/>
  <p:tag name="ORIGINALWIDTH" val="3065.617"/>
  <p:tag name="LATEXADDIN" val="\documentclass[UTF8]{article}&#10;\usepackage{amsmath}&#10;\usepackage{amssymb}&#10;\usepackage{bm}&#10;\usepackage{CTEX}&#10;\usepackage [margin=2.5in] {geometry}&#10;&#10;\pagestyle{empty}&#10;&#10;\begin{document}&#10;\heiti&#10;\setlength{\parindent}{0pt}&#10;&#10;对数线性回归是广义线性模型在 $g(\cdot) = \ln (\cdot)$ 时的特例&#10;&#10;\end{document}"/>
  <p:tag name="IGUANATEXSIZE" val="24"/>
  <p:tag name="IGUANATEXCURSOR" val="261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331"/>
  <p:tag name="ORIGINALWIDTH" val="911.886"/>
  <p:tag name="LATEXADDIN" val="\documentclass{article}&#10;\usepackage{amsmath}&#10;\usepackage{amssymb}&#10;\usepackage{bm}&#10;\pagestyle{empty}&#10;\begin{document}&#10;&#10;$f(\bm{x}) = \bm{w}^T\bm{x}+b,$&#10;&#10;\end{document}"/>
  <p:tag name="IGUANATEXSIZE" val="24"/>
  <p:tag name="IGUANATEXCURSOR" val="145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.7331"/>
  <p:tag name="ORIGINALWIDTH" val="911.886"/>
  <p:tag name="LATEXADDIN" val="\documentclass{article}&#10;\usepackage{amsmath}&#10;\usepackage{amssymb}&#10;\usepackage{bm}&#10;\pagestyle{empty}&#10;\begin{document}&#10;&#10;$f(\bm{x}) = \bm{w}^T\bm{x}+b,$&#10;&#10;\end{document}"/>
  <p:tag name="IGUANATEXSIZE" val="24"/>
  <p:tag name="IGUANATEXCURSOR" val="145"/>
  <p:tag name="TRANSPARENCY" val="True"/>
  <p:tag name="FILENAME" val=""/>
  <p:tag name="LATEXENGINEID" val="0"/>
  <p:tag name="TEMPFOLDER" val="D:\Ent\temp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0.8961"/>
  <p:tag name="ORIGINALWIDTH" val="3137.608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没有正则化的线性回归: 我们希望找到满足下式的最佳 $w$ 和 $b$&#10;\[&#10;\begin{aligned}&#10;(w^*,b^*) =&amp; \argmin_{(w,b)}\sum_{i=1}^m(y_i-\bm{w}^T\bm{x}_i-b)^2&#10;\end{aligned}&#10;\]&#10;&#10;\end{document}"/>
  <p:tag name="IGUANATEXSIZE" val="24"/>
  <p:tag name="IGUANATEXCURSOR" val="300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3.105"/>
  <p:tag name="ORIGINALWIDTH" val="3132.358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加入 $L1$ 正则化的线性回归: 我们希望找到满足下式的最佳 $w$ 和 $b$&#10;\[&#10;\begin{aligned}&#10;(w^*,b^*) =&amp; \argmin_{(w,b)} \big[ \sum_{i=1}^m(y_i-\bm{w}^T\bm{x}_i-b)^2 + \lambda\sum_j^d|w_j|\big]&#10;\end{aligned}&#10;\]&#10;其中 $\lambda$ 是权重，$w_j$ 是 $\bm{w}$ 的第 $j$ 个元素&#10;&#10;\end{document}"/>
  <p:tag name="IGUANATEXSIZE" val="24"/>
  <p:tag name="IGUANATEXCURSOR" val="302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4.4507"/>
  <p:tag name="ORIGINALWIDTH" val="2981.627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(w^*,b^*) = \argmin_{(w,b)} \big[ \sum_{i=1}^m(y_i-\bm{w}^T\bm{x}_i-b)^2 + \lambda\sum_j^d|w_j|\big]&#10;\]&#10;&#10;\end{document}"/>
  <p:tag name="IGUANATEXSIZE" val="24"/>
  <p:tag name="IGUANATEXCURSOR" val="403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2269"/>
  <p:tag name="ORIGINALWIDTH" val="1595.051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&#10;$\lambda\sum_j^d|w_j|$ 就是 $L1$ 正则化项&#10;&#10;\end{document}"/>
  <p:tag name="IGUANATEXSIZE" val="24"/>
  <p:tag name="IGUANATEXCURSOR" val="322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4.4582"/>
  <p:tag name="ORIGINALWIDTH" val="3139.858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&#10;加入正则化项之后，总体来讲，模型对于每个单一特征 $x_i$ 的``敏感程度''降低，因此抑制了过拟合&#10;&#10;&#10;\end{document}"/>
  <p:tag name="IGUANATEXSIZE" val="24"/>
  <p:tag name="IGUANATEXCURSOR" val="352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4.4582"/>
  <p:tag name="ORIGINALWIDTH" val="3130.859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&#10;Lasso正则化的``特征选择''功能：对多元线性回归，加入Lasso正则化项之后，会有更多的 $w_i$ 项为零&#10;&#10;&#10;\end{document}"/>
  <p:tag name="IGUANATEXSIZE" val="24"/>
  <p:tag name="IGUANATEXCURSOR" val="321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4.4507"/>
  <p:tag name="ORIGINALWIDTH" val="2184.477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\min_{(w,b)} \big[ \sum_{i=1}^m(y_i-\bm{w}^T\bm{x}_i-b)^2 + \lambda\sum_j^d|w_j|\big]&#10;\]&#10;&#10;\end{document}"/>
  <p:tag name="IGUANATEXSIZE" val="24"/>
  <p:tag name="IGUANATEXCURSOR" val="304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0.7162"/>
  <p:tag name="ORIGINALWIDTH" val="689.1639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\[&#10;alpha = \frac{\lambda}{2m}&#10;\]&#10;&#10;\end{document}"/>
  <p:tag name="IGUANATEXSIZE" val="24"/>
  <p:tag name="IGUANATEXCURSOR" val="329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955"/>
  <p:tag name="ORIGINALWIDTH" val="3133.858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&#10;常用的正则化项还有 $L2$ 正则化项 $\lambda\sum_j^d w_j^2$；带 $L2$ 正则化项的线性回归称为 Ridge 回归&#10;&#10;\end{document}"/>
  <p:tag name="IGUANATEXSIZE" val="24"/>
  <p:tag name="IGUANATEXCURSOR" val="362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4.7094"/>
  <p:tag name="ORIGINALWIDTH" val="3138.358"/>
  <p:tag name="LATEXADDIN" val="\documentclass[UTF8]{article}&#10;\usepackage{amsmath}&#10;\usepackage{amssymb}&#10;\usepackage{bm}&#10;\usepackage{CTEX}&#10;\usepackage [margin=2.5in] {geometry}&#10;&#10;\DeclareMathOperator*{\argmax}{arg\,max}&#10;\DeclareMathOperator*{\argmin}{arg\,min}&#10;&#10;\pagestyle{empty}&#10;&#10;\begin{document}&#10;\heiti&#10;\setlength{\parindent}{0pt}&#10;&#10;&#10;同时带有 $L1$ 和 $L2$ 正则化项的线性回归有时也被叫做 Elastic Net 回归&#10;&#10;\end{document}"/>
  <p:tag name="IGUANATEXSIZE" val="24"/>
  <p:tag name="IGUANATEXCURSOR" val="348"/>
  <p:tag name="TRANSPARENCY" val="True"/>
  <p:tag name="FILENAME" val=""/>
  <p:tag name="LATEXENGINEID" val="0"/>
  <p:tag name="TEMPFOLDER" val="D:\Ent\temp\"/>
  <p:tag name="LATEXFORMHEIGHT" val="481.2"/>
  <p:tag name="LATEXFORMWIDTH" val="422.4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libri Light"/>
        <a:ea typeface="雅虎"/>
        <a:cs typeface=""/>
      </a:majorFont>
      <a:minorFont>
        <a:latin typeface="Calibri"/>
        <a:ea typeface="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</TotalTime>
  <Words>9028</Words>
  <Application>Microsoft Office PowerPoint</Application>
  <PresentationFormat>宽屏</PresentationFormat>
  <Paragraphs>863</Paragraphs>
  <Slides>84</Slides>
  <Notes>83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94" baseType="lpstr">
      <vt:lpstr>Inter</vt:lpstr>
      <vt:lpstr>SFMono-Regular</vt:lpstr>
      <vt:lpstr>等线</vt:lpstr>
      <vt:lpstr>雅黑</vt:lpstr>
      <vt:lpstr>雅虎</vt:lpstr>
      <vt:lpstr>Arial</vt:lpstr>
      <vt:lpstr>Calibri</vt:lpstr>
      <vt:lpstr>Calibri Light</vt:lpstr>
      <vt:lpstr>Lucida Console</vt:lpstr>
      <vt:lpstr>Office 主题​​</vt:lpstr>
      <vt:lpstr>人工智能与深度学习</vt:lpstr>
      <vt:lpstr>机器学习与人工智能</vt:lpstr>
      <vt:lpstr>机器学习问题示例</vt:lpstr>
      <vt:lpstr>机器学习与人工智能的关系</vt:lpstr>
      <vt:lpstr>机器学习基础</vt:lpstr>
      <vt:lpstr>机器学习</vt:lpstr>
      <vt:lpstr>机器学习中的基础术语</vt:lpstr>
      <vt:lpstr>波士顿房价数据</vt:lpstr>
      <vt:lpstr>标签：ImageNet</vt:lpstr>
      <vt:lpstr>标签： ImageNet</vt:lpstr>
      <vt:lpstr>标签：自动驾驶视觉图像</vt:lpstr>
      <vt:lpstr>标签：自动驾驶视觉图像</vt:lpstr>
      <vt:lpstr>标签</vt:lpstr>
      <vt:lpstr>机器学习中的基本概念</vt:lpstr>
      <vt:lpstr>机器学习中的基本概念</vt:lpstr>
      <vt:lpstr>机器学习中的基本概念</vt:lpstr>
      <vt:lpstr>机器学习分类</vt:lpstr>
      <vt:lpstr>有监督学习</vt:lpstr>
      <vt:lpstr>有监督学习示例</vt:lpstr>
      <vt:lpstr>无监督学习</vt:lpstr>
      <vt:lpstr>无监督学习示例：自动聚类</vt:lpstr>
      <vt:lpstr>无监督学习示例：无监督异常检测</vt:lpstr>
      <vt:lpstr>半监督学习</vt:lpstr>
      <vt:lpstr>自监督学习</vt:lpstr>
      <vt:lpstr>自监督学习示例</vt:lpstr>
      <vt:lpstr>主动学习</vt:lpstr>
      <vt:lpstr>强化学习</vt:lpstr>
      <vt:lpstr>以下应用，可以用哪类机器学习？</vt:lpstr>
      <vt:lpstr>线性回归模型 （Linear Regression Models）</vt:lpstr>
      <vt:lpstr>线性模型的基本形式</vt:lpstr>
      <vt:lpstr>线性模型示例</vt:lpstr>
      <vt:lpstr>线性回归</vt:lpstr>
      <vt:lpstr>线性回归：一维简单情形</vt:lpstr>
      <vt:lpstr>线性回归：一维简单情形</vt:lpstr>
      <vt:lpstr>线性回归：一维简单情形</vt:lpstr>
      <vt:lpstr>线性回归：一维简单情形</vt:lpstr>
      <vt:lpstr>线性回归：一维简单情形</vt:lpstr>
      <vt:lpstr>线性回归：一维简单情形</vt:lpstr>
      <vt:lpstr>线性回归：一维简单情形</vt:lpstr>
      <vt:lpstr>线性回归：多维情形</vt:lpstr>
      <vt:lpstr>线性回归：多维情形</vt:lpstr>
      <vt:lpstr>线性回归：多维情形</vt:lpstr>
      <vt:lpstr>广义线性回归模型</vt:lpstr>
      <vt:lpstr>对数线性回归</vt:lpstr>
      <vt:lpstr>对数线性回归</vt:lpstr>
      <vt:lpstr>广义线性回归</vt:lpstr>
      <vt:lpstr>scikit-learn</vt:lpstr>
      <vt:lpstr>scikit-learn</vt:lpstr>
      <vt:lpstr>scikit-learn</vt:lpstr>
      <vt:lpstr>scikit-learn 中线性回归最简代码</vt:lpstr>
      <vt:lpstr>scikit-learn 中线性回归最简代码</vt:lpstr>
      <vt:lpstr>sklearn.linear_model.LinearRegression()</vt:lpstr>
      <vt:lpstr>sklearn.linear_model.LinearRegression()</vt:lpstr>
      <vt:lpstr>scikit-learn 中线性回归最简代码</vt:lpstr>
      <vt:lpstr>sklearn.linear_model.LinearRegression()</vt:lpstr>
      <vt:lpstr>scikit-learn 中线性回归最简代码</vt:lpstr>
      <vt:lpstr>sklearn.linear_model.LinearRegression()</vt:lpstr>
      <vt:lpstr>scikit-learn 中线性回归最简代码</vt:lpstr>
      <vt:lpstr>scikit-learn 中线性回归最简代码</vt:lpstr>
      <vt:lpstr>sklearn.linear_model.LinearRegression()</vt:lpstr>
      <vt:lpstr>过拟合与正则化</vt:lpstr>
      <vt:lpstr>机器学习模型的泛化（generalization）</vt:lpstr>
      <vt:lpstr>机器学习模型的过拟合</vt:lpstr>
      <vt:lpstr>机器学习模型的过拟合：示例</vt:lpstr>
      <vt:lpstr>机器学习模型的过拟合：示例</vt:lpstr>
      <vt:lpstr>机器学习模型的过拟合</vt:lpstr>
      <vt:lpstr>模型的正则化</vt:lpstr>
      <vt:lpstr>线性回归L1正则化（Lasso回归）</vt:lpstr>
      <vt:lpstr>线性回归L1正则化（Lasso回归）</vt:lpstr>
      <vt:lpstr>线性回归L1正则化： scikit-learn 示例</vt:lpstr>
      <vt:lpstr>线性回归L1正则化： scikit-learn 示例</vt:lpstr>
      <vt:lpstr>线性回归L1正则化： scikit-learn 示例</vt:lpstr>
      <vt:lpstr>线性回归正则化</vt:lpstr>
      <vt:lpstr>线性回归正则化</vt:lpstr>
      <vt:lpstr>数据划分</vt:lpstr>
      <vt:lpstr>数据划分</vt:lpstr>
      <vt:lpstr>数据划分：训练集</vt:lpstr>
      <vt:lpstr>数据划分：测试集</vt:lpstr>
      <vt:lpstr>数据划分：验证集</vt:lpstr>
      <vt:lpstr>数据划分：验证集</vt:lpstr>
      <vt:lpstr>数据划分：交叉验证（cross validation）</vt:lpstr>
      <vt:lpstr>数据划分：交叉验证</vt:lpstr>
      <vt:lpstr>数据划分</vt:lpstr>
      <vt:lpstr>数据划分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Xiangrui Zeng</dc:creator>
  <cp:lastModifiedBy>chen wei</cp:lastModifiedBy>
  <cp:revision>743</cp:revision>
  <dcterms:created xsi:type="dcterms:W3CDTF">2022-04-18T01:26:00Z</dcterms:created>
  <dcterms:modified xsi:type="dcterms:W3CDTF">2026-05-08T06:20:28Z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227CB05FF32E42F6BF6DF32B07924829_12</vt:lpwstr>
  </property>
  <property fmtid="{D5CDD505-2E9C-101B-9397-08002B2CF9AE}" pid="3" name="KSOProductBuildVer">
    <vt:lpwstr>2052-12.1.0.22529</vt:lpwstr>
  </property>
</Properties>
</file>